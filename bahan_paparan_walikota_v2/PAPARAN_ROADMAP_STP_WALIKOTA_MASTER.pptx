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yang kami hormati, perkenankan kami menyampaikan arah baru dan Roadmap Solo Technopark periode 2026 hingga 2030. Solo Technopark hari ini tidak lagi boleh dipandang hanya sebagai fasilitas fisik atau gedung pelatihan semata. Kami memosisikan STP sebagai motor penggerak inovasi daerah dan jembatan hilirisasi ekonomi yang mengubah potensi riset perguruan tinggi dan kemitraan industri menjadi lapangan kerja nyata, pendapatan daerah, serta peningkatan kesejahteraan warga Surakarta.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Dasar kelembagaan kita sudah sangat kokoh, Bapak Walikota. Berdasarkan Perwali 15 dan 38 Tahun 2022, pembagian peran dibuat sangat tegas: BRIDA menjadi otak yang merumuskan dan mengorkestrasi arah kebijakan riset kota, sedangkan UPTD Solo Technopark bertindak sebagai tangan eksekutor atau delivery unit. Dengan status pola kelola BLUD sesuai Permendagri 79/2018, STP memiliki fleksibilitas bisnis yang sehat untuk melayani industri secara profesional tanpa birokrasi berbelit, namun tetap berorientasi penuh pada kemanfaatan publik.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BLUD, STP beroperasi di atas 4 pilar utama layanan sesuai standar nasional KST. Kami tidak hanya melatih operator mesin dasar, tetapi memiliki kompetensi unggulan langka seperti pengelasan bawah air (underwater welding) dan manufaktur presisi. Di sisi lain, kami memfasilitasi hilirisasi riset perguruan tinggi dan inkubasi usaha rintisan. Empat pilar ini saling mengunci: anak muda dilatih, teknologinya dikembangkan, startupnya diinkubasi, dan fasilitasnya dioptimalkan.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persoalan terbesar riset di perguruan tinggi adalah fenomena riset berhenti di lemari arsip atau publikasi jurnal semata. Di Solo Technopark, kami memutus mata rantai kebuntuan itu. Kami mengambil prototipe dosen dan mahasiswa UNS, UMS, maupun politeknik, kami sempurnakan di lab permesinan presisi kami, kami uji sertifikasinya, lalu kami sambungkan ke 95 mitra industri untuk diproduksi massal.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hal yang membanggakan dari Solo Technopark adalah: ekosistem ini dipercaya oleh 95 lebih korporasi kelas dunia. Shopee, Garena, Mandiri, hingga ACER telah menanamkan fasilitas dan proyek riil di sini. Dan poin paling penting bagi Bapak Walikota: pembangunan fasilitas mutakhir ini tidak menyedot anggaran APBD Kota Surakarta satu rupiah pun. Ini adalah murni kemitraan strategis investasi swasta yang dihadirkan untuk memajukan warga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melakukan audit transparan terhadap tantangan STP saat ini, Bapak Walikota. Masalah utama selama ini adalah pendapatan BLUD kita masih terlalu bertumpu pada sewa lahan fisik, sementara riset kampus belum terhubung ke pasar. Solusi terobosan kami jelas: kita beralih ke hilirisasi produk paten, membuka laboratorium uji berbayar bagi korporasi luar kota, dan memohon arahan regulasi Bapak agar produk binaan STP diserap oleh dinas-dinas Pemkot lewat e-Katalog Lokal.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Peta jalan transformasi ini kami rancang dalam 3 fase terukur. Pada periode 2026–2027, kami merapikan kelembagaan dan akreditasi lab. Masuk 2028, kami membentuk Strategic Business Unit (SBU) agar unit produksi bisa mandiri seperti korporasi swasta. Dan puncaknya pada 2030, Solo Technopark beroperasi layaknya holding company inovasi daerah yang sepenuhnya mandiri, membawa nama Kota Surakarta ke panggung teknologi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angka komitmen kami, Bapak Walikota. Kami menaikkan target pendapatan BLUD STP lebih dari 300%—dari Rp 7,5 Miliar di 2026 menjadi Rp 23,47 Miliar di tahun 2030. Kenaikan ini bukan angan-angan, melainkan didorong diversifikasi nyata: program migas OGSCI menyumbang 6,2 miliar, jasa uji kompetensi keahlian menyumbang 3,6 miliar, dan pemanfaatan event menyumbang 1,5 miliar. STP siap menjadi BLUD sehat yang mandiri total tanpa perlu disubsidi biaya operasional dari APBD.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tolak ukur tertinggi kami bukan sekadar saldo kas BLUD, melainkan seberapa besar manfaat yang dirasakan langsung oleh warga Solo. Kami mengunci target penyerapan 9.000 tenaga kerja dengan kuota wajib minimal 65% bagi warga ber-KTP Surakarta. Kami mendampingi UMKM naik kelas dan menumbuhkan 80 wirausaha baru. Inilah bukti bahwa teknologi benar-benar hadir untuk menyejahterakan rakyat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Menutup paparan ini, Bapak Walikota: Manajemen Solo Technopark dan BRIDA tidak meminta tambahan alokasi belanja anggaran daerah. Kami hanya memohon tiga payung kepemimpinan kebijakan dari Bapak: perlindungan pasar lokal lewat e-Katalog, fleksibilitas kerja sama lahan, dan mandat sinergi kampus. Dengan tiga payung regulasi dari Bapak Walikota, tim kami siap langsung tancap gas mengeksekusi rencana aksi 100 hari pertama. Bersama Bapak, Solo Technopark siap menjadi kebanggaan nasional. Terima kasih, mohon arahan dan bimbingan Bapak Walikota.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284C7"/>
          </a:solidFill>
          <a:ln/>
        </p:spPr>
      </p:sp>
      <p:sp>
        <p:nvSpPr>
          <p:cNvPr id="3" name="Shape 1"/>
          <p:cNvSpPr/>
          <p:nvPr/>
        </p:nvSpPr>
        <p:spPr>
          <a:xfrm>
            <a:off x="0" y="109728"/>
            <a:ext cx="12191695" cy="36576"/>
          </a:xfrm>
          <a:prstGeom prst="rect">
            <a:avLst/>
          </a:prstGeom>
          <a:solidFill>
            <a:srgbClr val="D97706"/>
          </a:solidFill>
          <a:ln/>
        </p:spPr>
      </p:sp>
      <p:sp>
        <p:nvSpPr>
          <p:cNvPr id="4" name="Shape 2"/>
          <p:cNvSpPr/>
          <p:nvPr/>
        </p:nvSpPr>
        <p:spPr>
          <a:xfrm>
            <a:off x="822960" y="640080"/>
            <a:ext cx="4754880" cy="384048"/>
          </a:xfrm>
          <a:prstGeom prst="roundRect">
            <a:avLst>
              <a:gd name="adj" fmla="val 19048"/>
            </a:avLst>
          </a:prstGeom>
          <a:solidFill>
            <a:srgbClr val="1E3A8A"/>
          </a:solidFill>
          <a:ln w="12700">
            <a:solidFill>
              <a:srgbClr val="0284C7"/>
            </a:solidFill>
            <a:prstDash val="solid"/>
          </a:ln>
        </p:spPr>
      </p:sp>
      <p:sp>
        <p:nvSpPr>
          <p:cNvPr id="5" name="Text 3"/>
          <p:cNvSpPr/>
          <p:nvPr/>
        </p:nvSpPr>
        <p:spPr>
          <a:xfrm>
            <a:off x="822960" y="640080"/>
            <a:ext cx="4754880" cy="38404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PEMERINTAH KOTA SURAKARTA &amp; BRIDA</a:t>
            </a:r>
            <a:endParaRPr lang="en-US" sz="1100" dirty="0"/>
          </a:p>
        </p:txBody>
      </p:sp>
      <p:sp>
        <p:nvSpPr>
          <p:cNvPr id="6" name="Text 4"/>
          <p:cNvSpPr/>
          <p:nvPr/>
        </p:nvSpPr>
        <p:spPr>
          <a:xfrm>
            <a:off x="822960" y="1325880"/>
            <a:ext cx="10515600" cy="1554480"/>
          </a:xfrm>
          <a:prstGeom prst="rect">
            <a:avLst/>
          </a:prstGeom>
          <a:noFill/>
          <a:ln/>
        </p:spPr>
        <p:txBody>
          <a:bodyPr wrap="square" rtlCol="0" anchor="ctr"/>
          <a:lstStyle/>
          <a:p>
            <a:pPr indent="0" marL="0">
              <a:lnSpc>
                <a:spcPts val="4000"/>
              </a:lnSpc>
              <a:buNone/>
            </a:pPr>
            <a:r>
              <a:rPr lang="en-US" sz="3400" b="1" dirty="0">
                <a:solidFill>
                  <a:srgbClr val="FFFFFF"/>
                </a:solidFill>
                <a:latin typeface="Arial" pitchFamily="34" charset="0"/>
                <a:ea typeface="Arial" pitchFamily="34" charset="-122"/>
                <a:cs typeface="Arial" pitchFamily="34" charset="-120"/>
              </a:rPr>
              <a:t>STRATEGI INOVATIF PENGEMBANGAN</a:t>
            </a:r>
            <a:endParaRPr lang="en-US" sz="3400" dirty="0"/>
          </a:p>
          <a:p>
            <a:pPr indent="0" marL="0">
              <a:lnSpc>
                <a:spcPts val="4000"/>
              </a:lnSpc>
              <a:buNone/>
            </a:pPr>
            <a:r>
              <a:rPr lang="en-US" sz="3400" b="1" dirty="0">
                <a:solidFill>
                  <a:srgbClr val="FFFFFF"/>
                </a:solidFill>
                <a:latin typeface="Arial" pitchFamily="34" charset="0"/>
                <a:ea typeface="Arial" pitchFamily="34" charset="-122"/>
                <a:cs typeface="Arial" pitchFamily="34" charset="-120"/>
              </a:rPr>
              <a:t>SOLO TECHNOPARK 2026–2030</a:t>
            </a:r>
            <a:endParaRPr lang="en-US" sz="3400" dirty="0"/>
          </a:p>
        </p:txBody>
      </p:sp>
      <p:sp>
        <p:nvSpPr>
          <p:cNvPr id="7" name="Text 5"/>
          <p:cNvSpPr/>
          <p:nvPr/>
        </p:nvSpPr>
        <p:spPr>
          <a:xfrm>
            <a:off x="822960" y="2971800"/>
            <a:ext cx="10515600" cy="502920"/>
          </a:xfrm>
          <a:prstGeom prst="rect">
            <a:avLst/>
          </a:prstGeom>
          <a:noFill/>
          <a:ln/>
        </p:spPr>
        <p:txBody>
          <a:bodyPr wrap="square" rtlCol="0" anchor="ctr"/>
          <a:lstStyle/>
          <a:p>
            <a:pPr indent="0" marL="0">
              <a:buNone/>
            </a:pPr>
            <a:r>
              <a:rPr lang="en-US" sz="1500" i="1" dirty="0">
                <a:solidFill>
                  <a:srgbClr val="FEF3C7"/>
                </a:solidFill>
                <a:latin typeface="Arial" pitchFamily="34" charset="0"/>
                <a:ea typeface="Arial" pitchFamily="34" charset="-122"/>
                <a:cs typeface="Arial" pitchFamily="34" charset="-120"/>
              </a:rPr>
              <a:t>"Dari Pengelolaan Kawasan Fisik Menuju Mesin Hilirisasi Riset &amp; Lokomotif Ekonomi Daerah"</a:t>
            </a:r>
            <a:endParaRPr lang="en-US" sz="1500" dirty="0"/>
          </a:p>
        </p:txBody>
      </p:sp>
      <p:sp>
        <p:nvSpPr>
          <p:cNvPr id="8" name="Shape 6"/>
          <p:cNvSpPr/>
          <p:nvPr/>
        </p:nvSpPr>
        <p:spPr>
          <a:xfrm>
            <a:off x="822960" y="3611880"/>
            <a:ext cx="10545775" cy="27432"/>
          </a:xfrm>
          <a:prstGeom prst="rect">
            <a:avLst/>
          </a:prstGeom>
          <a:solidFill>
            <a:srgbClr val="0284C7"/>
          </a:solidFill>
          <a:ln/>
        </p:spPr>
      </p:sp>
      <p:sp>
        <p:nvSpPr>
          <p:cNvPr id="9" name="Shape 7"/>
          <p:cNvSpPr/>
          <p:nvPr/>
        </p:nvSpPr>
        <p:spPr>
          <a:xfrm>
            <a:off x="822960" y="3886200"/>
            <a:ext cx="3291840" cy="2103120"/>
          </a:xfrm>
          <a:prstGeom prst="roundRect">
            <a:avLst>
              <a:gd name="adj" fmla="val 4348"/>
            </a:avLst>
          </a:prstGeom>
          <a:solidFill>
            <a:srgbClr val="0F1E36"/>
          </a:solidFill>
          <a:ln w="19050">
            <a:solidFill>
              <a:srgbClr val="0284C7"/>
            </a:solidFill>
            <a:prstDash val="solid"/>
          </a:ln>
        </p:spPr>
      </p:sp>
      <p:sp>
        <p:nvSpPr>
          <p:cNvPr id="10" name="Text 8"/>
          <p:cNvSpPr/>
          <p:nvPr/>
        </p:nvSpPr>
        <p:spPr>
          <a:xfrm>
            <a:off x="1051560" y="4069080"/>
            <a:ext cx="2834640" cy="411480"/>
          </a:xfrm>
          <a:prstGeom prst="rect">
            <a:avLst/>
          </a:prstGeom>
          <a:noFill/>
          <a:ln/>
        </p:spPr>
        <p:txBody>
          <a:bodyPr wrap="square" rtlCol="0" anchor="ctr"/>
          <a:lstStyle/>
          <a:p>
            <a:pPr indent="0" marL="0">
              <a:buNone/>
            </a:pPr>
            <a:r>
              <a:rPr lang="en-US" sz="1200" b="1" dirty="0">
                <a:solidFill>
                  <a:srgbClr val="D97706"/>
                </a:solidFill>
                <a:latin typeface="Arial" pitchFamily="34" charset="0"/>
                <a:ea typeface="Arial" pitchFamily="34" charset="-122"/>
                <a:cs typeface="Arial" pitchFamily="34" charset="-120"/>
              </a:rPr>
              <a:t>MESIN HILIRISASI RISET</a:t>
            </a:r>
            <a:endParaRPr lang="en-US" sz="1200" dirty="0"/>
          </a:p>
        </p:txBody>
      </p:sp>
      <p:sp>
        <p:nvSpPr>
          <p:cNvPr id="11" name="Text 9"/>
          <p:cNvSpPr/>
          <p:nvPr/>
        </p:nvSpPr>
        <p:spPr>
          <a:xfrm>
            <a:off x="1051560" y="4526280"/>
            <a:ext cx="2834640" cy="132588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Menghubungkan invensi kampus (UNS, UMS, dll.) menuju sertifikasi dan kebutuhan komersial industri.</a:t>
            </a:r>
            <a:endParaRPr lang="en-US" sz="1050" dirty="0"/>
          </a:p>
        </p:txBody>
      </p:sp>
      <p:sp>
        <p:nvSpPr>
          <p:cNvPr id="12" name="Shape 10"/>
          <p:cNvSpPr/>
          <p:nvPr/>
        </p:nvSpPr>
        <p:spPr>
          <a:xfrm>
            <a:off x="4389120" y="3886200"/>
            <a:ext cx="3291840" cy="2103120"/>
          </a:xfrm>
          <a:prstGeom prst="roundRect">
            <a:avLst>
              <a:gd name="adj" fmla="val 4348"/>
            </a:avLst>
          </a:prstGeom>
          <a:solidFill>
            <a:srgbClr val="0F1E36"/>
          </a:solidFill>
          <a:ln w="19050">
            <a:solidFill>
              <a:srgbClr val="0284C7"/>
            </a:solidFill>
            <a:prstDash val="solid"/>
          </a:ln>
        </p:spPr>
      </p:sp>
      <p:sp>
        <p:nvSpPr>
          <p:cNvPr id="13" name="Text 11"/>
          <p:cNvSpPr/>
          <p:nvPr/>
        </p:nvSpPr>
        <p:spPr>
          <a:xfrm>
            <a:off x="4617720" y="4069080"/>
            <a:ext cx="2834640" cy="411480"/>
          </a:xfrm>
          <a:prstGeom prst="rect">
            <a:avLst/>
          </a:prstGeom>
          <a:noFill/>
          <a:ln/>
        </p:spPr>
        <p:txBody>
          <a:bodyPr wrap="square" rtlCol="0" anchor="ctr"/>
          <a:lstStyle/>
          <a:p>
            <a:pPr indent="0" marL="0">
              <a:buNone/>
            </a:pPr>
            <a:r>
              <a:rPr lang="en-US" sz="1200" b="1" dirty="0">
                <a:solidFill>
                  <a:srgbClr val="D97706"/>
                </a:solidFill>
                <a:latin typeface="Arial" pitchFamily="34" charset="0"/>
                <a:ea typeface="Arial" pitchFamily="34" charset="-122"/>
                <a:cs typeface="Arial" pitchFamily="34" charset="-120"/>
              </a:rPr>
              <a:t>KEMANDIRIAN BLUD (0% APBD)</a:t>
            </a:r>
            <a:endParaRPr lang="en-US" sz="1200" dirty="0"/>
          </a:p>
        </p:txBody>
      </p:sp>
      <p:sp>
        <p:nvSpPr>
          <p:cNvPr id="14" name="Text 12"/>
          <p:cNvSpPr/>
          <p:nvPr/>
        </p:nvSpPr>
        <p:spPr>
          <a:xfrm>
            <a:off x="4617720" y="4526280"/>
            <a:ext cx="2834640" cy="132588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Re-setting target pendapatan melonjak dari Rp 7,50 M (2026) menuju Rp 23,47 M (2030) mandiri penuh.</a:t>
            </a:r>
            <a:endParaRPr lang="en-US" sz="1050" dirty="0"/>
          </a:p>
        </p:txBody>
      </p:sp>
      <p:sp>
        <p:nvSpPr>
          <p:cNvPr id="15" name="Shape 13"/>
          <p:cNvSpPr/>
          <p:nvPr/>
        </p:nvSpPr>
        <p:spPr>
          <a:xfrm>
            <a:off x="7955280" y="3886200"/>
            <a:ext cx="3291840" cy="2103120"/>
          </a:xfrm>
          <a:prstGeom prst="roundRect">
            <a:avLst>
              <a:gd name="adj" fmla="val 4348"/>
            </a:avLst>
          </a:prstGeom>
          <a:solidFill>
            <a:srgbClr val="0F1E36"/>
          </a:solidFill>
          <a:ln w="19050">
            <a:solidFill>
              <a:srgbClr val="0284C7"/>
            </a:solidFill>
            <a:prstDash val="solid"/>
          </a:ln>
        </p:spPr>
      </p:sp>
      <p:sp>
        <p:nvSpPr>
          <p:cNvPr id="16" name="Text 14"/>
          <p:cNvSpPr/>
          <p:nvPr/>
        </p:nvSpPr>
        <p:spPr>
          <a:xfrm>
            <a:off x="8183880" y="4069080"/>
            <a:ext cx="2834640" cy="411480"/>
          </a:xfrm>
          <a:prstGeom prst="rect">
            <a:avLst/>
          </a:prstGeom>
          <a:noFill/>
          <a:ln/>
        </p:spPr>
        <p:txBody>
          <a:bodyPr wrap="square" rtlCol="0" anchor="ctr"/>
          <a:lstStyle/>
          <a:p>
            <a:pPr indent="0" marL="0">
              <a:buNone/>
            </a:pPr>
            <a:r>
              <a:rPr lang="en-US" sz="1200" b="1" dirty="0">
                <a:solidFill>
                  <a:srgbClr val="D97706"/>
                </a:solidFill>
                <a:latin typeface="Arial" pitchFamily="34" charset="0"/>
                <a:ea typeface="Arial" pitchFamily="34" charset="-122"/>
                <a:cs typeface="Arial" pitchFamily="34" charset="-120"/>
              </a:rPr>
              <a:t>DAMPAK WARGA KTP SOLO</a:t>
            </a:r>
            <a:endParaRPr lang="en-US" sz="1200" dirty="0"/>
          </a:p>
        </p:txBody>
      </p:sp>
      <p:sp>
        <p:nvSpPr>
          <p:cNvPr id="17" name="Text 15"/>
          <p:cNvSpPr/>
          <p:nvPr/>
        </p:nvSpPr>
        <p:spPr>
          <a:xfrm>
            <a:off x="8183880" y="4526280"/>
            <a:ext cx="2834640" cy="1325880"/>
          </a:xfrm>
          <a:prstGeom prst="rect">
            <a:avLst/>
          </a:prstGeom>
          <a:noFill/>
          <a:ln/>
        </p:spPr>
        <p:txBody>
          <a:bodyPr wrap="square" rtlCol="0" anchor="ctr"/>
          <a:lstStyle/>
          <a:p>
            <a:pPr indent="0" marL="0">
              <a:lnSpc>
                <a:spcPts val="1600"/>
              </a:lnSpc>
              <a:buNone/>
            </a:pPr>
            <a:r>
              <a:rPr lang="en-US" sz="1050" dirty="0">
                <a:solidFill>
                  <a:srgbClr val="E2E8F0"/>
                </a:solidFill>
                <a:latin typeface="Arial" pitchFamily="34" charset="0"/>
                <a:ea typeface="Arial" pitchFamily="34" charset="-122"/>
                <a:cs typeface="Arial" pitchFamily="34" charset="-120"/>
              </a:rPr>
              <a:t>Penyerapan 9.000 tenaga kerja baru dengan komitmen kuota afirmasi minimal 65% KTP Kota Surakarta.</a:t>
            </a:r>
            <a:endParaRPr lang="en-US" sz="1050" dirty="0"/>
          </a:p>
        </p:txBody>
      </p:sp>
      <p:sp>
        <p:nvSpPr>
          <p:cNvPr id="18" name="Text 16"/>
          <p:cNvSpPr/>
          <p:nvPr/>
        </p:nvSpPr>
        <p:spPr>
          <a:xfrm>
            <a:off x="822960" y="6263640"/>
            <a:ext cx="10545775" cy="320040"/>
          </a:xfrm>
          <a:prstGeom prst="rect">
            <a:avLst/>
          </a:prstGeom>
          <a:noFill/>
          <a:ln/>
        </p:spPr>
        <p:txBody>
          <a:bodyPr wrap="square" rtlCol="0" anchor="ctr"/>
          <a:lstStyle/>
          <a:p>
            <a:pPr algn="ctr" indent="0" marL="0">
              <a:buNone/>
            </a:pPr>
            <a:r>
              <a:rPr lang="en-US" sz="950" dirty="0">
                <a:solidFill>
                  <a:srgbClr val="94A3B8"/>
                </a:solidFill>
                <a:latin typeface="Arial" pitchFamily="34" charset="0"/>
                <a:ea typeface="Arial" pitchFamily="34" charset="-122"/>
                <a:cs typeface="Arial" pitchFamily="34" charset="-120"/>
              </a:rPr>
              <a:t>Bahan Paparan Resmi Rancangan Teknokratik Roadmap STP 2026–2030  •  Disampaikan kepada: Walikota Surakarta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284C7"/>
          </a:solidFill>
          <a:ln/>
        </p:spPr>
      </p:sp>
      <p:sp>
        <p:nvSpPr>
          <p:cNvPr id="3" name="Text 1"/>
          <p:cNvSpPr/>
          <p:nvPr/>
        </p:nvSpPr>
        <p:spPr>
          <a:xfrm>
            <a:off x="731520" y="292608"/>
            <a:ext cx="8229600" cy="256032"/>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TATA KELOLA PEMERINTAHAN &amp; KELEMBAGAAN</a:t>
            </a:r>
            <a:endParaRPr lang="en-US" sz="1000" dirty="0"/>
          </a:p>
        </p:txBody>
      </p:sp>
      <p:sp>
        <p:nvSpPr>
          <p:cNvPr id="4" name="Text 2"/>
          <p:cNvSpPr/>
          <p:nvPr/>
        </p:nvSpPr>
        <p:spPr>
          <a:xfrm>
            <a:off x="731520" y="548640"/>
            <a:ext cx="10698480" cy="411480"/>
          </a:xfrm>
          <a:prstGeom prst="rect">
            <a:avLst/>
          </a:prstGeom>
          <a:noFill/>
          <a:ln/>
        </p:spPr>
        <p:txBody>
          <a:bodyPr wrap="square" rtlCol="0" anchor="ctr"/>
          <a:lstStyle/>
          <a:p>
            <a:pPr indent="0" marL="0">
              <a:buNone/>
            </a:pPr>
            <a:r>
              <a:rPr lang="en-US" sz="2000" b="1" dirty="0">
                <a:solidFill>
                  <a:srgbClr val="0A192F"/>
                </a:solidFill>
                <a:latin typeface="Arial" pitchFamily="34" charset="0"/>
                <a:ea typeface="Arial" pitchFamily="34" charset="-122"/>
                <a:cs typeface="Arial" pitchFamily="34" charset="-120"/>
              </a:rPr>
              <a:t>KEDUDUKAN KELEMBAGAAN &amp; SINERGI STRATEGIS BRIDA–STP</a:t>
            </a:r>
            <a:endParaRPr lang="en-US" sz="2000" dirty="0"/>
          </a:p>
        </p:txBody>
      </p:sp>
      <p:sp>
        <p:nvSpPr>
          <p:cNvPr id="5" name="Text 3"/>
          <p:cNvSpPr/>
          <p:nvPr/>
        </p:nvSpPr>
        <p:spPr>
          <a:xfrm>
            <a:off x="731520" y="6382512"/>
            <a:ext cx="7772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Solo Technopark 2026–2030 | Bahan Paparan Resmi Walikota Surakarta</a:t>
            </a:r>
            <a:endParaRPr lang="en-US" sz="900" dirty="0"/>
          </a:p>
        </p:txBody>
      </p:sp>
      <p:sp>
        <p:nvSpPr>
          <p:cNvPr id="6" name="Text 4"/>
          <p:cNvSpPr/>
          <p:nvPr/>
        </p:nvSpPr>
        <p:spPr>
          <a:xfrm>
            <a:off x="10241280" y="6382512"/>
            <a:ext cx="1218895" cy="274320"/>
          </a:xfrm>
          <a:prstGeom prst="rect">
            <a:avLst/>
          </a:prstGeom>
          <a:noFill/>
          <a:ln/>
        </p:spPr>
        <p:txBody>
          <a:bodyPr wrap="square" rtlCol="0" anchor="ctr"/>
          <a:lstStyle/>
          <a:p>
            <a:pPr algn="r" indent="0" marL="0">
              <a:buNone/>
            </a:pPr>
            <a:r>
              <a:rPr lang="en-US" sz="950" b="1" dirty="0">
                <a:solidFill>
                  <a:srgbClr val="64748B"/>
                </a:solidFill>
                <a:latin typeface="Arial" pitchFamily="34" charset="0"/>
                <a:ea typeface="Arial" pitchFamily="34" charset="-122"/>
                <a:cs typeface="Arial" pitchFamily="34" charset="-120"/>
              </a:rPr>
              <a:t>Slide 2 / 10</a:t>
            </a:r>
            <a:endParaRPr lang="en-US" sz="950" dirty="0"/>
          </a:p>
        </p:txBody>
      </p:sp>
      <p:sp>
        <p:nvSpPr>
          <p:cNvPr id="7" name="Shape 5"/>
          <p:cNvSpPr/>
          <p:nvPr/>
        </p:nvSpPr>
        <p:spPr>
          <a:xfrm>
            <a:off x="731520" y="1051560"/>
            <a:ext cx="10728655" cy="502920"/>
          </a:xfrm>
          <a:prstGeom prst="roundRect">
            <a:avLst>
              <a:gd name="adj" fmla="val 14545"/>
            </a:avLst>
          </a:prstGeom>
          <a:solidFill>
            <a:srgbClr val="E0F2FE"/>
          </a:solidFill>
          <a:ln w="12700">
            <a:solidFill>
              <a:srgbClr val="0284C7"/>
            </a:solidFill>
            <a:prstDash val="solid"/>
          </a:ln>
        </p:spPr>
      </p:sp>
      <p:sp>
        <p:nvSpPr>
          <p:cNvPr id="8" name="Text 6"/>
          <p:cNvSpPr/>
          <p:nvPr/>
        </p:nvSpPr>
        <p:spPr>
          <a:xfrm>
            <a:off x="822960" y="1051560"/>
            <a:ext cx="10545775" cy="502920"/>
          </a:xfrm>
          <a:prstGeom prst="rect">
            <a:avLst/>
          </a:prstGeom>
          <a:noFill/>
          <a:ln/>
        </p:spPr>
        <p:txBody>
          <a:bodyPr wrap="square" rtlCol="0" anchor="ctr"/>
          <a:lstStyle/>
          <a:p>
            <a:pPr algn="ctr" indent="0" marL="0">
              <a:buNone/>
            </a:pPr>
            <a:r>
              <a:rPr lang="en-US" sz="1250" b="1" dirty="0">
                <a:solidFill>
                  <a:srgbClr val="1E3A8A"/>
                </a:solidFill>
                <a:latin typeface="Arial" pitchFamily="34" charset="0"/>
                <a:ea typeface="Arial" pitchFamily="34" charset="-122"/>
                <a:cs typeface="Arial" pitchFamily="34" charset="-120"/>
              </a:rPr>
              <a:t>BRIDA merumuskan &amp; mengorkestrasi  ➔  Solo Technopark mengimplementasikan, menguji, menghilirkan &amp; melayani</a:t>
            </a:r>
            <a:endParaRPr lang="en-US" sz="1250" dirty="0"/>
          </a:p>
        </p:txBody>
      </p:sp>
      <p:sp>
        <p:nvSpPr>
          <p:cNvPr id="9" name="Shape 7"/>
          <p:cNvSpPr/>
          <p:nvPr/>
        </p:nvSpPr>
        <p:spPr>
          <a:xfrm>
            <a:off x="731520" y="1737360"/>
            <a:ext cx="5166360" cy="2468880"/>
          </a:xfrm>
          <a:prstGeom prst="roundRect">
            <a:avLst>
              <a:gd name="adj" fmla="val 3704"/>
            </a:avLst>
          </a:prstGeom>
          <a:solidFill>
            <a:srgbClr val="FFFFFF"/>
          </a:solidFill>
          <a:ln w="12700">
            <a:solidFill>
              <a:srgbClr val="E2E8F0"/>
            </a:solidFill>
            <a:prstDash val="solid"/>
          </a:ln>
        </p:spPr>
      </p:sp>
      <p:sp>
        <p:nvSpPr>
          <p:cNvPr id="10" name="Shape 8"/>
          <p:cNvSpPr/>
          <p:nvPr/>
        </p:nvSpPr>
        <p:spPr>
          <a:xfrm>
            <a:off x="731520" y="1737360"/>
            <a:ext cx="5166360" cy="411480"/>
          </a:xfrm>
          <a:prstGeom prst="rect">
            <a:avLst/>
          </a:prstGeom>
          <a:solidFill>
            <a:srgbClr val="1E3A8A"/>
          </a:solidFill>
          <a:ln/>
        </p:spPr>
      </p:sp>
      <p:sp>
        <p:nvSpPr>
          <p:cNvPr id="11" name="Text 9"/>
          <p:cNvSpPr/>
          <p:nvPr/>
        </p:nvSpPr>
        <p:spPr>
          <a:xfrm>
            <a:off x="914400" y="1737360"/>
            <a:ext cx="48006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BRIDA SURAKARTA (Otak &amp; Regulator)</a:t>
            </a:r>
            <a:endParaRPr lang="en-US" sz="1200" dirty="0"/>
          </a:p>
        </p:txBody>
      </p:sp>
      <p:sp>
        <p:nvSpPr>
          <p:cNvPr id="12" name="Text 10"/>
          <p:cNvSpPr/>
          <p:nvPr/>
        </p:nvSpPr>
        <p:spPr>
          <a:xfrm>
            <a:off x="960120" y="2240280"/>
            <a:ext cx="4709160" cy="1828800"/>
          </a:xfrm>
          <a:prstGeom prst="rect">
            <a:avLst/>
          </a:prstGeom>
          <a:noFill/>
          <a:ln/>
        </p:spPr>
        <p:txBody>
          <a:bodyPr wrap="square" rtlCol="0" anchor="ctr"/>
          <a:lstStyle/>
          <a:p>
            <a:pPr indent="0" marL="0">
              <a:lnSpc>
                <a:spcPts val="1600"/>
              </a:lnSpc>
              <a:buNone/>
            </a:pPr>
            <a:r>
              <a:rPr lang="en-US" sz="1050" b="1" dirty="0">
                <a:solidFill>
                  <a:srgbClr val="0A192F"/>
                </a:solidFill>
                <a:latin typeface="Arial" pitchFamily="34" charset="0"/>
                <a:ea typeface="Arial" pitchFamily="34" charset="-122"/>
                <a:cs typeface="Arial" pitchFamily="34" charset="-120"/>
              </a:rPr>
              <a:t>• Mandat Kebijakan &amp; Riset: </a:t>
            </a:r>
            <a:pPr indent="0" marL="0">
              <a:lnSpc>
                <a:spcPts val="1600"/>
              </a:lnSpc>
              <a:buNone/>
            </a:pPr>
            <a:r>
              <a:rPr lang="en-US" sz="1050" dirty="0">
                <a:solidFill>
                  <a:srgbClr val="1E293B"/>
                </a:solidFill>
                <a:latin typeface="Arial" pitchFamily="34" charset="0"/>
                <a:ea typeface="Arial" pitchFamily="34" charset="-122"/>
                <a:cs typeface="Arial" pitchFamily="34" charset="-120"/>
              </a:rPr>
              <a:t>Merumuskan arah kebijakan Iptek, roadmap inovasi kota, dan kajian strategis pembangunan daerah.
</a:t>
            </a:r>
            <a:pPr indent="0" marL="0">
              <a:lnSpc>
                <a:spcPts val="1600"/>
              </a:lnSpc>
              <a:buNone/>
            </a:pPr>
            <a:r>
              <a:rPr lang="en-US" sz="1050" b="1" dirty="0">
                <a:solidFill>
                  <a:srgbClr val="0A192F"/>
                </a:solidFill>
                <a:latin typeface="Arial" pitchFamily="34" charset="0"/>
                <a:ea typeface="Arial" pitchFamily="34" charset="-122"/>
                <a:cs typeface="Arial" pitchFamily="34" charset="-120"/>
              </a:rPr>
              <a:t>• Orkestrasi Ekosistem: </a:t>
            </a:r>
            <a:pPr indent="0" marL="0">
              <a:lnSpc>
                <a:spcPts val="1600"/>
              </a:lnSpc>
              <a:buNone/>
            </a:pPr>
            <a:r>
              <a:rPr lang="en-US" sz="1050" dirty="0">
                <a:solidFill>
                  <a:srgbClr val="1E293B"/>
                </a:solidFill>
                <a:latin typeface="Arial" pitchFamily="34" charset="0"/>
                <a:ea typeface="Arial" pitchFamily="34" charset="-122"/>
                <a:cs typeface="Arial" pitchFamily="34" charset="-120"/>
              </a:rPr>
              <a:t>Menghubungkan Perguruan Tinggi, litbang, dan OPD Pemkot Surakarta.
</a:t>
            </a:r>
            <a:pPr indent="0" marL="0">
              <a:lnSpc>
                <a:spcPts val="1600"/>
              </a:lnSpc>
              <a:buNone/>
            </a:pPr>
            <a:r>
              <a:rPr lang="en-US" sz="1050" b="1" dirty="0">
                <a:solidFill>
                  <a:srgbClr val="0A192F"/>
                </a:solidFill>
                <a:latin typeface="Arial" pitchFamily="34" charset="0"/>
                <a:ea typeface="Arial" pitchFamily="34" charset="-122"/>
                <a:cs typeface="Arial" pitchFamily="34" charset="-120"/>
              </a:rPr>
              <a:t>• Monitoring &amp; Evaluasi: </a:t>
            </a:r>
            <a:pPr indent="0" marL="0">
              <a:lnSpc>
                <a:spcPts val="1600"/>
              </a:lnSpc>
              <a:buNone/>
            </a:pPr>
            <a:r>
              <a:rPr lang="en-US" sz="1050" dirty="0">
                <a:solidFill>
                  <a:srgbClr val="1E293B"/>
                </a:solidFill>
                <a:latin typeface="Arial" pitchFamily="34" charset="0"/>
                <a:ea typeface="Arial" pitchFamily="34" charset="-122"/>
                <a:cs typeface="Arial" pitchFamily="34" charset="-120"/>
              </a:rPr>
              <a:t>Menilai capaian dampak sosial-ekonomi inovasi bagi warga Kota Surakarta.</a:t>
            </a:r>
            <a:endParaRPr lang="en-US" sz="1050" dirty="0"/>
          </a:p>
        </p:txBody>
      </p:sp>
      <p:sp>
        <p:nvSpPr>
          <p:cNvPr id="13" name="Shape 11"/>
          <p:cNvSpPr/>
          <p:nvPr/>
        </p:nvSpPr>
        <p:spPr>
          <a:xfrm>
            <a:off x="6263640" y="1737360"/>
            <a:ext cx="5166360" cy="2468880"/>
          </a:xfrm>
          <a:prstGeom prst="roundRect">
            <a:avLst>
              <a:gd name="adj" fmla="val 3704"/>
            </a:avLst>
          </a:prstGeom>
          <a:solidFill>
            <a:srgbClr val="FFFFFF"/>
          </a:solidFill>
          <a:ln w="12700">
            <a:solidFill>
              <a:srgbClr val="E2E8F0"/>
            </a:solidFill>
            <a:prstDash val="solid"/>
          </a:ln>
        </p:spPr>
      </p:sp>
      <p:sp>
        <p:nvSpPr>
          <p:cNvPr id="14" name="Shape 12"/>
          <p:cNvSpPr/>
          <p:nvPr/>
        </p:nvSpPr>
        <p:spPr>
          <a:xfrm>
            <a:off x="6263640" y="1737360"/>
            <a:ext cx="5166360" cy="411480"/>
          </a:xfrm>
          <a:prstGeom prst="rect">
            <a:avLst/>
          </a:prstGeom>
          <a:solidFill>
            <a:srgbClr val="0284C7"/>
          </a:solidFill>
          <a:ln/>
        </p:spPr>
      </p:sp>
      <p:sp>
        <p:nvSpPr>
          <p:cNvPr id="15" name="Text 13"/>
          <p:cNvSpPr/>
          <p:nvPr/>
        </p:nvSpPr>
        <p:spPr>
          <a:xfrm>
            <a:off x="6446520" y="1737360"/>
            <a:ext cx="4800600" cy="41148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UPTD KST SOLO TECHNOPARK (Tangan Eksekutor)</a:t>
            </a:r>
            <a:endParaRPr lang="en-US" sz="1200" dirty="0"/>
          </a:p>
        </p:txBody>
      </p:sp>
      <p:sp>
        <p:nvSpPr>
          <p:cNvPr id="16" name="Text 14"/>
          <p:cNvSpPr/>
          <p:nvPr/>
        </p:nvSpPr>
        <p:spPr>
          <a:xfrm>
            <a:off x="6492240" y="2240280"/>
            <a:ext cx="4709160" cy="1828800"/>
          </a:xfrm>
          <a:prstGeom prst="rect">
            <a:avLst/>
          </a:prstGeom>
          <a:noFill/>
          <a:ln/>
        </p:spPr>
        <p:txBody>
          <a:bodyPr wrap="square" rtlCol="0" anchor="ctr"/>
          <a:lstStyle/>
          <a:p>
            <a:pPr indent="0" marL="0">
              <a:lnSpc>
                <a:spcPts val="1600"/>
              </a:lnSpc>
              <a:buNone/>
            </a:pPr>
            <a:r>
              <a:rPr lang="en-US" sz="1050" b="1" dirty="0">
                <a:solidFill>
                  <a:srgbClr val="0A192F"/>
                </a:solidFill>
                <a:latin typeface="Arial" pitchFamily="34" charset="0"/>
                <a:ea typeface="Arial" pitchFamily="34" charset="-122"/>
                <a:cs typeface="Arial" pitchFamily="34" charset="-120"/>
              </a:rPr>
              <a:t>• Teknis Operasional: </a:t>
            </a:r>
            <a:pPr indent="0" marL="0">
              <a:lnSpc>
                <a:spcPts val="1600"/>
              </a:lnSpc>
              <a:buNone/>
            </a:pPr>
            <a:r>
              <a:rPr lang="en-US" sz="1050" dirty="0">
                <a:solidFill>
                  <a:srgbClr val="1E293B"/>
                </a:solidFill>
                <a:latin typeface="Arial" pitchFamily="34" charset="0"/>
                <a:ea typeface="Arial" pitchFamily="34" charset="-122"/>
                <a:cs typeface="Arial" pitchFamily="34" charset="-120"/>
              </a:rPr>
              <a:t>Penyelenggaraan diklat vokasi industri dan jasa rekayasa manufaktur presisi.
</a:t>
            </a:r>
            <a:pPr indent="0" marL="0">
              <a:lnSpc>
                <a:spcPts val="1600"/>
              </a:lnSpc>
              <a:buNone/>
            </a:pPr>
            <a:r>
              <a:rPr lang="en-US" sz="1050" b="1" dirty="0">
                <a:solidFill>
                  <a:srgbClr val="0A192F"/>
                </a:solidFill>
                <a:latin typeface="Arial" pitchFamily="34" charset="0"/>
                <a:ea typeface="Arial" pitchFamily="34" charset="-122"/>
                <a:cs typeface="Arial" pitchFamily="34" charset="-120"/>
              </a:rPr>
              <a:t>• Fasilitasi Riset &amp; Uji Coba: </a:t>
            </a:r>
            <a:pPr indent="0" marL="0">
              <a:lnSpc>
                <a:spcPts val="1600"/>
              </a:lnSpc>
              <a:buNone/>
            </a:pPr>
            <a:r>
              <a:rPr lang="en-US" sz="1050" dirty="0">
                <a:solidFill>
                  <a:srgbClr val="1E293B"/>
                </a:solidFill>
                <a:latin typeface="Arial" pitchFamily="34" charset="0"/>
                <a:ea typeface="Arial" pitchFamily="34" charset="-122"/>
                <a:cs typeface="Arial" pitchFamily="34" charset="-120"/>
              </a:rPr>
              <a:t>Validasi prototype kampus hingga siap uji standar SNI/TKDN.
</a:t>
            </a:r>
            <a:pPr indent="0" marL="0">
              <a:lnSpc>
                <a:spcPts val="1600"/>
              </a:lnSpc>
              <a:buNone/>
            </a:pPr>
            <a:r>
              <a:rPr lang="en-US" sz="1050" b="1" dirty="0">
                <a:solidFill>
                  <a:srgbClr val="0A192F"/>
                </a:solidFill>
                <a:latin typeface="Arial" pitchFamily="34" charset="0"/>
                <a:ea typeface="Arial" pitchFamily="34" charset="-122"/>
                <a:cs typeface="Arial" pitchFamily="34" charset="-120"/>
              </a:rPr>
              <a:t>• Inkubasi &amp; Komersialisasi: </a:t>
            </a:r>
            <a:pPr indent="0" marL="0">
              <a:lnSpc>
                <a:spcPts val="1600"/>
              </a:lnSpc>
              <a:buNone/>
            </a:pPr>
            <a:r>
              <a:rPr lang="en-US" sz="1050" dirty="0">
                <a:solidFill>
                  <a:srgbClr val="1E293B"/>
                </a:solidFill>
                <a:latin typeface="Arial" pitchFamily="34" charset="0"/>
                <a:ea typeface="Arial" pitchFamily="34" charset="-122"/>
                <a:cs typeface="Arial" pitchFamily="34" charset="-120"/>
              </a:rPr>
              <a:t>Mendampingi tenant bisnis, fasilitasi paten HKI, dan penetrasi pasar komersial.</a:t>
            </a:r>
            <a:endParaRPr lang="en-US" sz="1050" dirty="0"/>
          </a:p>
        </p:txBody>
      </p:sp>
      <p:sp>
        <p:nvSpPr>
          <p:cNvPr id="17" name="Shape 15"/>
          <p:cNvSpPr/>
          <p:nvPr/>
        </p:nvSpPr>
        <p:spPr>
          <a:xfrm>
            <a:off x="731520" y="4389120"/>
            <a:ext cx="10728655" cy="1737360"/>
          </a:xfrm>
          <a:prstGeom prst="roundRect">
            <a:avLst>
              <a:gd name="adj" fmla="val 5263"/>
            </a:avLst>
          </a:prstGeom>
          <a:solidFill>
            <a:srgbClr val="FFFFFF"/>
          </a:solidFill>
          <a:ln w="12700">
            <a:solidFill>
              <a:srgbClr val="E2E8F0"/>
            </a:solidFill>
            <a:prstDash val="solid"/>
          </a:ln>
        </p:spPr>
      </p:sp>
      <p:sp>
        <p:nvSpPr>
          <p:cNvPr id="18" name="Text 16"/>
          <p:cNvSpPr/>
          <p:nvPr/>
        </p:nvSpPr>
        <p:spPr>
          <a:xfrm>
            <a:off x="914400" y="4526280"/>
            <a:ext cx="10332720" cy="320040"/>
          </a:xfrm>
          <a:prstGeom prst="rect">
            <a:avLst/>
          </a:prstGeom>
          <a:noFill/>
          <a:ln/>
        </p:spPr>
        <p:txBody>
          <a:bodyPr wrap="square" rtlCol="0" anchor="ctr"/>
          <a:lstStyle/>
          <a:p>
            <a:pPr indent="0" marL="0">
              <a:buNone/>
            </a:pPr>
            <a:r>
              <a:rPr lang="en-US" sz="1150" b="1" dirty="0">
                <a:solidFill>
                  <a:srgbClr val="0A192F"/>
                </a:solidFill>
                <a:latin typeface="Arial" pitchFamily="34" charset="0"/>
                <a:ea typeface="Arial" pitchFamily="34" charset="-122"/>
                <a:cs typeface="Arial" pitchFamily="34" charset="-120"/>
              </a:rPr>
              <a:t>LANDASAN REGULASI &amp; POLA TATA KELOLA BLUD YANG KOKOH</a:t>
            </a:r>
            <a:endParaRPr lang="en-US" sz="1150" dirty="0"/>
          </a:p>
        </p:txBody>
      </p:sp>
      <p:sp>
        <p:nvSpPr>
          <p:cNvPr id="19" name="Shape 17"/>
          <p:cNvSpPr/>
          <p:nvPr/>
        </p:nvSpPr>
        <p:spPr>
          <a:xfrm>
            <a:off x="914400" y="4892040"/>
            <a:ext cx="3291840" cy="1097280"/>
          </a:xfrm>
          <a:prstGeom prst="rect">
            <a:avLst/>
          </a:prstGeom>
          <a:solidFill>
            <a:srgbClr val="F8FAFC"/>
          </a:solidFill>
          <a:ln w="12700">
            <a:solidFill>
              <a:srgbClr val="E2E8F0"/>
            </a:solidFill>
            <a:prstDash val="solid"/>
          </a:ln>
        </p:spPr>
      </p:sp>
      <p:sp>
        <p:nvSpPr>
          <p:cNvPr id="20" name="Text 18"/>
          <p:cNvSpPr/>
          <p:nvPr/>
        </p:nvSpPr>
        <p:spPr>
          <a:xfrm>
            <a:off x="1051560" y="4956048"/>
            <a:ext cx="3017520" cy="228600"/>
          </a:xfrm>
          <a:prstGeom prst="rect">
            <a:avLst/>
          </a:prstGeom>
          <a:noFill/>
          <a:ln/>
        </p:spPr>
        <p:txBody>
          <a:bodyPr wrap="square" rtlCol="0" anchor="ctr"/>
          <a:lstStyle/>
          <a:p>
            <a:pPr indent="0" marL="0">
              <a:buNone/>
            </a:pPr>
            <a:r>
              <a:rPr lang="en-US" sz="950" b="1" dirty="0">
                <a:solidFill>
                  <a:srgbClr val="1E3A8A"/>
                </a:solidFill>
                <a:latin typeface="Arial" pitchFamily="34" charset="0"/>
                <a:ea typeface="Arial" pitchFamily="34" charset="-122"/>
                <a:cs typeface="Arial" pitchFamily="34" charset="-120"/>
              </a:rPr>
              <a:t>PERMENDAGRI 79/2018 (BLUD)</a:t>
            </a:r>
            <a:endParaRPr lang="en-US" sz="950" dirty="0"/>
          </a:p>
        </p:txBody>
      </p:sp>
      <p:sp>
        <p:nvSpPr>
          <p:cNvPr id="21" name="Text 19"/>
          <p:cNvSpPr/>
          <p:nvPr/>
        </p:nvSpPr>
        <p:spPr>
          <a:xfrm>
            <a:off x="1051560" y="5193792"/>
            <a:ext cx="3017520" cy="731520"/>
          </a:xfrm>
          <a:prstGeom prst="rect">
            <a:avLst/>
          </a:prstGeom>
          <a:noFill/>
          <a:ln/>
        </p:spPr>
        <p:txBody>
          <a:bodyPr wrap="square" rtlCol="0" anchor="ctr"/>
          <a:lstStyle/>
          <a:p>
            <a:pPr indent="0" marL="0">
              <a:lnSpc>
                <a:spcPts val="1100"/>
              </a:lnSpc>
              <a:buNone/>
            </a:pPr>
            <a:r>
              <a:rPr lang="en-US" sz="850" dirty="0">
                <a:solidFill>
                  <a:srgbClr val="1E293B"/>
                </a:solidFill>
                <a:latin typeface="Arial" pitchFamily="34" charset="0"/>
                <a:ea typeface="Arial" pitchFamily="34" charset="-122"/>
                <a:cs typeface="Arial" pitchFamily="34" charset="-120"/>
              </a:rPr>
              <a:t>Pasal 1 angka 2: Fleksibilitas BLUD adalah keleluasaan pengelolaan keuangan menerapkan praktik bisnis sehat untuk meningkatkan layanan publik tanpa mencari keuntungan semata.</a:t>
            </a:r>
            <a:endParaRPr lang="en-US" sz="850" dirty="0"/>
          </a:p>
        </p:txBody>
      </p:sp>
      <p:sp>
        <p:nvSpPr>
          <p:cNvPr id="22" name="Shape 20"/>
          <p:cNvSpPr/>
          <p:nvPr/>
        </p:nvSpPr>
        <p:spPr>
          <a:xfrm>
            <a:off x="4389120" y="4892040"/>
            <a:ext cx="3291840" cy="1097280"/>
          </a:xfrm>
          <a:prstGeom prst="rect">
            <a:avLst/>
          </a:prstGeom>
          <a:solidFill>
            <a:srgbClr val="F8FAFC"/>
          </a:solidFill>
          <a:ln w="12700">
            <a:solidFill>
              <a:srgbClr val="E2E8F0"/>
            </a:solidFill>
            <a:prstDash val="solid"/>
          </a:ln>
        </p:spPr>
      </p:sp>
      <p:sp>
        <p:nvSpPr>
          <p:cNvPr id="23" name="Text 21"/>
          <p:cNvSpPr/>
          <p:nvPr/>
        </p:nvSpPr>
        <p:spPr>
          <a:xfrm>
            <a:off x="4526280" y="4956048"/>
            <a:ext cx="3017520" cy="228600"/>
          </a:xfrm>
          <a:prstGeom prst="rect">
            <a:avLst/>
          </a:prstGeom>
          <a:noFill/>
          <a:ln/>
        </p:spPr>
        <p:txBody>
          <a:bodyPr wrap="square" rtlCol="0" anchor="ctr"/>
          <a:lstStyle/>
          <a:p>
            <a:pPr indent="0" marL="0">
              <a:buNone/>
            </a:pPr>
            <a:r>
              <a:rPr lang="en-US" sz="950" b="1" dirty="0">
                <a:solidFill>
                  <a:srgbClr val="1E3A8A"/>
                </a:solidFill>
                <a:latin typeface="Arial" pitchFamily="34" charset="0"/>
                <a:ea typeface="Arial" pitchFamily="34" charset="-122"/>
                <a:cs typeface="Arial" pitchFamily="34" charset="-120"/>
              </a:rPr>
              <a:t>PERPRES 106/2017 (KST)</a:t>
            </a:r>
            <a:endParaRPr lang="en-US" sz="950" dirty="0"/>
          </a:p>
        </p:txBody>
      </p:sp>
      <p:sp>
        <p:nvSpPr>
          <p:cNvPr id="24" name="Text 22"/>
          <p:cNvSpPr/>
          <p:nvPr/>
        </p:nvSpPr>
        <p:spPr>
          <a:xfrm>
            <a:off x="4526280" y="5193792"/>
            <a:ext cx="3017520" cy="731520"/>
          </a:xfrm>
          <a:prstGeom prst="rect">
            <a:avLst/>
          </a:prstGeom>
          <a:noFill/>
          <a:ln/>
        </p:spPr>
        <p:txBody>
          <a:bodyPr wrap="square" rtlCol="0" anchor="ctr"/>
          <a:lstStyle/>
          <a:p>
            <a:pPr indent="0" marL="0">
              <a:lnSpc>
                <a:spcPts val="1100"/>
              </a:lnSpc>
              <a:buNone/>
            </a:pPr>
            <a:r>
              <a:rPr lang="en-US" sz="850" dirty="0">
                <a:solidFill>
                  <a:srgbClr val="1E293B"/>
                </a:solidFill>
                <a:latin typeface="Arial" pitchFamily="34" charset="0"/>
                <a:ea typeface="Arial" pitchFamily="34" charset="-122"/>
                <a:cs typeface="Arial" pitchFamily="34" charset="-120"/>
              </a:rPr>
              <a:t>Pasal 4 &amp; 5: KST berfungsi sebagai wahana litbang berkelanjutan Pemda, Perguruan Tinggi, dan Industri melalui layanan teknis, alih teknologi, inkubasi, dan pendukung.</a:t>
            </a:r>
            <a:endParaRPr lang="en-US" sz="850" dirty="0"/>
          </a:p>
        </p:txBody>
      </p:sp>
      <p:sp>
        <p:nvSpPr>
          <p:cNvPr id="25" name="Shape 23"/>
          <p:cNvSpPr/>
          <p:nvPr/>
        </p:nvSpPr>
        <p:spPr>
          <a:xfrm>
            <a:off x="7863840" y="4892040"/>
            <a:ext cx="3291840" cy="1097280"/>
          </a:xfrm>
          <a:prstGeom prst="rect">
            <a:avLst/>
          </a:prstGeom>
          <a:solidFill>
            <a:srgbClr val="F8FAFC"/>
          </a:solidFill>
          <a:ln w="12700">
            <a:solidFill>
              <a:srgbClr val="E2E8F0"/>
            </a:solidFill>
            <a:prstDash val="solid"/>
          </a:ln>
        </p:spPr>
      </p:sp>
      <p:sp>
        <p:nvSpPr>
          <p:cNvPr id="26" name="Text 24"/>
          <p:cNvSpPr/>
          <p:nvPr/>
        </p:nvSpPr>
        <p:spPr>
          <a:xfrm>
            <a:off x="8001000" y="4956048"/>
            <a:ext cx="3017520" cy="228600"/>
          </a:xfrm>
          <a:prstGeom prst="rect">
            <a:avLst/>
          </a:prstGeom>
          <a:noFill/>
          <a:ln/>
        </p:spPr>
        <p:txBody>
          <a:bodyPr wrap="square" rtlCol="0" anchor="ctr"/>
          <a:lstStyle/>
          <a:p>
            <a:pPr indent="0" marL="0">
              <a:buNone/>
            </a:pPr>
            <a:r>
              <a:rPr lang="en-US" sz="950" b="1" dirty="0">
                <a:solidFill>
                  <a:srgbClr val="1E3A8A"/>
                </a:solidFill>
                <a:latin typeface="Arial" pitchFamily="34" charset="0"/>
                <a:ea typeface="Arial" pitchFamily="34" charset="-122"/>
                <a:cs typeface="Arial" pitchFamily="34" charset="-120"/>
              </a:rPr>
              <a:t>PERWALI 15 &amp; 38 TAHUN 2022</a:t>
            </a:r>
            <a:endParaRPr lang="en-US" sz="950" dirty="0"/>
          </a:p>
        </p:txBody>
      </p:sp>
      <p:sp>
        <p:nvSpPr>
          <p:cNvPr id="27" name="Text 25"/>
          <p:cNvSpPr/>
          <p:nvPr/>
        </p:nvSpPr>
        <p:spPr>
          <a:xfrm>
            <a:off x="8001000" y="5193792"/>
            <a:ext cx="3017520" cy="731520"/>
          </a:xfrm>
          <a:prstGeom prst="rect">
            <a:avLst/>
          </a:prstGeom>
          <a:noFill/>
          <a:ln/>
        </p:spPr>
        <p:txBody>
          <a:bodyPr wrap="square" rtlCol="0" anchor="ctr"/>
          <a:lstStyle/>
          <a:p>
            <a:pPr indent="0" marL="0">
              <a:lnSpc>
                <a:spcPts val="1100"/>
              </a:lnSpc>
              <a:buNone/>
            </a:pPr>
            <a:r>
              <a:rPr lang="en-US" sz="850" dirty="0">
                <a:solidFill>
                  <a:srgbClr val="1E293B"/>
                </a:solidFill>
                <a:latin typeface="Arial" pitchFamily="34" charset="0"/>
                <a:ea typeface="Arial" pitchFamily="34" charset="-122"/>
                <a:cs typeface="Arial" pitchFamily="34" charset="-120"/>
              </a:rPr>
              <a:t>Pola Tata Kelola UPTD KST STP: Menugaskan pelaksanaan teknis operasional penunjang litbang dan penumbuhan perusahaan pemula berbasis inovasi (spin-off).</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284C7"/>
          </a:solidFill>
          <a:ln/>
        </p:spPr>
      </p:sp>
      <p:sp>
        <p:nvSpPr>
          <p:cNvPr id="3" name="Text 1"/>
          <p:cNvSpPr/>
          <p:nvPr/>
        </p:nvSpPr>
        <p:spPr>
          <a:xfrm>
            <a:off x="731520" y="292608"/>
            <a:ext cx="8229600" cy="256032"/>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MANDAT LAYANAN PERPRES 106/2017</a:t>
            </a:r>
            <a:endParaRPr lang="en-US" sz="1000" dirty="0"/>
          </a:p>
        </p:txBody>
      </p:sp>
      <p:sp>
        <p:nvSpPr>
          <p:cNvPr id="4" name="Text 2"/>
          <p:cNvSpPr/>
          <p:nvPr/>
        </p:nvSpPr>
        <p:spPr>
          <a:xfrm>
            <a:off x="731520" y="548640"/>
            <a:ext cx="10698480" cy="411480"/>
          </a:xfrm>
          <a:prstGeom prst="rect">
            <a:avLst/>
          </a:prstGeom>
          <a:noFill/>
          <a:ln/>
        </p:spPr>
        <p:txBody>
          <a:bodyPr wrap="square" rtlCol="0" anchor="ctr"/>
          <a:lstStyle/>
          <a:p>
            <a:pPr indent="0" marL="0">
              <a:buNone/>
            </a:pPr>
            <a:r>
              <a:rPr lang="en-US" sz="2000" b="1" dirty="0">
                <a:solidFill>
                  <a:srgbClr val="0A192F"/>
                </a:solidFill>
                <a:latin typeface="Arial" pitchFamily="34" charset="0"/>
                <a:ea typeface="Arial" pitchFamily="34" charset="-122"/>
                <a:cs typeface="Arial" pitchFamily="34" charset="-120"/>
              </a:rPr>
              <a:t>EMPAT PILAR PORTOFOLIO LAYANAN TERINTEGRASI BLUD STP</a:t>
            </a:r>
            <a:endParaRPr lang="en-US" sz="2000" dirty="0"/>
          </a:p>
        </p:txBody>
      </p:sp>
      <p:sp>
        <p:nvSpPr>
          <p:cNvPr id="5" name="Text 3"/>
          <p:cNvSpPr/>
          <p:nvPr/>
        </p:nvSpPr>
        <p:spPr>
          <a:xfrm>
            <a:off x="731520" y="6382512"/>
            <a:ext cx="7772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Solo Technopark 2026–2030 | Bahan Paparan Resmi Walikota Surakarta</a:t>
            </a:r>
            <a:endParaRPr lang="en-US" sz="900" dirty="0"/>
          </a:p>
        </p:txBody>
      </p:sp>
      <p:sp>
        <p:nvSpPr>
          <p:cNvPr id="6" name="Text 4"/>
          <p:cNvSpPr/>
          <p:nvPr/>
        </p:nvSpPr>
        <p:spPr>
          <a:xfrm>
            <a:off x="10241280" y="6382512"/>
            <a:ext cx="1218895" cy="274320"/>
          </a:xfrm>
          <a:prstGeom prst="rect">
            <a:avLst/>
          </a:prstGeom>
          <a:noFill/>
          <a:ln/>
        </p:spPr>
        <p:txBody>
          <a:bodyPr wrap="square" rtlCol="0" anchor="ctr"/>
          <a:lstStyle/>
          <a:p>
            <a:pPr algn="r" indent="0" marL="0">
              <a:buNone/>
            </a:pPr>
            <a:r>
              <a:rPr lang="en-US" sz="950" b="1" dirty="0">
                <a:solidFill>
                  <a:srgbClr val="64748B"/>
                </a:solidFill>
                <a:latin typeface="Arial" pitchFamily="34" charset="0"/>
                <a:ea typeface="Arial" pitchFamily="34" charset="-122"/>
                <a:cs typeface="Arial" pitchFamily="34" charset="-120"/>
              </a:rPr>
              <a:t>Slide 3 / 10</a:t>
            </a:r>
            <a:endParaRPr lang="en-US" sz="950" dirty="0"/>
          </a:p>
        </p:txBody>
      </p:sp>
      <p:sp>
        <p:nvSpPr>
          <p:cNvPr id="7" name="Shape 5"/>
          <p:cNvSpPr/>
          <p:nvPr/>
        </p:nvSpPr>
        <p:spPr>
          <a:xfrm>
            <a:off x="731520" y="1051560"/>
            <a:ext cx="10728655" cy="411480"/>
          </a:xfrm>
          <a:prstGeom prst="roundRect">
            <a:avLst>
              <a:gd name="adj" fmla="val 13333"/>
            </a:avLst>
          </a:prstGeom>
          <a:solidFill>
            <a:srgbClr val="FEF3C7"/>
          </a:solidFill>
          <a:ln w="12700">
            <a:solidFill>
              <a:srgbClr val="D97706"/>
            </a:solidFill>
            <a:prstDash val="solid"/>
          </a:ln>
        </p:spPr>
      </p:sp>
      <p:sp>
        <p:nvSpPr>
          <p:cNvPr id="8" name="Text 6"/>
          <p:cNvSpPr/>
          <p:nvPr/>
        </p:nvSpPr>
        <p:spPr>
          <a:xfrm>
            <a:off x="822960" y="1051560"/>
            <a:ext cx="10545775" cy="411480"/>
          </a:xfrm>
          <a:prstGeom prst="rect">
            <a:avLst/>
          </a:prstGeom>
          <a:noFill/>
          <a:ln/>
        </p:spPr>
        <p:txBody>
          <a:bodyPr wrap="square" rtlCol="0" anchor="ctr"/>
          <a:lstStyle/>
          <a:p>
            <a:pPr algn="ctr" indent="0" marL="0">
              <a:buNone/>
            </a:pPr>
            <a:r>
              <a:rPr lang="en-US" sz="1100" b="1" dirty="0">
                <a:solidFill>
                  <a:srgbClr val="D97706"/>
                </a:solidFill>
                <a:latin typeface="Arial" pitchFamily="34" charset="0"/>
                <a:ea typeface="Arial" pitchFamily="34" charset="-122"/>
                <a:cs typeface="Arial" pitchFamily="34" charset="-120"/>
              </a:rPr>
              <a:t>"BLUD menggeser paradigma: Dari sekadar menyewakan kawasan fisik menjadi penyedia solusi teknologi yang responsif terhadap kebutuhan industri dan masyarakat."</a:t>
            </a:r>
            <a:endParaRPr lang="en-US" sz="1100" dirty="0"/>
          </a:p>
        </p:txBody>
      </p:sp>
      <p:sp>
        <p:nvSpPr>
          <p:cNvPr id="9" name="Shape 7"/>
          <p:cNvSpPr/>
          <p:nvPr/>
        </p:nvSpPr>
        <p:spPr>
          <a:xfrm>
            <a:off x="731520" y="1600200"/>
            <a:ext cx="5257800" cy="2148840"/>
          </a:xfrm>
          <a:prstGeom prst="roundRect">
            <a:avLst>
              <a:gd name="adj" fmla="val 4255"/>
            </a:avLst>
          </a:prstGeom>
          <a:solidFill>
            <a:srgbClr val="FFFFFF"/>
          </a:solidFill>
          <a:ln w="15240">
            <a:solidFill>
              <a:srgbClr val="E2E8F0"/>
            </a:solidFill>
            <a:prstDash val="solid"/>
          </a:ln>
        </p:spPr>
      </p:sp>
      <p:sp>
        <p:nvSpPr>
          <p:cNvPr id="10" name="Shape 8"/>
          <p:cNvSpPr/>
          <p:nvPr/>
        </p:nvSpPr>
        <p:spPr>
          <a:xfrm>
            <a:off x="731520" y="1600200"/>
            <a:ext cx="5257800" cy="411480"/>
          </a:xfrm>
          <a:prstGeom prst="rect">
            <a:avLst/>
          </a:prstGeom>
          <a:solidFill>
            <a:srgbClr val="1E3A8A"/>
          </a:solidFill>
          <a:ln/>
        </p:spPr>
      </p:sp>
      <p:sp>
        <p:nvSpPr>
          <p:cNvPr id="11" name="Text 9"/>
          <p:cNvSpPr/>
          <p:nvPr/>
        </p:nvSpPr>
        <p:spPr>
          <a:xfrm>
            <a:off x="914400" y="1600200"/>
            <a:ext cx="489204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PILAR 1: LAYANAN TEKNIS (VOKASI SPESIALIS)</a:t>
            </a:r>
            <a:endParaRPr lang="en-US" sz="1100" dirty="0"/>
          </a:p>
        </p:txBody>
      </p:sp>
      <p:sp>
        <p:nvSpPr>
          <p:cNvPr id="12" name="Text 10"/>
          <p:cNvSpPr/>
          <p:nvPr/>
        </p:nvSpPr>
        <p:spPr>
          <a:xfrm>
            <a:off x="960120" y="2103120"/>
            <a:ext cx="4800600" cy="1508760"/>
          </a:xfrm>
          <a:prstGeom prst="rect">
            <a:avLst/>
          </a:prstGeom>
          <a:noFill/>
          <a:ln/>
        </p:spPr>
        <p:txBody>
          <a:bodyPr wrap="square" rtlCol="0" anchor="ctr"/>
          <a:lstStyle/>
          <a:p>
            <a:pPr indent="0" marL="0">
              <a:lnSpc>
                <a:spcPts val="1500"/>
              </a:lnSpc>
              <a:buNone/>
            </a:pPr>
            <a:r>
              <a:rPr lang="en-US" sz="1000" dirty="0">
                <a:solidFill>
                  <a:srgbClr val="1E293B"/>
                </a:solidFill>
                <a:latin typeface="Arial" pitchFamily="34" charset="0"/>
                <a:ea typeface="Arial" pitchFamily="34" charset="-122"/>
                <a:cs typeface="Arial" pitchFamily="34" charset="-120"/>
              </a:rPr>
              <a:t>• Diklat Mekanik, Otomasi &amp; Mekatronika Industri</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Desain Manufaktur &amp; Pengelasan (Welding 3G/6G)</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OGSCI: Oil &amp; Gas Skills Training Center</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Underwater Wet Welding (Keahlian Langka Nasional)</a:t>
            </a:r>
            <a:endParaRPr lang="en-US" sz="1000" dirty="0"/>
          </a:p>
        </p:txBody>
      </p:sp>
      <p:sp>
        <p:nvSpPr>
          <p:cNvPr id="13" name="Shape 11"/>
          <p:cNvSpPr/>
          <p:nvPr/>
        </p:nvSpPr>
        <p:spPr>
          <a:xfrm>
            <a:off x="6172200" y="1600200"/>
            <a:ext cx="5257800" cy="2148840"/>
          </a:xfrm>
          <a:prstGeom prst="roundRect">
            <a:avLst>
              <a:gd name="adj" fmla="val 4255"/>
            </a:avLst>
          </a:prstGeom>
          <a:solidFill>
            <a:srgbClr val="FFFFFF"/>
          </a:solidFill>
          <a:ln w="15240">
            <a:solidFill>
              <a:srgbClr val="E2E8F0"/>
            </a:solidFill>
            <a:prstDash val="solid"/>
          </a:ln>
        </p:spPr>
      </p:sp>
      <p:sp>
        <p:nvSpPr>
          <p:cNvPr id="14" name="Shape 12"/>
          <p:cNvSpPr/>
          <p:nvPr/>
        </p:nvSpPr>
        <p:spPr>
          <a:xfrm>
            <a:off x="6172200" y="1600200"/>
            <a:ext cx="5257800" cy="411480"/>
          </a:xfrm>
          <a:prstGeom prst="rect">
            <a:avLst/>
          </a:prstGeom>
          <a:solidFill>
            <a:srgbClr val="0284C7"/>
          </a:solidFill>
          <a:ln/>
        </p:spPr>
      </p:sp>
      <p:sp>
        <p:nvSpPr>
          <p:cNvPr id="15" name="Text 13"/>
          <p:cNvSpPr/>
          <p:nvPr/>
        </p:nvSpPr>
        <p:spPr>
          <a:xfrm>
            <a:off x="6355080" y="1600200"/>
            <a:ext cx="489204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PILAR 2: PENGEMBANGAN TEKNOLOGI</a:t>
            </a:r>
            <a:endParaRPr lang="en-US" sz="1100" dirty="0"/>
          </a:p>
        </p:txBody>
      </p:sp>
      <p:sp>
        <p:nvSpPr>
          <p:cNvPr id="16" name="Text 14"/>
          <p:cNvSpPr/>
          <p:nvPr/>
        </p:nvSpPr>
        <p:spPr>
          <a:xfrm>
            <a:off x="6400800" y="2103120"/>
            <a:ext cx="4800600" cy="1508760"/>
          </a:xfrm>
          <a:prstGeom prst="rect">
            <a:avLst/>
          </a:prstGeom>
          <a:noFill/>
          <a:ln/>
        </p:spPr>
        <p:txBody>
          <a:bodyPr wrap="square" rtlCol="0" anchor="ctr"/>
          <a:lstStyle/>
          <a:p>
            <a:pPr indent="0" marL="0">
              <a:lnSpc>
                <a:spcPts val="1500"/>
              </a:lnSpc>
              <a:buNone/>
            </a:pPr>
            <a:r>
              <a:rPr lang="en-US" sz="1000" dirty="0">
                <a:solidFill>
                  <a:srgbClr val="1E293B"/>
                </a:solidFill>
                <a:latin typeface="Arial" pitchFamily="34" charset="0"/>
                <a:ea typeface="Arial" pitchFamily="34" charset="-122"/>
                <a:cs typeface="Arial" pitchFamily="34" charset="-120"/>
              </a:rPr>
              <a:t>• Jasa Layanan Rekayasa Industri &amp; Permesinan</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Produksi Komponen Presisi (Precision Parts)</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Pembuatan &amp; Uji Prototipe bagi IKM/UKM Solo</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Riset Terapan Bersama Industri &amp; Laboratorium</a:t>
            </a:r>
            <a:endParaRPr lang="en-US" sz="1000" dirty="0"/>
          </a:p>
        </p:txBody>
      </p:sp>
      <p:sp>
        <p:nvSpPr>
          <p:cNvPr id="17" name="Shape 15"/>
          <p:cNvSpPr/>
          <p:nvPr/>
        </p:nvSpPr>
        <p:spPr>
          <a:xfrm>
            <a:off x="731520" y="3886200"/>
            <a:ext cx="5257800" cy="2148840"/>
          </a:xfrm>
          <a:prstGeom prst="roundRect">
            <a:avLst>
              <a:gd name="adj" fmla="val 4255"/>
            </a:avLst>
          </a:prstGeom>
          <a:solidFill>
            <a:srgbClr val="FFFFFF"/>
          </a:solidFill>
          <a:ln w="15240">
            <a:solidFill>
              <a:srgbClr val="E2E8F0"/>
            </a:solidFill>
            <a:prstDash val="solid"/>
          </a:ln>
        </p:spPr>
      </p:sp>
      <p:sp>
        <p:nvSpPr>
          <p:cNvPr id="18" name="Shape 16"/>
          <p:cNvSpPr/>
          <p:nvPr/>
        </p:nvSpPr>
        <p:spPr>
          <a:xfrm>
            <a:off x="731520" y="3886200"/>
            <a:ext cx="5257800" cy="411480"/>
          </a:xfrm>
          <a:prstGeom prst="rect">
            <a:avLst/>
          </a:prstGeom>
          <a:solidFill>
            <a:srgbClr val="059669"/>
          </a:solidFill>
          <a:ln/>
        </p:spPr>
      </p:sp>
      <p:sp>
        <p:nvSpPr>
          <p:cNvPr id="19" name="Text 17"/>
          <p:cNvSpPr/>
          <p:nvPr/>
        </p:nvSpPr>
        <p:spPr>
          <a:xfrm>
            <a:off x="914400" y="3886200"/>
            <a:ext cx="489204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PILAR 3: INKUBASI BISNIS &amp; TEKNOLOGI</a:t>
            </a:r>
            <a:endParaRPr lang="en-US" sz="1100" dirty="0"/>
          </a:p>
        </p:txBody>
      </p:sp>
      <p:sp>
        <p:nvSpPr>
          <p:cNvPr id="20" name="Text 18"/>
          <p:cNvSpPr/>
          <p:nvPr/>
        </p:nvSpPr>
        <p:spPr>
          <a:xfrm>
            <a:off x="960120" y="4389120"/>
            <a:ext cx="4800600" cy="1508760"/>
          </a:xfrm>
          <a:prstGeom prst="rect">
            <a:avLst/>
          </a:prstGeom>
          <a:noFill/>
          <a:ln/>
        </p:spPr>
        <p:txBody>
          <a:bodyPr wrap="square" rtlCol="0" anchor="ctr"/>
          <a:lstStyle/>
          <a:p>
            <a:pPr indent="0" marL="0">
              <a:lnSpc>
                <a:spcPts val="1500"/>
              </a:lnSpc>
              <a:buNone/>
            </a:pPr>
            <a:r>
              <a:rPr lang="en-US" sz="1000" dirty="0">
                <a:solidFill>
                  <a:srgbClr val="1E293B"/>
                </a:solidFill>
                <a:latin typeface="Arial" pitchFamily="34" charset="0"/>
                <a:ea typeface="Arial" pitchFamily="34" charset="-122"/>
                <a:cs typeface="Arial" pitchFamily="34" charset="-120"/>
              </a:rPr>
              <a:t>• Program Pra-Inkubasi &amp; Seleksi Startup Digital</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Pendampingan HKI, Hak Paten, &amp; Izin Edar</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Hilirisasi Riset Invensi Perguruan Tinggi</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Fasilitas Co-Working Space &amp; Akses Modal Ventura</a:t>
            </a:r>
            <a:endParaRPr lang="en-US" sz="1000" dirty="0"/>
          </a:p>
        </p:txBody>
      </p:sp>
      <p:sp>
        <p:nvSpPr>
          <p:cNvPr id="21" name="Shape 19"/>
          <p:cNvSpPr/>
          <p:nvPr/>
        </p:nvSpPr>
        <p:spPr>
          <a:xfrm>
            <a:off x="6172200" y="3886200"/>
            <a:ext cx="5257800" cy="2148840"/>
          </a:xfrm>
          <a:prstGeom prst="roundRect">
            <a:avLst>
              <a:gd name="adj" fmla="val 4255"/>
            </a:avLst>
          </a:prstGeom>
          <a:solidFill>
            <a:srgbClr val="FFFFFF"/>
          </a:solidFill>
          <a:ln w="15240">
            <a:solidFill>
              <a:srgbClr val="E2E8F0"/>
            </a:solidFill>
            <a:prstDash val="solid"/>
          </a:ln>
        </p:spPr>
      </p:sp>
      <p:sp>
        <p:nvSpPr>
          <p:cNvPr id="22" name="Shape 20"/>
          <p:cNvSpPr/>
          <p:nvPr/>
        </p:nvSpPr>
        <p:spPr>
          <a:xfrm>
            <a:off x="6172200" y="3886200"/>
            <a:ext cx="5257800" cy="411480"/>
          </a:xfrm>
          <a:prstGeom prst="rect">
            <a:avLst/>
          </a:prstGeom>
          <a:solidFill>
            <a:srgbClr val="0A192F"/>
          </a:solidFill>
          <a:ln/>
        </p:spPr>
      </p:sp>
      <p:sp>
        <p:nvSpPr>
          <p:cNvPr id="23" name="Text 21"/>
          <p:cNvSpPr/>
          <p:nvPr/>
        </p:nvSpPr>
        <p:spPr>
          <a:xfrm>
            <a:off x="6355080" y="3886200"/>
            <a:ext cx="4892040" cy="411480"/>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PILAR 4: LAYANAN PENDUKUNG (SUPPORTING)</a:t>
            </a:r>
            <a:endParaRPr lang="en-US" sz="1100" dirty="0"/>
          </a:p>
        </p:txBody>
      </p:sp>
      <p:sp>
        <p:nvSpPr>
          <p:cNvPr id="24" name="Text 22"/>
          <p:cNvSpPr/>
          <p:nvPr/>
        </p:nvSpPr>
        <p:spPr>
          <a:xfrm>
            <a:off x="6400800" y="4389120"/>
            <a:ext cx="4800600" cy="1508760"/>
          </a:xfrm>
          <a:prstGeom prst="rect">
            <a:avLst/>
          </a:prstGeom>
          <a:noFill/>
          <a:ln/>
        </p:spPr>
        <p:txBody>
          <a:bodyPr wrap="square" rtlCol="0" anchor="ctr"/>
          <a:lstStyle/>
          <a:p>
            <a:pPr indent="0" marL="0">
              <a:lnSpc>
                <a:spcPts val="1500"/>
              </a:lnSpc>
              <a:buNone/>
            </a:pPr>
            <a:r>
              <a:rPr lang="en-US" sz="1000" dirty="0">
                <a:solidFill>
                  <a:srgbClr val="1E293B"/>
                </a:solidFill>
                <a:latin typeface="Arial" pitchFamily="34" charset="0"/>
                <a:ea typeface="Arial" pitchFamily="34" charset="-122"/>
                <a:cs typeface="Arial" pitchFamily="34" charset="-120"/>
              </a:rPr>
              <a:t>• Prakerin &amp; Uji Kompetensi Siswa SMK se-Solo Raya</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Solo Science Center: Wahana Edukasi Iptek Publik</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Optimalisasi Gedung Pertemuan, MICE, &amp; Expo</a:t>
            </a:r>
            <a:endParaRPr lang="en-US" sz="1000" dirty="0"/>
          </a:p>
          <a:p>
            <a:pPr indent="0" marL="0">
              <a:lnSpc>
                <a:spcPts val="1500"/>
              </a:lnSpc>
              <a:buNone/>
            </a:pPr>
            <a:r>
              <a:rPr lang="en-US" sz="1000" dirty="0">
                <a:solidFill>
                  <a:srgbClr val="1E293B"/>
                </a:solidFill>
                <a:latin typeface="Arial" pitchFamily="34" charset="0"/>
                <a:ea typeface="Arial" pitchFamily="34" charset="-122"/>
                <a:cs typeface="Arial" pitchFamily="34" charset="-120"/>
              </a:rPr>
              <a:t>• Fasilitas Pusat Olahraga &amp; Sarana Publik Kawasan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284C7"/>
          </a:solidFill>
          <a:ln/>
        </p:spPr>
      </p:sp>
      <p:sp>
        <p:nvSpPr>
          <p:cNvPr id="3" name="Text 1"/>
          <p:cNvSpPr/>
          <p:nvPr/>
        </p:nvSpPr>
        <p:spPr>
          <a:xfrm>
            <a:off x="731520" y="292608"/>
            <a:ext cx="8229600" cy="256032"/>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RANTAI NILAI HILIRISASI (VALUE CHAIN)</a:t>
            </a:r>
            <a:endParaRPr lang="en-US" sz="1000" dirty="0"/>
          </a:p>
        </p:txBody>
      </p:sp>
      <p:sp>
        <p:nvSpPr>
          <p:cNvPr id="4" name="Text 2"/>
          <p:cNvSpPr/>
          <p:nvPr/>
        </p:nvSpPr>
        <p:spPr>
          <a:xfrm>
            <a:off x="731520" y="548640"/>
            <a:ext cx="10698480" cy="411480"/>
          </a:xfrm>
          <a:prstGeom prst="rect">
            <a:avLst/>
          </a:prstGeom>
          <a:noFill/>
          <a:ln/>
        </p:spPr>
        <p:txBody>
          <a:bodyPr wrap="square" rtlCol="0" anchor="ctr"/>
          <a:lstStyle/>
          <a:p>
            <a:pPr indent="0" marL="0">
              <a:buNone/>
            </a:pPr>
            <a:r>
              <a:rPr lang="en-US" sz="2000" b="1" dirty="0">
                <a:solidFill>
                  <a:srgbClr val="0A192F"/>
                </a:solidFill>
                <a:latin typeface="Arial" pitchFamily="34" charset="0"/>
                <a:ea typeface="Arial" pitchFamily="34" charset="-122"/>
                <a:cs typeface="Arial" pitchFamily="34" charset="-120"/>
              </a:rPr>
              <a:t>PERAN KUNCI: PIPELINE HILIRISASI RISET MENUJU PASAR</a:t>
            </a:r>
            <a:endParaRPr lang="en-US" sz="2000" dirty="0"/>
          </a:p>
        </p:txBody>
      </p:sp>
      <p:sp>
        <p:nvSpPr>
          <p:cNvPr id="5" name="Text 3"/>
          <p:cNvSpPr/>
          <p:nvPr/>
        </p:nvSpPr>
        <p:spPr>
          <a:xfrm>
            <a:off x="731520" y="6382512"/>
            <a:ext cx="7772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Solo Technopark 2026–2030 | Bahan Paparan Resmi Walikota Surakarta</a:t>
            </a:r>
            <a:endParaRPr lang="en-US" sz="900" dirty="0"/>
          </a:p>
        </p:txBody>
      </p:sp>
      <p:sp>
        <p:nvSpPr>
          <p:cNvPr id="6" name="Text 4"/>
          <p:cNvSpPr/>
          <p:nvPr/>
        </p:nvSpPr>
        <p:spPr>
          <a:xfrm>
            <a:off x="10241280" y="6382512"/>
            <a:ext cx="1218895" cy="274320"/>
          </a:xfrm>
          <a:prstGeom prst="rect">
            <a:avLst/>
          </a:prstGeom>
          <a:noFill/>
          <a:ln/>
        </p:spPr>
        <p:txBody>
          <a:bodyPr wrap="square" rtlCol="0" anchor="ctr"/>
          <a:lstStyle/>
          <a:p>
            <a:pPr algn="r" indent="0" marL="0">
              <a:buNone/>
            </a:pPr>
            <a:r>
              <a:rPr lang="en-US" sz="950" b="1" dirty="0">
                <a:solidFill>
                  <a:srgbClr val="64748B"/>
                </a:solidFill>
                <a:latin typeface="Arial" pitchFamily="34" charset="0"/>
                <a:ea typeface="Arial" pitchFamily="34" charset="-122"/>
                <a:cs typeface="Arial" pitchFamily="34" charset="-120"/>
              </a:rPr>
              <a:t>Slide 4 / 10</a:t>
            </a:r>
            <a:endParaRPr lang="en-US" sz="950" dirty="0"/>
          </a:p>
        </p:txBody>
      </p:sp>
      <p:sp>
        <p:nvSpPr>
          <p:cNvPr id="7" name="Shape 5"/>
          <p:cNvSpPr/>
          <p:nvPr/>
        </p:nvSpPr>
        <p:spPr>
          <a:xfrm>
            <a:off x="731520" y="1143000"/>
            <a:ext cx="2011680" cy="1005840"/>
          </a:xfrm>
          <a:prstGeom prst="roundRect">
            <a:avLst>
              <a:gd name="adj" fmla="val 7273"/>
            </a:avLst>
          </a:prstGeom>
          <a:solidFill>
            <a:srgbClr val="1E3A8A"/>
          </a:solidFill>
          <a:ln w="19050">
            <a:solidFill>
              <a:srgbClr val="FFFFFF"/>
            </a:solidFill>
            <a:prstDash val="solid"/>
          </a:ln>
        </p:spPr>
      </p:sp>
      <p:sp>
        <p:nvSpPr>
          <p:cNvPr id="8" name="Text 6"/>
          <p:cNvSpPr/>
          <p:nvPr/>
        </p:nvSpPr>
        <p:spPr>
          <a:xfrm>
            <a:off x="731520" y="1234440"/>
            <a:ext cx="2011680" cy="228600"/>
          </a:xfrm>
          <a:prstGeom prst="rect">
            <a:avLst/>
          </a:prstGeom>
          <a:noFill/>
          <a:ln/>
        </p:spPr>
        <p:txBody>
          <a:bodyPr wrap="square" rtlCol="0" anchor="ctr"/>
          <a:lstStyle/>
          <a:p>
            <a:pPr algn="ctr" indent="0" marL="0">
              <a:buNone/>
            </a:pPr>
            <a:r>
              <a:rPr lang="en-US" sz="900" b="1" dirty="0">
                <a:solidFill>
                  <a:srgbClr val="FEF3C7"/>
                </a:solidFill>
                <a:latin typeface="Arial" pitchFamily="34" charset="0"/>
                <a:ea typeface="Arial" pitchFamily="34" charset="-122"/>
                <a:cs typeface="Arial" pitchFamily="34" charset="-120"/>
              </a:rPr>
              <a:t>TAHAP 01</a:t>
            </a:r>
            <a:endParaRPr lang="en-US" sz="900" dirty="0"/>
          </a:p>
        </p:txBody>
      </p:sp>
      <p:sp>
        <p:nvSpPr>
          <p:cNvPr id="9" name="Text 7"/>
          <p:cNvSpPr/>
          <p:nvPr/>
        </p:nvSpPr>
        <p:spPr>
          <a:xfrm>
            <a:off x="731520" y="1463040"/>
            <a:ext cx="201168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Riset / Inventor</a:t>
            </a:r>
            <a:endParaRPr lang="en-US" sz="1100" dirty="0"/>
          </a:p>
        </p:txBody>
      </p:sp>
      <p:sp>
        <p:nvSpPr>
          <p:cNvPr id="10" name="Text 8"/>
          <p:cNvSpPr/>
          <p:nvPr/>
        </p:nvSpPr>
        <p:spPr>
          <a:xfrm>
            <a:off x="731520" y="1783080"/>
            <a:ext cx="2011680" cy="274320"/>
          </a:xfrm>
          <a:prstGeom prst="rect">
            <a:avLst/>
          </a:prstGeom>
          <a:noFill/>
          <a:ln/>
        </p:spPr>
        <p:txBody>
          <a:bodyPr wrap="square" rtlCol="0" anchor="ctr"/>
          <a:lstStyle/>
          <a:p>
            <a:pPr algn="ctr" indent="0" marL="0">
              <a:buNone/>
            </a:pPr>
            <a:r>
              <a:rPr lang="en-US" sz="850" dirty="0">
                <a:solidFill>
                  <a:srgbClr val="E0F2FE"/>
                </a:solidFill>
                <a:latin typeface="Arial" pitchFamily="34" charset="0"/>
                <a:ea typeface="Arial" pitchFamily="34" charset="-122"/>
                <a:cs typeface="Arial" pitchFamily="34" charset="-120"/>
              </a:rPr>
              <a:t>UNS, UMS, ISI, Poltek</a:t>
            </a:r>
            <a:endParaRPr lang="en-US" sz="850" dirty="0"/>
          </a:p>
        </p:txBody>
      </p:sp>
      <p:sp>
        <p:nvSpPr>
          <p:cNvPr id="11" name="Text 9"/>
          <p:cNvSpPr/>
          <p:nvPr/>
        </p:nvSpPr>
        <p:spPr>
          <a:xfrm>
            <a:off x="2697480" y="1417320"/>
            <a:ext cx="274320" cy="365760"/>
          </a:xfrm>
          <a:prstGeom prst="rect">
            <a:avLst/>
          </a:prstGeom>
          <a:noFill/>
          <a:ln/>
        </p:spPr>
        <p:txBody>
          <a:bodyPr wrap="square" rtlCol="0" anchor="ctr"/>
          <a:lstStyle/>
          <a:p>
            <a:pPr algn="ctr" indent="0" marL="0">
              <a:buNone/>
            </a:pPr>
            <a:r>
              <a:rPr lang="en-US" sz="1400" b="1" dirty="0">
                <a:solidFill>
                  <a:srgbClr val="0284C7"/>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907792" y="1143000"/>
            <a:ext cx="2011680" cy="1005840"/>
          </a:xfrm>
          <a:prstGeom prst="roundRect">
            <a:avLst>
              <a:gd name="adj" fmla="val 7273"/>
            </a:avLst>
          </a:prstGeom>
          <a:solidFill>
            <a:srgbClr val="1E3A8A"/>
          </a:solidFill>
          <a:ln w="19050">
            <a:solidFill>
              <a:srgbClr val="FFFFFF"/>
            </a:solidFill>
            <a:prstDash val="solid"/>
          </a:ln>
        </p:spPr>
      </p:sp>
      <p:sp>
        <p:nvSpPr>
          <p:cNvPr id="13" name="Text 11"/>
          <p:cNvSpPr/>
          <p:nvPr/>
        </p:nvSpPr>
        <p:spPr>
          <a:xfrm>
            <a:off x="2907792" y="1234440"/>
            <a:ext cx="2011680" cy="228600"/>
          </a:xfrm>
          <a:prstGeom prst="rect">
            <a:avLst/>
          </a:prstGeom>
          <a:noFill/>
          <a:ln/>
        </p:spPr>
        <p:txBody>
          <a:bodyPr wrap="square" rtlCol="0" anchor="ctr"/>
          <a:lstStyle/>
          <a:p>
            <a:pPr algn="ctr" indent="0" marL="0">
              <a:buNone/>
            </a:pPr>
            <a:r>
              <a:rPr lang="en-US" sz="900" b="1" dirty="0">
                <a:solidFill>
                  <a:srgbClr val="FEF3C7"/>
                </a:solidFill>
                <a:latin typeface="Arial" pitchFamily="34" charset="0"/>
                <a:ea typeface="Arial" pitchFamily="34" charset="-122"/>
                <a:cs typeface="Arial" pitchFamily="34" charset="-120"/>
              </a:rPr>
              <a:t>TAHAP 02</a:t>
            </a:r>
            <a:endParaRPr lang="en-US" sz="900" dirty="0"/>
          </a:p>
        </p:txBody>
      </p:sp>
      <p:sp>
        <p:nvSpPr>
          <p:cNvPr id="14" name="Text 12"/>
          <p:cNvSpPr/>
          <p:nvPr/>
        </p:nvSpPr>
        <p:spPr>
          <a:xfrm>
            <a:off x="2907792" y="1463040"/>
            <a:ext cx="201168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Seleksi &amp; Kurasi</a:t>
            </a:r>
            <a:endParaRPr lang="en-US" sz="1100" dirty="0"/>
          </a:p>
        </p:txBody>
      </p:sp>
      <p:sp>
        <p:nvSpPr>
          <p:cNvPr id="15" name="Text 13"/>
          <p:cNvSpPr/>
          <p:nvPr/>
        </p:nvSpPr>
        <p:spPr>
          <a:xfrm>
            <a:off x="2907792" y="1783080"/>
            <a:ext cx="2011680" cy="274320"/>
          </a:xfrm>
          <a:prstGeom prst="rect">
            <a:avLst/>
          </a:prstGeom>
          <a:noFill/>
          <a:ln/>
        </p:spPr>
        <p:txBody>
          <a:bodyPr wrap="square" rtlCol="0" anchor="ctr"/>
          <a:lstStyle/>
          <a:p>
            <a:pPr algn="ctr" indent="0" marL="0">
              <a:buNone/>
            </a:pPr>
            <a:r>
              <a:rPr lang="en-US" sz="850" dirty="0">
                <a:solidFill>
                  <a:srgbClr val="E0F2FE"/>
                </a:solidFill>
                <a:latin typeface="Arial" pitchFamily="34" charset="0"/>
                <a:ea typeface="Arial" pitchFamily="34" charset="-122"/>
                <a:cs typeface="Arial" pitchFamily="34" charset="-120"/>
              </a:rPr>
              <a:t>Validasi Kesiapan STP</a:t>
            </a:r>
            <a:endParaRPr lang="en-US" sz="850" dirty="0"/>
          </a:p>
        </p:txBody>
      </p:sp>
      <p:sp>
        <p:nvSpPr>
          <p:cNvPr id="16" name="Text 14"/>
          <p:cNvSpPr/>
          <p:nvPr/>
        </p:nvSpPr>
        <p:spPr>
          <a:xfrm>
            <a:off x="4873752" y="1417320"/>
            <a:ext cx="274320" cy="365760"/>
          </a:xfrm>
          <a:prstGeom prst="rect">
            <a:avLst/>
          </a:prstGeom>
          <a:noFill/>
          <a:ln/>
        </p:spPr>
        <p:txBody>
          <a:bodyPr wrap="square" rtlCol="0" anchor="ctr"/>
          <a:lstStyle/>
          <a:p>
            <a:pPr algn="ctr" indent="0" marL="0">
              <a:buNone/>
            </a:pPr>
            <a:r>
              <a:rPr lang="en-US" sz="1400" b="1" dirty="0">
                <a:solidFill>
                  <a:srgbClr val="0284C7"/>
                </a:solidFill>
                <a:latin typeface="Arial" pitchFamily="34" charset="0"/>
                <a:ea typeface="Arial" pitchFamily="34" charset="-122"/>
                <a:cs typeface="Arial" pitchFamily="34" charset="-120"/>
              </a:rPr>
              <a:t>➔</a:t>
            </a:r>
            <a:endParaRPr lang="en-US" sz="1400" dirty="0"/>
          </a:p>
        </p:txBody>
      </p:sp>
      <p:sp>
        <p:nvSpPr>
          <p:cNvPr id="17" name="Shape 15"/>
          <p:cNvSpPr/>
          <p:nvPr/>
        </p:nvSpPr>
        <p:spPr>
          <a:xfrm>
            <a:off x="5084064" y="1143000"/>
            <a:ext cx="2011680" cy="1005840"/>
          </a:xfrm>
          <a:prstGeom prst="roundRect">
            <a:avLst>
              <a:gd name="adj" fmla="val 7273"/>
            </a:avLst>
          </a:prstGeom>
          <a:solidFill>
            <a:srgbClr val="D97706"/>
          </a:solidFill>
          <a:ln w="19050">
            <a:solidFill>
              <a:srgbClr val="FFFFFF"/>
            </a:solidFill>
            <a:prstDash val="solid"/>
          </a:ln>
        </p:spPr>
      </p:sp>
      <p:sp>
        <p:nvSpPr>
          <p:cNvPr id="18" name="Text 16"/>
          <p:cNvSpPr/>
          <p:nvPr/>
        </p:nvSpPr>
        <p:spPr>
          <a:xfrm>
            <a:off x="5084064" y="1234440"/>
            <a:ext cx="2011680" cy="228600"/>
          </a:xfrm>
          <a:prstGeom prst="rect">
            <a:avLst/>
          </a:prstGeom>
          <a:noFill/>
          <a:ln/>
        </p:spPr>
        <p:txBody>
          <a:bodyPr wrap="square" rtlCol="0" anchor="ctr"/>
          <a:lstStyle/>
          <a:p>
            <a:pPr algn="ctr" indent="0" marL="0">
              <a:buNone/>
            </a:pPr>
            <a:r>
              <a:rPr lang="en-US" sz="900" b="1" dirty="0">
                <a:solidFill>
                  <a:srgbClr val="FEF3C7"/>
                </a:solidFill>
                <a:latin typeface="Arial" pitchFamily="34" charset="0"/>
                <a:ea typeface="Arial" pitchFamily="34" charset="-122"/>
                <a:cs typeface="Arial" pitchFamily="34" charset="-120"/>
              </a:rPr>
              <a:t>TAHAP 03</a:t>
            </a:r>
            <a:endParaRPr lang="en-US" sz="900" dirty="0"/>
          </a:p>
        </p:txBody>
      </p:sp>
      <p:sp>
        <p:nvSpPr>
          <p:cNvPr id="19" name="Text 17"/>
          <p:cNvSpPr/>
          <p:nvPr/>
        </p:nvSpPr>
        <p:spPr>
          <a:xfrm>
            <a:off x="5084064" y="1463040"/>
            <a:ext cx="201168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Prototype Lab</a:t>
            </a:r>
            <a:endParaRPr lang="en-US" sz="1100" dirty="0"/>
          </a:p>
        </p:txBody>
      </p:sp>
      <p:sp>
        <p:nvSpPr>
          <p:cNvPr id="20" name="Text 18"/>
          <p:cNvSpPr/>
          <p:nvPr/>
        </p:nvSpPr>
        <p:spPr>
          <a:xfrm>
            <a:off x="5084064" y="1783080"/>
            <a:ext cx="2011680" cy="274320"/>
          </a:xfrm>
          <a:prstGeom prst="rect">
            <a:avLst/>
          </a:prstGeom>
          <a:noFill/>
          <a:ln/>
        </p:spPr>
        <p:txBody>
          <a:bodyPr wrap="square" rtlCol="0" anchor="ctr"/>
          <a:lstStyle/>
          <a:p>
            <a:pPr algn="ctr" indent="0" marL="0">
              <a:buNone/>
            </a:pPr>
            <a:r>
              <a:rPr lang="en-US" sz="850" dirty="0">
                <a:solidFill>
                  <a:srgbClr val="E0F2FE"/>
                </a:solidFill>
                <a:latin typeface="Arial" pitchFamily="34" charset="0"/>
                <a:ea typeface="Arial" pitchFamily="34" charset="-122"/>
                <a:cs typeface="Arial" pitchFamily="34" charset="-120"/>
              </a:rPr>
              <a:t>Uji Teknis &amp; Standarisasi</a:t>
            </a:r>
            <a:endParaRPr lang="en-US" sz="850" dirty="0"/>
          </a:p>
        </p:txBody>
      </p:sp>
      <p:sp>
        <p:nvSpPr>
          <p:cNvPr id="21" name="Text 19"/>
          <p:cNvSpPr/>
          <p:nvPr/>
        </p:nvSpPr>
        <p:spPr>
          <a:xfrm>
            <a:off x="7050024" y="1417320"/>
            <a:ext cx="274320" cy="365760"/>
          </a:xfrm>
          <a:prstGeom prst="rect">
            <a:avLst/>
          </a:prstGeom>
          <a:noFill/>
          <a:ln/>
        </p:spPr>
        <p:txBody>
          <a:bodyPr wrap="square" rtlCol="0" anchor="ctr"/>
          <a:lstStyle/>
          <a:p>
            <a:pPr algn="ctr" indent="0" marL="0">
              <a:buNone/>
            </a:pPr>
            <a:r>
              <a:rPr lang="en-US" sz="1400" b="1" dirty="0">
                <a:solidFill>
                  <a:srgbClr val="0284C7"/>
                </a:solidFill>
                <a:latin typeface="Arial" pitchFamily="34" charset="0"/>
                <a:ea typeface="Arial" pitchFamily="34" charset="-122"/>
                <a:cs typeface="Arial" pitchFamily="34" charset="-120"/>
              </a:rPr>
              <a:t>➔</a:t>
            </a:r>
            <a:endParaRPr lang="en-US" sz="1400" dirty="0"/>
          </a:p>
        </p:txBody>
      </p:sp>
      <p:sp>
        <p:nvSpPr>
          <p:cNvPr id="22" name="Shape 20"/>
          <p:cNvSpPr/>
          <p:nvPr/>
        </p:nvSpPr>
        <p:spPr>
          <a:xfrm>
            <a:off x="7260336" y="1143000"/>
            <a:ext cx="2011680" cy="1005840"/>
          </a:xfrm>
          <a:prstGeom prst="roundRect">
            <a:avLst>
              <a:gd name="adj" fmla="val 7273"/>
            </a:avLst>
          </a:prstGeom>
          <a:solidFill>
            <a:srgbClr val="1E3A8A"/>
          </a:solidFill>
          <a:ln w="19050">
            <a:solidFill>
              <a:srgbClr val="FFFFFF"/>
            </a:solidFill>
            <a:prstDash val="solid"/>
          </a:ln>
        </p:spPr>
      </p:sp>
      <p:sp>
        <p:nvSpPr>
          <p:cNvPr id="23" name="Text 21"/>
          <p:cNvSpPr/>
          <p:nvPr/>
        </p:nvSpPr>
        <p:spPr>
          <a:xfrm>
            <a:off x="7260336" y="1234440"/>
            <a:ext cx="2011680" cy="228600"/>
          </a:xfrm>
          <a:prstGeom prst="rect">
            <a:avLst/>
          </a:prstGeom>
          <a:noFill/>
          <a:ln/>
        </p:spPr>
        <p:txBody>
          <a:bodyPr wrap="square" rtlCol="0" anchor="ctr"/>
          <a:lstStyle/>
          <a:p>
            <a:pPr algn="ctr" indent="0" marL="0">
              <a:buNone/>
            </a:pPr>
            <a:r>
              <a:rPr lang="en-US" sz="900" b="1" dirty="0">
                <a:solidFill>
                  <a:srgbClr val="FEF3C7"/>
                </a:solidFill>
                <a:latin typeface="Arial" pitchFamily="34" charset="0"/>
                <a:ea typeface="Arial" pitchFamily="34" charset="-122"/>
                <a:cs typeface="Arial" pitchFamily="34" charset="-120"/>
              </a:rPr>
              <a:t>TAHAP 04</a:t>
            </a:r>
            <a:endParaRPr lang="en-US" sz="900" dirty="0"/>
          </a:p>
        </p:txBody>
      </p:sp>
      <p:sp>
        <p:nvSpPr>
          <p:cNvPr id="24" name="Text 22"/>
          <p:cNvSpPr/>
          <p:nvPr/>
        </p:nvSpPr>
        <p:spPr>
          <a:xfrm>
            <a:off x="7260336" y="1463040"/>
            <a:ext cx="201168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Inkubasi Bisnis</a:t>
            </a:r>
            <a:endParaRPr lang="en-US" sz="1100" dirty="0"/>
          </a:p>
        </p:txBody>
      </p:sp>
      <p:sp>
        <p:nvSpPr>
          <p:cNvPr id="25" name="Text 23"/>
          <p:cNvSpPr/>
          <p:nvPr/>
        </p:nvSpPr>
        <p:spPr>
          <a:xfrm>
            <a:off x="7260336" y="1783080"/>
            <a:ext cx="2011680" cy="274320"/>
          </a:xfrm>
          <a:prstGeom prst="rect">
            <a:avLst/>
          </a:prstGeom>
          <a:noFill/>
          <a:ln/>
        </p:spPr>
        <p:txBody>
          <a:bodyPr wrap="square" rtlCol="0" anchor="ctr"/>
          <a:lstStyle/>
          <a:p>
            <a:pPr algn="ctr" indent="0" marL="0">
              <a:buNone/>
            </a:pPr>
            <a:r>
              <a:rPr lang="en-US" sz="850" dirty="0">
                <a:solidFill>
                  <a:srgbClr val="E0F2FE"/>
                </a:solidFill>
                <a:latin typeface="Arial" pitchFamily="34" charset="0"/>
                <a:ea typeface="Arial" pitchFamily="34" charset="-122"/>
                <a:cs typeface="Arial" pitchFamily="34" charset="-120"/>
              </a:rPr>
              <a:t>Business Plan &amp; HKI</a:t>
            </a:r>
            <a:endParaRPr lang="en-US" sz="850" dirty="0"/>
          </a:p>
        </p:txBody>
      </p:sp>
      <p:sp>
        <p:nvSpPr>
          <p:cNvPr id="26" name="Text 24"/>
          <p:cNvSpPr/>
          <p:nvPr/>
        </p:nvSpPr>
        <p:spPr>
          <a:xfrm>
            <a:off x="9226296" y="1417320"/>
            <a:ext cx="274320" cy="365760"/>
          </a:xfrm>
          <a:prstGeom prst="rect">
            <a:avLst/>
          </a:prstGeom>
          <a:noFill/>
          <a:ln/>
        </p:spPr>
        <p:txBody>
          <a:bodyPr wrap="square" rtlCol="0" anchor="ctr"/>
          <a:lstStyle/>
          <a:p>
            <a:pPr algn="ctr" indent="0" marL="0">
              <a:buNone/>
            </a:pPr>
            <a:r>
              <a:rPr lang="en-US" sz="1400" b="1" dirty="0">
                <a:solidFill>
                  <a:srgbClr val="0284C7"/>
                </a:solidFill>
                <a:latin typeface="Arial" pitchFamily="34" charset="0"/>
                <a:ea typeface="Arial" pitchFamily="34" charset="-122"/>
                <a:cs typeface="Arial" pitchFamily="34" charset="-120"/>
              </a:rPr>
              <a:t>➔</a:t>
            </a:r>
            <a:endParaRPr lang="en-US" sz="1400" dirty="0"/>
          </a:p>
        </p:txBody>
      </p:sp>
      <p:sp>
        <p:nvSpPr>
          <p:cNvPr id="27" name="Shape 25"/>
          <p:cNvSpPr/>
          <p:nvPr/>
        </p:nvSpPr>
        <p:spPr>
          <a:xfrm>
            <a:off x="9436608" y="1143000"/>
            <a:ext cx="2011680" cy="1005840"/>
          </a:xfrm>
          <a:prstGeom prst="roundRect">
            <a:avLst>
              <a:gd name="adj" fmla="val 7273"/>
            </a:avLst>
          </a:prstGeom>
          <a:solidFill>
            <a:srgbClr val="059669"/>
          </a:solidFill>
          <a:ln w="19050">
            <a:solidFill>
              <a:srgbClr val="FFFFFF"/>
            </a:solidFill>
            <a:prstDash val="solid"/>
          </a:ln>
        </p:spPr>
      </p:sp>
      <p:sp>
        <p:nvSpPr>
          <p:cNvPr id="28" name="Text 26"/>
          <p:cNvSpPr/>
          <p:nvPr/>
        </p:nvSpPr>
        <p:spPr>
          <a:xfrm>
            <a:off x="9436608" y="1234440"/>
            <a:ext cx="2011680" cy="228600"/>
          </a:xfrm>
          <a:prstGeom prst="rect">
            <a:avLst/>
          </a:prstGeom>
          <a:noFill/>
          <a:ln/>
        </p:spPr>
        <p:txBody>
          <a:bodyPr wrap="square" rtlCol="0" anchor="ctr"/>
          <a:lstStyle/>
          <a:p>
            <a:pPr algn="ctr" indent="0" marL="0">
              <a:buNone/>
            </a:pPr>
            <a:r>
              <a:rPr lang="en-US" sz="900" b="1" dirty="0">
                <a:solidFill>
                  <a:srgbClr val="FEF3C7"/>
                </a:solidFill>
                <a:latin typeface="Arial" pitchFamily="34" charset="0"/>
                <a:ea typeface="Arial" pitchFamily="34" charset="-122"/>
                <a:cs typeface="Arial" pitchFamily="34" charset="-120"/>
              </a:rPr>
              <a:t>TAHAP 05</a:t>
            </a:r>
            <a:endParaRPr lang="en-US" sz="900" dirty="0"/>
          </a:p>
        </p:txBody>
      </p:sp>
      <p:sp>
        <p:nvSpPr>
          <p:cNvPr id="29" name="Text 27"/>
          <p:cNvSpPr/>
          <p:nvPr/>
        </p:nvSpPr>
        <p:spPr>
          <a:xfrm>
            <a:off x="9436608" y="1463040"/>
            <a:ext cx="2011680" cy="32004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Pasar Industri</a:t>
            </a:r>
            <a:endParaRPr lang="en-US" sz="1100" dirty="0"/>
          </a:p>
        </p:txBody>
      </p:sp>
      <p:sp>
        <p:nvSpPr>
          <p:cNvPr id="30" name="Text 28"/>
          <p:cNvSpPr/>
          <p:nvPr/>
        </p:nvSpPr>
        <p:spPr>
          <a:xfrm>
            <a:off x="9436608" y="1783080"/>
            <a:ext cx="2011680" cy="274320"/>
          </a:xfrm>
          <a:prstGeom prst="rect">
            <a:avLst/>
          </a:prstGeom>
          <a:noFill/>
          <a:ln/>
        </p:spPr>
        <p:txBody>
          <a:bodyPr wrap="square" rtlCol="0" anchor="ctr"/>
          <a:lstStyle/>
          <a:p>
            <a:pPr algn="ctr" indent="0" marL="0">
              <a:buNone/>
            </a:pPr>
            <a:r>
              <a:rPr lang="en-US" sz="850" dirty="0">
                <a:solidFill>
                  <a:srgbClr val="E0F2FE"/>
                </a:solidFill>
                <a:latin typeface="Arial" pitchFamily="34" charset="0"/>
                <a:ea typeface="Arial" pitchFamily="34" charset="-122"/>
                <a:cs typeface="Arial" pitchFamily="34" charset="-120"/>
              </a:rPr>
              <a:t>Komersial &amp; e-Katalog</a:t>
            </a:r>
            <a:endParaRPr lang="en-US" sz="850" dirty="0"/>
          </a:p>
        </p:txBody>
      </p:sp>
      <p:sp>
        <p:nvSpPr>
          <p:cNvPr id="31" name="Shape 29"/>
          <p:cNvSpPr/>
          <p:nvPr/>
        </p:nvSpPr>
        <p:spPr>
          <a:xfrm>
            <a:off x="731520" y="2377440"/>
            <a:ext cx="3474720" cy="2926080"/>
          </a:xfrm>
          <a:prstGeom prst="roundRect">
            <a:avLst>
              <a:gd name="adj" fmla="val 3125"/>
            </a:avLst>
          </a:prstGeom>
          <a:solidFill>
            <a:srgbClr val="FFFFFF"/>
          </a:solidFill>
          <a:ln w="15240">
            <a:solidFill>
              <a:srgbClr val="E2E8F0"/>
            </a:solidFill>
            <a:prstDash val="solid"/>
          </a:ln>
        </p:spPr>
      </p:sp>
      <p:sp>
        <p:nvSpPr>
          <p:cNvPr id="32" name="Shape 30"/>
          <p:cNvSpPr/>
          <p:nvPr/>
        </p:nvSpPr>
        <p:spPr>
          <a:xfrm>
            <a:off x="731520" y="2377440"/>
            <a:ext cx="3474720" cy="365760"/>
          </a:xfrm>
          <a:prstGeom prst="rect">
            <a:avLst/>
          </a:prstGeom>
          <a:solidFill>
            <a:srgbClr val="1E3A8A"/>
          </a:solidFill>
          <a:ln/>
        </p:spPr>
      </p:sp>
      <p:sp>
        <p:nvSpPr>
          <p:cNvPr id="33" name="Text 31"/>
          <p:cNvSpPr/>
          <p:nvPr/>
        </p:nvSpPr>
        <p:spPr>
          <a:xfrm>
            <a:off x="868680" y="2377440"/>
            <a:ext cx="3200400" cy="36576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CONTOH TEKNOLOGI RIIL</a:t>
            </a:r>
            <a:endParaRPr lang="en-US" sz="1050" dirty="0"/>
          </a:p>
        </p:txBody>
      </p:sp>
      <p:sp>
        <p:nvSpPr>
          <p:cNvPr id="34" name="Text 32"/>
          <p:cNvSpPr/>
          <p:nvPr/>
        </p:nvSpPr>
        <p:spPr>
          <a:xfrm>
            <a:off x="914400" y="2880360"/>
            <a:ext cx="3108960" cy="2286000"/>
          </a:xfrm>
          <a:prstGeom prst="rect">
            <a:avLst/>
          </a:prstGeom>
          <a:noFill/>
          <a:ln/>
        </p:spPr>
        <p:txBody>
          <a:bodyPr wrap="square" rtlCol="0" anchor="ctr"/>
          <a:lstStyle/>
          <a:p>
            <a:pPr indent="0" marL="0">
              <a:lnSpc>
                <a:spcPts val="1400"/>
              </a:lnSpc>
              <a:buNone/>
            </a:pPr>
            <a:r>
              <a:rPr lang="en-US" sz="980" dirty="0">
                <a:solidFill>
                  <a:srgbClr val="1E293B"/>
                </a:solidFill>
                <a:latin typeface="Arial" pitchFamily="34" charset="0"/>
                <a:ea typeface="Arial" pitchFamily="34" charset="-122"/>
                <a:cs typeface="Arial" pitchFamily="34" charset="-120"/>
              </a:rPr>
              <a:t>• Smart Agriculture: Mesin Sortasi Kopi Otomatis</a:t>
            </a:r>
            <a:endParaRPr lang="en-US" sz="980" dirty="0"/>
          </a:p>
          <a:p>
            <a:pPr indent="0" marL="0">
              <a:lnSpc>
                <a:spcPts val="1400"/>
              </a:lnSpc>
              <a:buNone/>
            </a:pPr>
            <a:endParaRPr lang="en-US" sz="980" dirty="0"/>
          </a:p>
          <a:p>
            <a:pPr indent="0" marL="0">
              <a:lnSpc>
                <a:spcPts val="1400"/>
              </a:lnSpc>
              <a:buNone/>
            </a:pPr>
            <a:r>
              <a:rPr lang="en-US" sz="980" dirty="0">
                <a:solidFill>
                  <a:srgbClr val="1E293B"/>
                </a:solidFill>
                <a:latin typeface="Arial" pitchFamily="34" charset="0"/>
                <a:ea typeface="Arial" pitchFamily="34" charset="-122"/>
                <a:cs typeface="Arial" pitchFamily="34" charset="-120"/>
              </a:rPr>
              <a:t>• IoT Pertanian: Pemantau Lahan &amp; Tetas Telur Pintar</a:t>
            </a:r>
            <a:endParaRPr lang="en-US" sz="980" dirty="0"/>
          </a:p>
          <a:p>
            <a:pPr indent="0" marL="0">
              <a:lnSpc>
                <a:spcPts val="1400"/>
              </a:lnSpc>
              <a:buNone/>
            </a:pPr>
            <a:endParaRPr lang="en-US" sz="980" dirty="0"/>
          </a:p>
          <a:p>
            <a:pPr indent="0" marL="0">
              <a:lnSpc>
                <a:spcPts val="1400"/>
              </a:lnSpc>
              <a:buNone/>
            </a:pPr>
            <a:r>
              <a:rPr lang="en-US" sz="980" dirty="0">
                <a:solidFill>
                  <a:srgbClr val="1E293B"/>
                </a:solidFill>
                <a:latin typeface="Arial" pitchFamily="34" charset="0"/>
                <a:ea typeface="Arial" pitchFamily="34" charset="-122"/>
                <a:cs typeface="Arial" pitchFamily="34" charset="-120"/>
              </a:rPr>
              <a:t>• Autonomous Electric Vehicle &amp; Sensorik Kota</a:t>
            </a:r>
            <a:endParaRPr lang="en-US" sz="980" dirty="0"/>
          </a:p>
          <a:p>
            <a:pPr indent="0" marL="0">
              <a:lnSpc>
                <a:spcPts val="1400"/>
              </a:lnSpc>
              <a:buNone/>
            </a:pPr>
            <a:endParaRPr lang="en-US" sz="980" dirty="0"/>
          </a:p>
          <a:p>
            <a:pPr indent="0" marL="0">
              <a:lnSpc>
                <a:spcPts val="1400"/>
              </a:lnSpc>
              <a:buNone/>
            </a:pPr>
            <a:r>
              <a:rPr lang="en-US" sz="980" dirty="0">
                <a:solidFill>
                  <a:srgbClr val="1E293B"/>
                </a:solidFill>
                <a:latin typeface="Arial" pitchFamily="34" charset="0"/>
                <a:ea typeface="Arial" pitchFamily="34" charset="-122"/>
                <a:cs typeface="Arial" pitchFamily="34" charset="-120"/>
              </a:rPr>
              <a:t>• Virtual Reality (VR) Pelatihan Industri &amp; Chatbot AI</a:t>
            </a:r>
            <a:endParaRPr lang="en-US" sz="980" dirty="0"/>
          </a:p>
        </p:txBody>
      </p:sp>
      <p:sp>
        <p:nvSpPr>
          <p:cNvPr id="35" name="Shape 33"/>
          <p:cNvSpPr/>
          <p:nvPr/>
        </p:nvSpPr>
        <p:spPr>
          <a:xfrm>
            <a:off x="4343400" y="2377440"/>
            <a:ext cx="3474720" cy="2926080"/>
          </a:xfrm>
          <a:prstGeom prst="roundRect">
            <a:avLst>
              <a:gd name="adj" fmla="val 3125"/>
            </a:avLst>
          </a:prstGeom>
          <a:solidFill>
            <a:srgbClr val="FFFFFF"/>
          </a:solidFill>
          <a:ln w="15240">
            <a:solidFill>
              <a:srgbClr val="E2E8F0"/>
            </a:solidFill>
            <a:prstDash val="solid"/>
          </a:ln>
        </p:spPr>
      </p:sp>
      <p:sp>
        <p:nvSpPr>
          <p:cNvPr id="36" name="Shape 34"/>
          <p:cNvSpPr/>
          <p:nvPr/>
        </p:nvSpPr>
        <p:spPr>
          <a:xfrm>
            <a:off x="4343400" y="2377440"/>
            <a:ext cx="3474720" cy="365760"/>
          </a:xfrm>
          <a:prstGeom prst="rect">
            <a:avLst/>
          </a:prstGeom>
          <a:solidFill>
            <a:srgbClr val="0284C7"/>
          </a:solidFill>
          <a:ln/>
        </p:spPr>
      </p:sp>
      <p:sp>
        <p:nvSpPr>
          <p:cNvPr id="37" name="Text 35"/>
          <p:cNvSpPr/>
          <p:nvPr/>
        </p:nvSpPr>
        <p:spPr>
          <a:xfrm>
            <a:off x="4480560" y="2377440"/>
            <a:ext cx="3200400" cy="36576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SENTRA EKOSISTEM AKTIF</a:t>
            </a:r>
            <a:endParaRPr lang="en-US" sz="1050" dirty="0"/>
          </a:p>
        </p:txBody>
      </p:sp>
      <p:sp>
        <p:nvSpPr>
          <p:cNvPr id="38" name="Text 36"/>
          <p:cNvSpPr/>
          <p:nvPr/>
        </p:nvSpPr>
        <p:spPr>
          <a:xfrm>
            <a:off x="4526280" y="2880360"/>
            <a:ext cx="3108960" cy="2286000"/>
          </a:xfrm>
          <a:prstGeom prst="rect">
            <a:avLst/>
          </a:prstGeom>
          <a:noFill/>
          <a:ln/>
        </p:spPr>
        <p:txBody>
          <a:bodyPr wrap="square" rtlCol="0" anchor="ctr"/>
          <a:lstStyle/>
          <a:p>
            <a:pPr indent="0" marL="0">
              <a:lnSpc>
                <a:spcPts val="1400"/>
              </a:lnSpc>
              <a:buNone/>
            </a:pPr>
            <a:r>
              <a:rPr lang="en-US" sz="980" dirty="0">
                <a:solidFill>
                  <a:srgbClr val="1E293B"/>
                </a:solidFill>
                <a:latin typeface="Arial" pitchFamily="34" charset="0"/>
                <a:ea typeface="Arial" pitchFamily="34" charset="-122"/>
                <a:cs typeface="Arial" pitchFamily="34" charset="-120"/>
              </a:rPr>
              <a:t>• National Cyber Security Hub (Ketahanan Siber)</a:t>
            </a:r>
            <a:endParaRPr lang="en-US" sz="980" dirty="0"/>
          </a:p>
          <a:p>
            <a:pPr indent="0" marL="0">
              <a:lnSpc>
                <a:spcPts val="1400"/>
              </a:lnSpc>
              <a:buNone/>
            </a:pPr>
            <a:endParaRPr lang="en-US" sz="980" dirty="0"/>
          </a:p>
          <a:p>
            <a:pPr indent="0" marL="0">
              <a:lnSpc>
                <a:spcPts val="1400"/>
              </a:lnSpc>
              <a:buNone/>
            </a:pPr>
            <a:r>
              <a:rPr lang="en-US" sz="980" dirty="0">
                <a:solidFill>
                  <a:srgbClr val="1E293B"/>
                </a:solidFill>
                <a:latin typeface="Arial" pitchFamily="34" charset="0"/>
                <a:ea typeface="Arial" pitchFamily="34" charset="-122"/>
                <a:cs typeface="Arial" pitchFamily="34" charset="-120"/>
              </a:rPr>
              <a:t>• Digital Technopark (Software &amp; Cloud AI)</a:t>
            </a:r>
            <a:endParaRPr lang="en-US" sz="980" dirty="0"/>
          </a:p>
          <a:p>
            <a:pPr indent="0" marL="0">
              <a:lnSpc>
                <a:spcPts val="1400"/>
              </a:lnSpc>
              <a:buNone/>
            </a:pPr>
            <a:endParaRPr lang="en-US" sz="980" dirty="0"/>
          </a:p>
          <a:p>
            <a:pPr indent="0" marL="0">
              <a:lnSpc>
                <a:spcPts val="1400"/>
              </a:lnSpc>
              <a:buNone/>
            </a:pPr>
            <a:r>
              <a:rPr lang="en-US" sz="980" dirty="0">
                <a:solidFill>
                  <a:srgbClr val="1E293B"/>
                </a:solidFill>
                <a:latin typeface="Arial" pitchFamily="34" charset="0"/>
                <a:ea typeface="Arial" pitchFamily="34" charset="-122"/>
                <a:cs typeface="Arial" pitchFamily="34" charset="-120"/>
              </a:rPr>
              <a:t>• Gaming Hub &amp; GoTo UMKM Center</a:t>
            </a:r>
            <a:endParaRPr lang="en-US" sz="980" dirty="0"/>
          </a:p>
          <a:p>
            <a:pPr indent="0" marL="0">
              <a:lnSpc>
                <a:spcPts val="1400"/>
              </a:lnSpc>
              <a:buNone/>
            </a:pPr>
            <a:endParaRPr lang="en-US" sz="980" dirty="0"/>
          </a:p>
          <a:p>
            <a:pPr indent="0" marL="0">
              <a:lnSpc>
                <a:spcPts val="1400"/>
              </a:lnSpc>
              <a:buNone/>
            </a:pPr>
            <a:r>
              <a:rPr lang="en-US" sz="980" dirty="0">
                <a:solidFill>
                  <a:srgbClr val="1E293B"/>
                </a:solidFill>
                <a:latin typeface="Arial" pitchFamily="34" charset="0"/>
                <a:ea typeface="Arial" pitchFamily="34" charset="-122"/>
                <a:cs typeface="Arial" pitchFamily="34" charset="-120"/>
              </a:rPr>
              <a:t>• AI Experience Center &amp; Robotic Testing Sandbox</a:t>
            </a:r>
            <a:endParaRPr lang="en-US" sz="980" dirty="0"/>
          </a:p>
        </p:txBody>
      </p:sp>
      <p:sp>
        <p:nvSpPr>
          <p:cNvPr id="39" name="Shape 37"/>
          <p:cNvSpPr/>
          <p:nvPr/>
        </p:nvSpPr>
        <p:spPr>
          <a:xfrm>
            <a:off x="7955280" y="2377440"/>
            <a:ext cx="3474720" cy="2926080"/>
          </a:xfrm>
          <a:prstGeom prst="roundRect">
            <a:avLst>
              <a:gd name="adj" fmla="val 3125"/>
            </a:avLst>
          </a:prstGeom>
          <a:solidFill>
            <a:srgbClr val="FFFFFF"/>
          </a:solidFill>
          <a:ln w="15240">
            <a:solidFill>
              <a:srgbClr val="E2E8F0"/>
            </a:solidFill>
            <a:prstDash val="solid"/>
          </a:ln>
        </p:spPr>
      </p:sp>
      <p:sp>
        <p:nvSpPr>
          <p:cNvPr id="40" name="Shape 38"/>
          <p:cNvSpPr/>
          <p:nvPr/>
        </p:nvSpPr>
        <p:spPr>
          <a:xfrm>
            <a:off x="7955280" y="2377440"/>
            <a:ext cx="3474720" cy="365760"/>
          </a:xfrm>
          <a:prstGeom prst="rect">
            <a:avLst/>
          </a:prstGeom>
          <a:solidFill>
            <a:srgbClr val="059669"/>
          </a:solidFill>
          <a:ln/>
        </p:spPr>
      </p:sp>
      <p:sp>
        <p:nvSpPr>
          <p:cNvPr id="41" name="Text 39"/>
          <p:cNvSpPr/>
          <p:nvPr/>
        </p:nvSpPr>
        <p:spPr>
          <a:xfrm>
            <a:off x="8092440" y="2377440"/>
            <a:ext cx="3200400" cy="36576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OUTPUT STRATEGIS DITARGETKAN</a:t>
            </a:r>
            <a:endParaRPr lang="en-US" sz="1050" dirty="0"/>
          </a:p>
        </p:txBody>
      </p:sp>
      <p:sp>
        <p:nvSpPr>
          <p:cNvPr id="42" name="Text 40"/>
          <p:cNvSpPr/>
          <p:nvPr/>
        </p:nvSpPr>
        <p:spPr>
          <a:xfrm>
            <a:off x="8138160" y="2880360"/>
            <a:ext cx="3108960" cy="2286000"/>
          </a:xfrm>
          <a:prstGeom prst="rect">
            <a:avLst/>
          </a:prstGeom>
          <a:noFill/>
          <a:ln/>
        </p:spPr>
        <p:txBody>
          <a:bodyPr wrap="square" rtlCol="0" anchor="ctr"/>
          <a:lstStyle/>
          <a:p>
            <a:pPr indent="0" marL="0">
              <a:lnSpc>
                <a:spcPts val="1400"/>
              </a:lnSpc>
              <a:buNone/>
            </a:pPr>
            <a:r>
              <a:rPr lang="en-US" sz="980" dirty="0">
                <a:solidFill>
                  <a:srgbClr val="1E293B"/>
                </a:solidFill>
                <a:latin typeface="Arial" pitchFamily="34" charset="0"/>
                <a:ea typeface="Arial" pitchFamily="34" charset="-122"/>
                <a:cs typeface="Arial" pitchFamily="34" charset="-120"/>
              </a:rPr>
              <a:t>• Prototipe TRL 7-9 Siap Produksi Massal</a:t>
            </a:r>
            <a:endParaRPr lang="en-US" sz="980" dirty="0"/>
          </a:p>
          <a:p>
            <a:pPr indent="0" marL="0">
              <a:lnSpc>
                <a:spcPts val="1400"/>
              </a:lnSpc>
              <a:buNone/>
            </a:pPr>
            <a:endParaRPr lang="en-US" sz="980" dirty="0"/>
          </a:p>
          <a:p>
            <a:pPr indent="0" marL="0">
              <a:lnSpc>
                <a:spcPts val="1400"/>
              </a:lnSpc>
              <a:buNone/>
            </a:pPr>
            <a:r>
              <a:rPr lang="en-US" sz="980" dirty="0">
                <a:solidFill>
                  <a:srgbClr val="1E293B"/>
                </a:solidFill>
                <a:latin typeface="Arial" pitchFamily="34" charset="0"/>
                <a:ea typeface="Arial" pitchFamily="34" charset="-122"/>
                <a:cs typeface="Arial" pitchFamily="34" charset="-120"/>
              </a:rPr>
              <a:t>• Pendaftaran Hak Paten / HKI bagi Inventor</a:t>
            </a:r>
            <a:endParaRPr lang="en-US" sz="980" dirty="0"/>
          </a:p>
          <a:p>
            <a:pPr indent="0" marL="0">
              <a:lnSpc>
                <a:spcPts val="1400"/>
              </a:lnSpc>
              <a:buNone/>
            </a:pPr>
            <a:endParaRPr lang="en-US" sz="980" dirty="0"/>
          </a:p>
          <a:p>
            <a:pPr indent="0" marL="0">
              <a:lnSpc>
                <a:spcPts val="1400"/>
              </a:lnSpc>
              <a:buNone/>
            </a:pPr>
            <a:r>
              <a:rPr lang="en-US" sz="980" dirty="0">
                <a:solidFill>
                  <a:srgbClr val="1E293B"/>
                </a:solidFill>
                <a:latin typeface="Arial" pitchFamily="34" charset="0"/>
                <a:ea typeface="Arial" pitchFamily="34" charset="-122"/>
                <a:cs typeface="Arial" pitchFamily="34" charset="-120"/>
              </a:rPr>
              <a:t>• Kelahiran Tenant / Startup Mandiri (Spin-off)</a:t>
            </a:r>
            <a:endParaRPr lang="en-US" sz="980" dirty="0"/>
          </a:p>
          <a:p>
            <a:pPr indent="0" marL="0">
              <a:lnSpc>
                <a:spcPts val="1400"/>
              </a:lnSpc>
              <a:buNone/>
            </a:pPr>
            <a:endParaRPr lang="en-US" sz="980" dirty="0"/>
          </a:p>
          <a:p>
            <a:pPr indent="0" marL="0">
              <a:lnSpc>
                <a:spcPts val="1400"/>
              </a:lnSpc>
              <a:buNone/>
            </a:pPr>
            <a:r>
              <a:rPr lang="en-US" sz="980" dirty="0">
                <a:solidFill>
                  <a:srgbClr val="1E293B"/>
                </a:solidFill>
                <a:latin typeface="Arial" pitchFamily="34" charset="0"/>
                <a:ea typeface="Arial" pitchFamily="34" charset="-122"/>
                <a:cs typeface="Arial" pitchFamily="34" charset="-120"/>
              </a:rPr>
              <a:t>• Produk Bersertifikat TKDN Masuk e-Katalog Lokal</a:t>
            </a:r>
            <a:endParaRPr lang="en-US" sz="980" dirty="0"/>
          </a:p>
        </p:txBody>
      </p:sp>
      <p:sp>
        <p:nvSpPr>
          <p:cNvPr id="43" name="Shape 41"/>
          <p:cNvSpPr/>
          <p:nvPr/>
        </p:nvSpPr>
        <p:spPr>
          <a:xfrm>
            <a:off x="731520" y="5486400"/>
            <a:ext cx="10728655" cy="685800"/>
          </a:xfrm>
          <a:prstGeom prst="roundRect">
            <a:avLst>
              <a:gd name="adj" fmla="val 10667"/>
            </a:avLst>
          </a:prstGeom>
          <a:solidFill>
            <a:srgbClr val="0A192F"/>
          </a:solidFill>
          <a:ln w="12700">
            <a:solidFill>
              <a:srgbClr val="0284C7"/>
            </a:solidFill>
            <a:prstDash val="solid"/>
          </a:ln>
        </p:spPr>
      </p:sp>
      <p:sp>
        <p:nvSpPr>
          <p:cNvPr id="44" name="Text 42"/>
          <p:cNvSpPr/>
          <p:nvPr/>
        </p:nvSpPr>
        <p:spPr>
          <a:xfrm>
            <a:off x="914400" y="5486400"/>
            <a:ext cx="10362895" cy="685800"/>
          </a:xfrm>
          <a:prstGeom prst="rect">
            <a:avLst/>
          </a:prstGeom>
          <a:noFill/>
          <a:ln/>
        </p:spPr>
        <p:txBody>
          <a:bodyPr wrap="square" rtlCol="0" anchor="ctr"/>
          <a:lstStyle/>
          <a:p>
            <a:pPr algn="ctr" indent="0" marL="0">
              <a:buNone/>
            </a:pPr>
            <a:r>
              <a:rPr lang="en-US" sz="1150" b="1" i="1" dirty="0">
                <a:solidFill>
                  <a:srgbClr val="FFFFFF"/>
                </a:solidFill>
                <a:latin typeface="Arial" pitchFamily="34" charset="0"/>
                <a:ea typeface="Arial" pitchFamily="34" charset="-122"/>
                <a:cs typeface="Arial" pitchFamily="34" charset="-120"/>
              </a:rPr>
              <a:t>"Solo Technopark tidak berhenti pada hasil riset; STP menjadi jembatan nyata dari ilmu pengetahuan menuju nilai ekonomi daerah dan manfaat sosial bagi warga Surakarta."</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284C7"/>
          </a:solidFill>
          <a:ln/>
        </p:spPr>
      </p:sp>
      <p:sp>
        <p:nvSpPr>
          <p:cNvPr id="3" name="Text 1"/>
          <p:cNvSpPr/>
          <p:nvPr/>
        </p:nvSpPr>
        <p:spPr>
          <a:xfrm>
            <a:off x="731520" y="292608"/>
            <a:ext cx="8229600" cy="256032"/>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PUBLIC-PRIVATE PARTNERSHIP (NON-APBD)</a:t>
            </a:r>
            <a:endParaRPr lang="en-US" sz="1000" dirty="0"/>
          </a:p>
        </p:txBody>
      </p:sp>
      <p:sp>
        <p:nvSpPr>
          <p:cNvPr id="4" name="Text 2"/>
          <p:cNvSpPr/>
          <p:nvPr/>
        </p:nvSpPr>
        <p:spPr>
          <a:xfrm>
            <a:off x="731520" y="548640"/>
            <a:ext cx="10698480" cy="411480"/>
          </a:xfrm>
          <a:prstGeom prst="rect">
            <a:avLst/>
          </a:prstGeom>
          <a:noFill/>
          <a:ln/>
        </p:spPr>
        <p:txBody>
          <a:bodyPr wrap="square" rtlCol="0" anchor="ctr"/>
          <a:lstStyle/>
          <a:p>
            <a:pPr indent="0" marL="0">
              <a:buNone/>
            </a:pPr>
            <a:r>
              <a:rPr lang="en-US" sz="2000" b="1" dirty="0">
                <a:solidFill>
                  <a:srgbClr val="0A192F"/>
                </a:solidFill>
                <a:latin typeface="Arial" pitchFamily="34" charset="0"/>
                <a:ea typeface="Arial" pitchFamily="34" charset="-122"/>
                <a:cs typeface="Arial" pitchFamily="34" charset="-120"/>
              </a:rPr>
              <a:t>EKOSISTEM KOLABORASI GLOBAL: 95+ MITRA KORPORASI AKTIF</a:t>
            </a:r>
            <a:endParaRPr lang="en-US" sz="2000" dirty="0"/>
          </a:p>
        </p:txBody>
      </p:sp>
      <p:sp>
        <p:nvSpPr>
          <p:cNvPr id="5" name="Text 3"/>
          <p:cNvSpPr/>
          <p:nvPr/>
        </p:nvSpPr>
        <p:spPr>
          <a:xfrm>
            <a:off x="731520" y="6382512"/>
            <a:ext cx="7772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Solo Technopark 2026–2030 | Bahan Paparan Resmi Walikota Surakarta</a:t>
            </a:r>
            <a:endParaRPr lang="en-US" sz="900" dirty="0"/>
          </a:p>
        </p:txBody>
      </p:sp>
      <p:sp>
        <p:nvSpPr>
          <p:cNvPr id="6" name="Text 4"/>
          <p:cNvSpPr/>
          <p:nvPr/>
        </p:nvSpPr>
        <p:spPr>
          <a:xfrm>
            <a:off x="10241280" y="6382512"/>
            <a:ext cx="1218895" cy="274320"/>
          </a:xfrm>
          <a:prstGeom prst="rect">
            <a:avLst/>
          </a:prstGeom>
          <a:noFill/>
          <a:ln/>
        </p:spPr>
        <p:txBody>
          <a:bodyPr wrap="square" rtlCol="0" anchor="ctr"/>
          <a:lstStyle/>
          <a:p>
            <a:pPr algn="r" indent="0" marL="0">
              <a:buNone/>
            </a:pPr>
            <a:r>
              <a:rPr lang="en-US" sz="950" b="1" dirty="0">
                <a:solidFill>
                  <a:srgbClr val="64748B"/>
                </a:solidFill>
                <a:latin typeface="Arial" pitchFamily="34" charset="0"/>
                <a:ea typeface="Arial" pitchFamily="34" charset="-122"/>
                <a:cs typeface="Arial" pitchFamily="34" charset="-120"/>
              </a:rPr>
              <a:t>Slide 5 / 10</a:t>
            </a:r>
            <a:endParaRPr lang="en-US" sz="950" dirty="0"/>
          </a:p>
        </p:txBody>
      </p:sp>
      <p:sp>
        <p:nvSpPr>
          <p:cNvPr id="7" name="Shape 5"/>
          <p:cNvSpPr/>
          <p:nvPr/>
        </p:nvSpPr>
        <p:spPr>
          <a:xfrm>
            <a:off x="731520" y="1097280"/>
            <a:ext cx="5212080" cy="4206240"/>
          </a:xfrm>
          <a:prstGeom prst="roundRect">
            <a:avLst>
              <a:gd name="adj" fmla="val 2174"/>
            </a:avLst>
          </a:prstGeom>
          <a:solidFill>
            <a:srgbClr val="FFFFFF"/>
          </a:solidFill>
          <a:ln w="15240">
            <a:solidFill>
              <a:srgbClr val="E2E8F0"/>
            </a:solidFill>
            <a:prstDash val="solid"/>
          </a:ln>
        </p:spPr>
      </p:sp>
      <p:sp>
        <p:nvSpPr>
          <p:cNvPr id="8" name="Shape 6"/>
          <p:cNvSpPr/>
          <p:nvPr/>
        </p:nvSpPr>
        <p:spPr>
          <a:xfrm>
            <a:off x="731520" y="1097280"/>
            <a:ext cx="5212080" cy="411480"/>
          </a:xfrm>
          <a:prstGeom prst="rect">
            <a:avLst/>
          </a:prstGeom>
          <a:solidFill>
            <a:srgbClr val="1E3A8A"/>
          </a:solidFill>
          <a:ln/>
        </p:spPr>
      </p:sp>
      <p:sp>
        <p:nvSpPr>
          <p:cNvPr id="9" name="Text 7"/>
          <p:cNvSpPr/>
          <p:nvPr/>
        </p:nvSpPr>
        <p:spPr>
          <a:xfrm>
            <a:off x="914400" y="1097280"/>
            <a:ext cx="4846320" cy="41148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PORTOFOLIO FASILITAS TECH HUB DUNIA</a:t>
            </a:r>
            <a:endParaRPr lang="en-US" sz="1150" dirty="0"/>
          </a:p>
        </p:txBody>
      </p:sp>
      <p:sp>
        <p:nvSpPr>
          <p:cNvPr id="10" name="Text 8"/>
          <p:cNvSpPr/>
          <p:nvPr/>
        </p:nvSpPr>
        <p:spPr>
          <a:xfrm>
            <a:off x="914400" y="1600200"/>
            <a:ext cx="4846320" cy="3566160"/>
          </a:xfrm>
          <a:prstGeom prst="rect">
            <a:avLst/>
          </a:prstGeom>
          <a:noFill/>
          <a:ln/>
        </p:spPr>
        <p:txBody>
          <a:bodyPr wrap="square" rtlCol="0" anchor="ctr"/>
          <a:lstStyle/>
          <a:p>
            <a:pPr indent="0" marL="0">
              <a:lnSpc>
                <a:spcPts val="1300"/>
              </a:lnSpc>
              <a:buNone/>
            </a:pPr>
            <a:r>
              <a:rPr lang="en-US" sz="980" b="1" dirty="0">
                <a:solidFill>
                  <a:srgbClr val="0A192F"/>
                </a:solidFill>
                <a:latin typeface="Arial" pitchFamily="34" charset="0"/>
                <a:ea typeface="Arial" pitchFamily="34" charset="-122"/>
                <a:cs typeface="Arial" pitchFamily="34" charset="-120"/>
              </a:rPr>
              <a:t>• Shopee Digital Tech &amp; Export Hub: </a:t>
            </a:r>
            <a:pPr indent="0" marL="0">
              <a:lnSpc>
                <a:spcPts val="1300"/>
              </a:lnSpc>
              <a:buNone/>
            </a:pPr>
            <a:r>
              <a:rPr lang="en-US" sz="980" dirty="0">
                <a:solidFill>
                  <a:srgbClr val="1E293B"/>
                </a:solidFill>
                <a:latin typeface="Arial" pitchFamily="34" charset="0"/>
                <a:ea typeface="Arial" pitchFamily="34" charset="-122"/>
                <a:cs typeface="Arial" pitchFamily="34" charset="-120"/>
              </a:rPr>
              <a:t>Pusat inkubasi talenta digital, logistik e-commerce terintegrasi, dan kurasi UMKM ekspor Solo ke pasar ASEAN.
</a:t>
            </a:r>
            <a:pPr indent="0" marL="0">
              <a:lnSpc>
                <a:spcPts val="1300"/>
              </a:lnSpc>
              <a:buNone/>
            </a:pPr>
            <a:r>
              <a:rPr lang="en-US" sz="980" b="1" dirty="0">
                <a:solidFill>
                  <a:srgbClr val="0A192F"/>
                </a:solidFill>
                <a:latin typeface="Arial" pitchFamily="34" charset="0"/>
                <a:ea typeface="Arial" pitchFamily="34" charset="-122"/>
                <a:cs typeface="Arial" pitchFamily="34" charset="-120"/>
              </a:rPr>
              <a:t>• Garena Gaming &amp; Creative Hub: </a:t>
            </a:r>
            <a:pPr indent="0" marL="0">
              <a:lnSpc>
                <a:spcPts val="1300"/>
              </a:lnSpc>
              <a:buNone/>
            </a:pPr>
            <a:r>
              <a:rPr lang="en-US" sz="980" dirty="0">
                <a:solidFill>
                  <a:srgbClr val="1E293B"/>
                </a:solidFill>
                <a:latin typeface="Arial" pitchFamily="34" charset="0"/>
                <a:ea typeface="Arial" pitchFamily="34" charset="-122"/>
                <a:cs typeface="Arial" pitchFamily="34" charset="-120"/>
              </a:rPr>
              <a:t>Pengembangan software engineering, animasi digital 3D, game development, dan inkubasi talenta kreatif.
</a:t>
            </a:r>
            <a:pPr indent="0" marL="0">
              <a:lnSpc>
                <a:spcPts val="1300"/>
              </a:lnSpc>
              <a:buNone/>
            </a:pPr>
            <a:r>
              <a:rPr lang="en-US" sz="980" b="1" dirty="0">
                <a:solidFill>
                  <a:srgbClr val="0A192F"/>
                </a:solidFill>
                <a:latin typeface="Arial" pitchFamily="34" charset="0"/>
                <a:ea typeface="Arial" pitchFamily="34" charset="-122"/>
                <a:cs typeface="Arial" pitchFamily="34" charset="-120"/>
              </a:rPr>
              <a:t>• Bank Mandiri Innovation Hub: </a:t>
            </a:r>
            <a:pPr indent="0" marL="0">
              <a:lnSpc>
                <a:spcPts val="1300"/>
              </a:lnSpc>
              <a:buNone/>
            </a:pPr>
            <a:r>
              <a:rPr lang="en-US" sz="980" dirty="0">
                <a:solidFill>
                  <a:srgbClr val="1E293B"/>
                </a:solidFill>
                <a:latin typeface="Arial" pitchFamily="34" charset="0"/>
                <a:ea typeface="Arial" pitchFamily="34" charset="-122"/>
                <a:cs typeface="Arial" pitchFamily="34" charset="-120"/>
              </a:rPr>
              <a:t>Sandbox fintech, kurasi startup binaan, dan fasilitas akses pembiayaan wirausaha baru berbasis teknologi.
</a:t>
            </a:r>
            <a:pPr indent="0" marL="0">
              <a:lnSpc>
                <a:spcPts val="1300"/>
              </a:lnSpc>
              <a:buNone/>
            </a:pPr>
            <a:r>
              <a:rPr lang="en-US" sz="980" b="1" dirty="0">
                <a:solidFill>
                  <a:srgbClr val="0A192F"/>
                </a:solidFill>
                <a:latin typeface="Arial" pitchFamily="34" charset="0"/>
                <a:ea typeface="Arial" pitchFamily="34" charset="-122"/>
                <a:cs typeface="Arial" pitchFamily="34" charset="-120"/>
              </a:rPr>
              <a:t>• ACER, Indosat &amp; Telkomsel 5G Lab: </a:t>
            </a:r>
            <a:pPr indent="0" marL="0">
              <a:lnSpc>
                <a:spcPts val="1300"/>
              </a:lnSpc>
              <a:buNone/>
            </a:pPr>
            <a:r>
              <a:rPr lang="en-US" sz="980" dirty="0">
                <a:solidFill>
                  <a:srgbClr val="1E293B"/>
                </a:solidFill>
                <a:latin typeface="Arial" pitchFamily="34" charset="0"/>
                <a:ea typeface="Arial" pitchFamily="34" charset="-122"/>
                <a:cs typeface="Arial" pitchFamily="34" charset="-120"/>
              </a:rPr>
              <a:t>Fasilitas konektivitas 5G super cepat, lab pengujian hardware, cyber security, dan digitalisasi logistik pintar.
</a:t>
            </a:r>
            <a:pPr indent="0" marL="0">
              <a:lnSpc>
                <a:spcPts val="1300"/>
              </a:lnSpc>
              <a:buNone/>
            </a:pPr>
            <a:r>
              <a:rPr lang="en-US" sz="980" b="1" dirty="0">
                <a:solidFill>
                  <a:srgbClr val="0A192F"/>
                </a:solidFill>
                <a:latin typeface="Arial" pitchFamily="34" charset="0"/>
                <a:ea typeface="Arial" pitchFamily="34" charset="-122"/>
                <a:cs typeface="Arial" pitchFamily="34" charset="-120"/>
              </a:rPr>
              <a:t>• CyberTrend AI &amp; Data Science Lab: </a:t>
            </a:r>
            <a:pPr indent="0" marL="0">
              <a:lnSpc>
                <a:spcPts val="1300"/>
              </a:lnSpc>
              <a:buNone/>
            </a:pPr>
            <a:r>
              <a:rPr lang="en-US" sz="980" dirty="0">
                <a:solidFill>
                  <a:srgbClr val="1E293B"/>
                </a:solidFill>
                <a:latin typeface="Arial" pitchFamily="34" charset="0"/>
                <a:ea typeface="Arial" pitchFamily="34" charset="-122"/>
                <a:cs typeface="Arial" pitchFamily="34" charset="-120"/>
              </a:rPr>
              <a:t>Laboratorium riset kecerdasan buatan, visualisasi data analytics terapan, dan pusat komputasi awan.</a:t>
            </a:r>
            <a:endParaRPr lang="en-US" sz="980" dirty="0"/>
          </a:p>
        </p:txBody>
      </p:sp>
      <p:sp>
        <p:nvSpPr>
          <p:cNvPr id="11" name="Shape 9"/>
          <p:cNvSpPr/>
          <p:nvPr/>
        </p:nvSpPr>
        <p:spPr>
          <a:xfrm>
            <a:off x="6248095" y="1097280"/>
            <a:ext cx="5212080" cy="4206240"/>
          </a:xfrm>
          <a:prstGeom prst="roundRect">
            <a:avLst>
              <a:gd name="adj" fmla="val 2174"/>
            </a:avLst>
          </a:prstGeom>
          <a:solidFill>
            <a:srgbClr val="FFFFFF"/>
          </a:solidFill>
          <a:ln w="15240">
            <a:solidFill>
              <a:srgbClr val="E2E8F0"/>
            </a:solidFill>
            <a:prstDash val="solid"/>
          </a:ln>
        </p:spPr>
      </p:sp>
      <p:sp>
        <p:nvSpPr>
          <p:cNvPr id="12" name="Shape 10"/>
          <p:cNvSpPr/>
          <p:nvPr/>
        </p:nvSpPr>
        <p:spPr>
          <a:xfrm>
            <a:off x="6248095" y="1097280"/>
            <a:ext cx="5212080" cy="411480"/>
          </a:xfrm>
          <a:prstGeom prst="rect">
            <a:avLst/>
          </a:prstGeom>
          <a:solidFill>
            <a:srgbClr val="0284C7"/>
          </a:solidFill>
          <a:ln/>
        </p:spPr>
      </p:sp>
      <p:sp>
        <p:nvSpPr>
          <p:cNvPr id="13" name="Text 11"/>
          <p:cNvSpPr/>
          <p:nvPr/>
        </p:nvSpPr>
        <p:spPr>
          <a:xfrm>
            <a:off x="6430975" y="1097280"/>
            <a:ext cx="4846320" cy="41148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3 PRINSIP STRATEGIS KEMITRAAN (NON-APBD)</a:t>
            </a:r>
            <a:endParaRPr lang="en-US" sz="1150" dirty="0"/>
          </a:p>
        </p:txBody>
      </p:sp>
      <p:sp>
        <p:nvSpPr>
          <p:cNvPr id="14" name="Shape 12"/>
          <p:cNvSpPr/>
          <p:nvPr/>
        </p:nvSpPr>
        <p:spPr>
          <a:xfrm>
            <a:off x="6430975" y="1600200"/>
            <a:ext cx="4846320" cy="685800"/>
          </a:xfrm>
          <a:prstGeom prst="roundRect">
            <a:avLst>
              <a:gd name="adj" fmla="val 8000"/>
            </a:avLst>
          </a:prstGeom>
          <a:solidFill>
            <a:srgbClr val="F8FAFC"/>
          </a:solidFill>
          <a:ln w="12700">
            <a:solidFill>
              <a:srgbClr val="E2E8F0"/>
            </a:solidFill>
            <a:prstDash val="solid"/>
          </a:ln>
        </p:spPr>
      </p:sp>
      <p:sp>
        <p:nvSpPr>
          <p:cNvPr id="15" name="Text 13"/>
          <p:cNvSpPr/>
          <p:nvPr/>
        </p:nvSpPr>
        <p:spPr>
          <a:xfrm>
            <a:off x="6568135" y="1655064"/>
            <a:ext cx="4572000" cy="201168"/>
          </a:xfrm>
          <a:prstGeom prst="rect">
            <a:avLst/>
          </a:prstGeom>
          <a:noFill/>
          <a:ln/>
        </p:spPr>
        <p:txBody>
          <a:bodyPr wrap="square" rtlCol="0" anchor="ctr"/>
          <a:lstStyle/>
          <a:p>
            <a:pPr indent="0" marL="0">
              <a:buNone/>
            </a:pPr>
            <a:r>
              <a:rPr lang="en-US" sz="980" b="1" dirty="0">
                <a:solidFill>
                  <a:srgbClr val="1E3A8A"/>
                </a:solidFill>
                <a:latin typeface="Arial" pitchFamily="34" charset="0"/>
                <a:ea typeface="Arial" pitchFamily="34" charset="-122"/>
                <a:cs typeface="Arial" pitchFamily="34" charset="-120"/>
              </a:rPr>
              <a:t>1. Efisiensi Penuh APBD (0 Rupiah Kas Daerah)</a:t>
            </a:r>
            <a:endParaRPr lang="en-US" sz="980" dirty="0"/>
          </a:p>
        </p:txBody>
      </p:sp>
      <p:sp>
        <p:nvSpPr>
          <p:cNvPr id="16" name="Text 14"/>
          <p:cNvSpPr/>
          <p:nvPr/>
        </p:nvSpPr>
        <p:spPr>
          <a:xfrm>
            <a:off x="6568135" y="1856232"/>
            <a:ext cx="4572000" cy="384048"/>
          </a:xfrm>
          <a:prstGeom prst="rect">
            <a:avLst/>
          </a:prstGeom>
          <a:noFill/>
          <a:ln/>
        </p:spPr>
        <p:txBody>
          <a:bodyPr wrap="square" rtlCol="0" anchor="ctr"/>
          <a:lstStyle/>
          <a:p>
            <a:pPr indent="0" marL="0">
              <a:lnSpc>
                <a:spcPts val="1100"/>
              </a:lnSpc>
              <a:buNone/>
            </a:pPr>
            <a:r>
              <a:rPr lang="en-US" sz="850" dirty="0">
                <a:solidFill>
                  <a:srgbClr val="1E293B"/>
                </a:solidFill>
                <a:latin typeface="Arial" pitchFamily="34" charset="0"/>
                <a:ea typeface="Arial" pitchFamily="34" charset="-122"/>
                <a:cs typeface="Arial" pitchFamily="34" charset="-120"/>
              </a:rPr>
              <a:t>Seluruh infrastruktur lab dan teknologi mutakhir dibangun 100% atas komitmen investasi korporasi mitra tanpa membebani keuangan daerah.</a:t>
            </a:r>
            <a:endParaRPr lang="en-US" sz="850" dirty="0"/>
          </a:p>
        </p:txBody>
      </p:sp>
      <p:sp>
        <p:nvSpPr>
          <p:cNvPr id="17" name="Shape 15"/>
          <p:cNvSpPr/>
          <p:nvPr/>
        </p:nvSpPr>
        <p:spPr>
          <a:xfrm>
            <a:off x="6430975" y="2377440"/>
            <a:ext cx="4846320" cy="685800"/>
          </a:xfrm>
          <a:prstGeom prst="roundRect">
            <a:avLst>
              <a:gd name="adj" fmla="val 8000"/>
            </a:avLst>
          </a:prstGeom>
          <a:solidFill>
            <a:srgbClr val="F8FAFC"/>
          </a:solidFill>
          <a:ln w="12700">
            <a:solidFill>
              <a:srgbClr val="E2E8F0"/>
            </a:solidFill>
            <a:prstDash val="solid"/>
          </a:ln>
        </p:spPr>
      </p:sp>
      <p:sp>
        <p:nvSpPr>
          <p:cNvPr id="18" name="Text 16"/>
          <p:cNvSpPr/>
          <p:nvPr/>
        </p:nvSpPr>
        <p:spPr>
          <a:xfrm>
            <a:off x="6568135" y="2432304"/>
            <a:ext cx="4572000" cy="201168"/>
          </a:xfrm>
          <a:prstGeom prst="rect">
            <a:avLst/>
          </a:prstGeom>
          <a:noFill/>
          <a:ln/>
        </p:spPr>
        <p:txBody>
          <a:bodyPr wrap="square" rtlCol="0" anchor="ctr"/>
          <a:lstStyle/>
          <a:p>
            <a:pPr indent="0" marL="0">
              <a:buNone/>
            </a:pPr>
            <a:r>
              <a:rPr lang="en-US" sz="980" b="1" dirty="0">
                <a:solidFill>
                  <a:srgbClr val="1E3A8A"/>
                </a:solidFill>
                <a:latin typeface="Arial" pitchFamily="34" charset="0"/>
                <a:ea typeface="Arial" pitchFamily="34" charset="-122"/>
                <a:cs typeface="Arial" pitchFamily="34" charset="-120"/>
              </a:rPr>
              <a:t>2. Transfer Teknologi &amp; Kurikulum Global</a:t>
            </a:r>
            <a:endParaRPr lang="en-US" sz="980" dirty="0"/>
          </a:p>
        </p:txBody>
      </p:sp>
      <p:sp>
        <p:nvSpPr>
          <p:cNvPr id="19" name="Text 17"/>
          <p:cNvSpPr/>
          <p:nvPr/>
        </p:nvSpPr>
        <p:spPr>
          <a:xfrm>
            <a:off x="6568135" y="2633472"/>
            <a:ext cx="4572000" cy="384048"/>
          </a:xfrm>
          <a:prstGeom prst="rect">
            <a:avLst/>
          </a:prstGeom>
          <a:noFill/>
          <a:ln/>
        </p:spPr>
        <p:txBody>
          <a:bodyPr wrap="square" rtlCol="0" anchor="ctr"/>
          <a:lstStyle/>
          <a:p>
            <a:pPr indent="0" marL="0">
              <a:lnSpc>
                <a:spcPts val="1100"/>
              </a:lnSpc>
              <a:buNone/>
            </a:pPr>
            <a:r>
              <a:rPr lang="en-US" sz="850" dirty="0">
                <a:solidFill>
                  <a:srgbClr val="1E293B"/>
                </a:solidFill>
                <a:latin typeface="Arial" pitchFamily="34" charset="0"/>
                <a:ea typeface="Arial" pitchFamily="34" charset="-122"/>
                <a:cs typeface="Arial" pitchFamily="34" charset="-120"/>
              </a:rPr>
              <a:t>Talenta lokal Surakarta dibimbing langsung oleh master engineer industri dunia dengan kurikulum dan sertifikasi berstandar internasional.</a:t>
            </a:r>
            <a:endParaRPr lang="en-US" sz="850" dirty="0"/>
          </a:p>
        </p:txBody>
      </p:sp>
      <p:sp>
        <p:nvSpPr>
          <p:cNvPr id="20" name="Shape 18"/>
          <p:cNvSpPr/>
          <p:nvPr/>
        </p:nvSpPr>
        <p:spPr>
          <a:xfrm>
            <a:off x="6430975" y="3154680"/>
            <a:ext cx="4846320" cy="685800"/>
          </a:xfrm>
          <a:prstGeom prst="roundRect">
            <a:avLst>
              <a:gd name="adj" fmla="val 8000"/>
            </a:avLst>
          </a:prstGeom>
          <a:solidFill>
            <a:srgbClr val="F8FAFC"/>
          </a:solidFill>
          <a:ln w="12700">
            <a:solidFill>
              <a:srgbClr val="E2E8F0"/>
            </a:solidFill>
            <a:prstDash val="solid"/>
          </a:ln>
        </p:spPr>
      </p:sp>
      <p:sp>
        <p:nvSpPr>
          <p:cNvPr id="21" name="Text 19"/>
          <p:cNvSpPr/>
          <p:nvPr/>
        </p:nvSpPr>
        <p:spPr>
          <a:xfrm>
            <a:off x="6568135" y="3209544"/>
            <a:ext cx="4572000" cy="201168"/>
          </a:xfrm>
          <a:prstGeom prst="rect">
            <a:avLst/>
          </a:prstGeom>
          <a:noFill/>
          <a:ln/>
        </p:spPr>
        <p:txBody>
          <a:bodyPr wrap="square" rtlCol="0" anchor="ctr"/>
          <a:lstStyle/>
          <a:p>
            <a:pPr indent="0" marL="0">
              <a:buNone/>
            </a:pPr>
            <a:r>
              <a:rPr lang="en-US" sz="980" b="1" dirty="0">
                <a:solidFill>
                  <a:srgbClr val="1E3A8A"/>
                </a:solidFill>
                <a:latin typeface="Arial" pitchFamily="34" charset="0"/>
                <a:ea typeface="Arial" pitchFamily="34" charset="-122"/>
                <a:cs typeface="Arial" pitchFamily="34" charset="-120"/>
              </a:rPr>
              <a:t>3. Kepastian Penyerapan Pasar (Captive Market)</a:t>
            </a:r>
            <a:endParaRPr lang="en-US" sz="980" dirty="0"/>
          </a:p>
        </p:txBody>
      </p:sp>
      <p:sp>
        <p:nvSpPr>
          <p:cNvPr id="22" name="Text 20"/>
          <p:cNvSpPr/>
          <p:nvPr/>
        </p:nvSpPr>
        <p:spPr>
          <a:xfrm>
            <a:off x="6568135" y="3410712"/>
            <a:ext cx="4572000" cy="384048"/>
          </a:xfrm>
          <a:prstGeom prst="rect">
            <a:avLst/>
          </a:prstGeom>
          <a:noFill/>
          <a:ln/>
        </p:spPr>
        <p:txBody>
          <a:bodyPr wrap="square" rtlCol="0" anchor="ctr"/>
          <a:lstStyle/>
          <a:p>
            <a:pPr indent="0" marL="0">
              <a:lnSpc>
                <a:spcPts val="1100"/>
              </a:lnSpc>
              <a:buNone/>
            </a:pPr>
            <a:r>
              <a:rPr lang="en-US" sz="850" dirty="0">
                <a:solidFill>
                  <a:srgbClr val="1E293B"/>
                </a:solidFill>
                <a:latin typeface="Arial" pitchFamily="34" charset="0"/>
                <a:ea typeface="Arial" pitchFamily="34" charset="-122"/>
                <a:cs typeface="Arial" pitchFamily="34" charset="-120"/>
              </a:rPr>
              <a:t>Menjamin lulusan diklat vokasi dan produk riset hilirisasi kampus langsung terserap ke dalam ekosistem rantai pasok korporasi mitra.</a:t>
            </a:r>
            <a:endParaRPr lang="en-US" sz="850" dirty="0"/>
          </a:p>
        </p:txBody>
      </p:sp>
      <p:sp>
        <p:nvSpPr>
          <p:cNvPr id="23" name="Shape 21"/>
          <p:cNvSpPr/>
          <p:nvPr/>
        </p:nvSpPr>
        <p:spPr>
          <a:xfrm>
            <a:off x="6430975" y="4069080"/>
            <a:ext cx="4846320" cy="1097280"/>
          </a:xfrm>
          <a:prstGeom prst="roundRect">
            <a:avLst>
              <a:gd name="adj" fmla="val 6667"/>
            </a:avLst>
          </a:prstGeom>
          <a:solidFill>
            <a:srgbClr val="0A192F"/>
          </a:solidFill>
          <a:ln w="19050">
            <a:solidFill>
              <a:srgbClr val="0284C7"/>
            </a:solidFill>
            <a:prstDash val="solid"/>
          </a:ln>
        </p:spPr>
      </p:sp>
      <p:sp>
        <p:nvSpPr>
          <p:cNvPr id="24" name="Text 22"/>
          <p:cNvSpPr/>
          <p:nvPr/>
        </p:nvSpPr>
        <p:spPr>
          <a:xfrm>
            <a:off x="6613855" y="4160520"/>
            <a:ext cx="4480560" cy="320040"/>
          </a:xfrm>
          <a:prstGeom prst="rect">
            <a:avLst/>
          </a:prstGeom>
          <a:noFill/>
          <a:ln/>
        </p:spPr>
        <p:txBody>
          <a:bodyPr wrap="square" rtlCol="0" anchor="ctr"/>
          <a:lstStyle/>
          <a:p>
            <a:pPr indent="0" marL="0">
              <a:buNone/>
            </a:pPr>
            <a:r>
              <a:rPr lang="en-US" sz="1250" b="1" dirty="0">
                <a:solidFill>
                  <a:srgbClr val="D97706"/>
                </a:solidFill>
                <a:latin typeface="Arial" pitchFamily="34" charset="0"/>
                <a:ea typeface="Arial" pitchFamily="34" charset="-122"/>
                <a:cs typeface="Arial" pitchFamily="34" charset="-120"/>
              </a:rPr>
              <a:t>95+ KORPORASI &amp; PROYEK STRATEGIS AKTIF</a:t>
            </a:r>
            <a:endParaRPr lang="en-US" sz="1250" dirty="0"/>
          </a:p>
        </p:txBody>
      </p:sp>
      <p:sp>
        <p:nvSpPr>
          <p:cNvPr id="25" name="Text 23"/>
          <p:cNvSpPr/>
          <p:nvPr/>
        </p:nvSpPr>
        <p:spPr>
          <a:xfrm>
            <a:off x="6613855" y="4526280"/>
            <a:ext cx="4480560" cy="548640"/>
          </a:xfrm>
          <a:prstGeom prst="rect">
            <a:avLst/>
          </a:prstGeom>
          <a:noFill/>
          <a:ln/>
        </p:spPr>
        <p:txBody>
          <a:bodyPr wrap="square" rtlCol="0" anchor="ctr"/>
          <a:lstStyle/>
          <a:p>
            <a:pPr indent="0" marL="0">
              <a:lnSpc>
                <a:spcPts val="1300"/>
              </a:lnSpc>
              <a:buNone/>
            </a:pPr>
            <a:r>
              <a:rPr lang="en-US" sz="950" dirty="0">
                <a:solidFill>
                  <a:srgbClr val="FFFFFF"/>
                </a:solidFill>
                <a:latin typeface="Arial" pitchFamily="34" charset="0"/>
                <a:ea typeface="Arial" pitchFamily="34" charset="-122"/>
                <a:cs typeface="Arial" pitchFamily="34" charset="-120"/>
              </a:rPr>
              <a:t>Solo Technopark terbukti memiliki daya tarik investasi industri yang sangat kuat dan menjadi rujukan nasional kemitraan triple-helix (Pemerintah - Kampus - Industri).</a:t>
            </a:r>
            <a:endParaRPr lang="en-US" sz="950" dirty="0"/>
          </a:p>
        </p:txBody>
      </p:sp>
      <p:sp>
        <p:nvSpPr>
          <p:cNvPr id="26" name="Shape 24"/>
          <p:cNvSpPr/>
          <p:nvPr/>
        </p:nvSpPr>
        <p:spPr>
          <a:xfrm>
            <a:off x="731520" y="5486400"/>
            <a:ext cx="10728655" cy="685800"/>
          </a:xfrm>
          <a:prstGeom prst="roundRect">
            <a:avLst>
              <a:gd name="adj" fmla="val 10667"/>
            </a:avLst>
          </a:prstGeom>
          <a:solidFill>
            <a:srgbClr val="D1FAE5"/>
          </a:solidFill>
          <a:ln w="12700">
            <a:solidFill>
              <a:srgbClr val="059669"/>
            </a:solidFill>
            <a:prstDash val="solid"/>
          </a:ln>
        </p:spPr>
      </p:sp>
      <p:sp>
        <p:nvSpPr>
          <p:cNvPr id="27" name="Text 25"/>
          <p:cNvSpPr/>
          <p:nvPr/>
        </p:nvSpPr>
        <p:spPr>
          <a:xfrm>
            <a:off x="914400" y="5486400"/>
            <a:ext cx="10362895" cy="685800"/>
          </a:xfrm>
          <a:prstGeom prst="rect">
            <a:avLst/>
          </a:prstGeom>
          <a:noFill/>
          <a:ln/>
        </p:spPr>
        <p:txBody>
          <a:bodyPr wrap="square" rtlCol="0" anchor="ctr"/>
          <a:lstStyle/>
          <a:p>
            <a:pPr algn="ctr" indent="0" marL="0">
              <a:buNone/>
            </a:pPr>
            <a:r>
              <a:rPr lang="en-US" sz="1100" b="1" dirty="0">
                <a:solidFill>
                  <a:srgbClr val="059669"/>
                </a:solidFill>
                <a:latin typeface="Arial" pitchFamily="34" charset="0"/>
                <a:ea typeface="Arial" pitchFamily="34" charset="-122"/>
                <a:cs typeface="Arial" pitchFamily="34" charset="-120"/>
              </a:rPr>
              <a:t>Kemitraan strategis ini membuktikan bahwa Solo Technopark memiliki daya tarik investasi tinggi dan menjadi rujukan kolaborasi industri-pemerintah di tingkat nasional.</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284C7"/>
          </a:solidFill>
          <a:ln/>
        </p:spPr>
      </p:sp>
      <p:sp>
        <p:nvSpPr>
          <p:cNvPr id="3" name="Text 1"/>
          <p:cNvSpPr/>
          <p:nvPr/>
        </p:nvSpPr>
        <p:spPr>
          <a:xfrm>
            <a:off x="731520" y="292608"/>
            <a:ext cx="8229600" cy="256032"/>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HASIL AUDIT MASALAH RIIL &amp; FORMULA SOLUSI</a:t>
            </a:r>
            <a:endParaRPr lang="en-US" sz="1000" dirty="0"/>
          </a:p>
        </p:txBody>
      </p:sp>
      <p:sp>
        <p:nvSpPr>
          <p:cNvPr id="4" name="Text 2"/>
          <p:cNvSpPr/>
          <p:nvPr/>
        </p:nvSpPr>
        <p:spPr>
          <a:xfrm>
            <a:off x="731520" y="548640"/>
            <a:ext cx="10698480" cy="411480"/>
          </a:xfrm>
          <a:prstGeom prst="rect">
            <a:avLst/>
          </a:prstGeom>
          <a:noFill/>
          <a:ln/>
        </p:spPr>
        <p:txBody>
          <a:bodyPr wrap="square" rtlCol="0" anchor="ctr"/>
          <a:lstStyle/>
          <a:p>
            <a:pPr indent="0" marL="0">
              <a:buNone/>
            </a:pPr>
            <a:r>
              <a:rPr lang="en-US" sz="2000" b="1" dirty="0">
                <a:solidFill>
                  <a:srgbClr val="0A192F"/>
                </a:solidFill>
                <a:latin typeface="Arial" pitchFamily="34" charset="0"/>
                <a:ea typeface="Arial" pitchFamily="34" charset="-122"/>
                <a:cs typeface="Arial" pitchFamily="34" charset="-120"/>
              </a:rPr>
              <a:t>ANALISIS GAP STRATEGIS &amp; LIMA TEROBOSAN SOLUSI 2026–2030</a:t>
            </a:r>
            <a:endParaRPr lang="en-US" sz="2000" dirty="0"/>
          </a:p>
        </p:txBody>
      </p:sp>
      <p:sp>
        <p:nvSpPr>
          <p:cNvPr id="5" name="Text 3"/>
          <p:cNvSpPr/>
          <p:nvPr/>
        </p:nvSpPr>
        <p:spPr>
          <a:xfrm>
            <a:off x="731520" y="6382512"/>
            <a:ext cx="7772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Solo Technopark 2026–2030 | Bahan Paparan Resmi Walikota Surakarta</a:t>
            </a:r>
            <a:endParaRPr lang="en-US" sz="900" dirty="0"/>
          </a:p>
        </p:txBody>
      </p:sp>
      <p:sp>
        <p:nvSpPr>
          <p:cNvPr id="6" name="Text 4"/>
          <p:cNvSpPr/>
          <p:nvPr/>
        </p:nvSpPr>
        <p:spPr>
          <a:xfrm>
            <a:off x="10241280" y="6382512"/>
            <a:ext cx="1218895" cy="274320"/>
          </a:xfrm>
          <a:prstGeom prst="rect">
            <a:avLst/>
          </a:prstGeom>
          <a:noFill/>
          <a:ln/>
        </p:spPr>
        <p:txBody>
          <a:bodyPr wrap="square" rtlCol="0" anchor="ctr"/>
          <a:lstStyle/>
          <a:p>
            <a:pPr algn="r" indent="0" marL="0">
              <a:buNone/>
            </a:pPr>
            <a:r>
              <a:rPr lang="en-US" sz="950" b="1" dirty="0">
                <a:solidFill>
                  <a:srgbClr val="64748B"/>
                </a:solidFill>
                <a:latin typeface="Arial" pitchFamily="34" charset="0"/>
                <a:ea typeface="Arial" pitchFamily="34" charset="-122"/>
                <a:cs typeface="Arial" pitchFamily="34" charset="-120"/>
              </a:rPr>
              <a:t>Slide 6 / 10</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10728655" cy="4206240"/>
        </p:xfrm>
        <a:graphic>
          <a:graphicData uri="http://schemas.openxmlformats.org/drawingml/2006/table">
            <a:tbl>
              <a:tblPr/>
              <a:tblGrid>
                <a:gridCol w="548640"/>
                <a:gridCol w="2468880"/>
                <a:gridCol w="3474720"/>
                <a:gridCol w="4236415"/>
              </a:tblGrid>
              <a:tr h="365760">
                <a:tc>
                  <a:txBody>
                    <a:bodyPr/>
                    <a:lstStyle/>
                    <a:p>
                      <a:pPr algn="ctr" indent="0" marL="0">
                        <a:buNone/>
                      </a:pPr>
                      <a:r>
                        <a:rPr lang="en-US" sz="980" b="1" dirty="0">
                          <a:solidFill>
                            <a:srgbClr val="FFFFFF"/>
                          </a:solidFill>
                          <a:latin typeface="Arial" pitchFamily="34" charset="0"/>
                          <a:ea typeface="Arial" pitchFamily="34" charset="-122"/>
                          <a:cs typeface="Arial" pitchFamily="34" charset="-120"/>
                        </a:rPr>
                        <a:t>NO</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A192F"/>
                    </a:solidFill>
                  </a:tcPr>
                </a:tc>
                <a:tc>
                  <a:txBody>
                    <a:bodyPr/>
                    <a:lstStyle/>
                    <a:p>
                      <a:pPr indent="0" marL="0">
                        <a:buNone/>
                      </a:pPr>
                      <a:r>
                        <a:rPr lang="en-US" sz="980" b="1" dirty="0">
                          <a:solidFill>
                            <a:srgbClr val="FFFFFF"/>
                          </a:solidFill>
                          <a:latin typeface="Arial" pitchFamily="34" charset="0"/>
                          <a:ea typeface="Arial" pitchFamily="34" charset="-122"/>
                          <a:cs typeface="Arial" pitchFamily="34" charset="-120"/>
                        </a:rPr>
                        <a:t>IDENTIFIKASI GAP EKSISTING</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A192F"/>
                    </a:solidFill>
                  </a:tcPr>
                </a:tc>
                <a:tc>
                  <a:txBody>
                    <a:bodyPr/>
                    <a:lstStyle/>
                    <a:p>
                      <a:pPr indent="0" marL="0">
                        <a:buNone/>
                      </a:pPr>
                      <a:r>
                        <a:rPr lang="en-US" sz="980" b="1" dirty="0">
                          <a:solidFill>
                            <a:srgbClr val="FFFFFF"/>
                          </a:solidFill>
                          <a:latin typeface="Arial" pitchFamily="34" charset="0"/>
                          <a:ea typeface="Arial" pitchFamily="34" charset="-122"/>
                          <a:cs typeface="Arial" pitchFamily="34" charset="-120"/>
                        </a:rPr>
                        <a:t>AKAR MASALAH (AUDIT RIIL)</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A192F"/>
                    </a:solidFill>
                  </a:tcPr>
                </a:tc>
                <a:tc>
                  <a:txBody>
                    <a:bodyPr/>
                    <a:lstStyle/>
                    <a:p>
                      <a:pPr indent="0" marL="0">
                        <a:buNone/>
                      </a:pPr>
                      <a:r>
                        <a:rPr lang="en-US" sz="980" b="1" dirty="0">
                          <a:solidFill>
                            <a:srgbClr val="FFFFFF"/>
                          </a:solidFill>
                          <a:latin typeface="Arial" pitchFamily="34" charset="0"/>
                          <a:ea typeface="Arial" pitchFamily="34" charset="-122"/>
                          <a:cs typeface="Arial" pitchFamily="34" charset="-120"/>
                        </a:rPr>
                        <a:t>SOLUSI TEROBOSAN ROADMAP 2026–2030</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284C7"/>
                    </a:solidFill>
                  </a:tcPr>
                </a:tc>
              </a:tr>
              <a:tr h="685800">
                <a:tc>
                  <a:txBody>
                    <a:bodyPr/>
                    <a:lstStyle/>
                    <a:p>
                      <a:pPr algn="ctr" indent="0" marL="0">
                        <a:buNone/>
                      </a:pPr>
                      <a:r>
                        <a:rPr lang="en-US" sz="980" b="1" dirty="0">
                          <a:solidFill>
                            <a:srgbClr val="000000"/>
                          </a:solidFill>
                          <a:latin typeface="Arial" pitchFamily="34" charset="0"/>
                          <a:ea typeface="Arial" pitchFamily="34" charset="-122"/>
                          <a:cs typeface="Arial" pitchFamily="34" charset="-120"/>
                        </a:rPr>
                        <a:t>1</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Jenis Pelatihan Terbatas</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Keterbatasan SDM instruktur ahli dan kelengkapan peralatan diklat.</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Kolaborasi kurikulum korporasi (AI, Cyber Security, EV, Welder Bawah Air).</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31520">
                <a:tc>
                  <a:txBody>
                    <a:bodyPr/>
                    <a:lstStyle/>
                    <a:p>
                      <a:pPr algn="ctr" indent="0" marL="0">
                        <a:buNone/>
                      </a:pPr>
                      <a:r>
                        <a:rPr lang="en-US" sz="980" b="1" dirty="0">
                          <a:solidFill>
                            <a:srgbClr val="000000"/>
                          </a:solidFill>
                          <a:latin typeface="Arial" pitchFamily="34" charset="0"/>
                          <a:ea typeface="Arial" pitchFamily="34" charset="-122"/>
                          <a:cs typeface="Arial" pitchFamily="34" charset="-120"/>
                        </a:rPr>
                        <a:t>2</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Kegiatan R&amp;D Belum Maksimal</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Riset tidak tampak di pasar; belum mengarah ke hilirisasi dan komersialisasi.</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Bentuk Technology Transfer Office (TTO) &amp; kurasi prototype siap industri.</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31520">
                <a:tc>
                  <a:txBody>
                    <a:bodyPr/>
                    <a:lstStyle/>
                    <a:p>
                      <a:pPr algn="ctr" indent="0" marL="0">
                        <a:buNone/>
                      </a:pPr>
                      <a:r>
                        <a:rPr lang="en-US" sz="980" b="1" dirty="0">
                          <a:solidFill>
                            <a:srgbClr val="000000"/>
                          </a:solidFill>
                          <a:latin typeface="Arial" pitchFamily="34" charset="0"/>
                          <a:ea typeface="Arial" pitchFamily="34" charset="-122"/>
                          <a:cs typeface="Arial" pitchFamily="34" charset="-120"/>
                        </a:rPr>
                        <a:t>3</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Investasi Lahan Terbatas</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Lahan kosong kawasan belum optimal menarik investor teknologi.</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Zonasi investasi terpadu &amp; skema Long-Term Revenue Sharing bagi investor.</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77240">
                <a:tc>
                  <a:txBody>
                    <a:bodyPr/>
                    <a:lstStyle/>
                    <a:p>
                      <a:pPr algn="ctr" indent="0" marL="0">
                        <a:buNone/>
                      </a:pPr>
                      <a:r>
                        <a:rPr lang="en-US" sz="980" b="1" dirty="0">
                          <a:solidFill>
                            <a:srgbClr val="000000"/>
                          </a:solidFill>
                          <a:latin typeface="Arial" pitchFamily="34" charset="0"/>
                          <a:ea typeface="Arial" pitchFamily="34" charset="-122"/>
                          <a:cs typeface="Arial" pitchFamily="34" charset="-120"/>
                        </a:rPr>
                        <a:t>4</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Kemandirian Finansial Rendah</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Hardware infrastruktur belum menghasilkan revenue penopang operasional KST.</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Diversifikasi ke jasa uji lab penetrant, sertifikasi TUK/JFT, &amp; royalti paten.</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31520">
                <a:tc>
                  <a:txBody>
                    <a:bodyPr/>
                    <a:lstStyle/>
                    <a:p>
                      <a:pPr algn="ctr" indent="0" marL="0">
                        <a:buNone/>
                      </a:pPr>
                      <a:r>
                        <a:rPr lang="en-US" sz="980" b="1" dirty="0">
                          <a:solidFill>
                            <a:srgbClr val="000000"/>
                          </a:solidFill>
                          <a:latin typeface="Arial" pitchFamily="34" charset="0"/>
                          <a:ea typeface="Arial" pitchFamily="34" charset="-122"/>
                          <a:cs typeface="Arial" pitchFamily="34" charset="-120"/>
                        </a:rPr>
                        <a:t>5</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Promosi &amp; Penyerapan Lemah</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Networking kurang di-maintenance; belum ada regulasi penyerapan pasar lokal.</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980" dirty="0">
                          <a:solidFill>
                            <a:srgbClr val="000000"/>
                          </a:solidFill>
                          <a:latin typeface="Arial" pitchFamily="34" charset="0"/>
                          <a:ea typeface="Arial" pitchFamily="34" charset="-122"/>
                          <a:cs typeface="Arial" pitchFamily="34" charset="-120"/>
                        </a:rPr>
                        <a:t>Instruksi Walikota untuk e-Katalog Lokal Afirmatif produk inovasi STP.</a:t>
                      </a:r>
                      <a:endParaRPr lang="en-US" sz="98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Shape 5"/>
          <p:cNvSpPr/>
          <p:nvPr/>
        </p:nvSpPr>
        <p:spPr>
          <a:xfrm>
            <a:off x="731520" y="5486400"/>
            <a:ext cx="10728655" cy="685800"/>
          </a:xfrm>
          <a:prstGeom prst="roundRect">
            <a:avLst>
              <a:gd name="adj" fmla="val 10667"/>
            </a:avLst>
          </a:prstGeom>
          <a:solidFill>
            <a:srgbClr val="FEF3C7"/>
          </a:solidFill>
          <a:ln w="12700">
            <a:solidFill>
              <a:srgbClr val="D97706"/>
            </a:solidFill>
            <a:prstDash val="solid"/>
          </a:ln>
        </p:spPr>
      </p:sp>
      <p:sp>
        <p:nvSpPr>
          <p:cNvPr id="9" name="Text 6"/>
          <p:cNvSpPr/>
          <p:nvPr/>
        </p:nvSpPr>
        <p:spPr>
          <a:xfrm>
            <a:off x="914400" y="5486400"/>
            <a:ext cx="10362895" cy="685800"/>
          </a:xfrm>
          <a:prstGeom prst="rect">
            <a:avLst/>
          </a:prstGeom>
          <a:noFill/>
          <a:ln/>
        </p:spPr>
        <p:txBody>
          <a:bodyPr wrap="square" rtlCol="0" anchor="ctr"/>
          <a:lstStyle/>
          <a:p>
            <a:pPr algn="ctr" indent="0" marL="0">
              <a:buNone/>
            </a:pPr>
            <a:r>
              <a:rPr lang="en-US" sz="1100" b="1" dirty="0">
                <a:solidFill>
                  <a:srgbClr val="D97706"/>
                </a:solidFill>
                <a:latin typeface="Arial" pitchFamily="34" charset="0"/>
                <a:ea typeface="Arial" pitchFamily="34" charset="-122"/>
                <a:cs typeface="Arial" pitchFamily="34" charset="-120"/>
              </a:rPr>
              <a:t>Kunci Keberhasilan: Beralih dari penyewaan aset fisik statis menjadi penyedia layanan bernilai tambah tinggi dan kepastian pasar melalui regulasi belanja daerah.</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284C7"/>
          </a:solidFill>
          <a:ln/>
        </p:spPr>
      </p:sp>
      <p:sp>
        <p:nvSpPr>
          <p:cNvPr id="3" name="Text 1"/>
          <p:cNvSpPr/>
          <p:nvPr/>
        </p:nvSpPr>
        <p:spPr>
          <a:xfrm>
            <a:off x="731520" y="292608"/>
            <a:ext cx="8229600" cy="256032"/>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PETA JALAN STRATEGIS KELEMBAGAAN</a:t>
            </a:r>
            <a:endParaRPr lang="en-US" sz="1000" dirty="0"/>
          </a:p>
        </p:txBody>
      </p:sp>
      <p:sp>
        <p:nvSpPr>
          <p:cNvPr id="4" name="Text 2"/>
          <p:cNvSpPr/>
          <p:nvPr/>
        </p:nvSpPr>
        <p:spPr>
          <a:xfrm>
            <a:off x="731520" y="548640"/>
            <a:ext cx="10698480" cy="411480"/>
          </a:xfrm>
          <a:prstGeom prst="rect">
            <a:avLst/>
          </a:prstGeom>
          <a:noFill/>
          <a:ln/>
        </p:spPr>
        <p:txBody>
          <a:bodyPr wrap="square" rtlCol="0" anchor="ctr"/>
          <a:lstStyle/>
          <a:p>
            <a:pPr indent="0" marL="0">
              <a:buNone/>
            </a:pPr>
            <a:r>
              <a:rPr lang="en-US" sz="2000" b="1" dirty="0">
                <a:solidFill>
                  <a:srgbClr val="0A192F"/>
                </a:solidFill>
                <a:latin typeface="Arial" pitchFamily="34" charset="0"/>
                <a:ea typeface="Arial" pitchFamily="34" charset="-122"/>
                <a:cs typeface="Arial" pitchFamily="34" charset="-120"/>
              </a:rPr>
              <a:t>ROADMAP PENTAHAPAN PENGEMBANGAN SOLO TECHNOPARK 2026–2030</a:t>
            </a:r>
            <a:endParaRPr lang="en-US" sz="2000" dirty="0"/>
          </a:p>
        </p:txBody>
      </p:sp>
      <p:sp>
        <p:nvSpPr>
          <p:cNvPr id="5" name="Text 3"/>
          <p:cNvSpPr/>
          <p:nvPr/>
        </p:nvSpPr>
        <p:spPr>
          <a:xfrm>
            <a:off x="731520" y="6382512"/>
            <a:ext cx="7772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Solo Technopark 2026–2030 | Bahan Paparan Resmi Walikota Surakarta</a:t>
            </a:r>
            <a:endParaRPr lang="en-US" sz="900" dirty="0"/>
          </a:p>
        </p:txBody>
      </p:sp>
      <p:sp>
        <p:nvSpPr>
          <p:cNvPr id="6" name="Text 4"/>
          <p:cNvSpPr/>
          <p:nvPr/>
        </p:nvSpPr>
        <p:spPr>
          <a:xfrm>
            <a:off x="10241280" y="6382512"/>
            <a:ext cx="1218895" cy="274320"/>
          </a:xfrm>
          <a:prstGeom prst="rect">
            <a:avLst/>
          </a:prstGeom>
          <a:noFill/>
          <a:ln/>
        </p:spPr>
        <p:txBody>
          <a:bodyPr wrap="square" rtlCol="0" anchor="ctr"/>
          <a:lstStyle/>
          <a:p>
            <a:pPr algn="r" indent="0" marL="0">
              <a:buNone/>
            </a:pPr>
            <a:r>
              <a:rPr lang="en-US" sz="950" b="1" dirty="0">
                <a:solidFill>
                  <a:srgbClr val="64748B"/>
                </a:solidFill>
                <a:latin typeface="Arial" pitchFamily="34" charset="0"/>
                <a:ea typeface="Arial" pitchFamily="34" charset="-122"/>
                <a:cs typeface="Arial" pitchFamily="34" charset="-120"/>
              </a:rPr>
              <a:t>Slide 7 / 10</a:t>
            </a:r>
            <a:endParaRPr lang="en-US" sz="950" dirty="0"/>
          </a:p>
        </p:txBody>
      </p:sp>
      <p:sp>
        <p:nvSpPr>
          <p:cNvPr id="7" name="Shape 5"/>
          <p:cNvSpPr/>
          <p:nvPr/>
        </p:nvSpPr>
        <p:spPr>
          <a:xfrm>
            <a:off x="731520" y="1143000"/>
            <a:ext cx="3474720" cy="3749040"/>
          </a:xfrm>
          <a:prstGeom prst="roundRect">
            <a:avLst>
              <a:gd name="adj" fmla="val 2632"/>
            </a:avLst>
          </a:prstGeom>
          <a:solidFill>
            <a:srgbClr val="FFFFFF"/>
          </a:solidFill>
          <a:ln w="15240">
            <a:solidFill>
              <a:srgbClr val="E2E8F0"/>
            </a:solidFill>
            <a:prstDash val="solid"/>
          </a:ln>
        </p:spPr>
      </p:sp>
      <p:sp>
        <p:nvSpPr>
          <p:cNvPr id="8" name="Shape 6"/>
          <p:cNvSpPr/>
          <p:nvPr/>
        </p:nvSpPr>
        <p:spPr>
          <a:xfrm>
            <a:off x="731520" y="1143000"/>
            <a:ext cx="3474720" cy="594360"/>
          </a:xfrm>
          <a:prstGeom prst="rect">
            <a:avLst/>
          </a:prstGeom>
          <a:solidFill>
            <a:srgbClr val="1E3A8A"/>
          </a:solidFill>
          <a:ln/>
        </p:spPr>
      </p:sp>
      <p:sp>
        <p:nvSpPr>
          <p:cNvPr id="9" name="Text 7"/>
          <p:cNvSpPr/>
          <p:nvPr/>
        </p:nvSpPr>
        <p:spPr>
          <a:xfrm>
            <a:off x="868680" y="1188720"/>
            <a:ext cx="3200400" cy="228600"/>
          </a:xfrm>
          <a:prstGeom prst="rect">
            <a:avLst/>
          </a:prstGeom>
          <a:noFill/>
          <a:ln/>
        </p:spPr>
        <p:txBody>
          <a:bodyPr wrap="square" rtlCol="0" anchor="ctr"/>
          <a:lstStyle/>
          <a:p>
            <a:pPr algn="ctr" indent="0" marL="0">
              <a:buNone/>
            </a:pPr>
            <a:r>
              <a:rPr lang="en-US" sz="950" b="1" dirty="0">
                <a:solidFill>
                  <a:srgbClr val="FEF3C7"/>
                </a:solidFill>
                <a:latin typeface="Arial" pitchFamily="34" charset="0"/>
                <a:ea typeface="Arial" pitchFamily="34" charset="-122"/>
                <a:cs typeface="Arial" pitchFamily="34" charset="-120"/>
              </a:rPr>
              <a:t>FASE 1 (2026–2027)</a:t>
            </a:r>
            <a:endParaRPr lang="en-US" sz="950" dirty="0"/>
          </a:p>
        </p:txBody>
      </p:sp>
      <p:sp>
        <p:nvSpPr>
          <p:cNvPr id="10" name="Text 8"/>
          <p:cNvSpPr/>
          <p:nvPr/>
        </p:nvSpPr>
        <p:spPr>
          <a:xfrm>
            <a:off x="868680" y="1417320"/>
            <a:ext cx="320040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CENTRE OF INNOVATION &amp; CONNECTIVITY</a:t>
            </a:r>
            <a:endParaRPr lang="en-US" sz="1000" dirty="0"/>
          </a:p>
        </p:txBody>
      </p:sp>
      <p:sp>
        <p:nvSpPr>
          <p:cNvPr id="11" name="Text 9"/>
          <p:cNvSpPr/>
          <p:nvPr/>
        </p:nvSpPr>
        <p:spPr>
          <a:xfrm>
            <a:off x="914400" y="1874520"/>
            <a:ext cx="3108960" cy="2834640"/>
          </a:xfrm>
          <a:prstGeom prst="rect">
            <a:avLst/>
          </a:prstGeom>
          <a:noFill/>
          <a:ln/>
        </p:spPr>
        <p:txBody>
          <a:bodyPr wrap="square" rtlCol="0" anchor="ctr"/>
          <a:lstStyle/>
          <a:p>
            <a:pPr indent="0" marL="0">
              <a:lnSpc>
                <a:spcPts val="1400"/>
              </a:lnSpc>
              <a:buNone/>
            </a:pPr>
            <a:r>
              <a:rPr lang="en-US" sz="1000" dirty="0">
                <a:solidFill>
                  <a:srgbClr val="1E293B"/>
                </a:solidFill>
                <a:latin typeface="Arial" pitchFamily="34" charset="0"/>
                <a:ea typeface="Arial" pitchFamily="34" charset="-122"/>
                <a:cs typeface="Arial" pitchFamily="34" charset="-120"/>
              </a:rPr>
              <a:t>• Penguatan kelembagaan BLUD &amp; legalitas aset kawasan.</a:t>
            </a:r>
            <a:endParaRPr lang="en-US" sz="1000" dirty="0"/>
          </a:p>
          <a:p>
            <a:pPr indent="0" marL="0">
              <a:lnSpc>
                <a:spcPts val="1400"/>
              </a:lnSpc>
              <a:buNone/>
            </a:pPr>
            <a:endParaRPr lang="en-US" sz="1000" dirty="0"/>
          </a:p>
          <a:p>
            <a:pPr indent="0" marL="0">
              <a:lnSpc>
                <a:spcPts val="1400"/>
              </a:lnSpc>
              <a:buNone/>
            </a:pPr>
            <a:r>
              <a:rPr lang="en-US" sz="1000" dirty="0">
                <a:solidFill>
                  <a:srgbClr val="1E293B"/>
                </a:solidFill>
                <a:latin typeface="Arial" pitchFamily="34" charset="0"/>
                <a:ea typeface="Arial" pitchFamily="34" charset="-122"/>
                <a:cs typeface="Arial" pitchFamily="34" charset="-120"/>
              </a:rPr>
              <a:t>• Sertifikasi mutu diklat vokasi &amp; akreditasi lab industri.</a:t>
            </a:r>
            <a:endParaRPr lang="en-US" sz="1000" dirty="0"/>
          </a:p>
          <a:p>
            <a:pPr indent="0" marL="0">
              <a:lnSpc>
                <a:spcPts val="1400"/>
              </a:lnSpc>
              <a:buNone/>
            </a:pPr>
            <a:endParaRPr lang="en-US" sz="1000" dirty="0"/>
          </a:p>
          <a:p>
            <a:pPr indent="0" marL="0">
              <a:lnSpc>
                <a:spcPts val="1400"/>
              </a:lnSpc>
              <a:buNone/>
            </a:pPr>
            <a:r>
              <a:rPr lang="en-US" sz="1000" dirty="0">
                <a:solidFill>
                  <a:srgbClr val="1E293B"/>
                </a:solidFill>
                <a:latin typeface="Arial" pitchFamily="34" charset="0"/>
                <a:ea typeface="Arial" pitchFamily="34" charset="-122"/>
                <a:cs typeface="Arial" pitchFamily="34" charset="-120"/>
              </a:rPr>
              <a:t>• Perluasan jejaring industri domestik dan multinasional.</a:t>
            </a:r>
            <a:endParaRPr lang="en-US" sz="1000" dirty="0"/>
          </a:p>
          <a:p>
            <a:pPr indent="0" marL="0">
              <a:lnSpc>
                <a:spcPts val="1400"/>
              </a:lnSpc>
              <a:buNone/>
            </a:pPr>
            <a:endParaRPr lang="en-US" sz="1000" dirty="0"/>
          </a:p>
          <a:p>
            <a:pPr indent="0" marL="0">
              <a:lnSpc>
                <a:spcPts val="1400"/>
              </a:lnSpc>
              <a:buNone/>
            </a:pPr>
            <a:r>
              <a:rPr lang="en-US" sz="1000" dirty="0">
                <a:solidFill>
                  <a:srgbClr val="1E293B"/>
                </a:solidFill>
                <a:latin typeface="Arial" pitchFamily="34" charset="0"/>
                <a:ea typeface="Arial" pitchFamily="34" charset="-122"/>
                <a:cs typeface="Arial" pitchFamily="34" charset="-120"/>
              </a:rPr>
              <a:t>• Pembentukan Konsorsium Riset 5 Kampus Solo Raya.</a:t>
            </a:r>
            <a:endParaRPr lang="en-US" sz="1000" dirty="0"/>
          </a:p>
        </p:txBody>
      </p:sp>
      <p:sp>
        <p:nvSpPr>
          <p:cNvPr id="12" name="Shape 10"/>
          <p:cNvSpPr/>
          <p:nvPr/>
        </p:nvSpPr>
        <p:spPr>
          <a:xfrm>
            <a:off x="4343400" y="1143000"/>
            <a:ext cx="3474720" cy="3749040"/>
          </a:xfrm>
          <a:prstGeom prst="roundRect">
            <a:avLst>
              <a:gd name="adj" fmla="val 2632"/>
            </a:avLst>
          </a:prstGeom>
          <a:solidFill>
            <a:srgbClr val="FFFFFF"/>
          </a:solidFill>
          <a:ln w="15240">
            <a:solidFill>
              <a:srgbClr val="E2E8F0"/>
            </a:solidFill>
            <a:prstDash val="solid"/>
          </a:ln>
        </p:spPr>
      </p:sp>
      <p:sp>
        <p:nvSpPr>
          <p:cNvPr id="13" name="Shape 11"/>
          <p:cNvSpPr/>
          <p:nvPr/>
        </p:nvSpPr>
        <p:spPr>
          <a:xfrm>
            <a:off x="4343400" y="1143000"/>
            <a:ext cx="3474720" cy="594360"/>
          </a:xfrm>
          <a:prstGeom prst="rect">
            <a:avLst/>
          </a:prstGeom>
          <a:solidFill>
            <a:srgbClr val="0284C7"/>
          </a:solidFill>
          <a:ln/>
        </p:spPr>
      </p:sp>
      <p:sp>
        <p:nvSpPr>
          <p:cNvPr id="14" name="Text 12"/>
          <p:cNvSpPr/>
          <p:nvPr/>
        </p:nvSpPr>
        <p:spPr>
          <a:xfrm>
            <a:off x="4480560" y="1188720"/>
            <a:ext cx="3200400" cy="228600"/>
          </a:xfrm>
          <a:prstGeom prst="rect">
            <a:avLst/>
          </a:prstGeom>
          <a:noFill/>
          <a:ln/>
        </p:spPr>
        <p:txBody>
          <a:bodyPr wrap="square" rtlCol="0" anchor="ctr"/>
          <a:lstStyle/>
          <a:p>
            <a:pPr algn="ctr" indent="0" marL="0">
              <a:buNone/>
            </a:pPr>
            <a:r>
              <a:rPr lang="en-US" sz="950" b="1" dirty="0">
                <a:solidFill>
                  <a:srgbClr val="FEF3C7"/>
                </a:solidFill>
                <a:latin typeface="Arial" pitchFamily="34" charset="0"/>
                <a:ea typeface="Arial" pitchFamily="34" charset="-122"/>
                <a:cs typeface="Arial" pitchFamily="34" charset="-120"/>
              </a:rPr>
              <a:t>FASE 2 (2028–2029)</a:t>
            </a:r>
            <a:endParaRPr lang="en-US" sz="950" dirty="0"/>
          </a:p>
        </p:txBody>
      </p:sp>
      <p:sp>
        <p:nvSpPr>
          <p:cNvPr id="15" name="Text 13"/>
          <p:cNvSpPr/>
          <p:nvPr/>
        </p:nvSpPr>
        <p:spPr>
          <a:xfrm>
            <a:off x="4480560" y="1417320"/>
            <a:ext cx="320040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ENTREPRENEUR TECHNOPARK &amp; SBU MANDIRI</a:t>
            </a:r>
            <a:endParaRPr lang="en-US" sz="1000" dirty="0"/>
          </a:p>
        </p:txBody>
      </p:sp>
      <p:sp>
        <p:nvSpPr>
          <p:cNvPr id="16" name="Text 14"/>
          <p:cNvSpPr/>
          <p:nvPr/>
        </p:nvSpPr>
        <p:spPr>
          <a:xfrm>
            <a:off x="4526280" y="1874520"/>
            <a:ext cx="3108960" cy="2834640"/>
          </a:xfrm>
          <a:prstGeom prst="rect">
            <a:avLst/>
          </a:prstGeom>
          <a:noFill/>
          <a:ln/>
        </p:spPr>
        <p:txBody>
          <a:bodyPr wrap="square" rtlCol="0" anchor="ctr"/>
          <a:lstStyle/>
          <a:p>
            <a:pPr indent="0" marL="0">
              <a:lnSpc>
                <a:spcPts val="1400"/>
              </a:lnSpc>
              <a:buNone/>
            </a:pPr>
            <a:r>
              <a:rPr lang="en-US" sz="1000" dirty="0">
                <a:solidFill>
                  <a:srgbClr val="1E293B"/>
                </a:solidFill>
                <a:latin typeface="Arial" pitchFamily="34" charset="0"/>
                <a:ea typeface="Arial" pitchFamily="34" charset="-122"/>
                <a:cs typeface="Arial" pitchFamily="34" charset="-120"/>
              </a:rPr>
              <a:t>• Pembentukan Strategic Business Unit (SBU) yang mandiri.</a:t>
            </a:r>
            <a:endParaRPr lang="en-US" sz="1000" dirty="0"/>
          </a:p>
          <a:p>
            <a:pPr indent="0" marL="0">
              <a:lnSpc>
                <a:spcPts val="1400"/>
              </a:lnSpc>
              <a:buNone/>
            </a:pPr>
            <a:endParaRPr lang="en-US" sz="1000" dirty="0"/>
          </a:p>
          <a:p>
            <a:pPr indent="0" marL="0">
              <a:lnSpc>
                <a:spcPts val="1400"/>
              </a:lnSpc>
              <a:buNone/>
            </a:pPr>
            <a:r>
              <a:rPr lang="en-US" sz="1000" dirty="0">
                <a:solidFill>
                  <a:srgbClr val="1E293B"/>
                </a:solidFill>
                <a:latin typeface="Arial" pitchFamily="34" charset="0"/>
                <a:ea typeface="Arial" pitchFamily="34" charset="-122"/>
                <a:cs typeface="Arial" pitchFamily="34" charset="-120"/>
              </a:rPr>
              <a:t>• Penerapan Strategi Corporate Marketing terintegrasi.</a:t>
            </a:r>
            <a:endParaRPr lang="en-US" sz="1000" dirty="0"/>
          </a:p>
          <a:p>
            <a:pPr indent="0" marL="0">
              <a:lnSpc>
                <a:spcPts val="1400"/>
              </a:lnSpc>
              <a:buNone/>
            </a:pPr>
            <a:endParaRPr lang="en-US" sz="1000" dirty="0"/>
          </a:p>
          <a:p>
            <a:pPr indent="0" marL="0">
              <a:lnSpc>
                <a:spcPts val="1400"/>
              </a:lnSpc>
              <a:buNone/>
            </a:pPr>
            <a:r>
              <a:rPr lang="en-US" sz="1000" dirty="0">
                <a:solidFill>
                  <a:srgbClr val="1E293B"/>
                </a:solidFill>
                <a:latin typeface="Arial" pitchFamily="34" charset="0"/>
                <a:ea typeface="Arial" pitchFamily="34" charset="-122"/>
                <a:cs typeface="Arial" pitchFamily="34" charset="-120"/>
              </a:rPr>
              <a:t>• Hilirisasi 20 produk inovasi komersial ber-TKDN.</a:t>
            </a:r>
            <a:endParaRPr lang="en-US" sz="1000" dirty="0"/>
          </a:p>
          <a:p>
            <a:pPr indent="0" marL="0">
              <a:lnSpc>
                <a:spcPts val="1400"/>
              </a:lnSpc>
              <a:buNone/>
            </a:pPr>
            <a:endParaRPr lang="en-US" sz="1000" dirty="0"/>
          </a:p>
          <a:p>
            <a:pPr indent="0" marL="0">
              <a:lnSpc>
                <a:spcPts val="1400"/>
              </a:lnSpc>
              <a:buNone/>
            </a:pPr>
            <a:r>
              <a:rPr lang="en-US" sz="1000" dirty="0">
                <a:solidFill>
                  <a:srgbClr val="1E293B"/>
                </a:solidFill>
                <a:latin typeface="Arial" pitchFamily="34" charset="0"/>
                <a:ea typeface="Arial" pitchFamily="34" charset="-122"/>
                <a:cs typeface="Arial" pitchFamily="34" charset="-120"/>
              </a:rPr>
              <a:t>• Peningkatan pendapatan jasa industri hingga Rp 16,1 Miliar.</a:t>
            </a:r>
            <a:endParaRPr lang="en-US" sz="1000" dirty="0"/>
          </a:p>
        </p:txBody>
      </p:sp>
      <p:sp>
        <p:nvSpPr>
          <p:cNvPr id="17" name="Shape 15"/>
          <p:cNvSpPr/>
          <p:nvPr/>
        </p:nvSpPr>
        <p:spPr>
          <a:xfrm>
            <a:off x="7955280" y="1143000"/>
            <a:ext cx="3474720" cy="3749040"/>
          </a:xfrm>
          <a:prstGeom prst="roundRect">
            <a:avLst>
              <a:gd name="adj" fmla="val 2632"/>
            </a:avLst>
          </a:prstGeom>
          <a:solidFill>
            <a:srgbClr val="FFFFFF"/>
          </a:solidFill>
          <a:ln w="15240">
            <a:solidFill>
              <a:srgbClr val="E2E8F0"/>
            </a:solidFill>
            <a:prstDash val="solid"/>
          </a:ln>
        </p:spPr>
      </p:sp>
      <p:sp>
        <p:nvSpPr>
          <p:cNvPr id="18" name="Shape 16"/>
          <p:cNvSpPr/>
          <p:nvPr/>
        </p:nvSpPr>
        <p:spPr>
          <a:xfrm>
            <a:off x="7955280" y="1143000"/>
            <a:ext cx="3474720" cy="594360"/>
          </a:xfrm>
          <a:prstGeom prst="rect">
            <a:avLst/>
          </a:prstGeom>
          <a:solidFill>
            <a:srgbClr val="059669"/>
          </a:solidFill>
          <a:ln/>
        </p:spPr>
      </p:sp>
      <p:sp>
        <p:nvSpPr>
          <p:cNvPr id="19" name="Text 17"/>
          <p:cNvSpPr/>
          <p:nvPr/>
        </p:nvSpPr>
        <p:spPr>
          <a:xfrm>
            <a:off x="8092440" y="1188720"/>
            <a:ext cx="3200400" cy="228600"/>
          </a:xfrm>
          <a:prstGeom prst="rect">
            <a:avLst/>
          </a:prstGeom>
          <a:noFill/>
          <a:ln/>
        </p:spPr>
        <p:txBody>
          <a:bodyPr wrap="square" rtlCol="0" anchor="ctr"/>
          <a:lstStyle/>
          <a:p>
            <a:pPr algn="ctr" indent="0" marL="0">
              <a:buNone/>
            </a:pPr>
            <a:r>
              <a:rPr lang="en-US" sz="950" b="1" dirty="0">
                <a:solidFill>
                  <a:srgbClr val="FEF3C7"/>
                </a:solidFill>
                <a:latin typeface="Arial" pitchFamily="34" charset="0"/>
                <a:ea typeface="Arial" pitchFamily="34" charset="-122"/>
                <a:cs typeface="Arial" pitchFamily="34" charset="-120"/>
              </a:rPr>
              <a:t>FASE 3 (2029–2030)</a:t>
            </a:r>
            <a:endParaRPr lang="en-US" sz="950" dirty="0"/>
          </a:p>
        </p:txBody>
      </p:sp>
      <p:sp>
        <p:nvSpPr>
          <p:cNvPr id="20" name="Text 18"/>
          <p:cNvSpPr/>
          <p:nvPr/>
        </p:nvSpPr>
        <p:spPr>
          <a:xfrm>
            <a:off x="8092440" y="1417320"/>
            <a:ext cx="3200400" cy="32004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GLOBAL MARKET POSITIONING &amp; HOLDING</a:t>
            </a:r>
            <a:endParaRPr lang="en-US" sz="1000" dirty="0"/>
          </a:p>
        </p:txBody>
      </p:sp>
      <p:sp>
        <p:nvSpPr>
          <p:cNvPr id="21" name="Text 19"/>
          <p:cNvSpPr/>
          <p:nvPr/>
        </p:nvSpPr>
        <p:spPr>
          <a:xfrm>
            <a:off x="8138160" y="1874520"/>
            <a:ext cx="3108960" cy="2834640"/>
          </a:xfrm>
          <a:prstGeom prst="rect">
            <a:avLst/>
          </a:prstGeom>
          <a:noFill/>
          <a:ln/>
        </p:spPr>
        <p:txBody>
          <a:bodyPr wrap="square" rtlCol="0" anchor="ctr"/>
          <a:lstStyle/>
          <a:p>
            <a:pPr indent="0" marL="0">
              <a:lnSpc>
                <a:spcPts val="1400"/>
              </a:lnSpc>
              <a:buNone/>
            </a:pPr>
            <a:r>
              <a:rPr lang="en-US" sz="1000" dirty="0">
                <a:solidFill>
                  <a:srgbClr val="1E293B"/>
                </a:solidFill>
                <a:latin typeface="Arial" pitchFamily="34" charset="0"/>
                <a:ea typeface="Arial" pitchFamily="34" charset="-122"/>
                <a:cs typeface="Arial" pitchFamily="34" charset="-120"/>
              </a:rPr>
              <a:t>• Kemandirian finansial penuh: 0% subsidi belanja APBD.</a:t>
            </a:r>
            <a:endParaRPr lang="en-US" sz="1000" dirty="0"/>
          </a:p>
          <a:p>
            <a:pPr indent="0" marL="0">
              <a:lnSpc>
                <a:spcPts val="1400"/>
              </a:lnSpc>
              <a:buNone/>
            </a:pPr>
            <a:endParaRPr lang="en-US" sz="1000" dirty="0"/>
          </a:p>
          <a:p>
            <a:pPr indent="0" marL="0">
              <a:lnSpc>
                <a:spcPts val="1400"/>
              </a:lnSpc>
              <a:buNone/>
            </a:pPr>
            <a:r>
              <a:rPr lang="en-US" sz="1000" dirty="0">
                <a:solidFill>
                  <a:srgbClr val="1E293B"/>
                </a:solidFill>
                <a:latin typeface="Arial" pitchFamily="34" charset="0"/>
                <a:ea typeface="Arial" pitchFamily="34" charset="-122"/>
                <a:cs typeface="Arial" pitchFamily="34" charset="-120"/>
              </a:rPr>
              <a:t>• Pola tata kelola manajemen holding company inovasi.</a:t>
            </a:r>
            <a:endParaRPr lang="en-US" sz="1000" dirty="0"/>
          </a:p>
          <a:p>
            <a:pPr indent="0" marL="0">
              <a:lnSpc>
                <a:spcPts val="1400"/>
              </a:lnSpc>
              <a:buNone/>
            </a:pPr>
            <a:endParaRPr lang="en-US" sz="1000" dirty="0"/>
          </a:p>
          <a:p>
            <a:pPr indent="0" marL="0">
              <a:lnSpc>
                <a:spcPts val="1400"/>
              </a:lnSpc>
              <a:buNone/>
            </a:pPr>
            <a:r>
              <a:rPr lang="en-US" sz="1000" dirty="0">
                <a:solidFill>
                  <a:srgbClr val="1E293B"/>
                </a:solidFill>
                <a:latin typeface="Arial" pitchFamily="34" charset="0"/>
                <a:ea typeface="Arial" pitchFamily="34" charset="-122"/>
                <a:cs typeface="Arial" pitchFamily="34" charset="-120"/>
              </a:rPr>
              <a:t>• Pusat pengembangan Indonesia Digital Technopark.</a:t>
            </a:r>
            <a:endParaRPr lang="en-US" sz="1000" dirty="0"/>
          </a:p>
          <a:p>
            <a:pPr indent="0" marL="0">
              <a:lnSpc>
                <a:spcPts val="1400"/>
              </a:lnSpc>
              <a:buNone/>
            </a:pPr>
            <a:endParaRPr lang="en-US" sz="1000" dirty="0"/>
          </a:p>
          <a:p>
            <a:pPr indent="0" marL="0">
              <a:lnSpc>
                <a:spcPts val="1400"/>
              </a:lnSpc>
              <a:buNone/>
            </a:pPr>
            <a:r>
              <a:rPr lang="en-US" sz="1000" dirty="0">
                <a:solidFill>
                  <a:srgbClr val="1E293B"/>
                </a:solidFill>
                <a:latin typeface="Arial" pitchFamily="34" charset="0"/>
                <a:ea typeface="Arial" pitchFamily="34" charset="-122"/>
                <a:cs typeface="Arial" pitchFamily="34" charset="-120"/>
              </a:rPr>
              <a:t>• Realisasi target pendapatan mandiri Rp 23,47 Miliar.</a:t>
            </a:r>
            <a:endParaRPr lang="en-US" sz="1000" dirty="0"/>
          </a:p>
        </p:txBody>
      </p:sp>
      <p:sp>
        <p:nvSpPr>
          <p:cNvPr id="22" name="Shape 20"/>
          <p:cNvSpPr/>
          <p:nvPr/>
        </p:nvSpPr>
        <p:spPr>
          <a:xfrm>
            <a:off x="731520" y="5120640"/>
            <a:ext cx="10728655" cy="1051560"/>
          </a:xfrm>
          <a:prstGeom prst="roundRect">
            <a:avLst>
              <a:gd name="adj" fmla="val 6957"/>
            </a:avLst>
          </a:prstGeom>
          <a:solidFill>
            <a:srgbClr val="0A192F"/>
          </a:solidFill>
          <a:ln w="15240">
            <a:solidFill>
              <a:srgbClr val="0284C7"/>
            </a:solidFill>
            <a:prstDash val="solid"/>
          </a:ln>
        </p:spPr>
      </p:sp>
      <p:sp>
        <p:nvSpPr>
          <p:cNvPr id="23" name="Text 21"/>
          <p:cNvSpPr/>
          <p:nvPr/>
        </p:nvSpPr>
        <p:spPr>
          <a:xfrm>
            <a:off x="914400" y="5212080"/>
            <a:ext cx="10362895" cy="228600"/>
          </a:xfrm>
          <a:prstGeom prst="rect">
            <a:avLst/>
          </a:prstGeom>
          <a:noFill/>
          <a:ln/>
        </p:spPr>
        <p:txBody>
          <a:bodyPr wrap="square" rtlCol="0" anchor="ctr"/>
          <a:lstStyle/>
          <a:p>
            <a:pPr indent="0" marL="0">
              <a:buNone/>
            </a:pPr>
            <a:r>
              <a:rPr lang="en-US" sz="1000" b="1" dirty="0">
                <a:solidFill>
                  <a:srgbClr val="FEF3C7"/>
                </a:solidFill>
                <a:latin typeface="Arial" pitchFamily="34" charset="0"/>
                <a:ea typeface="Arial" pitchFamily="34" charset="-122"/>
                <a:cs typeface="Arial" pitchFamily="34" charset="-120"/>
              </a:rPr>
              <a:t>PROYEKSI SUMBER PENDAPATAN BLUD 2026–2030 (TARGET REVENUE STREAM):</a:t>
            </a:r>
            <a:endParaRPr lang="en-US" sz="1000" dirty="0"/>
          </a:p>
        </p:txBody>
      </p:sp>
      <p:sp>
        <p:nvSpPr>
          <p:cNvPr id="24" name="Text 22"/>
          <p:cNvSpPr/>
          <p:nvPr/>
        </p:nvSpPr>
        <p:spPr>
          <a:xfrm>
            <a:off x="914400" y="5486400"/>
            <a:ext cx="10362895" cy="5486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Kerjasama Program Strategis: 51%  |  Pelatihan &amp; Sertifikasi: 23%  |  Sewa Fasilitas &amp; Coworking: 18%  |  Produksi &amp; Produk Komersial: 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284C7"/>
          </a:solidFill>
          <a:ln/>
        </p:spPr>
      </p:sp>
      <p:sp>
        <p:nvSpPr>
          <p:cNvPr id="3" name="Text 1"/>
          <p:cNvSpPr/>
          <p:nvPr/>
        </p:nvSpPr>
        <p:spPr>
          <a:xfrm>
            <a:off x="731520" y="292608"/>
            <a:ext cx="8229600" cy="256032"/>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DATA RIIL ANGGARAN PENDAPATAN 2026–2030</a:t>
            </a:r>
            <a:endParaRPr lang="en-US" sz="1000" dirty="0"/>
          </a:p>
        </p:txBody>
      </p:sp>
      <p:sp>
        <p:nvSpPr>
          <p:cNvPr id="4" name="Text 2"/>
          <p:cNvSpPr/>
          <p:nvPr/>
        </p:nvSpPr>
        <p:spPr>
          <a:xfrm>
            <a:off x="731520" y="548640"/>
            <a:ext cx="10698480" cy="411480"/>
          </a:xfrm>
          <a:prstGeom prst="rect">
            <a:avLst/>
          </a:prstGeom>
          <a:noFill/>
          <a:ln/>
        </p:spPr>
        <p:txBody>
          <a:bodyPr wrap="square" rtlCol="0" anchor="ctr"/>
          <a:lstStyle/>
          <a:p>
            <a:pPr indent="0" marL="0">
              <a:buNone/>
            </a:pPr>
            <a:r>
              <a:rPr lang="en-US" sz="2000" b="1" dirty="0">
                <a:solidFill>
                  <a:srgbClr val="0A192F"/>
                </a:solidFill>
                <a:latin typeface="Arial" pitchFamily="34" charset="0"/>
                <a:ea typeface="Arial" pitchFamily="34" charset="-122"/>
                <a:cs typeface="Arial" pitchFamily="34" charset="-120"/>
              </a:rPr>
              <a:t>RE-SETTING TARGET FINANSIAL: LOMPATAN RP 7,50 M ➔ RP 23,47 M</a:t>
            </a:r>
            <a:endParaRPr lang="en-US" sz="2000" dirty="0"/>
          </a:p>
        </p:txBody>
      </p:sp>
      <p:sp>
        <p:nvSpPr>
          <p:cNvPr id="5" name="Text 3"/>
          <p:cNvSpPr/>
          <p:nvPr/>
        </p:nvSpPr>
        <p:spPr>
          <a:xfrm>
            <a:off x="731520" y="6382512"/>
            <a:ext cx="7772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Solo Technopark 2026–2030 | Bahan Paparan Resmi Walikota Surakarta</a:t>
            </a:r>
            <a:endParaRPr lang="en-US" sz="900" dirty="0"/>
          </a:p>
        </p:txBody>
      </p:sp>
      <p:sp>
        <p:nvSpPr>
          <p:cNvPr id="6" name="Text 4"/>
          <p:cNvSpPr/>
          <p:nvPr/>
        </p:nvSpPr>
        <p:spPr>
          <a:xfrm>
            <a:off x="10241280" y="6382512"/>
            <a:ext cx="1218895" cy="274320"/>
          </a:xfrm>
          <a:prstGeom prst="rect">
            <a:avLst/>
          </a:prstGeom>
          <a:noFill/>
          <a:ln/>
        </p:spPr>
        <p:txBody>
          <a:bodyPr wrap="square" rtlCol="0" anchor="ctr"/>
          <a:lstStyle/>
          <a:p>
            <a:pPr algn="r" indent="0" marL="0">
              <a:buNone/>
            </a:pPr>
            <a:r>
              <a:rPr lang="en-US" sz="950" b="1" dirty="0">
                <a:solidFill>
                  <a:srgbClr val="64748B"/>
                </a:solidFill>
                <a:latin typeface="Arial" pitchFamily="34" charset="0"/>
                <a:ea typeface="Arial" pitchFamily="34" charset="-122"/>
                <a:cs typeface="Arial" pitchFamily="34" charset="-120"/>
              </a:rPr>
              <a:t>Slide 8 / 10</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143000"/>
          <a:ext cx="5486400" cy="2560320"/>
        </p:xfrm>
        <a:graphic>
          <a:graphicData uri="http://schemas.openxmlformats.org/drawingml/2006/table">
            <a:tbl>
              <a:tblPr/>
              <a:tblGrid>
                <a:gridCol w="1005840"/>
                <a:gridCol w="2468880"/>
                <a:gridCol w="2011680"/>
              </a:tblGrid>
              <a:tr h="36576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TAHUN</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A192F"/>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TARGET NOMINAL (RP)</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A192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PERTUMBUHAN</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A192F"/>
                    </a:solidFill>
                  </a:tcPr>
                </a:tc>
              </a:tr>
              <a:tr h="411480">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2026</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Arial" pitchFamily="34" charset="0"/>
                          <a:ea typeface="Arial" pitchFamily="34" charset="-122"/>
                          <a:cs typeface="Arial" pitchFamily="34" charset="-120"/>
                        </a:rPr>
                        <a:t>Rp 7.503.392.698</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Baseline</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2027</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Arial" pitchFamily="34" charset="0"/>
                          <a:ea typeface="Arial" pitchFamily="34" charset="-122"/>
                          <a:cs typeface="Arial" pitchFamily="34" charset="-120"/>
                        </a:rPr>
                        <a:t>Rp 12.532.185.031</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284C7"/>
                          </a:solidFill>
                          <a:latin typeface="Arial" pitchFamily="34" charset="0"/>
                          <a:ea typeface="Arial" pitchFamily="34" charset="-122"/>
                          <a:cs typeface="Arial" pitchFamily="34" charset="-120"/>
                        </a:rPr>
                        <a:t>+67.0%</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2028</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Arial" pitchFamily="34" charset="0"/>
                          <a:ea typeface="Arial" pitchFamily="34" charset="-122"/>
                          <a:cs typeface="Arial" pitchFamily="34" charset="-120"/>
                        </a:rPr>
                        <a:t>Rp 16.100.658.831</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284C7"/>
                          </a:solidFill>
                          <a:latin typeface="Arial" pitchFamily="34" charset="0"/>
                          <a:ea typeface="Arial" pitchFamily="34" charset="-122"/>
                          <a:cs typeface="Arial" pitchFamily="34" charset="-120"/>
                        </a:rPr>
                        <a:t>+28.5%</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2029</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Arial" pitchFamily="34" charset="0"/>
                          <a:ea typeface="Arial" pitchFamily="34" charset="-122"/>
                          <a:cs typeface="Arial" pitchFamily="34" charset="-120"/>
                        </a:rPr>
                        <a:t>Rp 20.615.658.831</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284C7"/>
                          </a:solidFill>
                          <a:latin typeface="Arial" pitchFamily="34" charset="0"/>
                          <a:ea typeface="Arial" pitchFamily="34" charset="-122"/>
                          <a:cs typeface="Arial" pitchFamily="34" charset="-120"/>
                        </a:rPr>
                        <a:t>+28.0%</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ctr" indent="0" marL="0">
                        <a:buNone/>
                      </a:pPr>
                      <a:r>
                        <a:rPr lang="en-US" sz="1000" b="1" dirty="0">
                          <a:solidFill>
                            <a:srgbClr val="D97706"/>
                          </a:solidFill>
                          <a:latin typeface="Arial" pitchFamily="34" charset="0"/>
                          <a:ea typeface="Arial" pitchFamily="34" charset="-122"/>
                          <a:cs typeface="Arial" pitchFamily="34" charset="-120"/>
                        </a:rPr>
                        <a:t>2030</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D97706"/>
                          </a:solidFill>
                          <a:latin typeface="Arial" pitchFamily="34" charset="0"/>
                          <a:ea typeface="Arial" pitchFamily="34" charset="-122"/>
                          <a:cs typeface="Arial" pitchFamily="34" charset="-120"/>
                        </a:rPr>
                        <a:t>Rp 23.468.158.831</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97706"/>
                          </a:solidFill>
                          <a:latin typeface="Arial" pitchFamily="34" charset="0"/>
                          <a:ea typeface="Arial" pitchFamily="34" charset="-122"/>
                          <a:cs typeface="Arial" pitchFamily="34" charset="-120"/>
                        </a:rPr>
                        <a:t>MANDIRI (0% APBD)</a:t>
                      </a:r>
                      <a:endParaRPr lang="en-US" sz="1000" dirty="0">
                        <a:latin typeface="Arial" charset="0"/>
                        <a:ea typeface="Arial" charset="0"/>
                        <a:cs typeface="Arial"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8" name="Shape 5"/>
          <p:cNvSpPr/>
          <p:nvPr/>
        </p:nvSpPr>
        <p:spPr>
          <a:xfrm>
            <a:off x="6492240" y="1143000"/>
            <a:ext cx="4967935" cy="5029200"/>
          </a:xfrm>
          <a:prstGeom prst="roundRect">
            <a:avLst>
              <a:gd name="adj" fmla="val 1841"/>
            </a:avLst>
          </a:prstGeom>
          <a:solidFill>
            <a:srgbClr val="FFFFFF"/>
          </a:solidFill>
          <a:ln w="15240">
            <a:solidFill>
              <a:srgbClr val="E2E8F0"/>
            </a:solidFill>
            <a:prstDash val="solid"/>
          </a:ln>
        </p:spPr>
      </p:sp>
      <p:sp>
        <p:nvSpPr>
          <p:cNvPr id="9" name="Shape 6"/>
          <p:cNvSpPr/>
          <p:nvPr/>
        </p:nvSpPr>
        <p:spPr>
          <a:xfrm>
            <a:off x="6492240" y="1143000"/>
            <a:ext cx="4967935" cy="411480"/>
          </a:xfrm>
          <a:prstGeom prst="rect">
            <a:avLst/>
          </a:prstGeom>
          <a:solidFill>
            <a:srgbClr val="1E3A8A"/>
          </a:solidFill>
          <a:ln/>
        </p:spPr>
      </p:sp>
      <p:sp>
        <p:nvSpPr>
          <p:cNvPr id="10" name="Text 7"/>
          <p:cNvSpPr/>
          <p:nvPr/>
        </p:nvSpPr>
        <p:spPr>
          <a:xfrm>
            <a:off x="6629400" y="1143000"/>
            <a:ext cx="4709160" cy="411480"/>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RINCIAN MATA ANGGARAN PENDAPATAN 2030 (AUDIT RIIL)</a:t>
            </a:r>
            <a:endParaRPr lang="en-US" sz="1050" dirty="0"/>
          </a:p>
        </p:txBody>
      </p:sp>
      <p:sp>
        <p:nvSpPr>
          <p:cNvPr id="11" name="Text 8"/>
          <p:cNvSpPr/>
          <p:nvPr/>
        </p:nvSpPr>
        <p:spPr>
          <a:xfrm>
            <a:off x="6675120" y="1600200"/>
            <a:ext cx="4617720" cy="3840480"/>
          </a:xfrm>
          <a:prstGeom prst="rect">
            <a:avLst/>
          </a:prstGeom>
          <a:noFill/>
          <a:ln/>
        </p:spPr>
        <p:txBody>
          <a:bodyPr wrap="square" rtlCol="0" anchor="ctr"/>
          <a:lstStyle/>
          <a:p>
            <a:pPr indent="0" marL="0">
              <a:lnSpc>
                <a:spcPts val="1100"/>
              </a:lnSpc>
              <a:buNone/>
            </a:pPr>
            <a:r>
              <a:rPr lang="en-US" sz="950" b="1" dirty="0">
                <a:solidFill>
                  <a:srgbClr val="0A192F"/>
                </a:solidFill>
                <a:latin typeface="Arial" pitchFamily="34" charset="0"/>
                <a:ea typeface="Arial" pitchFamily="34" charset="-122"/>
                <a:cs typeface="Arial" pitchFamily="34" charset="-120"/>
              </a:rPr>
              <a:t>1. Kerjasama Program (51%): </a:t>
            </a:r>
            <a:pPr indent="0" marL="0">
              <a:lnSpc>
                <a:spcPts val="1100"/>
              </a:lnSpc>
              <a:buNone/>
            </a:pPr>
            <a:r>
              <a:rPr lang="en-US" sz="950" b="1" dirty="0">
                <a:solidFill>
                  <a:srgbClr val="0284C7"/>
                </a:solidFill>
                <a:latin typeface="Arial" pitchFamily="34" charset="0"/>
                <a:ea typeface="Arial" pitchFamily="34" charset="-122"/>
                <a:cs typeface="Arial" pitchFamily="34" charset="-120"/>
              </a:rPr>
              <a:t>Rp 12,82 Miliar
</a:t>
            </a:r>
            <a:pPr indent="0" marL="0">
              <a:lnSpc>
                <a:spcPts val="1100"/>
              </a:lnSpc>
              <a:buNone/>
            </a:pPr>
            <a:r>
              <a:rPr lang="en-US" sz="850" dirty="0">
                <a:solidFill>
                  <a:srgbClr val="64748B"/>
                </a:solidFill>
                <a:latin typeface="Arial" pitchFamily="34" charset="0"/>
                <a:ea typeface="Arial" pitchFamily="34" charset="-122"/>
                <a:cs typeface="Arial" pitchFamily="34" charset="-120"/>
              </a:rPr>
              <a:t>   • OGSCI Migas: Rp 6,25 M | Pemda e-Katalog: Rp 2,25 M
   • Kemenperin: Rp 2,0 M | SMK GoGlobal: Rp 1,5 M
</a:t>
            </a:r>
            <a:pPr indent="0" marL="0">
              <a:lnSpc>
                <a:spcPts val="1100"/>
              </a:lnSpc>
              <a:buNone/>
            </a:pPr>
            <a:r>
              <a:rPr lang="en-US" sz="950" b="1" dirty="0">
                <a:solidFill>
                  <a:srgbClr val="0A192F"/>
                </a:solidFill>
                <a:latin typeface="Arial" pitchFamily="34" charset="0"/>
                <a:ea typeface="Arial" pitchFamily="34" charset="-122"/>
                <a:cs typeface="Arial" pitchFamily="34" charset="-120"/>
              </a:rPr>
              <a:t>2. Layanan Vokasi &amp; Sertifikasi (16%): </a:t>
            </a:r>
            <a:pPr indent="0" marL="0">
              <a:lnSpc>
                <a:spcPts val="1100"/>
              </a:lnSpc>
              <a:buNone/>
            </a:pPr>
            <a:r>
              <a:rPr lang="en-US" sz="950" b="1" dirty="0">
                <a:solidFill>
                  <a:srgbClr val="0284C7"/>
                </a:solidFill>
                <a:latin typeface="Arial" pitchFamily="34" charset="0"/>
                <a:ea typeface="Arial" pitchFamily="34" charset="-122"/>
                <a:cs typeface="Arial" pitchFamily="34" charset="-120"/>
              </a:rPr>
              <a:t>Rp 3,68 Miliar
</a:t>
            </a:r>
            <a:pPr indent="0" marL="0">
              <a:lnSpc>
                <a:spcPts val="1100"/>
              </a:lnSpc>
              <a:buNone/>
            </a:pPr>
            <a:r>
              <a:rPr lang="en-US" sz="850" dirty="0">
                <a:solidFill>
                  <a:srgbClr val="64748B"/>
                </a:solidFill>
                <a:latin typeface="Arial" pitchFamily="34" charset="0"/>
                <a:ea typeface="Arial" pitchFamily="34" charset="-122"/>
                <a:cs typeface="Arial" pitchFamily="34" charset="-120"/>
              </a:rPr>
              <a:t>   • Sertifikasi JFT: Rp 1,37 M | TUK Mandiri: Rp 1,35 M | Lab Data Center: Rp 950 jt
</a:t>
            </a:r>
            <a:pPr indent="0" marL="0">
              <a:lnSpc>
                <a:spcPts val="1100"/>
              </a:lnSpc>
              <a:buNone/>
            </a:pPr>
            <a:r>
              <a:rPr lang="en-US" sz="950" b="1" dirty="0">
                <a:solidFill>
                  <a:srgbClr val="0A192F"/>
                </a:solidFill>
                <a:latin typeface="Arial" pitchFamily="34" charset="0"/>
                <a:ea typeface="Arial" pitchFamily="34" charset="-122"/>
                <a:cs typeface="Arial" pitchFamily="34" charset="-120"/>
              </a:rPr>
              <a:t>3. Diklat Mandiri Spesialis (11%): </a:t>
            </a:r>
            <a:pPr indent="0" marL="0">
              <a:lnSpc>
                <a:spcPts val="1100"/>
              </a:lnSpc>
              <a:buNone/>
            </a:pPr>
            <a:r>
              <a:rPr lang="en-US" sz="950" b="1" dirty="0">
                <a:solidFill>
                  <a:srgbClr val="0284C7"/>
                </a:solidFill>
                <a:latin typeface="Arial" pitchFamily="34" charset="0"/>
                <a:ea typeface="Arial" pitchFamily="34" charset="-122"/>
                <a:cs typeface="Arial" pitchFamily="34" charset="-120"/>
              </a:rPr>
              <a:t>Rp 2,47 Miliar
</a:t>
            </a:r>
            <a:pPr indent="0" marL="0">
              <a:lnSpc>
                <a:spcPts val="1100"/>
              </a:lnSpc>
              <a:buNone/>
            </a:pPr>
            <a:r>
              <a:rPr lang="en-US" sz="850" dirty="0">
                <a:solidFill>
                  <a:srgbClr val="64748B"/>
                </a:solidFill>
                <a:latin typeface="Arial" pitchFamily="34" charset="0"/>
                <a:ea typeface="Arial" pitchFamily="34" charset="-122"/>
                <a:cs typeface="Arial" pitchFamily="34" charset="-120"/>
              </a:rPr>
              <a:t>   • Welding Bawah Air: Rp 846 jt | Manufaktur: Rp 728 jt | AI &amp; Cyber: Rp 225 jt
</a:t>
            </a:r>
            <a:pPr indent="0" marL="0">
              <a:lnSpc>
                <a:spcPts val="1100"/>
              </a:lnSpc>
              <a:buNone/>
            </a:pPr>
            <a:r>
              <a:rPr lang="en-US" sz="950" b="1" dirty="0">
                <a:solidFill>
                  <a:srgbClr val="0A192F"/>
                </a:solidFill>
                <a:latin typeface="Arial" pitchFamily="34" charset="0"/>
                <a:ea typeface="Arial" pitchFamily="34" charset="-122"/>
                <a:cs typeface="Arial" pitchFamily="34" charset="-120"/>
              </a:rPr>
              <a:t>4. Sarana Kawasan &amp; Event (10%): </a:t>
            </a:r>
            <a:pPr indent="0" marL="0">
              <a:lnSpc>
                <a:spcPts val="1100"/>
              </a:lnSpc>
              <a:buNone/>
            </a:pPr>
            <a:r>
              <a:rPr lang="en-US" sz="950" b="1" dirty="0">
                <a:solidFill>
                  <a:srgbClr val="0284C7"/>
                </a:solidFill>
                <a:latin typeface="Arial" pitchFamily="34" charset="0"/>
                <a:ea typeface="Arial" pitchFamily="34" charset="-122"/>
                <a:cs typeface="Arial" pitchFamily="34" charset="-120"/>
              </a:rPr>
              <a:t>Rp 2,45 Miliar
</a:t>
            </a:r>
            <a:pPr indent="0" marL="0">
              <a:lnSpc>
                <a:spcPts val="1100"/>
              </a:lnSpc>
              <a:buNone/>
            </a:pPr>
            <a:r>
              <a:rPr lang="en-US" sz="850" dirty="0">
                <a:solidFill>
                  <a:srgbClr val="64748B"/>
                </a:solidFill>
                <a:latin typeface="Arial" pitchFamily="34" charset="0"/>
                <a:ea typeface="Arial" pitchFamily="34" charset="-122"/>
                <a:cs typeface="Arial" pitchFamily="34" charset="-120"/>
              </a:rPr>
              <a:t>   • Pemanfaatan Event/Sarpras: Rp 1,5 M | Coworking &amp; Virtual Office: Rp 900 jt
</a:t>
            </a:r>
            <a:pPr indent="0" marL="0">
              <a:lnSpc>
                <a:spcPts val="1100"/>
              </a:lnSpc>
              <a:buNone/>
            </a:pPr>
            <a:r>
              <a:rPr lang="en-US" sz="950" b="1" dirty="0">
                <a:solidFill>
                  <a:srgbClr val="0A192F"/>
                </a:solidFill>
                <a:latin typeface="Arial" pitchFamily="34" charset="0"/>
                <a:ea typeface="Arial" pitchFamily="34" charset="-122"/>
                <a:cs typeface="Arial" pitchFamily="34" charset="-120"/>
              </a:rPr>
              <a:t>5. Rekayasa Manufaktur &amp; Sparepart (6%): </a:t>
            </a:r>
            <a:pPr indent="0" marL="0">
              <a:lnSpc>
                <a:spcPts val="1100"/>
              </a:lnSpc>
              <a:buNone/>
            </a:pPr>
            <a:r>
              <a:rPr lang="en-US" sz="950" b="1" dirty="0">
                <a:solidFill>
                  <a:srgbClr val="0284C7"/>
                </a:solidFill>
                <a:latin typeface="Arial" pitchFamily="34" charset="0"/>
                <a:ea typeface="Arial" pitchFamily="34" charset="-122"/>
                <a:cs typeface="Arial" pitchFamily="34" charset="-120"/>
              </a:rPr>
              <a:t>Rp 1,46 Miliar
</a:t>
            </a:r>
            <a:pPr indent="0" marL="0">
              <a:lnSpc>
                <a:spcPts val="1100"/>
              </a:lnSpc>
              <a:buNone/>
            </a:pPr>
            <a:r>
              <a:rPr lang="en-US" sz="850" dirty="0">
                <a:solidFill>
                  <a:srgbClr val="64748B"/>
                </a:solidFill>
                <a:latin typeface="Arial" pitchFamily="34" charset="0"/>
                <a:ea typeface="Arial" pitchFamily="34" charset="-122"/>
                <a:cs typeface="Arial" pitchFamily="34" charset="-120"/>
              </a:rPr>
              <a:t>   • Komponen Presisi, Fabrikasi Mesin, &amp; FabLab Industri
</a:t>
            </a:r>
            <a:pPr indent="0" marL="0">
              <a:lnSpc>
                <a:spcPts val="1100"/>
              </a:lnSpc>
              <a:buNone/>
            </a:pPr>
            <a:r>
              <a:rPr lang="en-US" sz="950" b="1" dirty="0">
                <a:solidFill>
                  <a:srgbClr val="0A192F"/>
                </a:solidFill>
                <a:latin typeface="Arial" pitchFamily="34" charset="0"/>
                <a:ea typeface="Arial" pitchFamily="34" charset="-122"/>
                <a:cs typeface="Arial" pitchFamily="34" charset="-120"/>
              </a:rPr>
              <a:t>6. Kerjasama Pemanfaatan Lahan (3%): </a:t>
            </a:r>
            <a:pPr indent="0" marL="0">
              <a:lnSpc>
                <a:spcPts val="1100"/>
              </a:lnSpc>
              <a:buNone/>
            </a:pPr>
            <a:r>
              <a:rPr lang="en-US" sz="950" b="1" dirty="0">
                <a:solidFill>
                  <a:srgbClr val="64748B"/>
                </a:solidFill>
                <a:latin typeface="Arial" pitchFamily="34" charset="0"/>
                <a:ea typeface="Arial" pitchFamily="34" charset="-122"/>
                <a:cs typeface="Arial" pitchFamily="34" charset="-120"/>
              </a:rPr>
              <a:t>Rp 579 Juta
</a:t>
            </a:r>
            <a:pPr indent="0" marL="0">
              <a:lnSpc>
                <a:spcPts val="1100"/>
              </a:lnSpc>
              <a:buNone/>
            </a:pPr>
            <a:r>
              <a:rPr lang="en-US" sz="850" dirty="0">
                <a:solidFill>
                  <a:srgbClr val="64748B"/>
                </a:solidFill>
                <a:latin typeface="Arial" pitchFamily="34" charset="0"/>
                <a:ea typeface="Arial" pitchFamily="34" charset="-122"/>
                <a:cs typeface="Arial" pitchFamily="34" charset="-120"/>
              </a:rPr>
              <a:t>   • Gedung Shopee &amp; Kawasan Katulondi (Porsi sewa lahan ditekan minim)
</a:t>
            </a:r>
            <a:endParaRPr lang="en-US" sz="950" dirty="0"/>
          </a:p>
        </p:txBody>
      </p:sp>
      <p:sp>
        <p:nvSpPr>
          <p:cNvPr id="12" name="Shape 9"/>
          <p:cNvSpPr/>
          <p:nvPr/>
        </p:nvSpPr>
        <p:spPr>
          <a:xfrm>
            <a:off x="6629400" y="5532120"/>
            <a:ext cx="4693615" cy="502920"/>
          </a:xfrm>
          <a:prstGeom prst="roundRect">
            <a:avLst>
              <a:gd name="adj" fmla="val 10909"/>
            </a:avLst>
          </a:prstGeom>
          <a:solidFill>
            <a:srgbClr val="E0F2FE"/>
          </a:solidFill>
          <a:ln w="12700">
            <a:solidFill>
              <a:srgbClr val="0284C7"/>
            </a:solidFill>
            <a:prstDash val="solid"/>
          </a:ln>
        </p:spPr>
      </p:sp>
      <p:sp>
        <p:nvSpPr>
          <p:cNvPr id="13" name="Text 10"/>
          <p:cNvSpPr/>
          <p:nvPr/>
        </p:nvSpPr>
        <p:spPr>
          <a:xfrm>
            <a:off x="6720840" y="5559552"/>
            <a:ext cx="4510735" cy="438912"/>
          </a:xfrm>
          <a:prstGeom prst="rect">
            <a:avLst/>
          </a:prstGeom>
          <a:noFill/>
          <a:ln/>
        </p:spPr>
        <p:txBody>
          <a:bodyPr wrap="square" rtlCol="0" anchor="ctr"/>
          <a:lstStyle/>
          <a:p>
            <a:pPr indent="0" marL="0">
              <a:buNone/>
            </a:pPr>
            <a:r>
              <a:rPr lang="en-US" sz="850" b="1" i="1" dirty="0">
                <a:solidFill>
                  <a:srgbClr val="1E3A8A"/>
                </a:solidFill>
                <a:latin typeface="Arial" pitchFamily="34" charset="0"/>
                <a:ea typeface="Arial" pitchFamily="34" charset="-122"/>
                <a:cs typeface="Arial" pitchFamily="34" charset="-120"/>
              </a:rPr>
              <a:t>Audit Portofolio: Ketergantungan sewa lahan ditekan ke 3%, membuktikan STP bertransformasi menjadi pusat layanan riset &amp; vokasi berdaya saing tinggi.</a:t>
            </a:r>
            <a:endParaRPr lang="en-US" sz="850" dirty="0"/>
          </a:p>
        </p:txBody>
      </p:sp>
      <p:sp>
        <p:nvSpPr>
          <p:cNvPr id="14" name="Shape 11"/>
          <p:cNvSpPr/>
          <p:nvPr/>
        </p:nvSpPr>
        <p:spPr>
          <a:xfrm>
            <a:off x="731520" y="3886200"/>
            <a:ext cx="5486400" cy="2286000"/>
          </a:xfrm>
          <a:prstGeom prst="roundRect">
            <a:avLst>
              <a:gd name="adj" fmla="val 4000"/>
            </a:avLst>
          </a:prstGeom>
          <a:solidFill>
            <a:srgbClr val="0F1E36"/>
          </a:solidFill>
          <a:ln w="19050">
            <a:solidFill>
              <a:srgbClr val="0284C7"/>
            </a:solidFill>
            <a:prstDash val="solid"/>
          </a:ln>
        </p:spPr>
      </p:sp>
      <p:sp>
        <p:nvSpPr>
          <p:cNvPr id="15" name="Shape 12"/>
          <p:cNvSpPr/>
          <p:nvPr/>
        </p:nvSpPr>
        <p:spPr>
          <a:xfrm>
            <a:off x="914400" y="4023360"/>
            <a:ext cx="5120640" cy="347472"/>
          </a:xfrm>
          <a:prstGeom prst="roundRect">
            <a:avLst>
              <a:gd name="adj" fmla="val 15789"/>
            </a:avLst>
          </a:prstGeom>
          <a:solidFill>
            <a:srgbClr val="1E3A8A"/>
          </a:solidFill>
          <a:ln/>
        </p:spPr>
      </p:sp>
      <p:sp>
        <p:nvSpPr>
          <p:cNvPr id="16" name="Text 13"/>
          <p:cNvSpPr/>
          <p:nvPr/>
        </p:nvSpPr>
        <p:spPr>
          <a:xfrm>
            <a:off x="914400" y="4023360"/>
            <a:ext cx="5120640" cy="34747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KESIMPULAN AUDIT FINANSIAL &amp; KEMANDIRIAN BLUD</a:t>
            </a:r>
            <a:endParaRPr lang="en-US" sz="1050" dirty="0"/>
          </a:p>
        </p:txBody>
      </p:sp>
      <p:sp>
        <p:nvSpPr>
          <p:cNvPr id="17" name="Text 14"/>
          <p:cNvSpPr/>
          <p:nvPr/>
        </p:nvSpPr>
        <p:spPr>
          <a:xfrm>
            <a:off x="914400" y="4462272"/>
            <a:ext cx="5120640" cy="365760"/>
          </a:xfrm>
          <a:prstGeom prst="rect">
            <a:avLst/>
          </a:prstGeom>
          <a:noFill/>
          <a:ln/>
        </p:spPr>
        <p:txBody>
          <a:bodyPr wrap="square" rtlCol="0" anchor="ctr"/>
          <a:lstStyle/>
          <a:p>
            <a:pPr algn="ctr" indent="0" marL="0">
              <a:buNone/>
            </a:pPr>
            <a:r>
              <a:rPr lang="en-US" sz="1500" b="1" dirty="0">
                <a:solidFill>
                  <a:srgbClr val="D97706"/>
                </a:solidFill>
                <a:latin typeface="Arial" pitchFamily="34" charset="0"/>
                <a:ea typeface="Arial" pitchFamily="34" charset="-122"/>
                <a:cs typeface="Arial" pitchFamily="34" charset="-120"/>
              </a:rPr>
              <a:t>LOMPATAN PENDAPATAN: +213% (3,1x LIPAT)</a:t>
            </a:r>
            <a:endParaRPr lang="en-US" sz="1500" dirty="0"/>
          </a:p>
        </p:txBody>
      </p:sp>
      <p:sp>
        <p:nvSpPr>
          <p:cNvPr id="18" name="Text 15"/>
          <p:cNvSpPr/>
          <p:nvPr/>
        </p:nvSpPr>
        <p:spPr>
          <a:xfrm>
            <a:off x="914400" y="4864608"/>
            <a:ext cx="5120640" cy="1234440"/>
          </a:xfrm>
          <a:prstGeom prst="rect">
            <a:avLst/>
          </a:prstGeom>
          <a:noFill/>
          <a:ln/>
        </p:spPr>
        <p:txBody>
          <a:bodyPr wrap="square" rtlCol="0" anchor="ctr"/>
          <a:lstStyle/>
          <a:p>
            <a:pPr indent="0" marL="0">
              <a:lnSpc>
                <a:spcPts val="1300"/>
              </a:lnSpc>
              <a:buNone/>
            </a:pPr>
            <a:r>
              <a:rPr lang="en-US" sz="920" b="1" dirty="0">
                <a:solidFill>
                  <a:srgbClr val="FEF3C7"/>
                </a:solidFill>
                <a:latin typeface="Arial" pitchFamily="34" charset="0"/>
                <a:ea typeface="Arial" pitchFamily="34" charset="-122"/>
                <a:cs typeface="Arial" pitchFamily="34" charset="-120"/>
              </a:rPr>
              <a:t>• Beban APBD 0% di 2030: </a:t>
            </a:r>
            <a:pPr indent="0" marL="0">
              <a:lnSpc>
                <a:spcPts val="1300"/>
              </a:lnSpc>
              <a:buNone/>
            </a:pPr>
            <a:r>
              <a:rPr lang="en-US" sz="920" dirty="0">
                <a:solidFill>
                  <a:srgbClr val="E2E8F0"/>
                </a:solidFill>
                <a:latin typeface="Arial" pitchFamily="34" charset="0"/>
                <a:ea typeface="Arial" pitchFamily="34" charset="-122"/>
                <a:cs typeface="Arial" pitchFamily="34" charset="-120"/>
              </a:rPr>
              <a:t>Seluruh biaya operasional UPTD STP tertutup penuh oleh pendapatan fungsional layanan tanpa subsidi kas daerah.
</a:t>
            </a:r>
            <a:pPr indent="0" marL="0">
              <a:lnSpc>
                <a:spcPts val="1300"/>
              </a:lnSpc>
              <a:buNone/>
            </a:pPr>
            <a:r>
              <a:rPr lang="en-US" sz="920" b="1" dirty="0">
                <a:solidFill>
                  <a:srgbClr val="E0F2FE"/>
                </a:solidFill>
                <a:latin typeface="Arial" pitchFamily="34" charset="0"/>
                <a:ea typeface="Arial" pitchFamily="34" charset="-122"/>
                <a:cs typeface="Arial" pitchFamily="34" charset="-120"/>
              </a:rPr>
              <a:t>• Titik Impas (BEP) 2028: </a:t>
            </a:r>
            <a:pPr indent="0" marL="0">
              <a:lnSpc>
                <a:spcPts val="1300"/>
              </a:lnSpc>
              <a:buNone/>
            </a:pPr>
            <a:r>
              <a:rPr lang="en-US" sz="920" dirty="0">
                <a:solidFill>
                  <a:srgbClr val="E2E8F0"/>
                </a:solidFill>
                <a:latin typeface="Arial" pitchFamily="34" charset="0"/>
                <a:ea typeface="Arial" pitchFamily="34" charset="-122"/>
                <a:cs typeface="Arial" pitchFamily="34" charset="-120"/>
              </a:rPr>
              <a:t>Tercapai di target Rp 16,10 Miliar seiring beroperasinya Strategic Business Unit (SBU).
</a:t>
            </a:r>
            <a:pPr indent="0" marL="0">
              <a:lnSpc>
                <a:spcPts val="1300"/>
              </a:lnSpc>
              <a:buNone/>
            </a:pPr>
            <a:r>
              <a:rPr lang="en-US" sz="920" b="1" dirty="0">
                <a:solidFill>
                  <a:srgbClr val="D1FAE5"/>
                </a:solidFill>
                <a:latin typeface="Arial" pitchFamily="34" charset="0"/>
                <a:ea typeface="Arial" pitchFamily="34" charset="-122"/>
                <a:cs typeface="Arial" pitchFamily="34" charset="-120"/>
              </a:rPr>
              <a:t>• Kualitas Pendapatan Berkelanjutan: </a:t>
            </a:r>
            <a:pPr indent="0" marL="0">
              <a:lnSpc>
                <a:spcPts val="1300"/>
              </a:lnSpc>
              <a:buNone/>
            </a:pPr>
            <a:r>
              <a:rPr lang="en-US" sz="920" dirty="0">
                <a:solidFill>
                  <a:srgbClr val="E2E8F0"/>
                </a:solidFill>
                <a:latin typeface="Arial" pitchFamily="34" charset="0"/>
                <a:ea typeface="Arial" pitchFamily="34" charset="-122"/>
                <a:cs typeface="Arial" pitchFamily="34" charset="-120"/>
              </a:rPr>
              <a:t>88% disumbang keahlian riset &amp; vokasi industri (program migas, uji lab, diklat spesialis).</a:t>
            </a:r>
            <a:endParaRPr lang="en-US"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284C7"/>
          </a:solidFill>
          <a:ln/>
        </p:spPr>
      </p:sp>
      <p:sp>
        <p:nvSpPr>
          <p:cNvPr id="3" name="Text 1"/>
          <p:cNvSpPr/>
          <p:nvPr/>
        </p:nvSpPr>
        <p:spPr>
          <a:xfrm>
            <a:off x="731520" y="292608"/>
            <a:ext cx="8229600" cy="256032"/>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DAMPAK SOSIAL-EKONOMI BAGI KOTA SURAKARTA</a:t>
            </a:r>
            <a:endParaRPr lang="en-US" sz="1000" dirty="0"/>
          </a:p>
        </p:txBody>
      </p:sp>
      <p:sp>
        <p:nvSpPr>
          <p:cNvPr id="4" name="Text 2"/>
          <p:cNvSpPr/>
          <p:nvPr/>
        </p:nvSpPr>
        <p:spPr>
          <a:xfrm>
            <a:off x="731520" y="548640"/>
            <a:ext cx="10698480" cy="411480"/>
          </a:xfrm>
          <a:prstGeom prst="rect">
            <a:avLst/>
          </a:prstGeom>
          <a:noFill/>
          <a:ln/>
        </p:spPr>
        <p:txBody>
          <a:bodyPr wrap="square" rtlCol="0" anchor="ctr"/>
          <a:lstStyle/>
          <a:p>
            <a:pPr indent="0" marL="0">
              <a:buNone/>
            </a:pPr>
            <a:r>
              <a:rPr lang="en-US" sz="2000" b="1" dirty="0">
                <a:solidFill>
                  <a:srgbClr val="0A192F"/>
                </a:solidFill>
                <a:latin typeface="Arial" pitchFamily="34" charset="0"/>
                <a:ea typeface="Arial" pitchFamily="34" charset="-122"/>
                <a:cs typeface="Arial" pitchFamily="34" charset="-120"/>
              </a:rPr>
              <a:t>MANFAAT NYATA: DARI INOVASI MENUJU KESEJAHTERAAN MASYARAKAT</a:t>
            </a:r>
            <a:endParaRPr lang="en-US" sz="2000" dirty="0"/>
          </a:p>
        </p:txBody>
      </p:sp>
      <p:sp>
        <p:nvSpPr>
          <p:cNvPr id="5" name="Text 3"/>
          <p:cNvSpPr/>
          <p:nvPr/>
        </p:nvSpPr>
        <p:spPr>
          <a:xfrm>
            <a:off x="731520" y="6382512"/>
            <a:ext cx="7772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Solo Technopark 2026–2030 | Bahan Paparan Resmi Walikota Surakarta</a:t>
            </a:r>
            <a:endParaRPr lang="en-US" sz="900" dirty="0"/>
          </a:p>
        </p:txBody>
      </p:sp>
      <p:sp>
        <p:nvSpPr>
          <p:cNvPr id="6" name="Text 4"/>
          <p:cNvSpPr/>
          <p:nvPr/>
        </p:nvSpPr>
        <p:spPr>
          <a:xfrm>
            <a:off x="10241280" y="6382512"/>
            <a:ext cx="1218895" cy="274320"/>
          </a:xfrm>
          <a:prstGeom prst="rect">
            <a:avLst/>
          </a:prstGeom>
          <a:noFill/>
          <a:ln/>
        </p:spPr>
        <p:txBody>
          <a:bodyPr wrap="square" rtlCol="0" anchor="ctr"/>
          <a:lstStyle/>
          <a:p>
            <a:pPr algn="r" indent="0" marL="0">
              <a:buNone/>
            </a:pPr>
            <a:r>
              <a:rPr lang="en-US" sz="950" b="1" dirty="0">
                <a:solidFill>
                  <a:srgbClr val="64748B"/>
                </a:solidFill>
                <a:latin typeface="Arial" pitchFamily="34" charset="0"/>
                <a:ea typeface="Arial" pitchFamily="34" charset="-122"/>
                <a:cs typeface="Arial" pitchFamily="34" charset="-120"/>
              </a:rPr>
              <a:t>Slide 9 / 10</a:t>
            </a:r>
            <a:endParaRPr lang="en-US" sz="950" dirty="0"/>
          </a:p>
        </p:txBody>
      </p:sp>
      <p:sp>
        <p:nvSpPr>
          <p:cNvPr id="7" name="Shape 5"/>
          <p:cNvSpPr/>
          <p:nvPr/>
        </p:nvSpPr>
        <p:spPr>
          <a:xfrm>
            <a:off x="731520" y="1188720"/>
            <a:ext cx="2560320" cy="3931920"/>
          </a:xfrm>
          <a:prstGeom prst="roundRect">
            <a:avLst>
              <a:gd name="adj" fmla="val 3571"/>
            </a:avLst>
          </a:prstGeom>
          <a:solidFill>
            <a:srgbClr val="FFFFFF"/>
          </a:solidFill>
          <a:ln w="15240">
            <a:solidFill>
              <a:srgbClr val="E2E8F0"/>
            </a:solidFill>
            <a:prstDash val="solid"/>
          </a:ln>
        </p:spPr>
      </p:sp>
      <p:sp>
        <p:nvSpPr>
          <p:cNvPr id="8" name="Shape 6"/>
          <p:cNvSpPr/>
          <p:nvPr/>
        </p:nvSpPr>
        <p:spPr>
          <a:xfrm>
            <a:off x="731520" y="1188720"/>
            <a:ext cx="2560320" cy="91440"/>
          </a:xfrm>
          <a:prstGeom prst="rect">
            <a:avLst/>
          </a:prstGeom>
          <a:solidFill>
            <a:srgbClr val="1E3A8A"/>
          </a:solidFill>
          <a:ln/>
        </p:spPr>
      </p:sp>
      <p:sp>
        <p:nvSpPr>
          <p:cNvPr id="9" name="Text 7"/>
          <p:cNvSpPr/>
          <p:nvPr/>
        </p:nvSpPr>
        <p:spPr>
          <a:xfrm>
            <a:off x="822960" y="1463040"/>
            <a:ext cx="2377440" cy="640080"/>
          </a:xfrm>
          <a:prstGeom prst="rect">
            <a:avLst/>
          </a:prstGeom>
          <a:noFill/>
          <a:ln/>
        </p:spPr>
        <p:txBody>
          <a:bodyPr wrap="square" rtlCol="0" anchor="ctr"/>
          <a:lstStyle/>
          <a:p>
            <a:pPr algn="ctr" indent="0" marL="0">
              <a:buNone/>
            </a:pPr>
            <a:r>
              <a:rPr lang="en-US" sz="3000" b="1" dirty="0">
                <a:solidFill>
                  <a:srgbClr val="1E3A8A"/>
                </a:solidFill>
                <a:latin typeface="Arial" pitchFamily="34" charset="0"/>
                <a:ea typeface="Arial" pitchFamily="34" charset="-122"/>
                <a:cs typeface="Arial" pitchFamily="34" charset="-120"/>
              </a:rPr>
              <a:t>9.000</a:t>
            </a:r>
            <a:endParaRPr lang="en-US" sz="3000" dirty="0"/>
          </a:p>
        </p:txBody>
      </p:sp>
      <p:sp>
        <p:nvSpPr>
          <p:cNvPr id="10" name="Text 8"/>
          <p:cNvSpPr/>
          <p:nvPr/>
        </p:nvSpPr>
        <p:spPr>
          <a:xfrm>
            <a:off x="822960" y="2103120"/>
            <a:ext cx="2377440" cy="320040"/>
          </a:xfrm>
          <a:prstGeom prst="rect">
            <a:avLst/>
          </a:prstGeom>
          <a:noFill/>
          <a:ln/>
        </p:spPr>
        <p:txBody>
          <a:bodyPr wrap="square"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Orang / Tahun</a:t>
            </a:r>
            <a:endParaRPr lang="en-US" sz="1050" dirty="0"/>
          </a:p>
        </p:txBody>
      </p:sp>
      <p:sp>
        <p:nvSpPr>
          <p:cNvPr id="11" name="Text 9"/>
          <p:cNvSpPr/>
          <p:nvPr/>
        </p:nvSpPr>
        <p:spPr>
          <a:xfrm>
            <a:off x="868680" y="2606040"/>
            <a:ext cx="2286000" cy="502920"/>
          </a:xfrm>
          <a:prstGeom prst="rect">
            <a:avLst/>
          </a:prstGeom>
          <a:noFill/>
          <a:ln/>
        </p:spPr>
        <p:txBody>
          <a:bodyPr wrap="square" rtlCol="0" anchor="ctr"/>
          <a:lstStyle/>
          <a:p>
            <a:pPr algn="ctr" indent="0" marL="0">
              <a:buNone/>
            </a:pPr>
            <a:r>
              <a:rPr lang="en-US" sz="1100" b="1" dirty="0">
                <a:solidFill>
                  <a:srgbClr val="0A192F"/>
                </a:solidFill>
                <a:latin typeface="Arial" pitchFamily="34" charset="0"/>
                <a:ea typeface="Arial" pitchFamily="34" charset="-122"/>
                <a:cs typeface="Arial" pitchFamily="34" charset="-120"/>
              </a:rPr>
              <a:t>PENYERAPAN TENAGA KERJA</a:t>
            </a:r>
            <a:endParaRPr lang="en-US" sz="1100" dirty="0"/>
          </a:p>
        </p:txBody>
      </p:sp>
      <p:sp>
        <p:nvSpPr>
          <p:cNvPr id="12" name="Text 10"/>
          <p:cNvSpPr/>
          <p:nvPr/>
        </p:nvSpPr>
        <p:spPr>
          <a:xfrm>
            <a:off x="868680" y="3200400"/>
            <a:ext cx="2286000" cy="1737360"/>
          </a:xfrm>
          <a:prstGeom prst="rect">
            <a:avLst/>
          </a:prstGeom>
          <a:noFill/>
          <a:ln/>
        </p:spPr>
        <p:txBody>
          <a:bodyPr wrap="square" rtlCol="0" anchor="ctr"/>
          <a:lstStyle/>
          <a:p>
            <a:pPr indent="0" marL="0">
              <a:lnSpc>
                <a:spcPts val="1400"/>
              </a:lnSpc>
              <a:buNone/>
            </a:pPr>
            <a:r>
              <a:rPr lang="en-US" sz="950" dirty="0">
                <a:solidFill>
                  <a:srgbClr val="1E293B"/>
                </a:solidFill>
                <a:latin typeface="Arial" pitchFamily="34" charset="0"/>
                <a:ea typeface="Arial" pitchFamily="34" charset="-122"/>
                <a:cs typeface="Arial" pitchFamily="34" charset="-120"/>
              </a:rPr>
              <a:t>Komitmen kuota afirmasi minimal 65% khusus pemegang KTP Surakarta, menekan angka pengangguran muda.</a:t>
            </a:r>
            <a:endParaRPr lang="en-US" sz="950" dirty="0"/>
          </a:p>
        </p:txBody>
      </p:sp>
      <p:sp>
        <p:nvSpPr>
          <p:cNvPr id="13" name="Shape 11"/>
          <p:cNvSpPr/>
          <p:nvPr/>
        </p:nvSpPr>
        <p:spPr>
          <a:xfrm>
            <a:off x="3429000" y="1188720"/>
            <a:ext cx="2560320" cy="3931920"/>
          </a:xfrm>
          <a:prstGeom prst="roundRect">
            <a:avLst>
              <a:gd name="adj" fmla="val 3571"/>
            </a:avLst>
          </a:prstGeom>
          <a:solidFill>
            <a:srgbClr val="FFFFFF"/>
          </a:solidFill>
          <a:ln w="15240">
            <a:solidFill>
              <a:srgbClr val="E2E8F0"/>
            </a:solidFill>
            <a:prstDash val="solid"/>
          </a:ln>
        </p:spPr>
      </p:sp>
      <p:sp>
        <p:nvSpPr>
          <p:cNvPr id="14" name="Shape 12"/>
          <p:cNvSpPr/>
          <p:nvPr/>
        </p:nvSpPr>
        <p:spPr>
          <a:xfrm>
            <a:off x="3429000" y="1188720"/>
            <a:ext cx="2560320" cy="91440"/>
          </a:xfrm>
          <a:prstGeom prst="rect">
            <a:avLst/>
          </a:prstGeom>
          <a:solidFill>
            <a:srgbClr val="0284C7"/>
          </a:solidFill>
          <a:ln/>
        </p:spPr>
      </p:sp>
      <p:sp>
        <p:nvSpPr>
          <p:cNvPr id="15" name="Text 13"/>
          <p:cNvSpPr/>
          <p:nvPr/>
        </p:nvSpPr>
        <p:spPr>
          <a:xfrm>
            <a:off x="3520440" y="1463040"/>
            <a:ext cx="2377440" cy="640080"/>
          </a:xfrm>
          <a:prstGeom prst="rect">
            <a:avLst/>
          </a:prstGeom>
          <a:noFill/>
          <a:ln/>
        </p:spPr>
        <p:txBody>
          <a:bodyPr wrap="square" rtlCol="0" anchor="ctr"/>
          <a:lstStyle/>
          <a:p>
            <a:pPr algn="ctr" indent="0" marL="0">
              <a:buNone/>
            </a:pPr>
            <a:r>
              <a:rPr lang="en-US" sz="3000" b="1" dirty="0">
                <a:solidFill>
                  <a:srgbClr val="0284C7"/>
                </a:solidFill>
                <a:latin typeface="Arial" pitchFamily="34" charset="0"/>
                <a:ea typeface="Arial" pitchFamily="34" charset="-122"/>
                <a:cs typeface="Arial" pitchFamily="34" charset="-120"/>
              </a:rPr>
              <a:t>80</a:t>
            </a:r>
            <a:endParaRPr lang="en-US" sz="3000" dirty="0"/>
          </a:p>
        </p:txBody>
      </p:sp>
      <p:sp>
        <p:nvSpPr>
          <p:cNvPr id="16" name="Text 14"/>
          <p:cNvSpPr/>
          <p:nvPr/>
        </p:nvSpPr>
        <p:spPr>
          <a:xfrm>
            <a:off x="3520440" y="2103120"/>
            <a:ext cx="2377440" cy="320040"/>
          </a:xfrm>
          <a:prstGeom prst="rect">
            <a:avLst/>
          </a:prstGeom>
          <a:noFill/>
          <a:ln/>
        </p:spPr>
        <p:txBody>
          <a:bodyPr wrap="square"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Startup &amp; Unit Usaha</a:t>
            </a:r>
            <a:endParaRPr lang="en-US" sz="1050" dirty="0"/>
          </a:p>
        </p:txBody>
      </p:sp>
      <p:sp>
        <p:nvSpPr>
          <p:cNvPr id="17" name="Text 15"/>
          <p:cNvSpPr/>
          <p:nvPr/>
        </p:nvSpPr>
        <p:spPr>
          <a:xfrm>
            <a:off x="3566160" y="2606040"/>
            <a:ext cx="2286000" cy="502920"/>
          </a:xfrm>
          <a:prstGeom prst="rect">
            <a:avLst/>
          </a:prstGeom>
          <a:noFill/>
          <a:ln/>
        </p:spPr>
        <p:txBody>
          <a:bodyPr wrap="square" rtlCol="0" anchor="ctr"/>
          <a:lstStyle/>
          <a:p>
            <a:pPr algn="ctr" indent="0" marL="0">
              <a:buNone/>
            </a:pPr>
            <a:r>
              <a:rPr lang="en-US" sz="1100" b="1" dirty="0">
                <a:solidFill>
                  <a:srgbClr val="0A192F"/>
                </a:solidFill>
                <a:latin typeface="Arial" pitchFamily="34" charset="0"/>
                <a:ea typeface="Arial" pitchFamily="34" charset="-122"/>
                <a:cs typeface="Arial" pitchFamily="34" charset="-120"/>
              </a:rPr>
              <a:t>INKUBASI WIRAUSAHA BARU</a:t>
            </a:r>
            <a:endParaRPr lang="en-US" sz="1100" dirty="0"/>
          </a:p>
        </p:txBody>
      </p:sp>
      <p:sp>
        <p:nvSpPr>
          <p:cNvPr id="18" name="Text 16"/>
          <p:cNvSpPr/>
          <p:nvPr/>
        </p:nvSpPr>
        <p:spPr>
          <a:xfrm>
            <a:off x="3566160" y="3200400"/>
            <a:ext cx="2286000" cy="1737360"/>
          </a:xfrm>
          <a:prstGeom prst="rect">
            <a:avLst/>
          </a:prstGeom>
          <a:noFill/>
          <a:ln/>
        </p:spPr>
        <p:txBody>
          <a:bodyPr wrap="square" rtlCol="0" anchor="ctr"/>
          <a:lstStyle/>
          <a:p>
            <a:pPr indent="0" marL="0">
              <a:lnSpc>
                <a:spcPts val="1400"/>
              </a:lnSpc>
              <a:buNone/>
            </a:pPr>
            <a:r>
              <a:rPr lang="en-US" sz="950" dirty="0">
                <a:solidFill>
                  <a:srgbClr val="1E293B"/>
                </a:solidFill>
                <a:latin typeface="Arial" pitchFamily="34" charset="0"/>
                <a:ea typeface="Arial" pitchFamily="34" charset="-122"/>
                <a:cs typeface="Arial" pitchFamily="34" charset="-120"/>
              </a:rPr>
              <a:t>Melatih technopreneur muda, digitalisasi UMKM kuliner &amp; batik, dan fasilitasi modal ventura.</a:t>
            </a:r>
            <a:endParaRPr lang="en-US" sz="950" dirty="0"/>
          </a:p>
        </p:txBody>
      </p:sp>
      <p:sp>
        <p:nvSpPr>
          <p:cNvPr id="19" name="Shape 17"/>
          <p:cNvSpPr/>
          <p:nvPr/>
        </p:nvSpPr>
        <p:spPr>
          <a:xfrm>
            <a:off x="6126480" y="1188720"/>
            <a:ext cx="2560320" cy="3931920"/>
          </a:xfrm>
          <a:prstGeom prst="roundRect">
            <a:avLst>
              <a:gd name="adj" fmla="val 3571"/>
            </a:avLst>
          </a:prstGeom>
          <a:solidFill>
            <a:srgbClr val="FFFFFF"/>
          </a:solidFill>
          <a:ln w="15240">
            <a:solidFill>
              <a:srgbClr val="E2E8F0"/>
            </a:solidFill>
            <a:prstDash val="solid"/>
          </a:ln>
        </p:spPr>
      </p:sp>
      <p:sp>
        <p:nvSpPr>
          <p:cNvPr id="20" name="Shape 18"/>
          <p:cNvSpPr/>
          <p:nvPr/>
        </p:nvSpPr>
        <p:spPr>
          <a:xfrm>
            <a:off x="6126480" y="1188720"/>
            <a:ext cx="2560320" cy="91440"/>
          </a:xfrm>
          <a:prstGeom prst="rect">
            <a:avLst/>
          </a:prstGeom>
          <a:solidFill>
            <a:srgbClr val="059669"/>
          </a:solidFill>
          <a:ln/>
        </p:spPr>
      </p:sp>
      <p:sp>
        <p:nvSpPr>
          <p:cNvPr id="21" name="Text 19"/>
          <p:cNvSpPr/>
          <p:nvPr/>
        </p:nvSpPr>
        <p:spPr>
          <a:xfrm>
            <a:off x="6217920" y="1463040"/>
            <a:ext cx="2377440" cy="640080"/>
          </a:xfrm>
          <a:prstGeom prst="rect">
            <a:avLst/>
          </a:prstGeom>
          <a:noFill/>
          <a:ln/>
        </p:spPr>
        <p:txBody>
          <a:bodyPr wrap="square" rtlCol="0" anchor="ctr"/>
          <a:lstStyle/>
          <a:p>
            <a:pPr algn="ctr" indent="0" marL="0">
              <a:buNone/>
            </a:pPr>
            <a:r>
              <a:rPr lang="en-US" sz="3000" b="1" dirty="0">
                <a:solidFill>
                  <a:srgbClr val="059669"/>
                </a:solidFill>
                <a:latin typeface="Arial" pitchFamily="34" charset="0"/>
                <a:ea typeface="Arial" pitchFamily="34" charset="-122"/>
                <a:cs typeface="Arial" pitchFamily="34" charset="-120"/>
              </a:rPr>
              <a:t>45</a:t>
            </a:r>
            <a:endParaRPr lang="en-US" sz="3000" dirty="0"/>
          </a:p>
        </p:txBody>
      </p:sp>
      <p:sp>
        <p:nvSpPr>
          <p:cNvPr id="22" name="Text 20"/>
          <p:cNvSpPr/>
          <p:nvPr/>
        </p:nvSpPr>
        <p:spPr>
          <a:xfrm>
            <a:off x="6217920" y="2103120"/>
            <a:ext cx="2377440" cy="320040"/>
          </a:xfrm>
          <a:prstGeom prst="rect">
            <a:avLst/>
          </a:prstGeom>
          <a:noFill/>
          <a:ln/>
        </p:spPr>
        <p:txBody>
          <a:bodyPr wrap="square"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Produk Inovasi Siap Pakai</a:t>
            </a:r>
            <a:endParaRPr lang="en-US" sz="1050" dirty="0"/>
          </a:p>
        </p:txBody>
      </p:sp>
      <p:sp>
        <p:nvSpPr>
          <p:cNvPr id="23" name="Text 21"/>
          <p:cNvSpPr/>
          <p:nvPr/>
        </p:nvSpPr>
        <p:spPr>
          <a:xfrm>
            <a:off x="6263640" y="2606040"/>
            <a:ext cx="2286000" cy="502920"/>
          </a:xfrm>
          <a:prstGeom prst="rect">
            <a:avLst/>
          </a:prstGeom>
          <a:noFill/>
          <a:ln/>
        </p:spPr>
        <p:txBody>
          <a:bodyPr wrap="square" rtlCol="0" anchor="ctr"/>
          <a:lstStyle/>
          <a:p>
            <a:pPr algn="ctr" indent="0" marL="0">
              <a:buNone/>
            </a:pPr>
            <a:r>
              <a:rPr lang="en-US" sz="1100" b="1" dirty="0">
                <a:solidFill>
                  <a:srgbClr val="0A192F"/>
                </a:solidFill>
                <a:latin typeface="Arial" pitchFamily="34" charset="0"/>
                <a:ea typeface="Arial" pitchFamily="34" charset="-122"/>
                <a:cs typeface="Arial" pitchFamily="34" charset="-120"/>
              </a:rPr>
              <a:t>KOMERSIALISASI RISET KOTA</a:t>
            </a:r>
            <a:endParaRPr lang="en-US" sz="1100" dirty="0"/>
          </a:p>
        </p:txBody>
      </p:sp>
      <p:sp>
        <p:nvSpPr>
          <p:cNvPr id="24" name="Text 22"/>
          <p:cNvSpPr/>
          <p:nvPr/>
        </p:nvSpPr>
        <p:spPr>
          <a:xfrm>
            <a:off x="6263640" y="3200400"/>
            <a:ext cx="2286000" cy="1737360"/>
          </a:xfrm>
          <a:prstGeom prst="rect">
            <a:avLst/>
          </a:prstGeom>
          <a:noFill/>
          <a:ln/>
        </p:spPr>
        <p:txBody>
          <a:bodyPr wrap="square" rtlCol="0" anchor="ctr"/>
          <a:lstStyle/>
          <a:p>
            <a:pPr indent="0" marL="0">
              <a:lnSpc>
                <a:spcPts val="1400"/>
              </a:lnSpc>
              <a:buNone/>
            </a:pPr>
            <a:r>
              <a:rPr lang="en-US" sz="950" dirty="0">
                <a:solidFill>
                  <a:srgbClr val="1E293B"/>
                </a:solidFill>
                <a:latin typeface="Arial" pitchFamily="34" charset="0"/>
                <a:ea typeface="Arial" pitchFamily="34" charset="-122"/>
                <a:cs typeface="Arial" pitchFamily="34" charset="-120"/>
              </a:rPr>
              <a:t>Solusi masalah kota: Smart Agriculture IoT, mesin tetas telur, alkes terjangkau, dan Smart City.</a:t>
            </a:r>
            <a:endParaRPr lang="en-US" sz="950" dirty="0"/>
          </a:p>
        </p:txBody>
      </p:sp>
      <p:sp>
        <p:nvSpPr>
          <p:cNvPr id="25" name="Shape 23"/>
          <p:cNvSpPr/>
          <p:nvPr/>
        </p:nvSpPr>
        <p:spPr>
          <a:xfrm>
            <a:off x="8823960" y="1188720"/>
            <a:ext cx="2560320" cy="3931920"/>
          </a:xfrm>
          <a:prstGeom prst="roundRect">
            <a:avLst>
              <a:gd name="adj" fmla="val 3571"/>
            </a:avLst>
          </a:prstGeom>
          <a:solidFill>
            <a:srgbClr val="FFFFFF"/>
          </a:solidFill>
          <a:ln w="15240">
            <a:solidFill>
              <a:srgbClr val="E2E8F0"/>
            </a:solidFill>
            <a:prstDash val="solid"/>
          </a:ln>
        </p:spPr>
      </p:sp>
      <p:sp>
        <p:nvSpPr>
          <p:cNvPr id="26" name="Shape 24"/>
          <p:cNvSpPr/>
          <p:nvPr/>
        </p:nvSpPr>
        <p:spPr>
          <a:xfrm>
            <a:off x="8823960" y="1188720"/>
            <a:ext cx="2560320" cy="91440"/>
          </a:xfrm>
          <a:prstGeom prst="rect">
            <a:avLst/>
          </a:prstGeom>
          <a:solidFill>
            <a:srgbClr val="D97706"/>
          </a:solidFill>
          <a:ln/>
        </p:spPr>
      </p:sp>
      <p:sp>
        <p:nvSpPr>
          <p:cNvPr id="27" name="Text 25"/>
          <p:cNvSpPr/>
          <p:nvPr/>
        </p:nvSpPr>
        <p:spPr>
          <a:xfrm>
            <a:off x="8915400" y="1463040"/>
            <a:ext cx="2377440" cy="640080"/>
          </a:xfrm>
          <a:prstGeom prst="rect">
            <a:avLst/>
          </a:prstGeom>
          <a:noFill/>
          <a:ln/>
        </p:spPr>
        <p:txBody>
          <a:bodyPr wrap="square" rtlCol="0" anchor="ctr"/>
          <a:lstStyle/>
          <a:p>
            <a:pPr algn="ctr" indent="0" marL="0">
              <a:buNone/>
            </a:pPr>
            <a:r>
              <a:rPr lang="en-US" sz="3000" b="1" dirty="0">
                <a:solidFill>
                  <a:srgbClr val="D97706"/>
                </a:solidFill>
                <a:latin typeface="Arial" pitchFamily="34" charset="0"/>
                <a:ea typeface="Arial" pitchFamily="34" charset="-122"/>
                <a:cs typeface="Arial" pitchFamily="34" charset="-120"/>
              </a:rPr>
              <a:t>Rp 180 M</a:t>
            </a:r>
            <a:endParaRPr lang="en-US" sz="3000" dirty="0"/>
          </a:p>
        </p:txBody>
      </p:sp>
      <p:sp>
        <p:nvSpPr>
          <p:cNvPr id="28" name="Text 26"/>
          <p:cNvSpPr/>
          <p:nvPr/>
        </p:nvSpPr>
        <p:spPr>
          <a:xfrm>
            <a:off x="8915400" y="2103120"/>
            <a:ext cx="2377440" cy="320040"/>
          </a:xfrm>
          <a:prstGeom prst="rect">
            <a:avLst/>
          </a:prstGeom>
          <a:noFill/>
          <a:ln/>
        </p:spPr>
        <p:txBody>
          <a:bodyPr wrap="square"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Investasi Swasta Masuk</a:t>
            </a:r>
            <a:endParaRPr lang="en-US" sz="1050" dirty="0"/>
          </a:p>
        </p:txBody>
      </p:sp>
      <p:sp>
        <p:nvSpPr>
          <p:cNvPr id="29" name="Text 27"/>
          <p:cNvSpPr/>
          <p:nvPr/>
        </p:nvSpPr>
        <p:spPr>
          <a:xfrm>
            <a:off x="8961120" y="2606040"/>
            <a:ext cx="2286000" cy="502920"/>
          </a:xfrm>
          <a:prstGeom prst="rect">
            <a:avLst/>
          </a:prstGeom>
          <a:noFill/>
          <a:ln/>
        </p:spPr>
        <p:txBody>
          <a:bodyPr wrap="square" rtlCol="0" anchor="ctr"/>
          <a:lstStyle/>
          <a:p>
            <a:pPr algn="ctr" indent="0" marL="0">
              <a:buNone/>
            </a:pPr>
            <a:r>
              <a:rPr lang="en-US" sz="1100" b="1" dirty="0">
                <a:solidFill>
                  <a:srgbClr val="0A192F"/>
                </a:solidFill>
                <a:latin typeface="Arial" pitchFamily="34" charset="0"/>
                <a:ea typeface="Arial" pitchFamily="34" charset="-122"/>
                <a:cs typeface="Arial" pitchFamily="34" charset="-120"/>
              </a:rPr>
              <a:t>PERTUMBUHAN EKONOMI DAERAH</a:t>
            </a:r>
            <a:endParaRPr lang="en-US" sz="1100" dirty="0"/>
          </a:p>
        </p:txBody>
      </p:sp>
      <p:sp>
        <p:nvSpPr>
          <p:cNvPr id="30" name="Text 28"/>
          <p:cNvSpPr/>
          <p:nvPr/>
        </p:nvSpPr>
        <p:spPr>
          <a:xfrm>
            <a:off x="8961120" y="3200400"/>
            <a:ext cx="2286000" cy="1737360"/>
          </a:xfrm>
          <a:prstGeom prst="rect">
            <a:avLst/>
          </a:prstGeom>
          <a:noFill/>
          <a:ln/>
        </p:spPr>
        <p:txBody>
          <a:bodyPr wrap="square" rtlCol="0" anchor="ctr"/>
          <a:lstStyle/>
          <a:p>
            <a:pPr indent="0" marL="0">
              <a:lnSpc>
                <a:spcPts val="1400"/>
              </a:lnSpc>
              <a:buNone/>
            </a:pPr>
            <a:r>
              <a:rPr lang="en-US" sz="950" dirty="0">
                <a:solidFill>
                  <a:srgbClr val="1E293B"/>
                </a:solidFill>
                <a:latin typeface="Arial" pitchFamily="34" charset="0"/>
                <a:ea typeface="Arial" pitchFamily="34" charset="-122"/>
                <a:cs typeface="Arial" pitchFamily="34" charset="-120"/>
              </a:rPr>
              <a:t>Menggerakkan multiplier effect ekonomi hotel MICE, kuliner, dan peningkatan setoran PAD Kota Surakarta.</a:t>
            </a:r>
            <a:endParaRPr lang="en-US" sz="950" dirty="0"/>
          </a:p>
        </p:txBody>
      </p:sp>
      <p:sp>
        <p:nvSpPr>
          <p:cNvPr id="31" name="Shape 29"/>
          <p:cNvSpPr/>
          <p:nvPr/>
        </p:nvSpPr>
        <p:spPr>
          <a:xfrm>
            <a:off x="731520" y="5349240"/>
            <a:ext cx="10728655" cy="822960"/>
          </a:xfrm>
          <a:prstGeom prst="roundRect">
            <a:avLst>
              <a:gd name="adj" fmla="val 8889"/>
            </a:avLst>
          </a:prstGeom>
          <a:solidFill>
            <a:srgbClr val="0A192F"/>
          </a:solidFill>
          <a:ln w="15240">
            <a:solidFill>
              <a:srgbClr val="0284C7"/>
            </a:solidFill>
            <a:prstDash val="solid"/>
          </a:ln>
        </p:spPr>
      </p:sp>
      <p:sp>
        <p:nvSpPr>
          <p:cNvPr id="32" name="Text 30"/>
          <p:cNvSpPr/>
          <p:nvPr/>
        </p:nvSpPr>
        <p:spPr>
          <a:xfrm>
            <a:off x="914400" y="5349240"/>
            <a:ext cx="10362895" cy="822960"/>
          </a:xfrm>
          <a:prstGeom prst="rect">
            <a:avLst/>
          </a:prstGeom>
          <a:noFill/>
          <a:ln/>
        </p:spPr>
        <p:txBody>
          <a:bodyPr wrap="square"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Tolak ukur keberhasilan tertinggi Solo Technopark bukan sekadar saldo kas BLUD, melainkan seberapa besar penurunan angka pengangguran dan peningkatan kesejahteraan riil bagi warga Kota Surakarta.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284C7"/>
          </a:solidFill>
          <a:ln/>
        </p:spPr>
      </p:sp>
      <p:sp>
        <p:nvSpPr>
          <p:cNvPr id="3" name="Text 1"/>
          <p:cNvSpPr/>
          <p:nvPr/>
        </p:nvSpPr>
        <p:spPr>
          <a:xfrm>
            <a:off x="731520" y="292608"/>
            <a:ext cx="8229600" cy="256032"/>
          </a:xfrm>
          <a:prstGeom prst="rect">
            <a:avLst/>
          </a:prstGeom>
          <a:noFill/>
          <a:ln/>
        </p:spPr>
        <p:txBody>
          <a:bodyPr wrap="square" rtlCol="0" anchor="ctr"/>
          <a:lstStyle/>
          <a:p>
            <a:pPr indent="0" marL="0">
              <a:buNone/>
            </a:pPr>
            <a:r>
              <a:rPr lang="en-US" sz="1000" b="1" dirty="0">
                <a:solidFill>
                  <a:srgbClr val="0284C7"/>
                </a:solidFill>
                <a:latin typeface="Arial" pitchFamily="34" charset="0"/>
                <a:ea typeface="Arial" pitchFamily="34" charset="-122"/>
                <a:cs typeface="Arial" pitchFamily="34" charset="-120"/>
              </a:rPr>
              <a:t>DUKUNGAN KEPEMIMPINAN &amp; KOMITMEN EKSEKUSI</a:t>
            </a:r>
            <a:endParaRPr lang="en-US" sz="1000" dirty="0"/>
          </a:p>
        </p:txBody>
      </p:sp>
      <p:sp>
        <p:nvSpPr>
          <p:cNvPr id="4" name="Text 2"/>
          <p:cNvSpPr/>
          <p:nvPr/>
        </p:nvSpPr>
        <p:spPr>
          <a:xfrm>
            <a:off x="731520" y="548640"/>
            <a:ext cx="10698480" cy="411480"/>
          </a:xfrm>
          <a:prstGeom prst="rect">
            <a:avLst/>
          </a:prstGeom>
          <a:noFill/>
          <a:ln/>
        </p:spPr>
        <p:txBody>
          <a:bodyPr wrap="square" rtlCol="0" anchor="ctr"/>
          <a:lstStyle/>
          <a:p>
            <a:pPr indent="0" marL="0">
              <a:buNone/>
            </a:pPr>
            <a:r>
              <a:rPr lang="en-US" sz="2000" b="1" dirty="0">
                <a:solidFill>
                  <a:srgbClr val="0A192F"/>
                </a:solidFill>
                <a:latin typeface="Arial" pitchFamily="34" charset="0"/>
                <a:ea typeface="Arial" pitchFamily="34" charset="-122"/>
                <a:cs typeface="Arial" pitchFamily="34" charset="-120"/>
              </a:rPr>
              <a:t>TIGA PERMOHONAN KEBIJAKAN KEPADA WALIKOTA &amp; RENCANA AKSI 100 HARI</a:t>
            </a:r>
            <a:endParaRPr lang="en-US" sz="2000" dirty="0"/>
          </a:p>
        </p:txBody>
      </p:sp>
      <p:sp>
        <p:nvSpPr>
          <p:cNvPr id="5" name="Text 3"/>
          <p:cNvSpPr/>
          <p:nvPr/>
        </p:nvSpPr>
        <p:spPr>
          <a:xfrm>
            <a:off x="731520" y="6382512"/>
            <a:ext cx="77724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Solo Technopark 2026–2030 | Bahan Paparan Resmi Walikota Surakarta</a:t>
            </a:r>
            <a:endParaRPr lang="en-US" sz="900" dirty="0"/>
          </a:p>
        </p:txBody>
      </p:sp>
      <p:sp>
        <p:nvSpPr>
          <p:cNvPr id="6" name="Text 4"/>
          <p:cNvSpPr/>
          <p:nvPr/>
        </p:nvSpPr>
        <p:spPr>
          <a:xfrm>
            <a:off x="10241280" y="6382512"/>
            <a:ext cx="1218895" cy="274320"/>
          </a:xfrm>
          <a:prstGeom prst="rect">
            <a:avLst/>
          </a:prstGeom>
          <a:noFill/>
          <a:ln/>
        </p:spPr>
        <p:txBody>
          <a:bodyPr wrap="square" rtlCol="0" anchor="ctr"/>
          <a:lstStyle/>
          <a:p>
            <a:pPr algn="r" indent="0" marL="0">
              <a:buNone/>
            </a:pPr>
            <a:r>
              <a:rPr lang="en-US" sz="950" b="1" dirty="0">
                <a:solidFill>
                  <a:srgbClr val="64748B"/>
                </a:solidFill>
                <a:latin typeface="Arial" pitchFamily="34" charset="0"/>
                <a:ea typeface="Arial" pitchFamily="34" charset="-122"/>
                <a:cs typeface="Arial" pitchFamily="34" charset="-120"/>
              </a:rPr>
              <a:t>Slide 10 / 10</a:t>
            </a:r>
            <a:endParaRPr lang="en-US" sz="950" dirty="0"/>
          </a:p>
        </p:txBody>
      </p:sp>
      <p:sp>
        <p:nvSpPr>
          <p:cNvPr id="7" name="Text 5"/>
          <p:cNvSpPr/>
          <p:nvPr/>
        </p:nvSpPr>
        <p:spPr>
          <a:xfrm>
            <a:off x="731520" y="1051560"/>
            <a:ext cx="10728655" cy="320040"/>
          </a:xfrm>
          <a:prstGeom prst="rect">
            <a:avLst/>
          </a:prstGeom>
          <a:noFill/>
          <a:ln/>
        </p:spPr>
        <p:txBody>
          <a:bodyPr wrap="square" rtlCol="0" anchor="ctr"/>
          <a:lstStyle/>
          <a:p>
            <a:pPr indent="0" marL="0">
              <a:buNone/>
            </a:pPr>
            <a:r>
              <a:rPr lang="en-US" sz="1150" b="1" dirty="0">
                <a:solidFill>
                  <a:srgbClr val="1E3A8A"/>
                </a:solidFill>
                <a:latin typeface="Arial" pitchFamily="34" charset="0"/>
                <a:ea typeface="Arial" pitchFamily="34" charset="-122"/>
                <a:cs typeface="Arial" pitchFamily="34" charset="-120"/>
              </a:rPr>
              <a:t>Manajemen Solo Technopark &amp; BRIDA Tidak Memohon Tambahan Pagu APBD, Melainkan 3 Payung Regulasi Walikota:</a:t>
            </a:r>
            <a:endParaRPr lang="en-US" sz="1150" dirty="0"/>
          </a:p>
        </p:txBody>
      </p:sp>
      <p:sp>
        <p:nvSpPr>
          <p:cNvPr id="8" name="Shape 6"/>
          <p:cNvSpPr/>
          <p:nvPr/>
        </p:nvSpPr>
        <p:spPr>
          <a:xfrm>
            <a:off x="731520" y="1463040"/>
            <a:ext cx="3474720" cy="2560320"/>
          </a:xfrm>
          <a:prstGeom prst="roundRect">
            <a:avLst>
              <a:gd name="adj" fmla="val 3571"/>
            </a:avLst>
          </a:prstGeom>
          <a:solidFill>
            <a:srgbClr val="FFFFFF"/>
          </a:solidFill>
          <a:ln w="15240">
            <a:solidFill>
              <a:srgbClr val="E2E8F0"/>
            </a:solidFill>
            <a:prstDash val="solid"/>
          </a:ln>
        </p:spPr>
      </p:sp>
      <p:sp>
        <p:nvSpPr>
          <p:cNvPr id="9" name="Shape 7"/>
          <p:cNvSpPr/>
          <p:nvPr/>
        </p:nvSpPr>
        <p:spPr>
          <a:xfrm>
            <a:off x="731520" y="1463040"/>
            <a:ext cx="3474720" cy="502920"/>
          </a:xfrm>
          <a:prstGeom prst="rect">
            <a:avLst/>
          </a:prstGeom>
          <a:solidFill>
            <a:srgbClr val="1E3A8A"/>
          </a:solidFill>
          <a:ln/>
        </p:spPr>
      </p:sp>
      <p:sp>
        <p:nvSpPr>
          <p:cNvPr id="10" name="Text 8"/>
          <p:cNvSpPr/>
          <p:nvPr/>
        </p:nvSpPr>
        <p:spPr>
          <a:xfrm>
            <a:off x="868680" y="1508760"/>
            <a:ext cx="3200400" cy="201168"/>
          </a:xfrm>
          <a:prstGeom prst="rect">
            <a:avLst/>
          </a:prstGeom>
          <a:noFill/>
          <a:ln/>
        </p:spPr>
        <p:txBody>
          <a:bodyPr wrap="square" rtlCol="0" anchor="ctr"/>
          <a:lstStyle/>
          <a:p>
            <a:pPr algn="ctr" indent="0" marL="0">
              <a:buNone/>
            </a:pPr>
            <a:r>
              <a:rPr lang="en-US" sz="900" b="1" dirty="0">
                <a:solidFill>
                  <a:srgbClr val="FEF3C7"/>
                </a:solidFill>
                <a:latin typeface="Arial" pitchFamily="34" charset="0"/>
                <a:ea typeface="Arial" pitchFamily="34" charset="-122"/>
                <a:cs typeface="Arial" pitchFamily="34" charset="-120"/>
              </a:rPr>
              <a:t>PERMOHONAN 1</a:t>
            </a:r>
            <a:endParaRPr lang="en-US" sz="900" dirty="0"/>
          </a:p>
        </p:txBody>
      </p:sp>
      <p:sp>
        <p:nvSpPr>
          <p:cNvPr id="11" name="Text 9"/>
          <p:cNvSpPr/>
          <p:nvPr/>
        </p:nvSpPr>
        <p:spPr>
          <a:xfrm>
            <a:off x="868680" y="1719072"/>
            <a:ext cx="3200400" cy="22860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INSTRUKSI WALIKOTA AFIRMASI e-KATALOG</a:t>
            </a:r>
            <a:endParaRPr lang="en-US" sz="950" dirty="0"/>
          </a:p>
        </p:txBody>
      </p:sp>
      <p:sp>
        <p:nvSpPr>
          <p:cNvPr id="12" name="Text 10"/>
          <p:cNvSpPr/>
          <p:nvPr/>
        </p:nvSpPr>
        <p:spPr>
          <a:xfrm>
            <a:off x="914400" y="2103120"/>
            <a:ext cx="3108960" cy="1737360"/>
          </a:xfrm>
          <a:prstGeom prst="rect">
            <a:avLst/>
          </a:prstGeom>
          <a:noFill/>
          <a:ln/>
        </p:spPr>
        <p:txBody>
          <a:bodyPr wrap="square" rtlCol="0" anchor="ctr"/>
          <a:lstStyle/>
          <a:p>
            <a:pPr indent="0" marL="0">
              <a:lnSpc>
                <a:spcPts val="1500"/>
              </a:lnSpc>
              <a:buNone/>
            </a:pPr>
            <a:r>
              <a:rPr lang="en-US" sz="1000" dirty="0">
                <a:solidFill>
                  <a:srgbClr val="1E293B"/>
                </a:solidFill>
                <a:latin typeface="Arial" pitchFamily="34" charset="0"/>
                <a:ea typeface="Arial" pitchFamily="34" charset="-122"/>
                <a:cs typeface="Arial" pitchFamily="34" charset="-120"/>
              </a:rPr>
              <a:t>Kebijakan afirmasi agar seluruh OPD/dinas Pemkot memprioritaskan belanja produk teknologi dan layanan binaan tenant STP melalui etalase e-Katalog Lokal (potensi serapan Rp 2,25 M).</a:t>
            </a:r>
            <a:endParaRPr lang="en-US" sz="1000" dirty="0"/>
          </a:p>
        </p:txBody>
      </p:sp>
      <p:sp>
        <p:nvSpPr>
          <p:cNvPr id="13" name="Shape 11"/>
          <p:cNvSpPr/>
          <p:nvPr/>
        </p:nvSpPr>
        <p:spPr>
          <a:xfrm>
            <a:off x="4343400" y="1463040"/>
            <a:ext cx="3474720" cy="2560320"/>
          </a:xfrm>
          <a:prstGeom prst="roundRect">
            <a:avLst>
              <a:gd name="adj" fmla="val 3571"/>
            </a:avLst>
          </a:prstGeom>
          <a:solidFill>
            <a:srgbClr val="FFFFFF"/>
          </a:solidFill>
          <a:ln w="15240">
            <a:solidFill>
              <a:srgbClr val="E2E8F0"/>
            </a:solidFill>
            <a:prstDash val="solid"/>
          </a:ln>
        </p:spPr>
      </p:sp>
      <p:sp>
        <p:nvSpPr>
          <p:cNvPr id="14" name="Shape 12"/>
          <p:cNvSpPr/>
          <p:nvPr/>
        </p:nvSpPr>
        <p:spPr>
          <a:xfrm>
            <a:off x="4343400" y="1463040"/>
            <a:ext cx="3474720" cy="502920"/>
          </a:xfrm>
          <a:prstGeom prst="rect">
            <a:avLst/>
          </a:prstGeom>
          <a:solidFill>
            <a:srgbClr val="0284C7"/>
          </a:solidFill>
          <a:ln/>
        </p:spPr>
      </p:sp>
      <p:sp>
        <p:nvSpPr>
          <p:cNvPr id="15" name="Text 13"/>
          <p:cNvSpPr/>
          <p:nvPr/>
        </p:nvSpPr>
        <p:spPr>
          <a:xfrm>
            <a:off x="4480560" y="1508760"/>
            <a:ext cx="3200400" cy="201168"/>
          </a:xfrm>
          <a:prstGeom prst="rect">
            <a:avLst/>
          </a:prstGeom>
          <a:noFill/>
          <a:ln/>
        </p:spPr>
        <p:txBody>
          <a:bodyPr wrap="square" rtlCol="0" anchor="ctr"/>
          <a:lstStyle/>
          <a:p>
            <a:pPr algn="ctr" indent="0" marL="0">
              <a:buNone/>
            </a:pPr>
            <a:r>
              <a:rPr lang="en-US" sz="900" b="1" dirty="0">
                <a:solidFill>
                  <a:srgbClr val="FEF3C7"/>
                </a:solidFill>
                <a:latin typeface="Arial" pitchFamily="34" charset="0"/>
                <a:ea typeface="Arial" pitchFamily="34" charset="-122"/>
                <a:cs typeface="Arial" pitchFamily="34" charset="-120"/>
              </a:rPr>
              <a:t>PERMOHONAN 2</a:t>
            </a:r>
            <a:endParaRPr lang="en-US" sz="900" dirty="0"/>
          </a:p>
        </p:txBody>
      </p:sp>
      <p:sp>
        <p:nvSpPr>
          <p:cNvPr id="16" name="Text 14"/>
          <p:cNvSpPr/>
          <p:nvPr/>
        </p:nvSpPr>
        <p:spPr>
          <a:xfrm>
            <a:off x="4480560" y="1719072"/>
            <a:ext cx="3200400" cy="22860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FLEKSIBILITAS KERJASAMA LAHAN BLUD</a:t>
            </a:r>
            <a:endParaRPr lang="en-US" sz="950" dirty="0"/>
          </a:p>
        </p:txBody>
      </p:sp>
      <p:sp>
        <p:nvSpPr>
          <p:cNvPr id="17" name="Text 15"/>
          <p:cNvSpPr/>
          <p:nvPr/>
        </p:nvSpPr>
        <p:spPr>
          <a:xfrm>
            <a:off x="4526280" y="2103120"/>
            <a:ext cx="3108960" cy="1737360"/>
          </a:xfrm>
          <a:prstGeom prst="rect">
            <a:avLst/>
          </a:prstGeom>
          <a:noFill/>
          <a:ln/>
        </p:spPr>
        <p:txBody>
          <a:bodyPr wrap="square" rtlCol="0" anchor="ctr"/>
          <a:lstStyle/>
          <a:p>
            <a:pPr indent="0" marL="0">
              <a:lnSpc>
                <a:spcPts val="1500"/>
              </a:lnSpc>
              <a:buNone/>
            </a:pPr>
            <a:r>
              <a:rPr lang="en-US" sz="1000" dirty="0">
                <a:solidFill>
                  <a:srgbClr val="1E293B"/>
                </a:solidFill>
                <a:latin typeface="Arial" pitchFamily="34" charset="0"/>
                <a:ea typeface="Arial" pitchFamily="34" charset="-122"/>
                <a:cs typeface="Arial" pitchFamily="34" charset="-120"/>
              </a:rPr>
              <a:t>Regulasi pemanfaatan aset lahan dan sarana kawasan dengan skema Long-Term Revenue Sharing yang luwes bagi investor teknologi global untuk menanamkan modal di STP.</a:t>
            </a:r>
            <a:endParaRPr lang="en-US" sz="1000" dirty="0"/>
          </a:p>
        </p:txBody>
      </p:sp>
      <p:sp>
        <p:nvSpPr>
          <p:cNvPr id="18" name="Shape 16"/>
          <p:cNvSpPr/>
          <p:nvPr/>
        </p:nvSpPr>
        <p:spPr>
          <a:xfrm>
            <a:off x="7955280" y="1463040"/>
            <a:ext cx="3474720" cy="2560320"/>
          </a:xfrm>
          <a:prstGeom prst="roundRect">
            <a:avLst>
              <a:gd name="adj" fmla="val 3571"/>
            </a:avLst>
          </a:prstGeom>
          <a:solidFill>
            <a:srgbClr val="FFFFFF"/>
          </a:solidFill>
          <a:ln w="15240">
            <a:solidFill>
              <a:srgbClr val="E2E8F0"/>
            </a:solidFill>
            <a:prstDash val="solid"/>
          </a:ln>
        </p:spPr>
      </p:sp>
      <p:sp>
        <p:nvSpPr>
          <p:cNvPr id="19" name="Shape 17"/>
          <p:cNvSpPr/>
          <p:nvPr/>
        </p:nvSpPr>
        <p:spPr>
          <a:xfrm>
            <a:off x="7955280" y="1463040"/>
            <a:ext cx="3474720" cy="502920"/>
          </a:xfrm>
          <a:prstGeom prst="rect">
            <a:avLst/>
          </a:prstGeom>
          <a:solidFill>
            <a:srgbClr val="059669"/>
          </a:solidFill>
          <a:ln/>
        </p:spPr>
      </p:sp>
      <p:sp>
        <p:nvSpPr>
          <p:cNvPr id="20" name="Text 18"/>
          <p:cNvSpPr/>
          <p:nvPr/>
        </p:nvSpPr>
        <p:spPr>
          <a:xfrm>
            <a:off x="8092440" y="1508760"/>
            <a:ext cx="3200400" cy="201168"/>
          </a:xfrm>
          <a:prstGeom prst="rect">
            <a:avLst/>
          </a:prstGeom>
          <a:noFill/>
          <a:ln/>
        </p:spPr>
        <p:txBody>
          <a:bodyPr wrap="square" rtlCol="0" anchor="ctr"/>
          <a:lstStyle/>
          <a:p>
            <a:pPr algn="ctr" indent="0" marL="0">
              <a:buNone/>
            </a:pPr>
            <a:r>
              <a:rPr lang="en-US" sz="900" b="1" dirty="0">
                <a:solidFill>
                  <a:srgbClr val="FEF3C7"/>
                </a:solidFill>
                <a:latin typeface="Arial" pitchFamily="34" charset="0"/>
                <a:ea typeface="Arial" pitchFamily="34" charset="-122"/>
                <a:cs typeface="Arial" pitchFamily="34" charset="-120"/>
              </a:rPr>
              <a:t>PERMOHONAN 3</a:t>
            </a:r>
            <a:endParaRPr lang="en-US" sz="900" dirty="0"/>
          </a:p>
        </p:txBody>
      </p:sp>
      <p:sp>
        <p:nvSpPr>
          <p:cNvPr id="21" name="Text 19"/>
          <p:cNvSpPr/>
          <p:nvPr/>
        </p:nvSpPr>
        <p:spPr>
          <a:xfrm>
            <a:off x="8092440" y="1719072"/>
            <a:ext cx="3200400" cy="22860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SURAT EDARAN KONSORSIUM RISET KAMPUS</a:t>
            </a:r>
            <a:endParaRPr lang="en-US" sz="950" dirty="0"/>
          </a:p>
        </p:txBody>
      </p:sp>
      <p:sp>
        <p:nvSpPr>
          <p:cNvPr id="22" name="Text 20"/>
          <p:cNvSpPr/>
          <p:nvPr/>
        </p:nvSpPr>
        <p:spPr>
          <a:xfrm>
            <a:off x="8138160" y="2103120"/>
            <a:ext cx="3108960" cy="1737360"/>
          </a:xfrm>
          <a:prstGeom prst="rect">
            <a:avLst/>
          </a:prstGeom>
          <a:noFill/>
          <a:ln/>
        </p:spPr>
        <p:txBody>
          <a:bodyPr wrap="square" rtlCol="0" anchor="ctr"/>
          <a:lstStyle/>
          <a:p>
            <a:pPr indent="0" marL="0">
              <a:lnSpc>
                <a:spcPts val="1500"/>
              </a:lnSpc>
              <a:buNone/>
            </a:pPr>
            <a:r>
              <a:rPr lang="en-US" sz="1000" dirty="0">
                <a:solidFill>
                  <a:srgbClr val="1E293B"/>
                </a:solidFill>
                <a:latin typeface="Arial" pitchFamily="34" charset="0"/>
                <a:ea typeface="Arial" pitchFamily="34" charset="-122"/>
                <a:cs typeface="Arial" pitchFamily="34" charset="-120"/>
              </a:rPr>
              <a:t>Instruksi agar dana riset terapan perguruan tinggi se-Solo Raya (UNS, UMS, ISI, Poltek) diintegrasikan menyelesaikan permasalahan kota di STP sebagai pusat hilirisasi.</a:t>
            </a:r>
            <a:endParaRPr lang="en-US" sz="1000" dirty="0"/>
          </a:p>
        </p:txBody>
      </p:sp>
      <p:sp>
        <p:nvSpPr>
          <p:cNvPr id="23" name="Shape 21"/>
          <p:cNvSpPr/>
          <p:nvPr/>
        </p:nvSpPr>
        <p:spPr>
          <a:xfrm>
            <a:off x="731520" y="4251960"/>
            <a:ext cx="10728655" cy="1920240"/>
          </a:xfrm>
          <a:prstGeom prst="roundRect">
            <a:avLst>
              <a:gd name="adj" fmla="val 4762"/>
            </a:avLst>
          </a:prstGeom>
          <a:solidFill>
            <a:srgbClr val="FFFFFF"/>
          </a:solidFill>
          <a:ln w="15240">
            <a:solidFill>
              <a:srgbClr val="E2E8F0"/>
            </a:solidFill>
            <a:prstDash val="solid"/>
          </a:ln>
        </p:spPr>
      </p:sp>
      <p:sp>
        <p:nvSpPr>
          <p:cNvPr id="24" name="Text 22"/>
          <p:cNvSpPr/>
          <p:nvPr/>
        </p:nvSpPr>
        <p:spPr>
          <a:xfrm>
            <a:off x="914400" y="4389120"/>
            <a:ext cx="10362895" cy="320040"/>
          </a:xfrm>
          <a:prstGeom prst="rect">
            <a:avLst/>
          </a:prstGeom>
          <a:noFill/>
          <a:ln/>
        </p:spPr>
        <p:txBody>
          <a:bodyPr wrap="square" rtlCol="0" anchor="ctr"/>
          <a:lstStyle/>
          <a:p>
            <a:pPr indent="0" marL="0">
              <a:buNone/>
            </a:pPr>
            <a:r>
              <a:rPr lang="en-US" sz="1100" b="1" dirty="0">
                <a:solidFill>
                  <a:srgbClr val="0A192F"/>
                </a:solidFill>
                <a:latin typeface="Arial" pitchFamily="34" charset="0"/>
                <a:ea typeface="Arial" pitchFamily="34" charset="-122"/>
                <a:cs typeface="Arial" pitchFamily="34" charset="-120"/>
              </a:rPr>
              <a:t>RENCANA AKSI 100 HARI PERTAMA (QUICK WINS PASCA-ARAHAN WALIKOTA SURAKARTA)</a:t>
            </a:r>
            <a:endParaRPr lang="en-US" sz="1100" dirty="0"/>
          </a:p>
        </p:txBody>
      </p:sp>
      <p:sp>
        <p:nvSpPr>
          <p:cNvPr id="25" name="Shape 23"/>
          <p:cNvSpPr/>
          <p:nvPr/>
        </p:nvSpPr>
        <p:spPr>
          <a:xfrm>
            <a:off x="914400" y="4754880"/>
            <a:ext cx="3291840" cy="1234440"/>
          </a:xfrm>
          <a:prstGeom prst="rect">
            <a:avLst/>
          </a:prstGeom>
          <a:solidFill>
            <a:srgbClr val="F8FAFC"/>
          </a:solidFill>
          <a:ln w="12700">
            <a:solidFill>
              <a:srgbClr val="E2E8F0"/>
            </a:solidFill>
            <a:prstDash val="solid"/>
          </a:ln>
        </p:spPr>
      </p:sp>
      <p:sp>
        <p:nvSpPr>
          <p:cNvPr id="26" name="Text 24"/>
          <p:cNvSpPr/>
          <p:nvPr/>
        </p:nvSpPr>
        <p:spPr>
          <a:xfrm>
            <a:off x="1051560" y="4828032"/>
            <a:ext cx="3017520" cy="201168"/>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HARI 1–30</a:t>
            </a:r>
            <a:endParaRPr lang="en-US" sz="950" dirty="0"/>
          </a:p>
        </p:txBody>
      </p:sp>
      <p:sp>
        <p:nvSpPr>
          <p:cNvPr id="27" name="Text 25"/>
          <p:cNvSpPr/>
          <p:nvPr/>
        </p:nvSpPr>
        <p:spPr>
          <a:xfrm>
            <a:off x="1051560" y="5029200"/>
            <a:ext cx="3017520" cy="228600"/>
          </a:xfrm>
          <a:prstGeom prst="rect">
            <a:avLst/>
          </a:prstGeom>
          <a:noFill/>
          <a:ln/>
        </p:spPr>
        <p:txBody>
          <a:bodyPr wrap="square" rtlCol="0" anchor="ctr"/>
          <a:lstStyle/>
          <a:p>
            <a:pPr indent="0" marL="0">
              <a:buNone/>
            </a:pPr>
            <a:r>
              <a:rPr lang="en-US" sz="1000" b="1" dirty="0">
                <a:solidFill>
                  <a:srgbClr val="0A192F"/>
                </a:solidFill>
                <a:latin typeface="Arial" pitchFamily="34" charset="0"/>
                <a:ea typeface="Arial" pitchFamily="34" charset="-122"/>
                <a:cs typeface="Arial" pitchFamily="34" charset="-120"/>
              </a:rPr>
              <a:t>HARMONISASI REGULASI</a:t>
            </a:r>
            <a:endParaRPr lang="en-US" sz="1000" dirty="0"/>
          </a:p>
        </p:txBody>
      </p:sp>
      <p:sp>
        <p:nvSpPr>
          <p:cNvPr id="28" name="Text 26"/>
          <p:cNvSpPr/>
          <p:nvPr/>
        </p:nvSpPr>
        <p:spPr>
          <a:xfrm>
            <a:off x="1051560" y="5257800"/>
            <a:ext cx="3017520" cy="685800"/>
          </a:xfrm>
          <a:prstGeom prst="rect">
            <a:avLst/>
          </a:prstGeom>
          <a:noFill/>
          <a:ln/>
        </p:spPr>
        <p:txBody>
          <a:bodyPr wrap="square" rtlCol="0" anchor="ctr"/>
          <a:lstStyle/>
          <a:p>
            <a:pPr indent="0" marL="0">
              <a:lnSpc>
                <a:spcPts val="1100"/>
              </a:lnSpc>
              <a:buNone/>
            </a:pPr>
            <a:r>
              <a:rPr lang="en-US" sz="850" dirty="0">
                <a:solidFill>
                  <a:srgbClr val="1E293B"/>
                </a:solidFill>
                <a:latin typeface="Arial" pitchFamily="34" charset="0"/>
                <a:ea typeface="Arial" pitchFamily="34" charset="-122"/>
                <a:cs typeface="Arial" pitchFamily="34" charset="-120"/>
              </a:rPr>
              <a:t>Penyusunan draft Instruksi Walikota untuk e-Katalog Lokal Inovasi STP bersama Bagian Hukum Setda Kota Surakarta.</a:t>
            </a:r>
            <a:endParaRPr lang="en-US" sz="850" dirty="0"/>
          </a:p>
        </p:txBody>
      </p:sp>
      <p:sp>
        <p:nvSpPr>
          <p:cNvPr id="29" name="Shape 27"/>
          <p:cNvSpPr/>
          <p:nvPr/>
        </p:nvSpPr>
        <p:spPr>
          <a:xfrm>
            <a:off x="4389120" y="4754880"/>
            <a:ext cx="3291840" cy="1234440"/>
          </a:xfrm>
          <a:prstGeom prst="rect">
            <a:avLst/>
          </a:prstGeom>
          <a:solidFill>
            <a:srgbClr val="F8FAFC"/>
          </a:solidFill>
          <a:ln w="12700">
            <a:solidFill>
              <a:srgbClr val="E2E8F0"/>
            </a:solidFill>
            <a:prstDash val="solid"/>
          </a:ln>
        </p:spPr>
      </p:sp>
      <p:sp>
        <p:nvSpPr>
          <p:cNvPr id="30" name="Text 28"/>
          <p:cNvSpPr/>
          <p:nvPr/>
        </p:nvSpPr>
        <p:spPr>
          <a:xfrm>
            <a:off x="4526280" y="4828032"/>
            <a:ext cx="3017520" cy="201168"/>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HARI 31–60</a:t>
            </a:r>
            <a:endParaRPr lang="en-US" sz="950" dirty="0"/>
          </a:p>
        </p:txBody>
      </p:sp>
      <p:sp>
        <p:nvSpPr>
          <p:cNvPr id="31" name="Text 29"/>
          <p:cNvSpPr/>
          <p:nvPr/>
        </p:nvSpPr>
        <p:spPr>
          <a:xfrm>
            <a:off x="4526280" y="5029200"/>
            <a:ext cx="3017520" cy="228600"/>
          </a:xfrm>
          <a:prstGeom prst="rect">
            <a:avLst/>
          </a:prstGeom>
          <a:noFill/>
          <a:ln/>
        </p:spPr>
        <p:txBody>
          <a:bodyPr wrap="square" rtlCol="0" anchor="ctr"/>
          <a:lstStyle/>
          <a:p>
            <a:pPr indent="0" marL="0">
              <a:buNone/>
            </a:pPr>
            <a:r>
              <a:rPr lang="en-US" sz="1000" b="1" dirty="0">
                <a:solidFill>
                  <a:srgbClr val="0A192F"/>
                </a:solidFill>
                <a:latin typeface="Arial" pitchFamily="34" charset="0"/>
                <a:ea typeface="Arial" pitchFamily="34" charset="-122"/>
                <a:cs typeface="Arial" pitchFamily="34" charset="-120"/>
              </a:rPr>
              <a:t>SHOWCASE 5 PRODUK UNGGULAN</a:t>
            </a:r>
            <a:endParaRPr lang="en-US" sz="1000" dirty="0"/>
          </a:p>
        </p:txBody>
      </p:sp>
      <p:sp>
        <p:nvSpPr>
          <p:cNvPr id="32" name="Text 30"/>
          <p:cNvSpPr/>
          <p:nvPr/>
        </p:nvSpPr>
        <p:spPr>
          <a:xfrm>
            <a:off x="4526280" y="5257800"/>
            <a:ext cx="3017520" cy="685800"/>
          </a:xfrm>
          <a:prstGeom prst="rect">
            <a:avLst/>
          </a:prstGeom>
          <a:noFill/>
          <a:ln/>
        </p:spPr>
        <p:txBody>
          <a:bodyPr wrap="square" rtlCol="0" anchor="ctr"/>
          <a:lstStyle/>
          <a:p>
            <a:pPr indent="0" marL="0">
              <a:lnSpc>
                <a:spcPts val="1100"/>
              </a:lnSpc>
              <a:buNone/>
            </a:pPr>
            <a:r>
              <a:rPr lang="en-US" sz="850" dirty="0">
                <a:solidFill>
                  <a:srgbClr val="1E293B"/>
                </a:solidFill>
                <a:latin typeface="Arial" pitchFamily="34" charset="0"/>
                <a:ea typeface="Arial" pitchFamily="34" charset="-122"/>
                <a:cs typeface="Arial" pitchFamily="34" charset="-120"/>
              </a:rPr>
              <a:t>Gelar demonstrasi 5 produk hilirisasi (Smart Agriculture IoT &amp; Alkes) di hadapan Walikota dan seluruh Kepala OPD.</a:t>
            </a:r>
            <a:endParaRPr lang="en-US" sz="850" dirty="0"/>
          </a:p>
        </p:txBody>
      </p:sp>
      <p:sp>
        <p:nvSpPr>
          <p:cNvPr id="33" name="Shape 31"/>
          <p:cNvSpPr/>
          <p:nvPr/>
        </p:nvSpPr>
        <p:spPr>
          <a:xfrm>
            <a:off x="7863840" y="4754880"/>
            <a:ext cx="3291840" cy="1234440"/>
          </a:xfrm>
          <a:prstGeom prst="rect">
            <a:avLst/>
          </a:prstGeom>
          <a:solidFill>
            <a:srgbClr val="F8FAFC"/>
          </a:solidFill>
          <a:ln w="12700">
            <a:solidFill>
              <a:srgbClr val="E2E8F0"/>
            </a:solidFill>
            <a:prstDash val="solid"/>
          </a:ln>
        </p:spPr>
      </p:sp>
      <p:sp>
        <p:nvSpPr>
          <p:cNvPr id="34" name="Text 32"/>
          <p:cNvSpPr/>
          <p:nvPr/>
        </p:nvSpPr>
        <p:spPr>
          <a:xfrm>
            <a:off x="8001000" y="4828032"/>
            <a:ext cx="3017520" cy="201168"/>
          </a:xfrm>
          <a:prstGeom prst="rect">
            <a:avLst/>
          </a:prstGeom>
          <a:noFill/>
          <a:ln/>
        </p:spPr>
        <p:txBody>
          <a:bodyPr wrap="square" rtlCol="0" anchor="ctr"/>
          <a:lstStyle/>
          <a:p>
            <a:pPr indent="0" marL="0">
              <a:buNone/>
            </a:pPr>
            <a:r>
              <a:rPr lang="en-US" sz="950" b="1" dirty="0">
                <a:solidFill>
                  <a:srgbClr val="059669"/>
                </a:solidFill>
                <a:latin typeface="Arial" pitchFamily="34" charset="0"/>
                <a:ea typeface="Arial" pitchFamily="34" charset="-122"/>
                <a:cs typeface="Arial" pitchFamily="34" charset="-120"/>
              </a:rPr>
              <a:t>HARI 61–100</a:t>
            </a:r>
            <a:endParaRPr lang="en-US" sz="950" dirty="0"/>
          </a:p>
        </p:txBody>
      </p:sp>
      <p:sp>
        <p:nvSpPr>
          <p:cNvPr id="35" name="Text 33"/>
          <p:cNvSpPr/>
          <p:nvPr/>
        </p:nvSpPr>
        <p:spPr>
          <a:xfrm>
            <a:off x="8001000" y="5029200"/>
            <a:ext cx="3017520" cy="228600"/>
          </a:xfrm>
          <a:prstGeom prst="rect">
            <a:avLst/>
          </a:prstGeom>
          <a:noFill/>
          <a:ln/>
        </p:spPr>
        <p:txBody>
          <a:bodyPr wrap="square" rtlCol="0" anchor="ctr"/>
          <a:lstStyle/>
          <a:p>
            <a:pPr indent="0" marL="0">
              <a:buNone/>
            </a:pPr>
            <a:r>
              <a:rPr lang="en-US" sz="1000" b="1" dirty="0">
                <a:solidFill>
                  <a:srgbClr val="0A192F"/>
                </a:solidFill>
                <a:latin typeface="Arial" pitchFamily="34" charset="0"/>
                <a:ea typeface="Arial" pitchFamily="34" charset="-122"/>
                <a:cs typeface="Arial" pitchFamily="34" charset="-120"/>
              </a:rPr>
              <a:t>MOU KONSORSIUM 5 KAMPUS</a:t>
            </a:r>
            <a:endParaRPr lang="en-US" sz="1000" dirty="0"/>
          </a:p>
        </p:txBody>
      </p:sp>
      <p:sp>
        <p:nvSpPr>
          <p:cNvPr id="36" name="Text 34"/>
          <p:cNvSpPr/>
          <p:nvPr/>
        </p:nvSpPr>
        <p:spPr>
          <a:xfrm>
            <a:off x="8001000" y="5257800"/>
            <a:ext cx="3017520" cy="685800"/>
          </a:xfrm>
          <a:prstGeom prst="rect">
            <a:avLst/>
          </a:prstGeom>
          <a:noFill/>
          <a:ln/>
        </p:spPr>
        <p:txBody>
          <a:bodyPr wrap="square" rtlCol="0" anchor="ctr"/>
          <a:lstStyle/>
          <a:p>
            <a:pPr indent="0" marL="0">
              <a:lnSpc>
                <a:spcPts val="1100"/>
              </a:lnSpc>
              <a:buNone/>
            </a:pPr>
            <a:r>
              <a:rPr lang="en-US" sz="850" dirty="0">
                <a:solidFill>
                  <a:srgbClr val="1E293B"/>
                </a:solidFill>
                <a:latin typeface="Arial" pitchFamily="34" charset="0"/>
                <a:ea typeface="Arial" pitchFamily="34" charset="-122"/>
                <a:cs typeface="Arial" pitchFamily="34" charset="-120"/>
              </a:rPr>
              <a:t>Penandatanganan nota kesepahaman konsorsium riset terapan kampus bersama Kadin &amp; Apindo di Solo Technopark.</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Pemerintah Kota Surakarta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 Inovatif Pengembangan Solo Technopark 2026-2030</dc:title>
  <dc:subject>Bahan Paparan Resmi Walikota Surakarta</dc:subject>
  <dc:creator>UPTD KST Solo Technopark &amp; BRIDA Kota Surakarta</dc:creator>
  <cp:lastModifiedBy>UPTD KST Solo Technopark &amp; BRIDA Kota Surakarta</cp:lastModifiedBy>
  <cp:revision>1</cp:revision>
  <dcterms:created xsi:type="dcterms:W3CDTF">2026-09-11T03:16:26Z</dcterms:created>
  <dcterms:modified xsi:type="dcterms:W3CDTF">2026-09-11T03:16:26Z</dcterms:modified>
</cp:coreProperties>
</file>