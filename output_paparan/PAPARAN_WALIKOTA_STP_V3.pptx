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yang kami hormati, izinkan kami mempersembahkan arah baru Solo Technopark untuk periode 2026 hingga 2030. Kita tidak lagi memposisikan Solo Technopark hanya sebagai aset fisik atau deretan gedung sewa. Dengan mandat yang Bapak berikan, kami hadir dengan proposisi yang berbeda: Solo Technopark adalah mesin impact daerah—yang mengukur keberhasilannya bukan dari saldo kas semata, melainkan dari berapa banyak warga Solo yang mendapat pekerjaan, berapa banyak riset kampus yang jadi produk bernilai, dan seberapa mandiri keuangannya tanpa beban APBD.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Posisi kelembagaan kita sangat jelas dan terstruktur, Bapak Walikota. BRIDA adalah arsitek kebijakan—merumuskan arah, memonitor dampak, dan mengorkestrasi ekosistem Iptek kota. Solo Technopark adalah insinyur pelaksana—menguji teknologi, melatih SDM, menginkubasi startup, dan menghubungkan riset kampus ke pasar industri. Dan pada ujung rantai ini, yang merasakan manfaat langsung adalah warga Solo—mendapat pekerjaan, UMKM mereka naik kelas, dan produk lokal bisa bersaing.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bicara angka dan target, Bapak Walikota, perlu kami tegaskan: fondasi hukum kita sangat kuat. Permendagri 79/2018 memberi kita fleksibilitas BLUD—artinya kita bisa bergerak lincah bermitra dengan Shopee, Garena, atau OGSCI tanpa terjebak rigiditas pengadaan APBD. Perpres 106/2017 memberi mandat nasional: kita harus inkubasi startup, fasilitasi spin-off perusahaan berbasis riset. Dan Perwali 15 serta 38/2022 dari Bapak sendiri telah mengokohkan posisi STP sebagai delivery unit profesional di bawah BRIDA.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pilar ini bukan sekadar daftar layanan, Bapak Walikota. Ini adalah ekosistem yang saling mengunci. Di pilar vokasi, kita melatih keahlian langka seperti underwater welding—keahlian yang satu pesertanya bisa langsung terserap industri migas dengan gaji di atas Rp 15 juta per bulan. Di inkubasi, kita tidak sekadar menampung startup, kita mendampinginya hingga produknya masuk pasar. Dan semuanya berjalan bersama, membentuk satu ekosistem yang mengubah potensi menjadi nilai ekonomi nyata bagi kota Surakarta.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kami ingin menghapus fenomena riset lemari arsip—di mana penelitian kampus hebat tapi berakhir hanya sebagai tumpukan laporan jurnal. Pipeline hilirisasi kami memutus kebuntuan itu. Riset dosen UNS tentang mesin sortasi kopi? Kita ambil, kita uji prototipenya di lab presisi STP, kita bantu urus patennya, kita carikan investor atau offtaker industrinya. Inilah nilai sejati Solo Technopark: jembatan dari ilmu pengetahuan menuju perputaran uang dan lapangan kerja bagi warga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Yang membuat Solo Technopark unik adalah ekosistem hexahelix-nya—melibatkan akademisi, industri, pemerintah, komunitas, media, hingga mitra internasional. Dan satu hal yang paling membanggakan: 95 lebih korporasi kelas dunia telah memercayakan fasilitas dan proyeknya di sini—Shopee, Garena, Mandiri, GoTo, Indosat—tanpa satu rupiah pun dari APBD Kota Surakarta. Ini adalah bukti nyata kepercayaan swasta global terhadap visi kota Surakarta.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berdiri di sini dengan kejujuran penuh, Bapak Walikota. Lima gap ini adalah tantangan nyata yang kami identifikasi sendiri. Pendapatan kita masih terlalu bergantung sewa lahan dan satu program unggulan. Riset kampus belum terhubung ke pasar. Promosi produk inovasi kita masih lemah regulasinya. Namun kami tidak datang hanya dengan masalah—kami hadir dengan 5 solusi terobosan yang terukur dan ada satu yang sangat bergantung pada 1 lembar Instruksi Walikota: e-Katalog Lokal yang mengarahkan OPD Pemkot menyerap produk binaan STP.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ini kami rancang dalam tiga fase yang saling membangun. 2026–2027 adalah fase pondasi: tata kelola BLUD diperkuat, lab kita terakreditasi, dan kita mulai ekspansi kerjasama OGSCI dan SMK GoGlobal. 2028–2029 adalah fase akselerasi: SBU terbentuk dan mulai mandiri seperti entitas bisnis profesional. Puncaknya, 2030, Solo Technopark beroperasi sebagai holding company inovasi daerah yang sepenuhnya mandiri—mengharumkan nama Surakarta di panggung teknologi nasional bahkan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komitmen terukur kami, Bapak Walikota. Angka-angka ini bukan proyeksi asal-asalan—setiap rupiah memiliki sumber yang teridentifikasi. Pendorong terbesar adalah program OGSCI yang akan menyumbang Rp 6,25 Miliar di 2030—itu sendirian sudah hampir menyamai total pendapatan STP tahun 2026. Ditambah program Startup Binaan yang kami proyeksi menghasilkan Rp 2 Miliar, dan e-Katalog yang membutuhkan Instruksi Walikota untuk membuka pasar Rp 2,25 Miliar. Dengan diversifikasi ini, STP akan menjadi BLUD yang sepenuhnya mandiri pada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slide ini adalah bukti transparansi kami. Setiap mata anggaran dari Rp 23,47 Miliar sudah teridentifikasi sumbernya. Ini bukan angka anggan-anggan—ini adalah komitmen yang sudah terverifikasi bersama mitra-mitra kami. Satu hal yang menarik perhatian: Startup Binaan yang kami proyeksi Rp 2 Miliar di 2030 adalah cerminan dari keberhasilan inkubasi—artinya startup yang kami bina sudah memberi kontribusi balik kepada STP. Ini adalah siklus ekosistem yang sehat.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ukuran keberhasilan tertinggi kami bukan saldo rekening BLUD, melainkan enam dimensi dampak ini: seberapa banyak warga Solo mendapat pekerjaan, seberapa banyak UMKM naik kelas, seberapa banyak riset kampus menjadi produk nyata di pasar. Indikator-indikator ini yang setiap bulan kami pantau bersama BRIDA. Karena pada akhirnya, semua program yang kami jalankan harus bisa dijawab dengan satu pertanyaan sederhana: apakah warga Solo hidupnya lebih baik karena Solo Technopark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Menutup paparan ini, Bapak Walikota, manajemen Solo Technopark dan BRIDA tidak hadir meminta tambahan anggaran. Tiga permohonan kami semuanya adalah payung regulasi—bukan rupiah belanja. Instruksi Walikota untuk e-Katalog, Perwal kerjasama lahan, dan Surat Edaran konsorsium riset. Tiga lembar kebijakan ini yang akan menjadi kunci pembuka ekosistem senilai Rp 23 Miliar di 2030. Dengan kepemimpinan dan arahan Bapak, tim kami siap langsung tancap gas mengeksekusi 100 hari pertama. Bersama Bapak, Solo Technopark akan menjadi kebanggaan kota Surakarta dan teladan nasional pengelolaan kawasan inovasi yang mandiri, berdampak, dan berkelanjutan.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8686800" cy="109728"/>
          </a:xfrm>
          <a:prstGeom prst="rect">
            <a:avLst/>
          </a:prstGeom>
          <a:solidFill>
            <a:srgbClr val="0EA5E9"/>
          </a:solidFill>
          <a:ln/>
        </p:spPr>
      </p:sp>
      <p:sp>
        <p:nvSpPr>
          <p:cNvPr id="3" name="Shape 1"/>
          <p:cNvSpPr/>
          <p:nvPr/>
        </p:nvSpPr>
        <p:spPr>
          <a:xfrm>
            <a:off x="8686800" y="0"/>
            <a:ext cx="3504895" cy="109728"/>
          </a:xfrm>
          <a:prstGeom prst="rect">
            <a:avLst/>
          </a:prstGeom>
          <a:solidFill>
            <a:srgbClr val="F59E0B"/>
          </a:solidFill>
          <a:ln/>
        </p:spPr>
      </p:sp>
      <p:sp>
        <p:nvSpPr>
          <p:cNvPr id="4" name="Shape 2"/>
          <p:cNvSpPr/>
          <p:nvPr/>
        </p:nvSpPr>
        <p:spPr>
          <a:xfrm>
            <a:off x="822960" y="594360"/>
            <a:ext cx="4389120" cy="347472"/>
          </a:xfrm>
          <a:prstGeom prst="roundRect">
            <a:avLst>
              <a:gd name="adj" fmla="val 21053"/>
            </a:avLst>
          </a:prstGeom>
          <a:solidFill>
            <a:srgbClr val="0A192F"/>
          </a:solidFill>
          <a:ln w="15240">
            <a:solidFill>
              <a:srgbClr val="0EA5E9"/>
            </a:solidFill>
            <a:prstDash val="solid"/>
          </a:ln>
        </p:spPr>
      </p:sp>
      <p:sp>
        <p:nvSpPr>
          <p:cNvPr id="5" name="Text 3"/>
          <p:cNvSpPr/>
          <p:nvPr/>
        </p:nvSpPr>
        <p:spPr>
          <a:xfrm>
            <a:off x="822960" y="594360"/>
            <a:ext cx="4389120" cy="347472"/>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PEMERINTAH KOTA SURAKARTA  •  BRIDA</a:t>
            </a:r>
            <a:endParaRPr lang="en-US" sz="1000" dirty="0"/>
          </a:p>
        </p:txBody>
      </p:sp>
      <p:sp>
        <p:nvSpPr>
          <p:cNvPr id="6" name="Shape 4"/>
          <p:cNvSpPr/>
          <p:nvPr/>
        </p:nvSpPr>
        <p:spPr>
          <a:xfrm>
            <a:off x="5349240" y="594360"/>
            <a:ext cx="2926080" cy="347472"/>
          </a:xfrm>
          <a:prstGeom prst="roundRect">
            <a:avLst>
              <a:gd name="adj" fmla="val 21053"/>
            </a:avLst>
          </a:prstGeom>
          <a:solidFill>
            <a:srgbClr val="0A192F"/>
          </a:solidFill>
          <a:ln w="15240">
            <a:solidFill>
              <a:srgbClr val="F59E0B"/>
            </a:solidFill>
            <a:prstDash val="solid"/>
          </a:ln>
        </p:spPr>
      </p:sp>
      <p:sp>
        <p:nvSpPr>
          <p:cNvPr id="7" name="Text 5"/>
          <p:cNvSpPr/>
          <p:nvPr/>
        </p:nvSpPr>
        <p:spPr>
          <a:xfrm>
            <a:off x="5349240" y="594360"/>
            <a:ext cx="2926080" cy="347472"/>
          </a:xfrm>
          <a:prstGeom prst="rect">
            <a:avLst/>
          </a:prstGeom>
          <a:noFill/>
          <a:ln/>
        </p:spPr>
        <p:txBody>
          <a:bodyPr wrap="square" rtlCol="0" anchor="ctr"/>
          <a:lstStyle/>
          <a:p>
            <a:pPr algn="ctr" indent="0" marL="0">
              <a:buNone/>
            </a:pPr>
            <a:r>
              <a:rPr lang="en-US" sz="1000" b="1" dirty="0">
                <a:solidFill>
                  <a:srgbClr val="F59E0B"/>
                </a:solidFill>
                <a:latin typeface="Arial" pitchFamily="34" charset="0"/>
                <a:ea typeface="Arial" pitchFamily="34" charset="-122"/>
                <a:cs typeface="Arial" pitchFamily="34" charset="-120"/>
              </a:rPr>
              <a:t>ROADMAP STRATEGIS 2026–2030</a:t>
            </a:r>
            <a:endParaRPr lang="en-US" sz="1000" dirty="0"/>
          </a:p>
        </p:txBody>
      </p:sp>
      <p:sp>
        <p:nvSpPr>
          <p:cNvPr id="8" name="Text 6"/>
          <p:cNvSpPr/>
          <p:nvPr/>
        </p:nvSpPr>
        <p:spPr>
          <a:xfrm>
            <a:off x="822960" y="1234440"/>
            <a:ext cx="10545775" cy="1600200"/>
          </a:xfrm>
          <a:prstGeom prst="rect">
            <a:avLst/>
          </a:prstGeom>
          <a:noFill/>
          <a:ln/>
        </p:spPr>
        <p:txBody>
          <a:bodyPr wrap="square" rtlCol="0" anchor="ctr"/>
          <a:lstStyle/>
          <a:p>
            <a:pPr indent="0" marL="0">
              <a:lnSpc>
                <a:spcPts val="3800"/>
              </a:lnSpc>
              <a:buNone/>
            </a:pPr>
            <a:r>
              <a:rPr lang="en-US" sz="3200" b="1" dirty="0">
                <a:solidFill>
                  <a:srgbClr val="FFFFFF"/>
                </a:solidFill>
                <a:latin typeface="Arial" pitchFamily="34" charset="0"/>
                <a:ea typeface="Arial" pitchFamily="34" charset="-122"/>
                <a:cs typeface="Arial" pitchFamily="34" charset="-120"/>
              </a:rPr>
              <a:t>SOLO TECHNOPARK: DARI KAWASAN SAINS</a:t>
            </a:r>
            <a:endParaRPr lang="en-US" sz="3200" dirty="0"/>
          </a:p>
          <a:p>
            <a:pPr indent="0" marL="0">
              <a:lnSpc>
                <a:spcPts val="3800"/>
              </a:lnSpc>
              <a:buNone/>
            </a:pPr>
            <a:r>
              <a:rPr lang="en-US" sz="3200" b="1" dirty="0">
                <a:solidFill>
                  <a:srgbClr val="FFFFFF"/>
                </a:solidFill>
                <a:latin typeface="Arial" pitchFamily="34" charset="0"/>
                <a:ea typeface="Arial" pitchFamily="34" charset="-122"/>
                <a:cs typeface="Arial" pitchFamily="34" charset="-120"/>
              </a:rPr>
              <a:t>MENUJU MESIN IMPACT DAERAH</a:t>
            </a:r>
            <a:endParaRPr lang="en-US" sz="3200" dirty="0"/>
          </a:p>
        </p:txBody>
      </p:sp>
      <p:sp>
        <p:nvSpPr>
          <p:cNvPr id="9" name="Text 7"/>
          <p:cNvSpPr/>
          <p:nvPr/>
        </p:nvSpPr>
        <p:spPr>
          <a:xfrm>
            <a:off x="822960" y="2880360"/>
            <a:ext cx="10545775" cy="548640"/>
          </a:xfrm>
          <a:prstGeom prst="rect">
            <a:avLst/>
          </a:prstGeom>
          <a:noFill/>
          <a:ln/>
        </p:spPr>
        <p:txBody>
          <a:bodyPr wrap="square" rtlCol="0" anchor="ctr"/>
          <a:lstStyle/>
          <a:p>
            <a:pPr indent="0" marL="0">
              <a:buNone/>
            </a:pPr>
            <a:r>
              <a:rPr lang="en-US" sz="1350" i="1" dirty="0">
                <a:solidFill>
                  <a:srgbClr val="FDE68A"/>
                </a:solidFill>
                <a:latin typeface="Arial" pitchFamily="34" charset="0"/>
                <a:ea typeface="Arial" pitchFamily="34" charset="-122"/>
                <a:cs typeface="Arial" pitchFamily="34" charset="-120"/>
              </a:rPr>
              <a:t>"Roadmap Transformasi UPTD KST Surakarta: Mewujudkan Kemandirian BLUD, Hilirisasi Riset Kampus, dan Kesejahteraan Nyata Warga Kota"</a:t>
            </a:r>
            <a:endParaRPr lang="en-US" sz="1350" dirty="0"/>
          </a:p>
        </p:txBody>
      </p:sp>
      <p:sp>
        <p:nvSpPr>
          <p:cNvPr id="10" name="Shape 8"/>
          <p:cNvSpPr/>
          <p:nvPr/>
        </p:nvSpPr>
        <p:spPr>
          <a:xfrm>
            <a:off x="822960" y="3547872"/>
            <a:ext cx="10545775" cy="18288"/>
          </a:xfrm>
          <a:prstGeom prst="rect">
            <a:avLst/>
          </a:prstGeom>
          <a:solidFill>
            <a:srgbClr val="1E3A5F"/>
          </a:solidFill>
          <a:ln/>
        </p:spPr>
      </p:sp>
      <p:sp>
        <p:nvSpPr>
          <p:cNvPr id="11" name="Shape 9"/>
          <p:cNvSpPr/>
          <p:nvPr/>
        </p:nvSpPr>
        <p:spPr>
          <a:xfrm>
            <a:off x="822960" y="3794760"/>
            <a:ext cx="3337560" cy="2286000"/>
          </a:xfrm>
          <a:prstGeom prst="roundRect">
            <a:avLst>
              <a:gd name="adj" fmla="val 3200"/>
            </a:avLst>
          </a:prstGeom>
          <a:solidFill>
            <a:srgbClr val="0A192F"/>
          </a:solidFill>
          <a:ln w="12700">
            <a:solidFill>
              <a:srgbClr val="1E3A5F"/>
            </a:solidFill>
            <a:prstDash val="solid"/>
          </a:ln>
        </p:spPr>
      </p:sp>
      <p:sp>
        <p:nvSpPr>
          <p:cNvPr id="12" name="Shape 10"/>
          <p:cNvSpPr/>
          <p:nvPr/>
        </p:nvSpPr>
        <p:spPr>
          <a:xfrm>
            <a:off x="822960" y="3794760"/>
            <a:ext cx="73152" cy="228600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1051560" y="3931920"/>
            <a:ext cx="2971800" cy="320040"/>
          </a:xfrm>
          <a:prstGeom prst="rect">
            <a:avLst/>
          </a:prstGeom>
          <a:noFill/>
          <a:ln/>
        </p:spPr>
        <p:txBody>
          <a:bodyPr wrap="square" rtlCol="0" anchor="ctr"/>
          <a:lstStyle/>
          <a:p>
            <a:pPr indent="0" marL="0">
              <a:buNone/>
            </a:pPr>
            <a:r>
              <a:rPr lang="en-US" sz="1000" b="1" dirty="0">
                <a:solidFill>
                  <a:srgbClr val="0EA5E9"/>
                </a:solidFill>
                <a:latin typeface="Arial" pitchFamily="34" charset="0"/>
                <a:ea typeface="Arial" pitchFamily="34" charset="-122"/>
                <a:cs typeface="Arial" pitchFamily="34" charset="-120"/>
              </a:rPr>
              <a:t>🎯  PARADIGMA BARU</a:t>
            </a:r>
            <a:endParaRPr lang="en-US" sz="1000" dirty="0"/>
          </a:p>
        </p:txBody>
      </p:sp>
      <p:sp>
        <p:nvSpPr>
          <p:cNvPr id="14" name="Text 12"/>
          <p:cNvSpPr/>
          <p:nvPr/>
        </p:nvSpPr>
        <p:spPr>
          <a:xfrm>
            <a:off x="1051560" y="4251960"/>
            <a:ext cx="2971800" cy="36576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Bukan Sekadar Gedung Fisik</a:t>
            </a:r>
            <a:endParaRPr lang="en-US" sz="1250" dirty="0"/>
          </a:p>
        </p:txBody>
      </p:sp>
      <p:sp>
        <p:nvSpPr>
          <p:cNvPr id="15" name="Text 13"/>
          <p:cNvSpPr/>
          <p:nvPr/>
        </p:nvSpPr>
        <p:spPr>
          <a:xfrm>
            <a:off x="1051560" y="4663440"/>
            <a:ext cx="2971800" cy="1280160"/>
          </a:xfrm>
          <a:prstGeom prst="rect">
            <a:avLst/>
          </a:prstGeom>
          <a:noFill/>
          <a:ln/>
        </p:spPr>
        <p:txBody>
          <a:bodyPr wrap="square" rtlCol="0" anchor="ctr"/>
          <a:lstStyle/>
          <a:p>
            <a:pPr indent="0" marL="0">
              <a:lnSpc>
                <a:spcPts val="1500"/>
              </a:lnSpc>
              <a:buNone/>
            </a:pPr>
            <a:r>
              <a:rPr lang="en-US" sz="1020" dirty="0">
                <a:solidFill>
                  <a:srgbClr val="94A3B8"/>
                </a:solidFill>
                <a:latin typeface="Arial" pitchFamily="34" charset="0"/>
                <a:ea typeface="Arial" pitchFamily="34" charset="-122"/>
                <a:cs typeface="Arial" pitchFamily="34" charset="-120"/>
              </a:rPr>
              <a:t>Beralih dari pengelola lahan/sewa menjadi DELIVERY UNIT inovasi BRIDA yang menghasilkan IMPACT nyata bagi masyarakat dan industri.</a:t>
            </a:r>
            <a:endParaRPr lang="en-US" sz="1020" dirty="0"/>
          </a:p>
        </p:txBody>
      </p:sp>
      <p:sp>
        <p:nvSpPr>
          <p:cNvPr id="16" name="Shape 14"/>
          <p:cNvSpPr/>
          <p:nvPr/>
        </p:nvSpPr>
        <p:spPr>
          <a:xfrm>
            <a:off x="4425696" y="3794760"/>
            <a:ext cx="3337560" cy="2286000"/>
          </a:xfrm>
          <a:prstGeom prst="roundRect">
            <a:avLst>
              <a:gd name="adj" fmla="val 3200"/>
            </a:avLst>
          </a:prstGeom>
          <a:solidFill>
            <a:srgbClr val="0A192F"/>
          </a:solidFill>
          <a:ln w="12700">
            <a:solidFill>
              <a:srgbClr val="1E3A5F"/>
            </a:solidFill>
            <a:prstDash val="solid"/>
          </a:ln>
        </p:spPr>
      </p:sp>
      <p:sp>
        <p:nvSpPr>
          <p:cNvPr id="17" name="Shape 15"/>
          <p:cNvSpPr/>
          <p:nvPr/>
        </p:nvSpPr>
        <p:spPr>
          <a:xfrm>
            <a:off x="4425696" y="3794760"/>
            <a:ext cx="73152" cy="2286000"/>
          </a:xfrm>
          <a:prstGeom prst="roundRect">
            <a:avLst>
              <a:gd name="adj" fmla="val 50000"/>
            </a:avLst>
          </a:prstGeom>
          <a:solidFill>
            <a:srgbClr val="F59E0B"/>
          </a:solidFill>
          <a:ln w="12700">
            <a:solidFill>
              <a:srgbClr val="F59E0B"/>
            </a:solidFill>
            <a:prstDash val="solid"/>
          </a:ln>
        </p:spPr>
      </p:sp>
      <p:sp>
        <p:nvSpPr>
          <p:cNvPr id="18" name="Text 16"/>
          <p:cNvSpPr/>
          <p:nvPr/>
        </p:nvSpPr>
        <p:spPr>
          <a:xfrm>
            <a:off x="4654296" y="3931920"/>
            <a:ext cx="297180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KEMANDIRIAN PENUH</a:t>
            </a:r>
            <a:endParaRPr lang="en-US" sz="1000" dirty="0"/>
          </a:p>
        </p:txBody>
      </p:sp>
      <p:sp>
        <p:nvSpPr>
          <p:cNvPr id="19" name="Text 17"/>
          <p:cNvSpPr/>
          <p:nvPr/>
        </p:nvSpPr>
        <p:spPr>
          <a:xfrm>
            <a:off x="4654296" y="4251960"/>
            <a:ext cx="2971800" cy="36576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BLUD Mandiri Tanpa APBD</a:t>
            </a:r>
            <a:endParaRPr lang="en-US" sz="1250" dirty="0"/>
          </a:p>
        </p:txBody>
      </p:sp>
      <p:sp>
        <p:nvSpPr>
          <p:cNvPr id="20" name="Text 18"/>
          <p:cNvSpPr/>
          <p:nvPr/>
        </p:nvSpPr>
        <p:spPr>
          <a:xfrm>
            <a:off x="4654296" y="4663440"/>
            <a:ext cx="2971800" cy="1280160"/>
          </a:xfrm>
          <a:prstGeom prst="rect">
            <a:avLst/>
          </a:prstGeom>
          <a:noFill/>
          <a:ln/>
        </p:spPr>
        <p:txBody>
          <a:bodyPr wrap="square" rtlCol="0" anchor="ctr"/>
          <a:lstStyle/>
          <a:p>
            <a:pPr indent="0" marL="0">
              <a:lnSpc>
                <a:spcPts val="1500"/>
              </a:lnSpc>
              <a:buNone/>
            </a:pPr>
            <a:r>
              <a:rPr lang="en-US" sz="1020" dirty="0">
                <a:solidFill>
                  <a:srgbClr val="94A3B8"/>
                </a:solidFill>
                <a:latin typeface="Arial" pitchFamily="34" charset="0"/>
                <a:ea typeface="Arial" pitchFamily="34" charset="-122"/>
                <a:cs typeface="Arial" pitchFamily="34" charset="-120"/>
              </a:rPr>
              <a:t>Lompatan pendapatan terukur dari Rp 7,50 M (2026) menuju Rp 23,47 M (2030) — tumbuh +212,8% dengan 0% subsidi kas daerah.</a:t>
            </a:r>
            <a:endParaRPr lang="en-US" sz="1020" dirty="0"/>
          </a:p>
        </p:txBody>
      </p:sp>
      <p:sp>
        <p:nvSpPr>
          <p:cNvPr id="21" name="Shape 19"/>
          <p:cNvSpPr/>
          <p:nvPr/>
        </p:nvSpPr>
        <p:spPr>
          <a:xfrm>
            <a:off x="8028432" y="3794760"/>
            <a:ext cx="3337560" cy="2286000"/>
          </a:xfrm>
          <a:prstGeom prst="roundRect">
            <a:avLst>
              <a:gd name="adj" fmla="val 3200"/>
            </a:avLst>
          </a:prstGeom>
          <a:solidFill>
            <a:srgbClr val="0A192F"/>
          </a:solidFill>
          <a:ln w="12700">
            <a:solidFill>
              <a:srgbClr val="1E3A5F"/>
            </a:solidFill>
            <a:prstDash val="solid"/>
          </a:ln>
        </p:spPr>
      </p:sp>
      <p:sp>
        <p:nvSpPr>
          <p:cNvPr id="22" name="Shape 20"/>
          <p:cNvSpPr/>
          <p:nvPr/>
        </p:nvSpPr>
        <p:spPr>
          <a:xfrm>
            <a:off x="8028432" y="3794760"/>
            <a:ext cx="73152" cy="2286000"/>
          </a:xfrm>
          <a:prstGeom prst="roundRect">
            <a:avLst>
              <a:gd name="adj" fmla="val 50000"/>
            </a:avLst>
          </a:prstGeom>
          <a:solidFill>
            <a:srgbClr val="10B981"/>
          </a:solidFill>
          <a:ln w="12700">
            <a:solidFill>
              <a:srgbClr val="10B981"/>
            </a:solidFill>
            <a:prstDash val="solid"/>
          </a:ln>
        </p:spPr>
      </p:sp>
      <p:sp>
        <p:nvSpPr>
          <p:cNvPr id="23" name="Text 21"/>
          <p:cNvSpPr/>
          <p:nvPr/>
        </p:nvSpPr>
        <p:spPr>
          <a:xfrm>
            <a:off x="8257032" y="3931920"/>
            <a:ext cx="2971800" cy="320040"/>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  HEXAHELIX &amp; DAMPAK</a:t>
            </a:r>
            <a:endParaRPr lang="en-US" sz="1000" dirty="0"/>
          </a:p>
        </p:txBody>
      </p:sp>
      <p:sp>
        <p:nvSpPr>
          <p:cNvPr id="24" name="Text 22"/>
          <p:cNvSpPr/>
          <p:nvPr/>
        </p:nvSpPr>
        <p:spPr>
          <a:xfrm>
            <a:off x="8257032" y="4251960"/>
            <a:ext cx="2971800" cy="36576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95+ Mitra Korporasi Dunia</a:t>
            </a:r>
            <a:endParaRPr lang="en-US" sz="1250" dirty="0"/>
          </a:p>
        </p:txBody>
      </p:sp>
      <p:sp>
        <p:nvSpPr>
          <p:cNvPr id="25" name="Text 23"/>
          <p:cNvSpPr/>
          <p:nvPr/>
        </p:nvSpPr>
        <p:spPr>
          <a:xfrm>
            <a:off x="8257032" y="4663440"/>
            <a:ext cx="2971800" cy="1280160"/>
          </a:xfrm>
          <a:prstGeom prst="rect">
            <a:avLst/>
          </a:prstGeom>
          <a:noFill/>
          <a:ln/>
        </p:spPr>
        <p:txBody>
          <a:bodyPr wrap="square" rtlCol="0" anchor="ctr"/>
          <a:lstStyle/>
          <a:p>
            <a:pPr indent="0" marL="0">
              <a:lnSpc>
                <a:spcPts val="1500"/>
              </a:lnSpc>
              <a:buNone/>
            </a:pPr>
            <a:r>
              <a:rPr lang="en-US" sz="1020" dirty="0">
                <a:solidFill>
                  <a:srgbClr val="94A3B8"/>
                </a:solidFill>
                <a:latin typeface="Arial" pitchFamily="34" charset="0"/>
                <a:ea typeface="Arial" pitchFamily="34" charset="-122"/>
                <a:cs typeface="Arial" pitchFamily="34" charset="-120"/>
              </a:rPr>
              <a:t>Investasi swasta murni berkolaborasi menyerap 9.000 tenaga kerja dengan komitmen afirmasi minimal 65% warga KTP Surakarta.</a:t>
            </a:r>
            <a:endParaRPr lang="en-US" sz="1020" dirty="0"/>
          </a:p>
        </p:txBody>
      </p:sp>
      <p:sp>
        <p:nvSpPr>
          <p:cNvPr id="26" name="Text 24"/>
          <p:cNvSpPr/>
          <p:nvPr/>
        </p:nvSpPr>
        <p:spPr>
          <a:xfrm>
            <a:off x="822960" y="6327648"/>
            <a:ext cx="10545775" cy="292608"/>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Bahan Paparan Resmi Rancangan Teknokratik UPTD KST Solo Technopark  •  Disampaikan kepada Walikota Surakarta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TATA KELOLA PEMERINTAHAN &amp; KELEMBAGAAN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KEDUDUKAN KELEMBAGAAN &amp; RANTAI DAMPAK (CHAIN OF IMPACT)</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Sinergi Kokoh: BRIDA sebagai Otak Kebijakan, STP sebagai Tangan Eksekutor, Masyarakat sebagai Penerima Manfaat</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02 / 12</a:t>
            </a:r>
            <a:endParaRPr lang="en-US" sz="900" dirty="0"/>
          </a:p>
        </p:txBody>
      </p:sp>
      <p:sp>
        <p:nvSpPr>
          <p:cNvPr id="11" name="Shape 9"/>
          <p:cNvSpPr/>
          <p:nvPr/>
        </p:nvSpPr>
        <p:spPr>
          <a:xfrm>
            <a:off x="731520" y="1280160"/>
            <a:ext cx="10728655" cy="777240"/>
          </a:xfrm>
          <a:prstGeom prst="roundRect">
            <a:avLst>
              <a:gd name="adj" fmla="val 9412"/>
            </a:avLst>
          </a:prstGeom>
          <a:solidFill>
            <a:srgbClr val="0D213F"/>
          </a:solidFill>
          <a:ln w="12700">
            <a:solidFill>
              <a:srgbClr val="0EA5E9"/>
            </a:solidFill>
            <a:prstDash val="solid"/>
          </a:ln>
        </p:spPr>
      </p:sp>
      <p:sp>
        <p:nvSpPr>
          <p:cNvPr id="12" name="Text 10"/>
          <p:cNvSpPr/>
          <p:nvPr/>
        </p:nvSpPr>
        <p:spPr>
          <a:xfrm>
            <a:off x="914400" y="1280160"/>
            <a:ext cx="10362895" cy="777240"/>
          </a:xfrm>
          <a:prstGeom prst="rect">
            <a:avLst/>
          </a:prstGeom>
          <a:noFill/>
          <a:ln/>
        </p:spPr>
        <p:txBody>
          <a:bodyPr wrap="square" rtlCol="0" anchor="ctr"/>
          <a:lstStyle/>
          <a:p>
            <a:pPr algn="ctr" indent="0" marL="0">
              <a:buNone/>
            </a:pPr>
            <a:r>
              <a:rPr lang="en-US" sz="1100" b="1" dirty="0">
                <a:solidFill>
                  <a:srgbClr val="F59E0B"/>
                </a:solidFill>
                <a:latin typeface="Arial" pitchFamily="34" charset="0"/>
                <a:ea typeface="Arial" pitchFamily="34" charset="-122"/>
                <a:cs typeface="Arial" pitchFamily="34" charset="-120"/>
              </a:rPr>
              <a:t>RANTAI DAMPAK:   </a:t>
            </a:r>
            <a:pPr algn="ctr" indent="0" marL="0">
              <a:buNone/>
            </a:pPr>
            <a:r>
              <a:rPr lang="en-US" sz="1100" b="1" dirty="0">
                <a:solidFill>
                  <a:srgbClr val="FFFFFF"/>
                </a:solidFill>
                <a:latin typeface="Arial" pitchFamily="34" charset="0"/>
                <a:ea typeface="Arial" pitchFamily="34" charset="-122"/>
                <a:cs typeface="Arial" pitchFamily="34" charset="-120"/>
              </a:rPr>
              <a:t>BRIDA (Otak &amp; Regulator Kebijakan) </a:t>
            </a:r>
            <a:pPr algn="ctr" indent="0" marL="0">
              <a:buNone/>
            </a:pPr>
            <a:r>
              <a:rPr lang="en-US" sz="1050" dirty="0">
                <a:solidFill>
                  <a:srgbClr val="38BDF8"/>
                </a:solidFill>
                <a:latin typeface="Arial" pitchFamily="34" charset="0"/>
                <a:ea typeface="Arial" pitchFamily="34" charset="-122"/>
                <a:cs typeface="Arial" pitchFamily="34" charset="-120"/>
              </a:rPr>
              <a:t> ➔  Regulasi &amp; Arahan  ➔ </a:t>
            </a:r>
            <a:pPr algn="ctr" indent="0" marL="0">
              <a:buNone/>
            </a:pPr>
            <a:r>
              <a:rPr lang="en-US" sz="1100" b="1" dirty="0">
                <a:solidFill>
                  <a:srgbClr val="FFFFFF"/>
                </a:solidFill>
                <a:latin typeface="Arial" pitchFamily="34" charset="0"/>
                <a:ea typeface="Arial" pitchFamily="34" charset="-122"/>
                <a:cs typeface="Arial" pitchFamily="34" charset="-120"/>
              </a:rPr>
              <a:t> UPTD KST STP (Tangan Eksekutor BLUD) </a:t>
            </a:r>
            <a:pPr algn="ctr" indent="0" marL="0">
              <a:buNone/>
            </a:pPr>
            <a:r>
              <a:rPr lang="en-US" sz="1050" dirty="0">
                <a:solidFill>
                  <a:srgbClr val="38BDF8"/>
                </a:solidFill>
                <a:latin typeface="Arial" pitchFamily="34" charset="0"/>
                <a:ea typeface="Arial" pitchFamily="34" charset="-122"/>
                <a:cs typeface="Arial" pitchFamily="34" charset="-120"/>
              </a:rPr>
              <a:t> ➔  Layanan &amp; Inovasi  ➔ </a:t>
            </a:r>
            <a:pPr algn="ctr" indent="0" marL="0">
              <a:buNone/>
            </a:pPr>
            <a:r>
              <a:rPr lang="en-US" sz="1100" b="1" dirty="0">
                <a:solidFill>
                  <a:srgbClr val="10B981"/>
                </a:solidFill>
                <a:latin typeface="Arial" pitchFamily="34" charset="0"/>
                <a:ea typeface="Arial" pitchFamily="34" charset="-122"/>
                <a:cs typeface="Arial" pitchFamily="34" charset="-120"/>
              </a:rPr>
              <a:t> WARGA SOLO &amp; INDUSTRI (Benefisiari)</a:t>
            </a:r>
            <a:endParaRPr lang="en-US" sz="1100" dirty="0"/>
          </a:p>
        </p:txBody>
      </p:sp>
      <p:sp>
        <p:nvSpPr>
          <p:cNvPr id="13" name="Shape 11"/>
          <p:cNvSpPr/>
          <p:nvPr/>
        </p:nvSpPr>
        <p:spPr>
          <a:xfrm>
            <a:off x="731520" y="2194560"/>
            <a:ext cx="3474720" cy="3017520"/>
          </a:xfrm>
          <a:prstGeom prst="roundRect">
            <a:avLst>
              <a:gd name="adj" fmla="val 2424"/>
            </a:avLst>
          </a:prstGeom>
          <a:solidFill>
            <a:srgbClr val="0A192F"/>
          </a:solidFill>
          <a:ln w="12700">
            <a:solidFill>
              <a:srgbClr val="1E3A5F"/>
            </a:solidFill>
            <a:prstDash val="solid"/>
          </a:ln>
        </p:spPr>
      </p:sp>
      <p:sp>
        <p:nvSpPr>
          <p:cNvPr id="14" name="Shape 12"/>
          <p:cNvSpPr/>
          <p:nvPr/>
        </p:nvSpPr>
        <p:spPr>
          <a:xfrm>
            <a:off x="731520" y="2194560"/>
            <a:ext cx="73152" cy="3017520"/>
          </a:xfrm>
          <a:prstGeom prst="roundRect">
            <a:avLst>
              <a:gd name="adj" fmla="val 50000"/>
            </a:avLst>
          </a:prstGeom>
          <a:solidFill>
            <a:srgbClr val="0EA5E9"/>
          </a:solidFill>
          <a:ln w="12700">
            <a:solidFill>
              <a:srgbClr val="0EA5E9"/>
            </a:solidFill>
            <a:prstDash val="solid"/>
          </a:ln>
        </p:spPr>
      </p:sp>
      <p:sp>
        <p:nvSpPr>
          <p:cNvPr id="15" name="Shape 13"/>
          <p:cNvSpPr/>
          <p:nvPr/>
        </p:nvSpPr>
        <p:spPr>
          <a:xfrm>
            <a:off x="868680" y="2331720"/>
            <a:ext cx="3200400" cy="594360"/>
          </a:xfrm>
          <a:prstGeom prst="roundRect">
            <a:avLst>
              <a:gd name="adj" fmla="val 9231"/>
            </a:avLst>
          </a:prstGeom>
          <a:solidFill>
            <a:srgbClr val="0D213F"/>
          </a:solidFill>
          <a:ln w="12700">
            <a:solidFill>
              <a:srgbClr val="0EA5E9"/>
            </a:solidFill>
            <a:prstDash val="solid"/>
          </a:ln>
        </p:spPr>
      </p:sp>
      <p:sp>
        <p:nvSpPr>
          <p:cNvPr id="16" name="Text 14"/>
          <p:cNvSpPr/>
          <p:nvPr/>
        </p:nvSpPr>
        <p:spPr>
          <a:xfrm>
            <a:off x="914400" y="2377440"/>
            <a:ext cx="3108960" cy="274320"/>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BRIDA KOTA SURAKARTA</a:t>
            </a:r>
            <a:endParaRPr lang="en-US" sz="1050" dirty="0"/>
          </a:p>
        </p:txBody>
      </p:sp>
      <p:sp>
        <p:nvSpPr>
          <p:cNvPr id="17" name="Text 15"/>
          <p:cNvSpPr/>
          <p:nvPr/>
        </p:nvSpPr>
        <p:spPr>
          <a:xfrm>
            <a:off x="914400" y="2651760"/>
            <a:ext cx="3108960" cy="228600"/>
          </a:xfrm>
          <a:prstGeom prst="rect">
            <a:avLst/>
          </a:prstGeom>
          <a:noFill/>
          <a:ln/>
        </p:spPr>
        <p:txBody>
          <a:bodyPr wrap="square" rtlCol="0" anchor="ctr"/>
          <a:lstStyle/>
          <a:p>
            <a:pPr algn="ctr" indent="0" marL="0">
              <a:buNone/>
            </a:pPr>
            <a:r>
              <a:rPr lang="en-US" sz="850" b="1" dirty="0">
                <a:solidFill>
                  <a:srgbClr val="0EA5E9"/>
                </a:solidFill>
                <a:latin typeface="Arial" pitchFamily="34" charset="0"/>
                <a:ea typeface="Arial" pitchFamily="34" charset="-122"/>
                <a:cs typeface="Arial" pitchFamily="34" charset="-120"/>
              </a:rPr>
              <a:t>Otak &amp; Regulator Kebijakan</a:t>
            </a:r>
            <a:endParaRPr lang="en-US" sz="850" dirty="0"/>
          </a:p>
        </p:txBody>
      </p:sp>
      <p:sp>
        <p:nvSpPr>
          <p:cNvPr id="18" name="Text 16"/>
          <p:cNvSpPr/>
          <p:nvPr/>
        </p:nvSpPr>
        <p:spPr>
          <a:xfrm>
            <a:off x="960120" y="3063240"/>
            <a:ext cx="3017520" cy="2011680"/>
          </a:xfrm>
          <a:prstGeom prst="rect">
            <a:avLst/>
          </a:prstGeom>
          <a:noFill/>
          <a:ln/>
        </p:spPr>
        <p:txBody>
          <a:bodyPr wrap="square" rtlCol="0" anchor="ctr"/>
          <a:lstStyle/>
          <a:p>
            <a:pPr indent="0" marL="0">
              <a:lnSpc>
                <a:spcPts val="1400"/>
              </a:lnSpc>
              <a:buNone/>
            </a:pPr>
            <a:r>
              <a:rPr lang="en-US" sz="980" dirty="0">
                <a:solidFill>
                  <a:srgbClr val="94A3B8"/>
                </a:solidFill>
                <a:latin typeface="Arial" pitchFamily="34" charset="0"/>
                <a:ea typeface="Arial" pitchFamily="34" charset="-122"/>
                <a:cs typeface="Arial" pitchFamily="34" charset="-120"/>
              </a:rPr>
              <a:t>•  Merumuskan arah kebijakan riset &amp; inovasi daerah</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Penyusunan kajian teknokratik &amp; roadmap strategis</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Orkestrasi ekosistem Iptek antar-OPD &amp; kampus</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Monitoring dan evaluasi dampak sosial-ekonomi</a:t>
            </a:r>
            <a:endParaRPr lang="en-US" sz="980" dirty="0"/>
          </a:p>
        </p:txBody>
      </p:sp>
      <p:sp>
        <p:nvSpPr>
          <p:cNvPr id="19" name="Shape 17"/>
          <p:cNvSpPr/>
          <p:nvPr/>
        </p:nvSpPr>
        <p:spPr>
          <a:xfrm>
            <a:off x="4343400" y="2194560"/>
            <a:ext cx="3474720" cy="3017520"/>
          </a:xfrm>
          <a:prstGeom prst="roundRect">
            <a:avLst>
              <a:gd name="adj" fmla="val 2424"/>
            </a:avLst>
          </a:prstGeom>
          <a:solidFill>
            <a:srgbClr val="0A192F"/>
          </a:solidFill>
          <a:ln w="12700">
            <a:solidFill>
              <a:srgbClr val="1E3A5F"/>
            </a:solidFill>
            <a:prstDash val="solid"/>
          </a:ln>
        </p:spPr>
      </p:sp>
      <p:sp>
        <p:nvSpPr>
          <p:cNvPr id="20" name="Shape 18"/>
          <p:cNvSpPr/>
          <p:nvPr/>
        </p:nvSpPr>
        <p:spPr>
          <a:xfrm>
            <a:off x="4343400" y="2194560"/>
            <a:ext cx="73152" cy="3017520"/>
          </a:xfrm>
          <a:prstGeom prst="roundRect">
            <a:avLst>
              <a:gd name="adj" fmla="val 50000"/>
            </a:avLst>
          </a:prstGeom>
          <a:solidFill>
            <a:srgbClr val="F59E0B"/>
          </a:solidFill>
          <a:ln w="12700">
            <a:solidFill>
              <a:srgbClr val="F59E0B"/>
            </a:solidFill>
            <a:prstDash val="solid"/>
          </a:ln>
        </p:spPr>
      </p:sp>
      <p:sp>
        <p:nvSpPr>
          <p:cNvPr id="21" name="Shape 19"/>
          <p:cNvSpPr/>
          <p:nvPr/>
        </p:nvSpPr>
        <p:spPr>
          <a:xfrm>
            <a:off x="4480560" y="2331720"/>
            <a:ext cx="3200400" cy="594360"/>
          </a:xfrm>
          <a:prstGeom prst="roundRect">
            <a:avLst>
              <a:gd name="adj" fmla="val 9231"/>
            </a:avLst>
          </a:prstGeom>
          <a:solidFill>
            <a:srgbClr val="0D213F"/>
          </a:solidFill>
          <a:ln w="12700">
            <a:solidFill>
              <a:srgbClr val="F59E0B"/>
            </a:solidFill>
            <a:prstDash val="solid"/>
          </a:ln>
        </p:spPr>
      </p:sp>
      <p:sp>
        <p:nvSpPr>
          <p:cNvPr id="22" name="Text 20"/>
          <p:cNvSpPr/>
          <p:nvPr/>
        </p:nvSpPr>
        <p:spPr>
          <a:xfrm>
            <a:off x="4526280" y="2377440"/>
            <a:ext cx="3108960" cy="274320"/>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UPTD KST SOLO TECHNOPARK</a:t>
            </a:r>
            <a:endParaRPr lang="en-US" sz="1050" dirty="0"/>
          </a:p>
        </p:txBody>
      </p:sp>
      <p:sp>
        <p:nvSpPr>
          <p:cNvPr id="23" name="Text 21"/>
          <p:cNvSpPr/>
          <p:nvPr/>
        </p:nvSpPr>
        <p:spPr>
          <a:xfrm>
            <a:off x="4526280" y="2651760"/>
            <a:ext cx="3108960" cy="228600"/>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Tangan Eksekutor &amp; Delivery Unit</a:t>
            </a:r>
            <a:endParaRPr lang="en-US" sz="850" dirty="0"/>
          </a:p>
        </p:txBody>
      </p:sp>
      <p:sp>
        <p:nvSpPr>
          <p:cNvPr id="24" name="Text 22"/>
          <p:cNvSpPr/>
          <p:nvPr/>
        </p:nvSpPr>
        <p:spPr>
          <a:xfrm>
            <a:off x="4572000" y="3063240"/>
            <a:ext cx="3017520" cy="2011680"/>
          </a:xfrm>
          <a:prstGeom prst="rect">
            <a:avLst/>
          </a:prstGeom>
          <a:noFill/>
          <a:ln/>
        </p:spPr>
        <p:txBody>
          <a:bodyPr wrap="square" rtlCol="0" anchor="ctr"/>
          <a:lstStyle/>
          <a:p>
            <a:pPr indent="0" marL="0">
              <a:lnSpc>
                <a:spcPts val="1400"/>
              </a:lnSpc>
              <a:buNone/>
            </a:pPr>
            <a:r>
              <a:rPr lang="en-US" sz="980" dirty="0">
                <a:solidFill>
                  <a:srgbClr val="94A3B8"/>
                </a:solidFill>
                <a:latin typeface="Arial" pitchFamily="34" charset="0"/>
                <a:ea typeface="Arial" pitchFamily="34" charset="-122"/>
                <a:cs typeface="Arial" pitchFamily="34" charset="-120"/>
              </a:rPr>
              <a:t>•  Penyelenggaraan diklat vokasi &amp; sertifikasi industri</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Inkubasi bisnis, alih teknologi &amp; komersialisasi</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Uji coba prototipe lab presisi &amp; penetrant testing</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Pengelolaan bisnis BLUD profesional &amp; kemitraan</a:t>
            </a:r>
            <a:endParaRPr lang="en-US" sz="980" dirty="0"/>
          </a:p>
        </p:txBody>
      </p:sp>
      <p:sp>
        <p:nvSpPr>
          <p:cNvPr id="25" name="Shape 23"/>
          <p:cNvSpPr/>
          <p:nvPr/>
        </p:nvSpPr>
        <p:spPr>
          <a:xfrm>
            <a:off x="7955280" y="2194560"/>
            <a:ext cx="3474720" cy="3017520"/>
          </a:xfrm>
          <a:prstGeom prst="roundRect">
            <a:avLst>
              <a:gd name="adj" fmla="val 2424"/>
            </a:avLst>
          </a:prstGeom>
          <a:solidFill>
            <a:srgbClr val="0A192F"/>
          </a:solidFill>
          <a:ln w="12700">
            <a:solidFill>
              <a:srgbClr val="1E3A5F"/>
            </a:solidFill>
            <a:prstDash val="solid"/>
          </a:ln>
        </p:spPr>
      </p:sp>
      <p:sp>
        <p:nvSpPr>
          <p:cNvPr id="26" name="Shape 24"/>
          <p:cNvSpPr/>
          <p:nvPr/>
        </p:nvSpPr>
        <p:spPr>
          <a:xfrm>
            <a:off x="7955280" y="2194560"/>
            <a:ext cx="73152" cy="3017520"/>
          </a:xfrm>
          <a:prstGeom prst="roundRect">
            <a:avLst>
              <a:gd name="adj" fmla="val 50000"/>
            </a:avLst>
          </a:prstGeom>
          <a:solidFill>
            <a:srgbClr val="10B981"/>
          </a:solidFill>
          <a:ln w="12700">
            <a:solidFill>
              <a:srgbClr val="10B981"/>
            </a:solidFill>
            <a:prstDash val="solid"/>
          </a:ln>
        </p:spPr>
      </p:sp>
      <p:sp>
        <p:nvSpPr>
          <p:cNvPr id="27" name="Shape 25"/>
          <p:cNvSpPr/>
          <p:nvPr/>
        </p:nvSpPr>
        <p:spPr>
          <a:xfrm>
            <a:off x="8092440" y="2331720"/>
            <a:ext cx="3200400" cy="594360"/>
          </a:xfrm>
          <a:prstGeom prst="roundRect">
            <a:avLst>
              <a:gd name="adj" fmla="val 9231"/>
            </a:avLst>
          </a:prstGeom>
          <a:solidFill>
            <a:srgbClr val="0D213F"/>
          </a:solidFill>
          <a:ln w="12700">
            <a:solidFill>
              <a:srgbClr val="10B981"/>
            </a:solidFill>
            <a:prstDash val="solid"/>
          </a:ln>
        </p:spPr>
      </p:sp>
      <p:sp>
        <p:nvSpPr>
          <p:cNvPr id="28" name="Text 26"/>
          <p:cNvSpPr/>
          <p:nvPr/>
        </p:nvSpPr>
        <p:spPr>
          <a:xfrm>
            <a:off x="8138160" y="2377440"/>
            <a:ext cx="3108960" cy="274320"/>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MASYARAKAT &amp; DUNIA USAHA</a:t>
            </a:r>
            <a:endParaRPr lang="en-US" sz="1050" dirty="0"/>
          </a:p>
        </p:txBody>
      </p:sp>
      <p:sp>
        <p:nvSpPr>
          <p:cNvPr id="29" name="Text 27"/>
          <p:cNvSpPr/>
          <p:nvPr/>
        </p:nvSpPr>
        <p:spPr>
          <a:xfrm>
            <a:off x="8138160" y="2651760"/>
            <a:ext cx="3108960" cy="228600"/>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Penerima Manfaat Utama (Benefisiari)</a:t>
            </a:r>
            <a:endParaRPr lang="en-US" sz="850" dirty="0"/>
          </a:p>
        </p:txBody>
      </p:sp>
      <p:sp>
        <p:nvSpPr>
          <p:cNvPr id="30" name="Text 28"/>
          <p:cNvSpPr/>
          <p:nvPr/>
        </p:nvSpPr>
        <p:spPr>
          <a:xfrm>
            <a:off x="8183880" y="3063240"/>
            <a:ext cx="3017520" cy="2011680"/>
          </a:xfrm>
          <a:prstGeom prst="rect">
            <a:avLst/>
          </a:prstGeom>
          <a:noFill/>
          <a:ln/>
        </p:spPr>
        <p:txBody>
          <a:bodyPr wrap="square" rtlCol="0" anchor="ctr"/>
          <a:lstStyle/>
          <a:p>
            <a:pPr indent="0" marL="0">
              <a:lnSpc>
                <a:spcPts val="1400"/>
              </a:lnSpc>
              <a:buNone/>
            </a:pPr>
            <a:r>
              <a:rPr lang="en-US" sz="980" dirty="0">
                <a:solidFill>
                  <a:srgbClr val="94A3B8"/>
                </a:solidFill>
                <a:latin typeface="Arial" pitchFamily="34" charset="0"/>
                <a:ea typeface="Arial" pitchFamily="34" charset="-122"/>
                <a:cs typeface="Arial" pitchFamily="34" charset="-120"/>
              </a:rPr>
              <a:t>•  SDM lokal kompeten &amp; tersertifikasi kerja industri</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UMKM &amp; startup teknologi tumbuh mandiri omzetnya</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Produk inovasi kampus terserap pasar &amp; e-Katalog</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Masuknya investasi swasta &amp; serapan kerja baru</a:t>
            </a:r>
            <a:endParaRPr lang="en-US" sz="980" dirty="0"/>
          </a:p>
        </p:txBody>
      </p:sp>
      <p:sp>
        <p:nvSpPr>
          <p:cNvPr id="31" name="Shape 29"/>
          <p:cNvSpPr/>
          <p:nvPr/>
        </p:nvSpPr>
        <p:spPr>
          <a:xfrm>
            <a:off x="731520" y="5349240"/>
            <a:ext cx="10728655" cy="868680"/>
          </a:xfrm>
          <a:prstGeom prst="roundRect">
            <a:avLst>
              <a:gd name="adj" fmla="val 8421"/>
            </a:avLst>
          </a:prstGeom>
          <a:solidFill>
            <a:srgbClr val="0D213F"/>
          </a:solidFill>
          <a:ln w="12700">
            <a:solidFill>
              <a:srgbClr val="1E3A5F"/>
            </a:solidFill>
            <a:prstDash val="solid"/>
          </a:ln>
        </p:spPr>
      </p:sp>
      <p:sp>
        <p:nvSpPr>
          <p:cNvPr id="32" name="Text 30"/>
          <p:cNvSpPr/>
          <p:nvPr/>
        </p:nvSpPr>
        <p:spPr>
          <a:xfrm>
            <a:off x="914400" y="5440680"/>
            <a:ext cx="10362895"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LANDASAN HUKUM KELEMBAGAAN KOTA SURAKARTA:</a:t>
            </a:r>
            <a:endParaRPr lang="en-US" sz="900" dirty="0"/>
          </a:p>
        </p:txBody>
      </p:sp>
      <p:sp>
        <p:nvSpPr>
          <p:cNvPr id="33" name="Text 31"/>
          <p:cNvSpPr/>
          <p:nvPr/>
        </p:nvSpPr>
        <p:spPr>
          <a:xfrm>
            <a:off x="914400" y="5687568"/>
            <a:ext cx="10362895" cy="45720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 Perwali Surakarta No. 15 Tahun 2022: Penetapan kedudukan UPTD KST Solo Technopark sebagai unit pelaksana teknis BRIDA.</a:t>
            </a: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Perwali Surakarta No. 38 Tahun 2022: Penetapan Pola Tata Kelola Badan Layanan Umum Daerah (BLUD) UPTD KST Solo Technopark.</a:t>
            </a:r>
            <a:endParaRPr lang="en-US" sz="9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LANDASAN REGULASI &amp; TATA KELOLA</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FONDASI HUKUM YANG KOKOH: MANDAT &amp; FLEKSIBILITAS BLUD</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Tiga Pilar Regulasi yang Memberi Kewenangan, Fleksibilitas Bisnis Sehat, dan Arah Strategis KST</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03 / 12</a:t>
            </a:r>
            <a:endParaRPr lang="en-US" sz="900" dirty="0"/>
          </a:p>
        </p:txBody>
      </p:sp>
      <p:sp>
        <p:nvSpPr>
          <p:cNvPr id="11" name="Shape 9"/>
          <p:cNvSpPr/>
          <p:nvPr/>
        </p:nvSpPr>
        <p:spPr>
          <a:xfrm>
            <a:off x="731520" y="1325880"/>
            <a:ext cx="3474720" cy="4023360"/>
          </a:xfrm>
          <a:prstGeom prst="roundRect">
            <a:avLst>
              <a:gd name="adj" fmla="val 2105"/>
            </a:avLst>
          </a:prstGeom>
          <a:solidFill>
            <a:srgbClr val="0A192F"/>
          </a:solidFill>
          <a:ln w="12700">
            <a:solidFill>
              <a:srgbClr val="1E3A5F"/>
            </a:solidFill>
            <a:prstDash val="solid"/>
          </a:ln>
        </p:spPr>
      </p:sp>
      <p:sp>
        <p:nvSpPr>
          <p:cNvPr id="12" name="Shape 10"/>
          <p:cNvSpPr/>
          <p:nvPr/>
        </p:nvSpPr>
        <p:spPr>
          <a:xfrm>
            <a:off x="731520" y="1325880"/>
            <a:ext cx="73152" cy="402336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914400" y="1508760"/>
            <a:ext cx="3108960" cy="502920"/>
          </a:xfrm>
          <a:prstGeom prst="roundRect">
            <a:avLst>
              <a:gd name="adj" fmla="val 9091"/>
            </a:avLst>
          </a:prstGeom>
          <a:solidFill>
            <a:srgbClr val="0D213F"/>
          </a:solidFill>
          <a:ln w="12700">
            <a:solidFill>
              <a:srgbClr val="0EA5E9"/>
            </a:solidFill>
            <a:prstDash val="solid"/>
          </a:ln>
        </p:spPr>
      </p:sp>
      <p:sp>
        <p:nvSpPr>
          <p:cNvPr id="14" name="Text 12"/>
          <p:cNvSpPr/>
          <p:nvPr/>
        </p:nvSpPr>
        <p:spPr>
          <a:xfrm>
            <a:off x="914400" y="1536192"/>
            <a:ext cx="3108960" cy="25603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PERMENDAGRI 79/2018</a:t>
            </a:r>
            <a:endParaRPr lang="en-US" sz="1100" dirty="0"/>
          </a:p>
        </p:txBody>
      </p:sp>
      <p:sp>
        <p:nvSpPr>
          <p:cNvPr id="15" name="Text 13"/>
          <p:cNvSpPr/>
          <p:nvPr/>
        </p:nvSpPr>
        <p:spPr>
          <a:xfrm>
            <a:off x="914400" y="1783080"/>
            <a:ext cx="3108960" cy="201168"/>
          </a:xfrm>
          <a:prstGeom prst="rect">
            <a:avLst/>
          </a:prstGeom>
          <a:noFill/>
          <a:ln/>
        </p:spPr>
        <p:txBody>
          <a:bodyPr wrap="square" rtlCol="0" anchor="ctr"/>
          <a:lstStyle/>
          <a:p>
            <a:pPr algn="ctr" indent="0" marL="0">
              <a:buNone/>
            </a:pPr>
            <a:r>
              <a:rPr lang="en-US" sz="850" b="1" dirty="0">
                <a:solidFill>
                  <a:srgbClr val="0EA5E9"/>
                </a:solidFill>
                <a:latin typeface="Arial" pitchFamily="34" charset="0"/>
                <a:ea typeface="Arial" pitchFamily="34" charset="-122"/>
                <a:cs typeface="Arial" pitchFamily="34" charset="-120"/>
              </a:rPr>
              <a:t>Tata Kelola Keuangan BLUD</a:t>
            </a:r>
            <a:endParaRPr lang="en-US" sz="850" dirty="0"/>
          </a:p>
        </p:txBody>
      </p:sp>
      <p:sp>
        <p:nvSpPr>
          <p:cNvPr id="16" name="Shape 14"/>
          <p:cNvSpPr/>
          <p:nvPr/>
        </p:nvSpPr>
        <p:spPr>
          <a:xfrm>
            <a:off x="914400" y="2148840"/>
            <a:ext cx="3108960" cy="1325880"/>
          </a:xfrm>
          <a:prstGeom prst="roundRect">
            <a:avLst>
              <a:gd name="adj" fmla="val 2759"/>
            </a:avLst>
          </a:prstGeom>
          <a:solidFill>
            <a:srgbClr val="070D18"/>
          </a:solidFill>
          <a:ln w="12700">
            <a:solidFill>
              <a:srgbClr val="1E3A5F"/>
            </a:solidFill>
            <a:prstDash val="solid"/>
          </a:ln>
        </p:spPr>
      </p:sp>
      <p:sp>
        <p:nvSpPr>
          <p:cNvPr id="17" name="Text 15"/>
          <p:cNvSpPr/>
          <p:nvPr/>
        </p:nvSpPr>
        <p:spPr>
          <a:xfrm>
            <a:off x="1005840" y="2212848"/>
            <a:ext cx="2926080" cy="1188720"/>
          </a:xfrm>
          <a:prstGeom prst="rect">
            <a:avLst/>
          </a:prstGeom>
          <a:noFill/>
          <a:ln/>
        </p:spPr>
        <p:txBody>
          <a:bodyPr wrap="square" rtlCol="0" anchor="ctr"/>
          <a:lstStyle/>
          <a:p>
            <a:pPr indent="0" marL="0">
              <a:lnSpc>
                <a:spcPts val="1200"/>
              </a:lnSpc>
              <a:buNone/>
            </a:pPr>
            <a:r>
              <a:rPr lang="en-US" sz="880" i="1" dirty="0">
                <a:solidFill>
                  <a:srgbClr val="FDE68A"/>
                </a:solidFill>
                <a:latin typeface="Arial" pitchFamily="34" charset="0"/>
                <a:ea typeface="Arial" pitchFamily="34" charset="-122"/>
                <a:cs typeface="Arial" pitchFamily="34" charset="-120"/>
              </a:rPr>
              <a:t>"Fleksibilitas BLUD adalah keleluasaan dalam pola pengelolaan keuangan dengan menerapkan praktik bisnis yang sehat untuk meningkatkan layanan kepada masyarakat tanpa mencari keuntungan semata."</a:t>
            </a:r>
            <a:endParaRPr lang="en-US" sz="880" dirty="0"/>
          </a:p>
        </p:txBody>
      </p:sp>
      <p:sp>
        <p:nvSpPr>
          <p:cNvPr id="18" name="Text 16"/>
          <p:cNvSpPr/>
          <p:nvPr/>
        </p:nvSpPr>
        <p:spPr>
          <a:xfrm>
            <a:off x="914400" y="3611880"/>
            <a:ext cx="3108960" cy="160020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  Keleluasaan bermitra dengan swasta tanpa birokrasi kaku APBD</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Mengelola dan memutar pendapatan fungsional jasa secara mandiri</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Rekrutmen tenaga ahli &amp; instruktur profesional sesuai kebutuhan pasar</a:t>
            </a:r>
            <a:endParaRPr lang="en-US" sz="920" dirty="0"/>
          </a:p>
        </p:txBody>
      </p:sp>
      <p:sp>
        <p:nvSpPr>
          <p:cNvPr id="19" name="Shape 17"/>
          <p:cNvSpPr/>
          <p:nvPr/>
        </p:nvSpPr>
        <p:spPr>
          <a:xfrm>
            <a:off x="4343400" y="1325880"/>
            <a:ext cx="3474720" cy="4023360"/>
          </a:xfrm>
          <a:prstGeom prst="roundRect">
            <a:avLst>
              <a:gd name="adj" fmla="val 2105"/>
            </a:avLst>
          </a:prstGeom>
          <a:solidFill>
            <a:srgbClr val="0A192F"/>
          </a:solidFill>
          <a:ln w="12700">
            <a:solidFill>
              <a:srgbClr val="1E3A5F"/>
            </a:solidFill>
            <a:prstDash val="solid"/>
          </a:ln>
        </p:spPr>
      </p:sp>
      <p:sp>
        <p:nvSpPr>
          <p:cNvPr id="20" name="Shape 18"/>
          <p:cNvSpPr/>
          <p:nvPr/>
        </p:nvSpPr>
        <p:spPr>
          <a:xfrm>
            <a:off x="4343400" y="1325880"/>
            <a:ext cx="73152" cy="4023360"/>
          </a:xfrm>
          <a:prstGeom prst="roundRect">
            <a:avLst>
              <a:gd name="adj" fmla="val 50000"/>
            </a:avLst>
          </a:prstGeom>
          <a:solidFill>
            <a:srgbClr val="F59E0B"/>
          </a:solidFill>
          <a:ln w="12700">
            <a:solidFill>
              <a:srgbClr val="F59E0B"/>
            </a:solidFill>
            <a:prstDash val="solid"/>
          </a:ln>
        </p:spPr>
      </p:sp>
      <p:sp>
        <p:nvSpPr>
          <p:cNvPr id="21" name="Shape 19"/>
          <p:cNvSpPr/>
          <p:nvPr/>
        </p:nvSpPr>
        <p:spPr>
          <a:xfrm>
            <a:off x="4526280" y="1508760"/>
            <a:ext cx="3108960" cy="502920"/>
          </a:xfrm>
          <a:prstGeom prst="roundRect">
            <a:avLst>
              <a:gd name="adj" fmla="val 9091"/>
            </a:avLst>
          </a:prstGeom>
          <a:solidFill>
            <a:srgbClr val="0D213F"/>
          </a:solidFill>
          <a:ln w="12700">
            <a:solidFill>
              <a:srgbClr val="F59E0B"/>
            </a:solidFill>
            <a:prstDash val="solid"/>
          </a:ln>
        </p:spPr>
      </p:sp>
      <p:sp>
        <p:nvSpPr>
          <p:cNvPr id="22" name="Text 20"/>
          <p:cNvSpPr/>
          <p:nvPr/>
        </p:nvSpPr>
        <p:spPr>
          <a:xfrm>
            <a:off x="4526280" y="1536192"/>
            <a:ext cx="3108960" cy="25603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PERPRES 106/2017</a:t>
            </a:r>
            <a:endParaRPr lang="en-US" sz="1100" dirty="0"/>
          </a:p>
        </p:txBody>
      </p:sp>
      <p:sp>
        <p:nvSpPr>
          <p:cNvPr id="23" name="Text 21"/>
          <p:cNvSpPr/>
          <p:nvPr/>
        </p:nvSpPr>
        <p:spPr>
          <a:xfrm>
            <a:off x="4526280" y="1783080"/>
            <a:ext cx="3108960" cy="201168"/>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Kawasan Sains &amp; Teknologi (KST)</a:t>
            </a:r>
            <a:endParaRPr lang="en-US" sz="850" dirty="0"/>
          </a:p>
        </p:txBody>
      </p:sp>
      <p:sp>
        <p:nvSpPr>
          <p:cNvPr id="24" name="Shape 22"/>
          <p:cNvSpPr/>
          <p:nvPr/>
        </p:nvSpPr>
        <p:spPr>
          <a:xfrm>
            <a:off x="4526280" y="2148840"/>
            <a:ext cx="3108960" cy="1325880"/>
          </a:xfrm>
          <a:prstGeom prst="roundRect">
            <a:avLst>
              <a:gd name="adj" fmla="val 2759"/>
            </a:avLst>
          </a:prstGeom>
          <a:solidFill>
            <a:srgbClr val="070D18"/>
          </a:solidFill>
          <a:ln w="12700">
            <a:solidFill>
              <a:srgbClr val="1E3A5F"/>
            </a:solidFill>
            <a:prstDash val="solid"/>
          </a:ln>
        </p:spPr>
      </p:sp>
      <p:sp>
        <p:nvSpPr>
          <p:cNvPr id="25" name="Text 23"/>
          <p:cNvSpPr/>
          <p:nvPr/>
        </p:nvSpPr>
        <p:spPr>
          <a:xfrm>
            <a:off x="4617720" y="2212848"/>
            <a:ext cx="2926080" cy="1188720"/>
          </a:xfrm>
          <a:prstGeom prst="rect">
            <a:avLst/>
          </a:prstGeom>
          <a:noFill/>
          <a:ln/>
        </p:spPr>
        <p:txBody>
          <a:bodyPr wrap="square" rtlCol="0" anchor="ctr"/>
          <a:lstStyle/>
          <a:p>
            <a:pPr indent="0" marL="0">
              <a:lnSpc>
                <a:spcPts val="1200"/>
              </a:lnSpc>
              <a:buNone/>
            </a:pPr>
            <a:r>
              <a:rPr lang="en-US" sz="880" i="1" dirty="0">
                <a:solidFill>
                  <a:srgbClr val="FDE68A"/>
                </a:solidFill>
                <a:latin typeface="Arial" pitchFamily="34" charset="0"/>
                <a:ea typeface="Arial" pitchFamily="34" charset="-122"/>
                <a:cs typeface="Arial" pitchFamily="34" charset="-120"/>
              </a:rPr>
              <a:t>"KST berfungsi sebagai wahana kerja sama riset berkelanjutan antara Pemerintah, PT, dan Industri, wajib menyediakan 4 layanan: Teknis, Teknologi, Inkubasi, &amp; Pendukung."</a:t>
            </a:r>
            <a:endParaRPr lang="en-US" sz="880" dirty="0"/>
          </a:p>
        </p:txBody>
      </p:sp>
      <p:sp>
        <p:nvSpPr>
          <p:cNvPr id="26" name="Text 24"/>
          <p:cNvSpPr/>
          <p:nvPr/>
        </p:nvSpPr>
        <p:spPr>
          <a:xfrm>
            <a:off x="4526280" y="3611880"/>
            <a:ext cx="3108960" cy="160020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  Mandat nasional fasilitasi hilirisasi &amp; spin-off perusahaan riset</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Kewajiban menyediakan 4 pilar layanan iptek terintegrasi</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Landasan kolaborasi hexahelix multi-stakeholder formal</a:t>
            </a:r>
            <a:endParaRPr lang="en-US" sz="920" dirty="0"/>
          </a:p>
        </p:txBody>
      </p:sp>
      <p:sp>
        <p:nvSpPr>
          <p:cNvPr id="27" name="Shape 25"/>
          <p:cNvSpPr/>
          <p:nvPr/>
        </p:nvSpPr>
        <p:spPr>
          <a:xfrm>
            <a:off x="7955280" y="1325880"/>
            <a:ext cx="3474720" cy="4023360"/>
          </a:xfrm>
          <a:prstGeom prst="roundRect">
            <a:avLst>
              <a:gd name="adj" fmla="val 2105"/>
            </a:avLst>
          </a:prstGeom>
          <a:solidFill>
            <a:srgbClr val="0A192F"/>
          </a:solidFill>
          <a:ln w="12700">
            <a:solidFill>
              <a:srgbClr val="1E3A5F"/>
            </a:solidFill>
            <a:prstDash val="solid"/>
          </a:ln>
        </p:spPr>
      </p:sp>
      <p:sp>
        <p:nvSpPr>
          <p:cNvPr id="28" name="Shape 26"/>
          <p:cNvSpPr/>
          <p:nvPr/>
        </p:nvSpPr>
        <p:spPr>
          <a:xfrm>
            <a:off x="7955280" y="1325880"/>
            <a:ext cx="73152" cy="4023360"/>
          </a:xfrm>
          <a:prstGeom prst="roundRect">
            <a:avLst>
              <a:gd name="adj" fmla="val 50000"/>
            </a:avLst>
          </a:prstGeom>
          <a:solidFill>
            <a:srgbClr val="10B981"/>
          </a:solidFill>
          <a:ln w="12700">
            <a:solidFill>
              <a:srgbClr val="10B981"/>
            </a:solidFill>
            <a:prstDash val="solid"/>
          </a:ln>
        </p:spPr>
      </p:sp>
      <p:sp>
        <p:nvSpPr>
          <p:cNvPr id="29" name="Shape 27"/>
          <p:cNvSpPr/>
          <p:nvPr/>
        </p:nvSpPr>
        <p:spPr>
          <a:xfrm>
            <a:off x="8138160" y="1508760"/>
            <a:ext cx="3108960" cy="502920"/>
          </a:xfrm>
          <a:prstGeom prst="roundRect">
            <a:avLst>
              <a:gd name="adj" fmla="val 9091"/>
            </a:avLst>
          </a:prstGeom>
          <a:solidFill>
            <a:srgbClr val="0D213F"/>
          </a:solidFill>
          <a:ln w="12700">
            <a:solidFill>
              <a:srgbClr val="10B981"/>
            </a:solidFill>
            <a:prstDash val="solid"/>
          </a:ln>
        </p:spPr>
      </p:sp>
      <p:sp>
        <p:nvSpPr>
          <p:cNvPr id="30" name="Text 28"/>
          <p:cNvSpPr/>
          <p:nvPr/>
        </p:nvSpPr>
        <p:spPr>
          <a:xfrm>
            <a:off x="8138160" y="1536192"/>
            <a:ext cx="3108960" cy="25603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PERWALI 15 &amp; 38/2022</a:t>
            </a:r>
            <a:endParaRPr lang="en-US" sz="1100" dirty="0"/>
          </a:p>
        </p:txBody>
      </p:sp>
      <p:sp>
        <p:nvSpPr>
          <p:cNvPr id="31" name="Text 29"/>
          <p:cNvSpPr/>
          <p:nvPr/>
        </p:nvSpPr>
        <p:spPr>
          <a:xfrm>
            <a:off x="8138160" y="1783080"/>
            <a:ext cx="3108960" cy="201168"/>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Struktur UPTD &amp; Pola Tata Kelola</a:t>
            </a:r>
            <a:endParaRPr lang="en-US" sz="850" dirty="0"/>
          </a:p>
        </p:txBody>
      </p:sp>
      <p:sp>
        <p:nvSpPr>
          <p:cNvPr id="32" name="Shape 30"/>
          <p:cNvSpPr/>
          <p:nvPr/>
        </p:nvSpPr>
        <p:spPr>
          <a:xfrm>
            <a:off x="8138160" y="2148840"/>
            <a:ext cx="3108960" cy="1325880"/>
          </a:xfrm>
          <a:prstGeom prst="roundRect">
            <a:avLst>
              <a:gd name="adj" fmla="val 2759"/>
            </a:avLst>
          </a:prstGeom>
          <a:solidFill>
            <a:srgbClr val="070D18"/>
          </a:solidFill>
          <a:ln w="12700">
            <a:solidFill>
              <a:srgbClr val="1E3A5F"/>
            </a:solidFill>
            <a:prstDash val="solid"/>
          </a:ln>
        </p:spPr>
      </p:sp>
      <p:sp>
        <p:nvSpPr>
          <p:cNvPr id="33" name="Text 31"/>
          <p:cNvSpPr/>
          <p:nvPr/>
        </p:nvSpPr>
        <p:spPr>
          <a:xfrm>
            <a:off x="8229600" y="2212848"/>
            <a:ext cx="2926080" cy="1188720"/>
          </a:xfrm>
          <a:prstGeom prst="rect">
            <a:avLst/>
          </a:prstGeom>
          <a:noFill/>
          <a:ln/>
        </p:spPr>
        <p:txBody>
          <a:bodyPr wrap="square" rtlCol="0" anchor="ctr"/>
          <a:lstStyle/>
          <a:p>
            <a:pPr indent="0" marL="0">
              <a:lnSpc>
                <a:spcPts val="1200"/>
              </a:lnSpc>
              <a:buNone/>
            </a:pPr>
            <a:r>
              <a:rPr lang="en-US" sz="880" i="1" dirty="0">
                <a:solidFill>
                  <a:srgbClr val="FDE68A"/>
                </a:solidFill>
                <a:latin typeface="Arial" pitchFamily="34" charset="0"/>
                <a:ea typeface="Arial" pitchFamily="34" charset="-122"/>
                <a:cs typeface="Arial" pitchFamily="34" charset="-120"/>
              </a:rPr>
              <a:t>"Menetapkan struktur UPTD KST Solo Technopark dalam naungan BRIDA Kota Surakarta dengan pola tata kelola BLUD profesional berorientasi layanan publik."</a:t>
            </a:r>
            <a:endParaRPr lang="en-US" sz="880" dirty="0"/>
          </a:p>
        </p:txBody>
      </p:sp>
      <p:sp>
        <p:nvSpPr>
          <p:cNvPr id="34" name="Text 32"/>
          <p:cNvSpPr/>
          <p:nvPr/>
        </p:nvSpPr>
        <p:spPr>
          <a:xfrm>
            <a:off x="8138160" y="3611880"/>
            <a:ext cx="3108960" cy="160020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  Payung hukum operasional tingkat kota yang sah dan mengikat</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Pembagian peran teknis yang presisi antara BRIDA dan STP</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Dasar legalitas pemanfaatan aset kawasan &amp; kerjasama industri</a:t>
            </a:r>
            <a:endParaRPr lang="en-US" sz="920" dirty="0"/>
          </a:p>
        </p:txBody>
      </p:sp>
      <p:sp>
        <p:nvSpPr>
          <p:cNvPr id="35" name="Shape 33"/>
          <p:cNvSpPr/>
          <p:nvPr/>
        </p:nvSpPr>
        <p:spPr>
          <a:xfrm>
            <a:off x="731520" y="5486400"/>
            <a:ext cx="10728655" cy="731520"/>
          </a:xfrm>
          <a:prstGeom prst="roundRect">
            <a:avLst>
              <a:gd name="adj" fmla="val 10000"/>
            </a:avLst>
          </a:prstGeom>
          <a:solidFill>
            <a:srgbClr val="0D213F"/>
          </a:solidFill>
          <a:ln w="12700">
            <a:solidFill>
              <a:srgbClr val="0EA5E9"/>
            </a:solidFill>
            <a:prstDash val="solid"/>
          </a:ln>
        </p:spPr>
      </p:sp>
      <p:sp>
        <p:nvSpPr>
          <p:cNvPr id="36" name="Text 34"/>
          <p:cNvSpPr/>
          <p:nvPr/>
        </p:nvSpPr>
        <p:spPr>
          <a:xfrm>
            <a:off x="914400" y="5486400"/>
            <a:ext cx="10362895" cy="731520"/>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KESIMPULAN YURIDIS: Solo Technopark telah memiliki legitimasi hukum lengkap dari tingkat nasional (Perpres &amp; Permendagri) hingga regulasi kepala daerah (Perwali) untuk bermanuver cepat, profesional, dan akuntabel.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MANDAT LAYANAN PERPRES 106/2017</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EMPAT PILAR LAYANAN TERINTEGRASI: MEMENUHI MANDAT KST NASIONAL</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Portofolio Layanan Terintegrasi yang Menjawab Kebutuhan Industri Spesialis &amp; Masyarakat Kota Surakarta</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04 / 12</a:t>
            </a:r>
            <a:endParaRPr lang="en-US" sz="900" dirty="0"/>
          </a:p>
        </p:txBody>
      </p:sp>
      <p:sp>
        <p:nvSpPr>
          <p:cNvPr id="11" name="Shape 9"/>
          <p:cNvSpPr/>
          <p:nvPr/>
        </p:nvSpPr>
        <p:spPr>
          <a:xfrm>
            <a:off x="731520" y="1325880"/>
            <a:ext cx="5257800" cy="2148840"/>
          </a:xfrm>
          <a:prstGeom prst="roundRect">
            <a:avLst>
              <a:gd name="adj" fmla="val 3404"/>
            </a:avLst>
          </a:prstGeom>
          <a:solidFill>
            <a:srgbClr val="0A192F"/>
          </a:solidFill>
          <a:ln w="12700">
            <a:solidFill>
              <a:srgbClr val="1E3A5F"/>
            </a:solidFill>
            <a:prstDash val="solid"/>
          </a:ln>
        </p:spPr>
      </p:sp>
      <p:sp>
        <p:nvSpPr>
          <p:cNvPr id="12" name="Shape 10"/>
          <p:cNvSpPr/>
          <p:nvPr/>
        </p:nvSpPr>
        <p:spPr>
          <a:xfrm>
            <a:off x="731520" y="1325880"/>
            <a:ext cx="73152" cy="214884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35608"/>
            <a:ext cx="4983480" cy="384048"/>
          </a:xfrm>
          <a:prstGeom prst="roundRect">
            <a:avLst>
              <a:gd name="adj" fmla="val 11905"/>
            </a:avLst>
          </a:prstGeom>
          <a:solidFill>
            <a:srgbClr val="0D213F"/>
          </a:solidFill>
          <a:ln w="12700">
            <a:solidFill>
              <a:srgbClr val="0EA5E9"/>
            </a:solidFill>
            <a:prstDash val="solid"/>
          </a:ln>
        </p:spPr>
      </p:sp>
      <p:sp>
        <p:nvSpPr>
          <p:cNvPr id="14" name="Text 12"/>
          <p:cNvSpPr/>
          <p:nvPr/>
        </p:nvSpPr>
        <p:spPr>
          <a:xfrm>
            <a:off x="960120" y="1435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1: LAYANAN TEKNIS (DIKLAT VOKASI INDUSTRI)</a:t>
            </a:r>
            <a:endParaRPr lang="en-US" sz="980" dirty="0"/>
          </a:p>
        </p:txBody>
      </p:sp>
      <p:sp>
        <p:nvSpPr>
          <p:cNvPr id="15" name="Text 13"/>
          <p:cNvSpPr/>
          <p:nvPr/>
        </p:nvSpPr>
        <p:spPr>
          <a:xfrm>
            <a:off x="96012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Mekanik, Otomasi &amp; Desain Manufaktur Presisi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Welding Intensif (Pengelasan Konstruksi &amp; Pipa)</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OGSCI: Oil, Gas, Coal, Shipbuilding &amp; Infra Training</a:t>
            </a:r>
            <a:endParaRPr lang="en-US" sz="880" dirty="0"/>
          </a:p>
        </p:txBody>
      </p:sp>
      <p:sp>
        <p:nvSpPr>
          <p:cNvPr id="16" name="Text 14"/>
          <p:cNvSpPr/>
          <p:nvPr/>
        </p:nvSpPr>
        <p:spPr>
          <a:xfrm>
            <a:off x="342900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Underwater Wet Welding (Keahlian Langka Nasional)</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Teknologi Kendaraan Listrik (EV Conversion Lab)</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Cyber Security &amp; Artificial Intelligence Practitioner</a:t>
            </a:r>
            <a:endParaRPr lang="en-US" sz="880" dirty="0"/>
          </a:p>
        </p:txBody>
      </p:sp>
      <p:sp>
        <p:nvSpPr>
          <p:cNvPr id="17" name="Shape 15"/>
          <p:cNvSpPr/>
          <p:nvPr/>
        </p:nvSpPr>
        <p:spPr>
          <a:xfrm>
            <a:off x="6172200" y="1325880"/>
            <a:ext cx="5257800" cy="2148840"/>
          </a:xfrm>
          <a:prstGeom prst="roundRect">
            <a:avLst>
              <a:gd name="adj" fmla="val 3404"/>
            </a:avLst>
          </a:prstGeom>
          <a:solidFill>
            <a:srgbClr val="0A192F"/>
          </a:solidFill>
          <a:ln w="12700">
            <a:solidFill>
              <a:srgbClr val="1E3A5F"/>
            </a:solidFill>
            <a:prstDash val="solid"/>
          </a:ln>
        </p:spPr>
      </p:sp>
      <p:sp>
        <p:nvSpPr>
          <p:cNvPr id="18" name="Shape 16"/>
          <p:cNvSpPr/>
          <p:nvPr/>
        </p:nvSpPr>
        <p:spPr>
          <a:xfrm>
            <a:off x="6172200" y="1325880"/>
            <a:ext cx="73152" cy="2148840"/>
          </a:xfrm>
          <a:prstGeom prst="roundRect">
            <a:avLst>
              <a:gd name="adj" fmla="val 50000"/>
            </a:avLst>
          </a:prstGeom>
          <a:solidFill>
            <a:srgbClr val="F59E0B"/>
          </a:solidFill>
          <a:ln w="12700">
            <a:solidFill>
              <a:srgbClr val="F59E0B"/>
            </a:solidFill>
            <a:prstDash val="solid"/>
          </a:ln>
        </p:spPr>
      </p:sp>
      <p:sp>
        <p:nvSpPr>
          <p:cNvPr id="19" name="Shape 17"/>
          <p:cNvSpPr/>
          <p:nvPr/>
        </p:nvSpPr>
        <p:spPr>
          <a:xfrm>
            <a:off x="6309360" y="1435608"/>
            <a:ext cx="4983480" cy="384048"/>
          </a:xfrm>
          <a:prstGeom prst="roundRect">
            <a:avLst>
              <a:gd name="adj" fmla="val 11905"/>
            </a:avLst>
          </a:prstGeom>
          <a:solidFill>
            <a:srgbClr val="0D213F"/>
          </a:solidFill>
          <a:ln w="12700">
            <a:solidFill>
              <a:srgbClr val="F59E0B"/>
            </a:solidFill>
            <a:prstDash val="solid"/>
          </a:ln>
        </p:spPr>
      </p:sp>
      <p:sp>
        <p:nvSpPr>
          <p:cNvPr id="20" name="Text 18"/>
          <p:cNvSpPr/>
          <p:nvPr/>
        </p:nvSpPr>
        <p:spPr>
          <a:xfrm>
            <a:off x="6400800" y="1435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2: PENGEMBANGAN TEKNOLOGI (REKAYASA MANUFAKTUR)</a:t>
            </a:r>
            <a:endParaRPr lang="en-US" sz="980" dirty="0"/>
          </a:p>
        </p:txBody>
      </p:sp>
      <p:sp>
        <p:nvSpPr>
          <p:cNvPr id="21" name="Text 19"/>
          <p:cNvSpPr/>
          <p:nvPr/>
        </p:nvSpPr>
        <p:spPr>
          <a:xfrm>
            <a:off x="640080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Jasa Layanan Rekayasa Industri &amp; Permesinan Presisi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Produksi Komponen Presisi (Precision Parts Industri)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Pembuatan &amp; Uji Prototipe IKM/UKM Kota Surakarta</a:t>
            </a:r>
            <a:endParaRPr lang="en-US" sz="880" dirty="0"/>
          </a:p>
        </p:txBody>
      </p:sp>
      <p:sp>
        <p:nvSpPr>
          <p:cNvPr id="22" name="Text 20"/>
          <p:cNvSpPr/>
          <p:nvPr/>
        </p:nvSpPr>
        <p:spPr>
          <a:xfrm>
            <a:off x="886968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Non-Destructive Testing: Uji Penetrant Testing (NDT)</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Konsultasi Laboratorium Terpadu &amp; Data Center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Standarisasi Mutu &amp; Sertifikasi TKDN / SNI Produk</a:t>
            </a:r>
            <a:endParaRPr lang="en-US" sz="880" dirty="0"/>
          </a:p>
        </p:txBody>
      </p:sp>
      <p:sp>
        <p:nvSpPr>
          <p:cNvPr id="23" name="Shape 21"/>
          <p:cNvSpPr/>
          <p:nvPr/>
        </p:nvSpPr>
        <p:spPr>
          <a:xfrm>
            <a:off x="731520" y="3611880"/>
            <a:ext cx="5257800" cy="2148840"/>
          </a:xfrm>
          <a:prstGeom prst="roundRect">
            <a:avLst>
              <a:gd name="adj" fmla="val 3404"/>
            </a:avLst>
          </a:prstGeom>
          <a:solidFill>
            <a:srgbClr val="0A192F"/>
          </a:solidFill>
          <a:ln w="12700">
            <a:solidFill>
              <a:srgbClr val="1E3A5F"/>
            </a:solidFill>
            <a:prstDash val="solid"/>
          </a:ln>
        </p:spPr>
      </p:sp>
      <p:sp>
        <p:nvSpPr>
          <p:cNvPr id="24" name="Shape 22"/>
          <p:cNvSpPr/>
          <p:nvPr/>
        </p:nvSpPr>
        <p:spPr>
          <a:xfrm>
            <a:off x="731520" y="3611880"/>
            <a:ext cx="73152" cy="2148840"/>
          </a:xfrm>
          <a:prstGeom prst="roundRect">
            <a:avLst>
              <a:gd name="adj" fmla="val 50000"/>
            </a:avLst>
          </a:prstGeom>
          <a:solidFill>
            <a:srgbClr val="10B981"/>
          </a:solidFill>
          <a:ln w="12700">
            <a:solidFill>
              <a:srgbClr val="10B981"/>
            </a:solidFill>
            <a:prstDash val="solid"/>
          </a:ln>
        </p:spPr>
      </p:sp>
      <p:sp>
        <p:nvSpPr>
          <p:cNvPr id="25" name="Shape 23"/>
          <p:cNvSpPr/>
          <p:nvPr/>
        </p:nvSpPr>
        <p:spPr>
          <a:xfrm>
            <a:off x="868680" y="3721608"/>
            <a:ext cx="4983480" cy="384048"/>
          </a:xfrm>
          <a:prstGeom prst="roundRect">
            <a:avLst>
              <a:gd name="adj" fmla="val 11905"/>
            </a:avLst>
          </a:prstGeom>
          <a:solidFill>
            <a:srgbClr val="0D213F"/>
          </a:solidFill>
          <a:ln w="12700">
            <a:solidFill>
              <a:srgbClr val="10B981"/>
            </a:solidFill>
            <a:prstDash val="solid"/>
          </a:ln>
        </p:spPr>
      </p:sp>
      <p:sp>
        <p:nvSpPr>
          <p:cNvPr id="26" name="Text 24"/>
          <p:cNvSpPr/>
          <p:nvPr/>
        </p:nvSpPr>
        <p:spPr>
          <a:xfrm>
            <a:off x="960120" y="3721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3: LAYANAN INKUBASI (HILIRISASI KE PASAR)</a:t>
            </a:r>
            <a:endParaRPr lang="en-US" sz="980" dirty="0"/>
          </a:p>
        </p:txBody>
      </p:sp>
      <p:sp>
        <p:nvSpPr>
          <p:cNvPr id="27" name="Text 25"/>
          <p:cNvSpPr/>
          <p:nvPr/>
        </p:nvSpPr>
        <p:spPr>
          <a:xfrm>
            <a:off x="96012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Pra-Inkubasi &amp; Inkubasi Bisnis Startup Berbasis Riset</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Fasilitasi HKI, Paten Produk, &amp; Hak Cipta Inovator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Hilirisasi Riset Perguruan Tinggi ke Pasar Industri</a:t>
            </a:r>
            <a:endParaRPr lang="en-US" sz="880" dirty="0"/>
          </a:p>
        </p:txBody>
      </p:sp>
      <p:sp>
        <p:nvSpPr>
          <p:cNvPr id="28" name="Text 26"/>
          <p:cNvSpPr/>
          <p:nvPr/>
        </p:nvSpPr>
        <p:spPr>
          <a:xfrm>
            <a:off x="342900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National Cyber Security Hub &amp; AI Experience Center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Digital Technopark, Gaming Hub, &amp; GoTo UMKM Center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Co-Working Space, Virtual Office &amp; Akses Permodalan</a:t>
            </a:r>
            <a:endParaRPr lang="en-US" sz="880" dirty="0"/>
          </a:p>
        </p:txBody>
      </p:sp>
      <p:sp>
        <p:nvSpPr>
          <p:cNvPr id="29" name="Shape 27"/>
          <p:cNvSpPr/>
          <p:nvPr/>
        </p:nvSpPr>
        <p:spPr>
          <a:xfrm>
            <a:off x="6172200" y="3611880"/>
            <a:ext cx="5257800" cy="2148840"/>
          </a:xfrm>
          <a:prstGeom prst="roundRect">
            <a:avLst>
              <a:gd name="adj" fmla="val 3404"/>
            </a:avLst>
          </a:prstGeom>
          <a:solidFill>
            <a:srgbClr val="0A192F"/>
          </a:solidFill>
          <a:ln w="12700">
            <a:solidFill>
              <a:srgbClr val="1E3A5F"/>
            </a:solidFill>
            <a:prstDash val="solid"/>
          </a:ln>
        </p:spPr>
      </p:sp>
      <p:sp>
        <p:nvSpPr>
          <p:cNvPr id="30" name="Shape 28"/>
          <p:cNvSpPr/>
          <p:nvPr/>
        </p:nvSpPr>
        <p:spPr>
          <a:xfrm>
            <a:off x="6172200" y="3611880"/>
            <a:ext cx="73152" cy="2148840"/>
          </a:xfrm>
          <a:prstGeom prst="roundRect">
            <a:avLst>
              <a:gd name="adj" fmla="val 50000"/>
            </a:avLst>
          </a:prstGeom>
          <a:solidFill>
            <a:srgbClr val="38BDF8"/>
          </a:solidFill>
          <a:ln w="12700">
            <a:solidFill>
              <a:srgbClr val="38BDF8"/>
            </a:solidFill>
            <a:prstDash val="solid"/>
          </a:ln>
        </p:spPr>
      </p:sp>
      <p:sp>
        <p:nvSpPr>
          <p:cNvPr id="31" name="Shape 29"/>
          <p:cNvSpPr/>
          <p:nvPr/>
        </p:nvSpPr>
        <p:spPr>
          <a:xfrm>
            <a:off x="6309360" y="3721608"/>
            <a:ext cx="4983480" cy="384048"/>
          </a:xfrm>
          <a:prstGeom prst="roundRect">
            <a:avLst>
              <a:gd name="adj" fmla="val 11905"/>
            </a:avLst>
          </a:prstGeom>
          <a:solidFill>
            <a:srgbClr val="0D213F"/>
          </a:solidFill>
          <a:ln w="12700">
            <a:solidFill>
              <a:srgbClr val="38BDF8"/>
            </a:solidFill>
            <a:prstDash val="solid"/>
          </a:ln>
        </p:spPr>
      </p:sp>
      <p:sp>
        <p:nvSpPr>
          <p:cNvPr id="32" name="Text 30"/>
          <p:cNvSpPr/>
          <p:nvPr/>
        </p:nvSpPr>
        <p:spPr>
          <a:xfrm>
            <a:off x="6400800" y="3721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4: LAYANAN PENDUKUNG (COMMUNITY &amp; EDUCATION)</a:t>
            </a:r>
            <a:endParaRPr lang="en-US" sz="980" dirty="0"/>
          </a:p>
        </p:txBody>
      </p:sp>
      <p:sp>
        <p:nvSpPr>
          <p:cNvPr id="33" name="Text 31"/>
          <p:cNvSpPr/>
          <p:nvPr/>
        </p:nvSpPr>
        <p:spPr>
          <a:xfrm>
            <a:off x="640080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Prakerin Kerja Industri Siswa SMK Se-Solo Raya</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Tempat Uji Kompetensi (TUK Mandiri) &amp; Sertifikasi JFT</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Solo Science Center (Pusat Edukasi IPTEK &amp; Wisata Sains)</a:t>
            </a:r>
            <a:endParaRPr lang="en-US" sz="880" dirty="0"/>
          </a:p>
        </p:txBody>
      </p:sp>
      <p:sp>
        <p:nvSpPr>
          <p:cNvPr id="34" name="Text 32"/>
          <p:cNvSpPr/>
          <p:nvPr/>
        </p:nvSpPr>
        <p:spPr>
          <a:xfrm>
            <a:off x="886968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Pemanfaatan Sarana Kawasan, Gedung Expo &amp; MICE</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Kemitraan Komunitas Kreatif &amp; Kunjungan Industri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Pusat Kolaborasi Multipihak Pemkot Surakarta</a:t>
            </a:r>
            <a:endParaRPr lang="en-US" sz="880" dirty="0"/>
          </a:p>
        </p:txBody>
      </p:sp>
      <p:sp>
        <p:nvSpPr>
          <p:cNvPr id="35" name="Shape 33"/>
          <p:cNvSpPr/>
          <p:nvPr/>
        </p:nvSpPr>
        <p:spPr>
          <a:xfrm>
            <a:off x="731520" y="5925312"/>
            <a:ext cx="10728655" cy="411480"/>
          </a:xfrm>
          <a:prstGeom prst="roundRect">
            <a:avLst>
              <a:gd name="adj" fmla="val 17778"/>
            </a:avLst>
          </a:prstGeom>
          <a:solidFill>
            <a:srgbClr val="0D213F"/>
          </a:solidFill>
          <a:ln w="12700">
            <a:solidFill>
              <a:srgbClr val="1E3A5F"/>
            </a:solidFill>
            <a:prstDash val="solid"/>
          </a:ln>
        </p:spPr>
      </p:sp>
      <p:sp>
        <p:nvSpPr>
          <p:cNvPr id="36" name="Text 34"/>
          <p:cNvSpPr/>
          <p:nvPr/>
        </p:nvSpPr>
        <p:spPr>
          <a:xfrm>
            <a:off x="914400" y="5925312"/>
            <a:ext cx="10362895" cy="411480"/>
          </a:xfrm>
          <a:prstGeom prst="rect">
            <a:avLst/>
          </a:prstGeom>
          <a:noFill/>
          <a:ln/>
        </p:spPr>
        <p:txBody>
          <a:bodyPr wrap="square" rtlCol="0" anchor="ctr"/>
          <a:lstStyle/>
          <a:p>
            <a:pPr algn="ctr" indent="0" marL="0">
              <a:buNone/>
            </a:pPr>
            <a:r>
              <a:rPr lang="en-US" sz="950" b="1" i="1" dirty="0">
                <a:solidFill>
                  <a:srgbClr val="F59E0B"/>
                </a:solidFill>
                <a:latin typeface="Arial" pitchFamily="34" charset="0"/>
                <a:ea typeface="Arial" pitchFamily="34" charset="-122"/>
                <a:cs typeface="Arial" pitchFamily="34" charset="-120"/>
              </a:rPr>
              <a:t>"BLUD menggeser paradigma: Dari sekadar pengelolaan kawasan fisik menjadi penyedia solusi teknologi yang responsif terhadap kebutuhan industri dan masyarakat."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MEKANISME HILIRISASI INOVASI</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PIPELINE HILIRISASI RISET: DARI LABORATORIUM MENUJU PASAR NYATA</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Solo Technopark sebagai Jembatan: Menghubungkan Riset Kampus Menuju Produk Bernilai Ekonomi bagi Industri</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05 / 12</a:t>
            </a:r>
            <a:endParaRPr lang="en-US" sz="900" dirty="0"/>
          </a:p>
        </p:txBody>
      </p:sp>
      <p:sp>
        <p:nvSpPr>
          <p:cNvPr id="11" name="Shape 9"/>
          <p:cNvSpPr/>
          <p:nvPr/>
        </p:nvSpPr>
        <p:spPr>
          <a:xfrm>
            <a:off x="731520" y="1280160"/>
            <a:ext cx="2057400" cy="2103120"/>
          </a:xfrm>
          <a:prstGeom prst="roundRect">
            <a:avLst>
              <a:gd name="adj" fmla="val 3556"/>
            </a:avLst>
          </a:prstGeom>
          <a:solidFill>
            <a:srgbClr val="0A192F"/>
          </a:solidFill>
          <a:ln w="12700">
            <a:solidFill>
              <a:srgbClr val="1E3A5F"/>
            </a:solidFill>
            <a:prstDash val="solid"/>
          </a:ln>
        </p:spPr>
      </p:sp>
      <p:sp>
        <p:nvSpPr>
          <p:cNvPr id="12" name="Shape 10"/>
          <p:cNvSpPr/>
          <p:nvPr/>
        </p:nvSpPr>
        <p:spPr>
          <a:xfrm>
            <a:off x="731520" y="1280160"/>
            <a:ext cx="73152" cy="210312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868680" y="1371600"/>
            <a:ext cx="731520" cy="320040"/>
          </a:xfrm>
          <a:prstGeom prst="rect">
            <a:avLst/>
          </a:prstGeom>
          <a:noFill/>
          <a:ln/>
        </p:spPr>
        <p:txBody>
          <a:bodyPr wrap="square" rtlCol="0" anchor="ctr"/>
          <a:lstStyle/>
          <a:p>
            <a:pPr indent="0" marL="0">
              <a:buNone/>
            </a:pPr>
            <a:r>
              <a:rPr lang="en-US" sz="1600" b="1" dirty="0">
                <a:solidFill>
                  <a:srgbClr val="0EA5E9"/>
                </a:solidFill>
                <a:latin typeface="Arial" pitchFamily="34" charset="0"/>
                <a:ea typeface="Arial" pitchFamily="34" charset="-122"/>
                <a:cs typeface="Arial" pitchFamily="34" charset="-120"/>
              </a:rPr>
              <a:t>01</a:t>
            </a:r>
            <a:endParaRPr lang="en-US" sz="1600" dirty="0"/>
          </a:p>
        </p:txBody>
      </p:sp>
      <p:sp>
        <p:nvSpPr>
          <p:cNvPr id="14" name="Text 12"/>
          <p:cNvSpPr/>
          <p:nvPr/>
        </p:nvSpPr>
        <p:spPr>
          <a:xfrm>
            <a:off x="1554480" y="1417320"/>
            <a:ext cx="1143000" cy="22860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Kampus &amp; Litbang</a:t>
            </a:r>
            <a:endParaRPr lang="en-US" sz="800" dirty="0"/>
          </a:p>
        </p:txBody>
      </p:sp>
      <p:sp>
        <p:nvSpPr>
          <p:cNvPr id="15" name="Text 13"/>
          <p:cNvSpPr/>
          <p:nvPr/>
        </p:nvSpPr>
        <p:spPr>
          <a:xfrm>
            <a:off x="868680" y="1737360"/>
            <a:ext cx="1828800" cy="4114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RISET &amp; INVENSI</a:t>
            </a:r>
            <a:endParaRPr lang="en-US" sz="1000" dirty="0"/>
          </a:p>
        </p:txBody>
      </p:sp>
      <p:sp>
        <p:nvSpPr>
          <p:cNvPr id="16" name="Text 14"/>
          <p:cNvSpPr/>
          <p:nvPr/>
        </p:nvSpPr>
        <p:spPr>
          <a:xfrm>
            <a:off x="868680" y="2194560"/>
            <a:ext cx="1828800" cy="1051560"/>
          </a:xfrm>
          <a:prstGeom prst="rect">
            <a:avLst/>
          </a:prstGeom>
          <a:noFill/>
          <a:ln/>
        </p:spPr>
        <p:txBody>
          <a:bodyPr wrap="square" rtlCol="0" anchor="ctr"/>
          <a:lstStyle/>
          <a:p>
            <a:pPr indent="0" marL="0">
              <a:lnSpc>
                <a:spcPts val="1100"/>
              </a:lnSpc>
              <a:buNone/>
            </a:pPr>
            <a:r>
              <a:rPr lang="en-US" sz="850" dirty="0">
                <a:solidFill>
                  <a:srgbClr val="94A3B8"/>
                </a:solidFill>
                <a:latin typeface="Arial" pitchFamily="34" charset="0"/>
                <a:ea typeface="Arial" pitchFamily="34" charset="-122"/>
                <a:cs typeface="Arial" pitchFamily="34" charset="-120"/>
              </a:rPr>
              <a:t>Invensi UNS, UMS, ISI, Poltek Solo Raya. Dosen, peneliti, dan mahasiswa berinovasi.</a:t>
            </a:r>
            <a:endParaRPr lang="en-US" sz="850" dirty="0"/>
          </a:p>
        </p:txBody>
      </p:sp>
      <p:sp>
        <p:nvSpPr>
          <p:cNvPr id="17" name="Text 15"/>
          <p:cNvSpPr/>
          <p:nvPr/>
        </p:nvSpPr>
        <p:spPr>
          <a:xfrm>
            <a:off x="2761488" y="2103120"/>
            <a:ext cx="182880" cy="365760"/>
          </a:xfrm>
          <a:prstGeom prst="rect">
            <a:avLst/>
          </a:prstGeom>
          <a:noFill/>
          <a:ln/>
        </p:spPr>
        <p:txBody>
          <a:bodyPr wrap="square" rtlCol="0" anchor="ctr"/>
          <a:lstStyle/>
          <a:p>
            <a:pPr algn="ctr" indent="0" marL="0">
              <a:buNone/>
            </a:pPr>
            <a:r>
              <a:rPr lang="en-US" sz="1200" b="1" dirty="0">
                <a:solidFill>
                  <a:srgbClr val="0EA5E9"/>
                </a:solidFill>
                <a:latin typeface="Arial" pitchFamily="34" charset="0"/>
                <a:ea typeface="Arial" pitchFamily="34" charset="-122"/>
                <a:cs typeface="Arial" pitchFamily="34" charset="-120"/>
              </a:rPr>
              <a:t>➔</a:t>
            </a:r>
            <a:endParaRPr lang="en-US" sz="1200" dirty="0"/>
          </a:p>
        </p:txBody>
      </p:sp>
      <p:sp>
        <p:nvSpPr>
          <p:cNvPr id="18" name="Shape 16"/>
          <p:cNvSpPr/>
          <p:nvPr/>
        </p:nvSpPr>
        <p:spPr>
          <a:xfrm>
            <a:off x="2898648" y="1280160"/>
            <a:ext cx="2057400" cy="2103120"/>
          </a:xfrm>
          <a:prstGeom prst="roundRect">
            <a:avLst>
              <a:gd name="adj" fmla="val 3556"/>
            </a:avLst>
          </a:prstGeom>
          <a:solidFill>
            <a:srgbClr val="0A192F"/>
          </a:solidFill>
          <a:ln w="12700">
            <a:solidFill>
              <a:srgbClr val="1E3A5F"/>
            </a:solidFill>
            <a:prstDash val="solid"/>
          </a:ln>
        </p:spPr>
      </p:sp>
      <p:sp>
        <p:nvSpPr>
          <p:cNvPr id="19" name="Shape 17"/>
          <p:cNvSpPr/>
          <p:nvPr/>
        </p:nvSpPr>
        <p:spPr>
          <a:xfrm>
            <a:off x="2898648" y="1280160"/>
            <a:ext cx="73152" cy="2103120"/>
          </a:xfrm>
          <a:prstGeom prst="roundRect">
            <a:avLst>
              <a:gd name="adj" fmla="val 50000"/>
            </a:avLst>
          </a:prstGeom>
          <a:solidFill>
            <a:srgbClr val="38BDF8"/>
          </a:solidFill>
          <a:ln w="12700">
            <a:solidFill>
              <a:srgbClr val="38BDF8"/>
            </a:solidFill>
            <a:prstDash val="solid"/>
          </a:ln>
        </p:spPr>
      </p:sp>
      <p:sp>
        <p:nvSpPr>
          <p:cNvPr id="20" name="Text 18"/>
          <p:cNvSpPr/>
          <p:nvPr/>
        </p:nvSpPr>
        <p:spPr>
          <a:xfrm>
            <a:off x="3035808" y="1371600"/>
            <a:ext cx="731520" cy="320040"/>
          </a:xfrm>
          <a:prstGeom prst="rect">
            <a:avLst/>
          </a:prstGeom>
          <a:noFill/>
          <a:ln/>
        </p:spPr>
        <p:txBody>
          <a:bodyPr wrap="square" rtlCol="0" anchor="ctr"/>
          <a:lstStyle/>
          <a:p>
            <a:pPr indent="0" marL="0">
              <a:buNone/>
            </a:pPr>
            <a:r>
              <a:rPr lang="en-US" sz="1600" b="1" dirty="0">
                <a:solidFill>
                  <a:srgbClr val="38BDF8"/>
                </a:solidFill>
                <a:latin typeface="Arial" pitchFamily="34" charset="0"/>
                <a:ea typeface="Arial" pitchFamily="34" charset="-122"/>
                <a:cs typeface="Arial" pitchFamily="34" charset="-120"/>
              </a:rPr>
              <a:t>02</a:t>
            </a:r>
            <a:endParaRPr lang="en-US" sz="1600" dirty="0"/>
          </a:p>
        </p:txBody>
      </p:sp>
      <p:sp>
        <p:nvSpPr>
          <p:cNvPr id="21" name="Text 19"/>
          <p:cNvSpPr/>
          <p:nvPr/>
        </p:nvSpPr>
        <p:spPr>
          <a:xfrm>
            <a:off x="3721608" y="1417320"/>
            <a:ext cx="1143000" cy="22860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STP &amp; BRIDA</a:t>
            </a:r>
            <a:endParaRPr lang="en-US" sz="800" dirty="0"/>
          </a:p>
        </p:txBody>
      </p:sp>
      <p:sp>
        <p:nvSpPr>
          <p:cNvPr id="22" name="Text 20"/>
          <p:cNvSpPr/>
          <p:nvPr/>
        </p:nvSpPr>
        <p:spPr>
          <a:xfrm>
            <a:off x="3035808" y="1737360"/>
            <a:ext cx="1828800" cy="4114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SELEKSI &amp; KURASI</a:t>
            </a:r>
            <a:endParaRPr lang="en-US" sz="1000" dirty="0"/>
          </a:p>
        </p:txBody>
      </p:sp>
      <p:sp>
        <p:nvSpPr>
          <p:cNvPr id="23" name="Text 21"/>
          <p:cNvSpPr/>
          <p:nvPr/>
        </p:nvSpPr>
        <p:spPr>
          <a:xfrm>
            <a:off x="3035808" y="2194560"/>
            <a:ext cx="1828800" cy="1051560"/>
          </a:xfrm>
          <a:prstGeom prst="rect">
            <a:avLst/>
          </a:prstGeom>
          <a:noFill/>
          <a:ln/>
        </p:spPr>
        <p:txBody>
          <a:bodyPr wrap="square" rtlCol="0" anchor="ctr"/>
          <a:lstStyle/>
          <a:p>
            <a:pPr indent="0" marL="0">
              <a:lnSpc>
                <a:spcPts val="1100"/>
              </a:lnSpc>
              <a:buNone/>
            </a:pPr>
            <a:r>
              <a:rPr lang="en-US" sz="850" dirty="0">
                <a:solidFill>
                  <a:srgbClr val="94A3B8"/>
                </a:solidFill>
                <a:latin typeface="Arial" pitchFamily="34" charset="0"/>
                <a:ea typeface="Arial" pitchFamily="34" charset="-122"/>
                <a:cs typeface="Arial" pitchFamily="34" charset="-120"/>
              </a:rPr>
              <a:t>Kurasi komersial &amp; relevansi kebutuhan industri serta solusi tantangan kota Solo.</a:t>
            </a:r>
            <a:endParaRPr lang="en-US" sz="850" dirty="0"/>
          </a:p>
        </p:txBody>
      </p:sp>
      <p:sp>
        <p:nvSpPr>
          <p:cNvPr id="24" name="Text 22"/>
          <p:cNvSpPr/>
          <p:nvPr/>
        </p:nvSpPr>
        <p:spPr>
          <a:xfrm>
            <a:off x="4928616" y="2103120"/>
            <a:ext cx="182880" cy="365760"/>
          </a:xfrm>
          <a:prstGeom prst="rect">
            <a:avLst/>
          </a:prstGeom>
          <a:noFill/>
          <a:ln/>
        </p:spPr>
        <p:txBody>
          <a:bodyPr wrap="square" rtlCol="0" anchor="ctr"/>
          <a:lstStyle/>
          <a:p>
            <a:pPr algn="ctr" indent="0" marL="0">
              <a:buNone/>
            </a:pPr>
            <a:r>
              <a:rPr lang="en-US" sz="1200" b="1" dirty="0">
                <a:solidFill>
                  <a:srgbClr val="0EA5E9"/>
                </a:solidFill>
                <a:latin typeface="Arial" pitchFamily="34" charset="0"/>
                <a:ea typeface="Arial" pitchFamily="34" charset="-122"/>
                <a:cs typeface="Arial" pitchFamily="34" charset="-120"/>
              </a:rPr>
              <a:t>➔</a:t>
            </a:r>
            <a:endParaRPr lang="en-US" sz="1200" dirty="0"/>
          </a:p>
        </p:txBody>
      </p:sp>
      <p:sp>
        <p:nvSpPr>
          <p:cNvPr id="25" name="Shape 23"/>
          <p:cNvSpPr/>
          <p:nvPr/>
        </p:nvSpPr>
        <p:spPr>
          <a:xfrm>
            <a:off x="5065776" y="1280160"/>
            <a:ext cx="2057400" cy="2103120"/>
          </a:xfrm>
          <a:prstGeom prst="roundRect">
            <a:avLst>
              <a:gd name="adj" fmla="val 3556"/>
            </a:avLst>
          </a:prstGeom>
          <a:solidFill>
            <a:srgbClr val="0A192F"/>
          </a:solidFill>
          <a:ln w="12700">
            <a:solidFill>
              <a:srgbClr val="1E3A5F"/>
            </a:solidFill>
            <a:prstDash val="solid"/>
          </a:ln>
        </p:spPr>
      </p:sp>
      <p:sp>
        <p:nvSpPr>
          <p:cNvPr id="26" name="Shape 24"/>
          <p:cNvSpPr/>
          <p:nvPr/>
        </p:nvSpPr>
        <p:spPr>
          <a:xfrm>
            <a:off x="5065776" y="1280160"/>
            <a:ext cx="73152" cy="2103120"/>
          </a:xfrm>
          <a:prstGeom prst="roundRect">
            <a:avLst>
              <a:gd name="adj" fmla="val 50000"/>
            </a:avLst>
          </a:prstGeom>
          <a:solidFill>
            <a:srgbClr val="F59E0B"/>
          </a:solidFill>
          <a:ln w="12700">
            <a:solidFill>
              <a:srgbClr val="F59E0B"/>
            </a:solidFill>
            <a:prstDash val="solid"/>
          </a:ln>
        </p:spPr>
      </p:sp>
      <p:sp>
        <p:nvSpPr>
          <p:cNvPr id="27" name="Text 25"/>
          <p:cNvSpPr/>
          <p:nvPr/>
        </p:nvSpPr>
        <p:spPr>
          <a:xfrm>
            <a:off x="5202936" y="1371600"/>
            <a:ext cx="73152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03</a:t>
            </a:r>
            <a:endParaRPr lang="en-US" sz="1600" dirty="0"/>
          </a:p>
        </p:txBody>
      </p:sp>
      <p:sp>
        <p:nvSpPr>
          <p:cNvPr id="28" name="Text 26"/>
          <p:cNvSpPr/>
          <p:nvPr/>
        </p:nvSpPr>
        <p:spPr>
          <a:xfrm>
            <a:off x="5888736" y="1417320"/>
            <a:ext cx="1143000" cy="22860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Lab Presisi STP</a:t>
            </a:r>
            <a:endParaRPr lang="en-US" sz="800" dirty="0"/>
          </a:p>
        </p:txBody>
      </p:sp>
      <p:sp>
        <p:nvSpPr>
          <p:cNvPr id="29" name="Text 27"/>
          <p:cNvSpPr/>
          <p:nvPr/>
        </p:nvSpPr>
        <p:spPr>
          <a:xfrm>
            <a:off x="5202936" y="1737360"/>
            <a:ext cx="1828800" cy="4114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PROTOTYPING</a:t>
            </a:r>
            <a:endParaRPr lang="en-US" sz="1000" dirty="0"/>
          </a:p>
        </p:txBody>
      </p:sp>
      <p:sp>
        <p:nvSpPr>
          <p:cNvPr id="30" name="Text 28"/>
          <p:cNvSpPr/>
          <p:nvPr/>
        </p:nvSpPr>
        <p:spPr>
          <a:xfrm>
            <a:off x="5202936" y="2194560"/>
            <a:ext cx="1828800" cy="1051560"/>
          </a:xfrm>
          <a:prstGeom prst="rect">
            <a:avLst/>
          </a:prstGeom>
          <a:noFill/>
          <a:ln/>
        </p:spPr>
        <p:txBody>
          <a:bodyPr wrap="square" rtlCol="0" anchor="ctr"/>
          <a:lstStyle/>
          <a:p>
            <a:pPr indent="0" marL="0">
              <a:lnSpc>
                <a:spcPts val="1100"/>
              </a:lnSpc>
              <a:buNone/>
            </a:pPr>
            <a:r>
              <a:rPr lang="en-US" sz="850" dirty="0">
                <a:solidFill>
                  <a:srgbClr val="94A3B8"/>
                </a:solidFill>
                <a:latin typeface="Arial" pitchFamily="34" charset="0"/>
                <a:ea typeface="Arial" pitchFamily="34" charset="-122"/>
                <a:cs typeface="Arial" pitchFamily="34" charset="-120"/>
              </a:rPr>
              <a:t>Uji teknis, penetrant testing, validasi mutu produk, dan standarisasi SNI/TKDN.</a:t>
            </a:r>
            <a:endParaRPr lang="en-US" sz="850" dirty="0"/>
          </a:p>
        </p:txBody>
      </p:sp>
      <p:sp>
        <p:nvSpPr>
          <p:cNvPr id="31" name="Text 29"/>
          <p:cNvSpPr/>
          <p:nvPr/>
        </p:nvSpPr>
        <p:spPr>
          <a:xfrm>
            <a:off x="7095744" y="2103120"/>
            <a:ext cx="182880" cy="365760"/>
          </a:xfrm>
          <a:prstGeom prst="rect">
            <a:avLst/>
          </a:prstGeom>
          <a:noFill/>
          <a:ln/>
        </p:spPr>
        <p:txBody>
          <a:bodyPr wrap="square" rtlCol="0" anchor="ctr"/>
          <a:lstStyle/>
          <a:p>
            <a:pPr algn="ctr" indent="0" marL="0">
              <a:buNone/>
            </a:pPr>
            <a:r>
              <a:rPr lang="en-US" sz="1200" b="1" dirty="0">
                <a:solidFill>
                  <a:srgbClr val="0EA5E9"/>
                </a:solidFill>
                <a:latin typeface="Arial" pitchFamily="34" charset="0"/>
                <a:ea typeface="Arial" pitchFamily="34" charset="-122"/>
                <a:cs typeface="Arial" pitchFamily="34" charset="-120"/>
              </a:rPr>
              <a:t>➔</a:t>
            </a:r>
            <a:endParaRPr lang="en-US" sz="1200" dirty="0"/>
          </a:p>
        </p:txBody>
      </p:sp>
      <p:sp>
        <p:nvSpPr>
          <p:cNvPr id="32" name="Shape 30"/>
          <p:cNvSpPr/>
          <p:nvPr/>
        </p:nvSpPr>
        <p:spPr>
          <a:xfrm>
            <a:off x="7232904" y="1280160"/>
            <a:ext cx="2057400" cy="2103120"/>
          </a:xfrm>
          <a:prstGeom prst="roundRect">
            <a:avLst>
              <a:gd name="adj" fmla="val 3556"/>
            </a:avLst>
          </a:prstGeom>
          <a:solidFill>
            <a:srgbClr val="0A192F"/>
          </a:solidFill>
          <a:ln w="12700">
            <a:solidFill>
              <a:srgbClr val="1E3A5F"/>
            </a:solidFill>
            <a:prstDash val="solid"/>
          </a:ln>
        </p:spPr>
      </p:sp>
      <p:sp>
        <p:nvSpPr>
          <p:cNvPr id="33" name="Shape 31"/>
          <p:cNvSpPr/>
          <p:nvPr/>
        </p:nvSpPr>
        <p:spPr>
          <a:xfrm>
            <a:off x="7232904" y="1280160"/>
            <a:ext cx="73152" cy="2103120"/>
          </a:xfrm>
          <a:prstGeom prst="roundRect">
            <a:avLst>
              <a:gd name="adj" fmla="val 50000"/>
            </a:avLst>
          </a:prstGeom>
          <a:solidFill>
            <a:srgbClr val="10B981"/>
          </a:solidFill>
          <a:ln w="12700">
            <a:solidFill>
              <a:srgbClr val="10B981"/>
            </a:solidFill>
            <a:prstDash val="solid"/>
          </a:ln>
        </p:spPr>
      </p:sp>
      <p:sp>
        <p:nvSpPr>
          <p:cNvPr id="34" name="Text 32"/>
          <p:cNvSpPr/>
          <p:nvPr/>
        </p:nvSpPr>
        <p:spPr>
          <a:xfrm>
            <a:off x="7370064" y="1371600"/>
            <a:ext cx="731520" cy="320040"/>
          </a:xfrm>
          <a:prstGeom prst="rect">
            <a:avLst/>
          </a:prstGeom>
          <a:noFill/>
          <a:ln/>
        </p:spPr>
        <p:txBody>
          <a:bodyPr wrap="square" rtlCol="0" anchor="ctr"/>
          <a:lstStyle/>
          <a:p>
            <a:pPr indent="0" marL="0">
              <a:buNone/>
            </a:pPr>
            <a:r>
              <a:rPr lang="en-US" sz="1600" b="1" dirty="0">
                <a:solidFill>
                  <a:srgbClr val="10B981"/>
                </a:solidFill>
                <a:latin typeface="Arial" pitchFamily="34" charset="0"/>
                <a:ea typeface="Arial" pitchFamily="34" charset="-122"/>
                <a:cs typeface="Arial" pitchFamily="34" charset="-120"/>
              </a:rPr>
              <a:t>04</a:t>
            </a:r>
            <a:endParaRPr lang="en-US" sz="1600" dirty="0"/>
          </a:p>
        </p:txBody>
      </p:sp>
      <p:sp>
        <p:nvSpPr>
          <p:cNvPr id="35" name="Text 33"/>
          <p:cNvSpPr/>
          <p:nvPr/>
        </p:nvSpPr>
        <p:spPr>
          <a:xfrm>
            <a:off x="8055864" y="1417320"/>
            <a:ext cx="1143000" cy="22860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Inkubator STP</a:t>
            </a:r>
            <a:endParaRPr lang="en-US" sz="800" dirty="0"/>
          </a:p>
        </p:txBody>
      </p:sp>
      <p:sp>
        <p:nvSpPr>
          <p:cNvPr id="36" name="Text 34"/>
          <p:cNvSpPr/>
          <p:nvPr/>
        </p:nvSpPr>
        <p:spPr>
          <a:xfrm>
            <a:off x="7370064" y="1737360"/>
            <a:ext cx="1828800" cy="4114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INKUBASI BISNIS</a:t>
            </a:r>
            <a:endParaRPr lang="en-US" sz="1000" dirty="0"/>
          </a:p>
        </p:txBody>
      </p:sp>
      <p:sp>
        <p:nvSpPr>
          <p:cNvPr id="37" name="Text 35"/>
          <p:cNvSpPr/>
          <p:nvPr/>
        </p:nvSpPr>
        <p:spPr>
          <a:xfrm>
            <a:off x="7370064" y="2194560"/>
            <a:ext cx="1828800" cy="1051560"/>
          </a:xfrm>
          <a:prstGeom prst="rect">
            <a:avLst/>
          </a:prstGeom>
          <a:noFill/>
          <a:ln/>
        </p:spPr>
        <p:txBody>
          <a:bodyPr wrap="square" rtlCol="0" anchor="ctr"/>
          <a:lstStyle/>
          <a:p>
            <a:pPr indent="0" marL="0">
              <a:lnSpc>
                <a:spcPts val="1100"/>
              </a:lnSpc>
              <a:buNone/>
            </a:pPr>
            <a:r>
              <a:rPr lang="en-US" sz="850" dirty="0">
                <a:solidFill>
                  <a:srgbClr val="94A3B8"/>
                </a:solidFill>
                <a:latin typeface="Arial" pitchFamily="34" charset="0"/>
                <a:ea typeface="Arial" pitchFamily="34" charset="-122"/>
                <a:cs typeface="Arial" pitchFamily="34" charset="-120"/>
              </a:rPr>
              <a:t>Penyusunan business plan, proteksi HKI/Paten, akses permodalan &amp; jejaring offtaker.</a:t>
            </a:r>
            <a:endParaRPr lang="en-US" sz="850" dirty="0"/>
          </a:p>
        </p:txBody>
      </p:sp>
      <p:sp>
        <p:nvSpPr>
          <p:cNvPr id="38" name="Text 36"/>
          <p:cNvSpPr/>
          <p:nvPr/>
        </p:nvSpPr>
        <p:spPr>
          <a:xfrm>
            <a:off x="9262872" y="2103120"/>
            <a:ext cx="182880" cy="365760"/>
          </a:xfrm>
          <a:prstGeom prst="rect">
            <a:avLst/>
          </a:prstGeom>
          <a:noFill/>
          <a:ln/>
        </p:spPr>
        <p:txBody>
          <a:bodyPr wrap="square" rtlCol="0" anchor="ctr"/>
          <a:lstStyle/>
          <a:p>
            <a:pPr algn="ctr" indent="0" marL="0">
              <a:buNone/>
            </a:pPr>
            <a:r>
              <a:rPr lang="en-US" sz="1200" b="1" dirty="0">
                <a:solidFill>
                  <a:srgbClr val="0EA5E9"/>
                </a:solidFill>
                <a:latin typeface="Arial" pitchFamily="34" charset="0"/>
                <a:ea typeface="Arial" pitchFamily="34" charset="-122"/>
                <a:cs typeface="Arial" pitchFamily="34" charset="-120"/>
              </a:rPr>
              <a:t>➔</a:t>
            </a:r>
            <a:endParaRPr lang="en-US" sz="1200" dirty="0"/>
          </a:p>
        </p:txBody>
      </p:sp>
      <p:sp>
        <p:nvSpPr>
          <p:cNvPr id="39" name="Shape 37"/>
          <p:cNvSpPr/>
          <p:nvPr/>
        </p:nvSpPr>
        <p:spPr>
          <a:xfrm>
            <a:off x="9400032" y="1280160"/>
            <a:ext cx="2057400" cy="2103120"/>
          </a:xfrm>
          <a:prstGeom prst="roundRect">
            <a:avLst>
              <a:gd name="adj" fmla="val 3556"/>
            </a:avLst>
          </a:prstGeom>
          <a:solidFill>
            <a:srgbClr val="0A192F"/>
          </a:solidFill>
          <a:ln w="12700">
            <a:solidFill>
              <a:srgbClr val="1E3A5F"/>
            </a:solidFill>
            <a:prstDash val="solid"/>
          </a:ln>
        </p:spPr>
      </p:sp>
      <p:sp>
        <p:nvSpPr>
          <p:cNvPr id="40" name="Shape 38"/>
          <p:cNvSpPr/>
          <p:nvPr/>
        </p:nvSpPr>
        <p:spPr>
          <a:xfrm>
            <a:off x="9400032" y="1280160"/>
            <a:ext cx="73152" cy="2103120"/>
          </a:xfrm>
          <a:prstGeom prst="roundRect">
            <a:avLst>
              <a:gd name="adj" fmla="val 50000"/>
            </a:avLst>
          </a:prstGeom>
          <a:solidFill>
            <a:srgbClr val="F59E0B"/>
          </a:solidFill>
          <a:ln w="12700">
            <a:solidFill>
              <a:srgbClr val="F59E0B"/>
            </a:solidFill>
            <a:prstDash val="solid"/>
          </a:ln>
        </p:spPr>
      </p:sp>
      <p:sp>
        <p:nvSpPr>
          <p:cNvPr id="41" name="Text 39"/>
          <p:cNvSpPr/>
          <p:nvPr/>
        </p:nvSpPr>
        <p:spPr>
          <a:xfrm>
            <a:off x="9537192" y="1371600"/>
            <a:ext cx="73152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05</a:t>
            </a:r>
            <a:endParaRPr lang="en-US" sz="1600" dirty="0"/>
          </a:p>
        </p:txBody>
      </p:sp>
      <p:sp>
        <p:nvSpPr>
          <p:cNvPr id="42" name="Text 40"/>
          <p:cNvSpPr/>
          <p:nvPr/>
        </p:nvSpPr>
        <p:spPr>
          <a:xfrm>
            <a:off x="10222992" y="1417320"/>
            <a:ext cx="1143000" cy="22860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Pasar &amp; Industri</a:t>
            </a:r>
            <a:endParaRPr lang="en-US" sz="800" dirty="0"/>
          </a:p>
        </p:txBody>
      </p:sp>
      <p:sp>
        <p:nvSpPr>
          <p:cNvPr id="43" name="Text 41"/>
          <p:cNvSpPr/>
          <p:nvPr/>
        </p:nvSpPr>
        <p:spPr>
          <a:xfrm>
            <a:off x="9537192" y="1737360"/>
            <a:ext cx="1828800" cy="4114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KOMERSIALISASI</a:t>
            </a:r>
            <a:endParaRPr lang="en-US" sz="1000" dirty="0"/>
          </a:p>
        </p:txBody>
      </p:sp>
      <p:sp>
        <p:nvSpPr>
          <p:cNvPr id="44" name="Text 42"/>
          <p:cNvSpPr/>
          <p:nvPr/>
        </p:nvSpPr>
        <p:spPr>
          <a:xfrm>
            <a:off x="9537192" y="2194560"/>
            <a:ext cx="1828800" cy="1051560"/>
          </a:xfrm>
          <a:prstGeom prst="rect">
            <a:avLst/>
          </a:prstGeom>
          <a:noFill/>
          <a:ln/>
        </p:spPr>
        <p:txBody>
          <a:bodyPr wrap="square" rtlCol="0" anchor="ctr"/>
          <a:lstStyle/>
          <a:p>
            <a:pPr indent="0" marL="0">
              <a:lnSpc>
                <a:spcPts val="1100"/>
              </a:lnSpc>
              <a:buNone/>
            </a:pPr>
            <a:r>
              <a:rPr lang="en-US" sz="850" dirty="0">
                <a:solidFill>
                  <a:srgbClr val="94A3B8"/>
                </a:solidFill>
                <a:latin typeface="Arial" pitchFamily="34" charset="0"/>
                <a:ea typeface="Arial" pitchFamily="34" charset="-122"/>
                <a:cs typeface="Arial" pitchFamily="34" charset="-120"/>
              </a:rPr>
              <a:t>Penetrasi e-Katalog Lokal OPD, captive market pemda, industri nasional &amp; ekspor.</a:t>
            </a:r>
            <a:endParaRPr lang="en-US" sz="850" dirty="0"/>
          </a:p>
        </p:txBody>
      </p:sp>
      <p:sp>
        <p:nvSpPr>
          <p:cNvPr id="45" name="Shape 43"/>
          <p:cNvSpPr/>
          <p:nvPr/>
        </p:nvSpPr>
        <p:spPr>
          <a:xfrm>
            <a:off x="731520" y="3520440"/>
            <a:ext cx="6217920" cy="2651760"/>
          </a:xfrm>
          <a:prstGeom prst="roundRect">
            <a:avLst>
              <a:gd name="adj" fmla="val 2759"/>
            </a:avLst>
          </a:prstGeom>
          <a:solidFill>
            <a:srgbClr val="0A192F"/>
          </a:solidFill>
          <a:ln w="12700">
            <a:solidFill>
              <a:srgbClr val="1E3A5F"/>
            </a:solidFill>
            <a:prstDash val="solid"/>
          </a:ln>
        </p:spPr>
      </p:sp>
      <p:sp>
        <p:nvSpPr>
          <p:cNvPr id="46" name="Text 44"/>
          <p:cNvSpPr/>
          <p:nvPr/>
        </p:nvSpPr>
        <p:spPr>
          <a:xfrm>
            <a:off x="914400" y="3611880"/>
            <a:ext cx="5852160" cy="27432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CONTOH TEKNOLOGI YANG DIHILIRKAN &amp; DIINKUBASI DI STP (DATA RIIL)</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3931920"/>
          <a:ext cx="5852160" cy="2103120"/>
        </p:xfrm>
        <a:graphic>
          <a:graphicData uri="http://schemas.openxmlformats.org/drawingml/2006/table">
            <a:tbl>
              <a:tblPr/>
              <a:tblGrid>
                <a:gridCol w="1645920"/>
                <a:gridCol w="2926080"/>
                <a:gridCol w="1280160"/>
              </a:tblGrid>
              <a:tr h="320040">
                <a:tc>
                  <a:txBody>
                    <a:bodyPr/>
                    <a:lstStyle/>
                    <a:p>
                      <a:pPr indent="0" marL="0">
                        <a:buNone/>
                      </a:pPr>
                      <a:r>
                        <a:rPr lang="en-US" sz="880" b="1" dirty="0">
                          <a:solidFill>
                            <a:srgbClr val="FFFFFF"/>
                          </a:solidFill>
                          <a:latin typeface="Arial" pitchFamily="34" charset="0"/>
                          <a:ea typeface="Arial" pitchFamily="34" charset="-122"/>
                          <a:cs typeface="Arial" pitchFamily="34" charset="-120"/>
                        </a:rPr>
                        <a:t>KLASTER TEKNOLOGI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CONTOH PRODUK INOVASI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880" b="1" dirty="0">
                          <a:solidFill>
                            <a:srgbClr val="FFFFFF"/>
                          </a:solidFill>
                          <a:latin typeface="Arial" pitchFamily="34" charset="0"/>
                          <a:ea typeface="Arial" pitchFamily="34" charset="-122"/>
                          <a:cs typeface="Arial" pitchFamily="34" charset="-120"/>
                        </a:rPr>
                        <a:t>STATUS TAHAPAN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347472">
                <a:tc>
                  <a:txBody>
                    <a:bodyPr/>
                    <a:lstStyle/>
                    <a:p>
                      <a:pPr indent="0" marL="0">
                        <a:buNone/>
                      </a:pPr>
                      <a:r>
                        <a:rPr lang="en-US" sz="880" dirty="0">
                          <a:solidFill>
                            <a:srgbClr val="94A3B8"/>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Mesin Sortasi Biji Kopi Otomatis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dirty="0">
                          <a:solidFill>
                            <a:srgbClr val="38BDF8"/>
                          </a:solidFill>
                          <a:latin typeface="Arial" pitchFamily="34" charset="0"/>
                          <a:ea typeface="Arial" pitchFamily="34" charset="-122"/>
                          <a:cs typeface="Arial" pitchFamily="34" charset="-120"/>
                        </a:rPr>
                        <a:t>Prototype Validasi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47472">
                <a:tc>
                  <a:txBody>
                    <a:bodyPr/>
                    <a:lstStyle/>
                    <a:p>
                      <a:pPr indent="0" marL="0">
                        <a:buNone/>
                      </a:pPr>
                      <a:r>
                        <a:rPr lang="en-US" sz="880" dirty="0">
                          <a:solidFill>
                            <a:srgbClr val="94A3B8"/>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Teknologi Pertanian Presisi IoT &amp; AI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dirty="0">
                          <a:solidFill>
                            <a:srgbClr val="38BDF8"/>
                          </a:solidFill>
                          <a:latin typeface="Arial" pitchFamily="34" charset="0"/>
                          <a:ea typeface="Arial" pitchFamily="34" charset="-122"/>
                          <a:cs typeface="Arial" pitchFamily="34" charset="-120"/>
                        </a:rPr>
                        <a:t>Uji Lapangan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47472">
                <a:tc>
                  <a:txBody>
                    <a:bodyPr/>
                    <a:lstStyle/>
                    <a:p>
                      <a:pPr indent="0" marL="0">
                        <a:buNone/>
                      </a:pPr>
                      <a:r>
                        <a:rPr lang="en-US" sz="880" dirty="0">
                          <a:solidFill>
                            <a:srgbClr val="94A3B8"/>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Mesin Tetas Telur Pintar Mandiri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b="1" dirty="0">
                          <a:solidFill>
                            <a:srgbClr val="10B981"/>
                          </a:solidFill>
                          <a:latin typeface="Arial" pitchFamily="34" charset="0"/>
                          <a:ea typeface="Arial" pitchFamily="34" charset="-122"/>
                          <a:cs typeface="Arial" pitchFamily="34" charset="-120"/>
                        </a:rPr>
                        <a:t>Siap e-Katalog</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47472">
                <a:tc>
                  <a:txBody>
                    <a:bodyPr/>
                    <a:lstStyle/>
                    <a:p>
                      <a:pPr indent="0" marL="0">
                        <a:buNone/>
                      </a:pPr>
                      <a:r>
                        <a:rPr lang="en-US" sz="880" dirty="0">
                          <a:solidFill>
                            <a:srgbClr val="94A3B8"/>
                          </a:solidFill>
                          <a:latin typeface="Arial" pitchFamily="34" charset="0"/>
                          <a:ea typeface="Arial" pitchFamily="34" charset="-122"/>
                          <a:cs typeface="Arial" pitchFamily="34" charset="-120"/>
                        </a:rPr>
                        <a:t>Deep Tech Mobility</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Autonomous Vehicle Elektrik Kampus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dirty="0">
                          <a:solidFill>
                            <a:srgbClr val="F59E0B"/>
                          </a:solidFill>
                          <a:latin typeface="Arial" pitchFamily="34" charset="0"/>
                          <a:ea typeface="Arial" pitchFamily="34" charset="-122"/>
                          <a:cs typeface="Arial" pitchFamily="34" charset="-120"/>
                        </a:rPr>
                        <a:t>R&amp;D Bersama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47472">
                <a:tc>
                  <a:txBody>
                    <a:bodyPr/>
                    <a:lstStyle/>
                    <a:p>
                      <a:pPr indent="0" marL="0">
                        <a:buNone/>
                      </a:pPr>
                      <a:r>
                        <a:rPr lang="en-US" sz="880" dirty="0">
                          <a:solidFill>
                            <a:srgbClr val="94A3B8"/>
                          </a:solidFill>
                          <a:latin typeface="Arial" pitchFamily="34" charset="0"/>
                          <a:ea typeface="Arial" pitchFamily="34" charset="-122"/>
                          <a:cs typeface="Arial" pitchFamily="34" charset="-120"/>
                        </a:rPr>
                        <a:t>GovTech &amp; Pelatihan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VR Pelatihan Industri &amp; Chatbot AI OPD</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b="1" dirty="0">
                          <a:solidFill>
                            <a:srgbClr val="10B981"/>
                          </a:solidFill>
                          <a:latin typeface="Arial" pitchFamily="34" charset="0"/>
                          <a:ea typeface="Arial" pitchFamily="34" charset="-122"/>
                          <a:cs typeface="Arial" pitchFamily="34" charset="-120"/>
                        </a:rPr>
                        <a:t>Komersial Aktif</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bl>
          </a:graphicData>
        </a:graphic>
      </p:graphicFrame>
      <p:sp>
        <p:nvSpPr>
          <p:cNvPr id="48" name="Shape 45"/>
          <p:cNvSpPr/>
          <p:nvPr/>
        </p:nvSpPr>
        <p:spPr>
          <a:xfrm>
            <a:off x="7086600" y="3520440"/>
            <a:ext cx="4373575" cy="2651760"/>
          </a:xfrm>
          <a:prstGeom prst="roundRect">
            <a:avLst>
              <a:gd name="adj" fmla="val 2759"/>
            </a:avLst>
          </a:prstGeom>
          <a:solidFill>
            <a:srgbClr val="0A192F"/>
          </a:solidFill>
          <a:ln w="12700">
            <a:solidFill>
              <a:srgbClr val="0EA5E9"/>
            </a:solidFill>
            <a:prstDash val="solid"/>
          </a:ln>
        </p:spPr>
      </p:sp>
      <p:sp>
        <p:nvSpPr>
          <p:cNvPr id="49" name="Text 46"/>
          <p:cNvSpPr/>
          <p:nvPr/>
        </p:nvSpPr>
        <p:spPr>
          <a:xfrm>
            <a:off x="7269480" y="3611880"/>
            <a:ext cx="4007815" cy="274320"/>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EKOSISTEM FASILITAS PENDUKUNG AKTIF</a:t>
            </a:r>
            <a:endParaRPr lang="en-US" sz="950" dirty="0"/>
          </a:p>
        </p:txBody>
      </p:sp>
      <p:sp>
        <p:nvSpPr>
          <p:cNvPr id="50" name="Text 47"/>
          <p:cNvSpPr/>
          <p:nvPr/>
        </p:nvSpPr>
        <p:spPr>
          <a:xfrm>
            <a:off x="7269480" y="3950208"/>
            <a:ext cx="400781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National Cyber Security Hub</a:t>
            </a:r>
            <a:endParaRPr lang="en-US" sz="900" dirty="0"/>
          </a:p>
        </p:txBody>
      </p:sp>
      <p:sp>
        <p:nvSpPr>
          <p:cNvPr id="51" name="Text 48"/>
          <p:cNvSpPr/>
          <p:nvPr/>
        </p:nvSpPr>
        <p:spPr>
          <a:xfrm>
            <a:off x="7635240" y="4133088"/>
            <a:ext cx="3642055" cy="201168"/>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Pusat ketahanan digital &amp; talenta siber</a:t>
            </a:r>
            <a:endParaRPr lang="en-US" sz="800" dirty="0"/>
          </a:p>
        </p:txBody>
      </p:sp>
      <p:sp>
        <p:nvSpPr>
          <p:cNvPr id="52" name="Text 49"/>
          <p:cNvSpPr/>
          <p:nvPr/>
        </p:nvSpPr>
        <p:spPr>
          <a:xfrm>
            <a:off x="7269480" y="4370832"/>
            <a:ext cx="400781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Gaming Hub &amp; Digital Studio</a:t>
            </a:r>
            <a:endParaRPr lang="en-US" sz="900" dirty="0"/>
          </a:p>
        </p:txBody>
      </p:sp>
      <p:sp>
        <p:nvSpPr>
          <p:cNvPr id="53" name="Text 50"/>
          <p:cNvSpPr/>
          <p:nvPr/>
        </p:nvSpPr>
        <p:spPr>
          <a:xfrm>
            <a:off x="7635240" y="4553712"/>
            <a:ext cx="3642055" cy="201168"/>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Pengembangan game &amp; konten kreatif</a:t>
            </a:r>
            <a:endParaRPr lang="en-US" sz="800" dirty="0"/>
          </a:p>
        </p:txBody>
      </p:sp>
      <p:sp>
        <p:nvSpPr>
          <p:cNvPr id="54" name="Text 51"/>
          <p:cNvSpPr/>
          <p:nvPr/>
        </p:nvSpPr>
        <p:spPr>
          <a:xfrm>
            <a:off x="7269480" y="4791456"/>
            <a:ext cx="400781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AI Experience Center</a:t>
            </a:r>
            <a:endParaRPr lang="en-US" sz="900" dirty="0"/>
          </a:p>
        </p:txBody>
      </p:sp>
      <p:sp>
        <p:nvSpPr>
          <p:cNvPr id="55" name="Text 52"/>
          <p:cNvSpPr/>
          <p:nvPr/>
        </p:nvSpPr>
        <p:spPr>
          <a:xfrm>
            <a:off x="7635240" y="4974336"/>
            <a:ext cx="3642055" cy="201168"/>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Lab aplikasi kecerdasan buatan terapan</a:t>
            </a:r>
            <a:endParaRPr lang="en-US" sz="800" dirty="0"/>
          </a:p>
        </p:txBody>
      </p:sp>
      <p:sp>
        <p:nvSpPr>
          <p:cNvPr id="56" name="Text 53"/>
          <p:cNvSpPr/>
          <p:nvPr/>
        </p:nvSpPr>
        <p:spPr>
          <a:xfrm>
            <a:off x="7269480" y="5212080"/>
            <a:ext cx="400781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GoTo UMKM Center</a:t>
            </a:r>
            <a:endParaRPr lang="en-US" sz="900" dirty="0"/>
          </a:p>
        </p:txBody>
      </p:sp>
      <p:sp>
        <p:nvSpPr>
          <p:cNvPr id="57" name="Text 54"/>
          <p:cNvSpPr/>
          <p:nvPr/>
        </p:nvSpPr>
        <p:spPr>
          <a:xfrm>
            <a:off x="7635240" y="5394960"/>
            <a:ext cx="3642055" cy="201168"/>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Akselerasi digitalisasi pedagang lokal</a:t>
            </a:r>
            <a:endParaRPr lang="en-US" sz="800" dirty="0"/>
          </a:p>
        </p:txBody>
      </p:sp>
      <p:sp>
        <p:nvSpPr>
          <p:cNvPr id="58" name="Text 55"/>
          <p:cNvSpPr/>
          <p:nvPr/>
        </p:nvSpPr>
        <p:spPr>
          <a:xfrm>
            <a:off x="7269480" y="5632704"/>
            <a:ext cx="400781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Laboratorium Rekayasa Presisi</a:t>
            </a:r>
            <a:endParaRPr lang="en-US" sz="900" dirty="0"/>
          </a:p>
        </p:txBody>
      </p:sp>
      <p:sp>
        <p:nvSpPr>
          <p:cNvPr id="59" name="Text 56"/>
          <p:cNvSpPr/>
          <p:nvPr/>
        </p:nvSpPr>
        <p:spPr>
          <a:xfrm>
            <a:off x="7635240" y="5815584"/>
            <a:ext cx="3642055" cy="201168"/>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Fasilitas fabrikasi komponen &amp; NDT uji</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JEJARING KEMITRAAN STRATEGIS</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EKOSISTEM HEXAHELIX: 95+ MITRA STRATEGIS TANPA BEBAN APBD</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Kepercayaan Korporasi Global &amp; Nasional yang Menanamkan Investasi Langsung di Jantung Kota Surakarta</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06 / 12</a:t>
            </a:r>
            <a:endParaRPr lang="en-US" sz="900" dirty="0"/>
          </a:p>
        </p:txBody>
      </p:sp>
      <p:sp>
        <p:nvSpPr>
          <p:cNvPr id="11" name="Shape 9"/>
          <p:cNvSpPr/>
          <p:nvPr/>
        </p:nvSpPr>
        <p:spPr>
          <a:xfrm>
            <a:off x="731520" y="1325880"/>
            <a:ext cx="3657600" cy="4892040"/>
          </a:xfrm>
          <a:prstGeom prst="roundRect">
            <a:avLst>
              <a:gd name="adj" fmla="val 2000"/>
            </a:avLst>
          </a:prstGeom>
          <a:solidFill>
            <a:srgbClr val="0A192F"/>
          </a:solidFill>
          <a:ln w="12700">
            <a:solidFill>
              <a:srgbClr val="1E3A5F"/>
            </a:solidFill>
            <a:prstDash val="solid"/>
          </a:ln>
        </p:spPr>
      </p:sp>
      <p:sp>
        <p:nvSpPr>
          <p:cNvPr id="12" name="Shape 10"/>
          <p:cNvSpPr/>
          <p:nvPr/>
        </p:nvSpPr>
        <p:spPr>
          <a:xfrm>
            <a:off x="731520" y="1325880"/>
            <a:ext cx="73152" cy="489204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960120" y="1463040"/>
            <a:ext cx="3200400" cy="320040"/>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6 AKTOR KOLABORASI HEXAHELIX</a:t>
            </a:r>
            <a:endParaRPr lang="en-US" sz="1100" dirty="0"/>
          </a:p>
        </p:txBody>
      </p:sp>
      <p:sp>
        <p:nvSpPr>
          <p:cNvPr id="14" name="Shape 12"/>
          <p:cNvSpPr/>
          <p:nvPr/>
        </p:nvSpPr>
        <p:spPr>
          <a:xfrm>
            <a:off x="960120" y="1874520"/>
            <a:ext cx="3200400" cy="621792"/>
          </a:xfrm>
          <a:prstGeom prst="roundRect">
            <a:avLst>
              <a:gd name="adj" fmla="val 7353"/>
            </a:avLst>
          </a:prstGeom>
          <a:solidFill>
            <a:srgbClr val="0D213F"/>
          </a:solidFill>
          <a:ln w="12700">
            <a:solidFill>
              <a:srgbClr val="1E3A5F"/>
            </a:solidFill>
            <a:prstDash val="solid"/>
          </a:ln>
        </p:spPr>
      </p:sp>
      <p:sp>
        <p:nvSpPr>
          <p:cNvPr id="15" name="Text 13"/>
          <p:cNvSpPr/>
          <p:nvPr/>
        </p:nvSpPr>
        <p:spPr>
          <a:xfrm>
            <a:off x="1051560" y="1929384"/>
            <a:ext cx="3017520"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  AKADEMISI</a:t>
            </a:r>
            <a:endParaRPr lang="en-US" sz="950" dirty="0"/>
          </a:p>
        </p:txBody>
      </p:sp>
      <p:sp>
        <p:nvSpPr>
          <p:cNvPr id="16" name="Text 14"/>
          <p:cNvSpPr/>
          <p:nvPr/>
        </p:nvSpPr>
        <p:spPr>
          <a:xfrm>
            <a:off x="1051560" y="2148840"/>
            <a:ext cx="3017520" cy="310896"/>
          </a:xfrm>
          <a:prstGeom prst="rect">
            <a:avLst/>
          </a:prstGeom>
          <a:noFill/>
          <a:ln/>
        </p:spPr>
        <p:txBody>
          <a:bodyPr wrap="square" rtlCol="0" anchor="ctr"/>
          <a:lstStyle/>
          <a:p>
            <a:pPr indent="0" marL="0">
              <a:lnSpc>
                <a:spcPts val="1000"/>
              </a:lnSpc>
              <a:buNone/>
            </a:pPr>
            <a:r>
              <a:rPr lang="en-US" sz="820" dirty="0">
                <a:solidFill>
                  <a:srgbClr val="94A3B8"/>
                </a:solidFill>
                <a:latin typeface="Arial" pitchFamily="34" charset="0"/>
                <a:ea typeface="Arial" pitchFamily="34" charset="-122"/>
                <a:cs typeface="Arial" pitchFamily="34" charset="-120"/>
              </a:rPr>
              <a:t>UNS, UMS, ISI, Poltek — Pemasok riset, invensi, dan peneliti</a:t>
            </a:r>
            <a:endParaRPr lang="en-US" sz="820" dirty="0"/>
          </a:p>
        </p:txBody>
      </p:sp>
      <p:sp>
        <p:nvSpPr>
          <p:cNvPr id="17" name="Shape 15"/>
          <p:cNvSpPr/>
          <p:nvPr/>
        </p:nvSpPr>
        <p:spPr>
          <a:xfrm>
            <a:off x="960120" y="2569464"/>
            <a:ext cx="3200400" cy="621792"/>
          </a:xfrm>
          <a:prstGeom prst="roundRect">
            <a:avLst>
              <a:gd name="adj" fmla="val 7353"/>
            </a:avLst>
          </a:prstGeom>
          <a:solidFill>
            <a:srgbClr val="0D213F"/>
          </a:solidFill>
          <a:ln w="12700">
            <a:solidFill>
              <a:srgbClr val="1E3A5F"/>
            </a:solidFill>
            <a:prstDash val="solid"/>
          </a:ln>
        </p:spPr>
      </p:sp>
      <p:sp>
        <p:nvSpPr>
          <p:cNvPr id="18" name="Text 16"/>
          <p:cNvSpPr/>
          <p:nvPr/>
        </p:nvSpPr>
        <p:spPr>
          <a:xfrm>
            <a:off x="1051560" y="2624328"/>
            <a:ext cx="3017520"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  INDUSTRI &amp; BISNIS</a:t>
            </a:r>
            <a:endParaRPr lang="en-US" sz="950" dirty="0"/>
          </a:p>
        </p:txBody>
      </p:sp>
      <p:sp>
        <p:nvSpPr>
          <p:cNvPr id="19" name="Text 17"/>
          <p:cNvSpPr/>
          <p:nvPr/>
        </p:nvSpPr>
        <p:spPr>
          <a:xfrm>
            <a:off x="1051560" y="2843784"/>
            <a:ext cx="3017520" cy="310896"/>
          </a:xfrm>
          <a:prstGeom prst="rect">
            <a:avLst/>
          </a:prstGeom>
          <a:noFill/>
          <a:ln/>
        </p:spPr>
        <p:txBody>
          <a:bodyPr wrap="square" rtlCol="0" anchor="ctr"/>
          <a:lstStyle/>
          <a:p>
            <a:pPr indent="0" marL="0">
              <a:lnSpc>
                <a:spcPts val="1000"/>
              </a:lnSpc>
              <a:buNone/>
            </a:pPr>
            <a:r>
              <a:rPr lang="en-US" sz="820" dirty="0">
                <a:solidFill>
                  <a:srgbClr val="94A3B8"/>
                </a:solidFill>
                <a:latin typeface="Arial" pitchFamily="34" charset="0"/>
                <a:ea typeface="Arial" pitchFamily="34" charset="-122"/>
                <a:cs typeface="Arial" pitchFamily="34" charset="-120"/>
              </a:rPr>
              <a:t>95+ Korporasi — Offtaker, penyedia modal kerja, &amp; transfer teknologi</a:t>
            </a:r>
            <a:endParaRPr lang="en-US" sz="820" dirty="0"/>
          </a:p>
        </p:txBody>
      </p:sp>
      <p:sp>
        <p:nvSpPr>
          <p:cNvPr id="20" name="Shape 18"/>
          <p:cNvSpPr/>
          <p:nvPr/>
        </p:nvSpPr>
        <p:spPr>
          <a:xfrm>
            <a:off x="960120" y="3264408"/>
            <a:ext cx="3200400" cy="621792"/>
          </a:xfrm>
          <a:prstGeom prst="roundRect">
            <a:avLst>
              <a:gd name="adj" fmla="val 7353"/>
            </a:avLst>
          </a:prstGeom>
          <a:solidFill>
            <a:srgbClr val="0D213F"/>
          </a:solidFill>
          <a:ln w="12700">
            <a:solidFill>
              <a:srgbClr val="1E3A5F"/>
            </a:solidFill>
            <a:prstDash val="solid"/>
          </a:ln>
        </p:spPr>
      </p:sp>
      <p:sp>
        <p:nvSpPr>
          <p:cNvPr id="21" name="Text 19"/>
          <p:cNvSpPr/>
          <p:nvPr/>
        </p:nvSpPr>
        <p:spPr>
          <a:xfrm>
            <a:off x="1051560" y="3319272"/>
            <a:ext cx="3017520"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  PEMERINTAH</a:t>
            </a:r>
            <a:endParaRPr lang="en-US" sz="950" dirty="0"/>
          </a:p>
        </p:txBody>
      </p:sp>
      <p:sp>
        <p:nvSpPr>
          <p:cNvPr id="22" name="Text 20"/>
          <p:cNvSpPr/>
          <p:nvPr/>
        </p:nvSpPr>
        <p:spPr>
          <a:xfrm>
            <a:off x="1051560" y="3538728"/>
            <a:ext cx="3017520" cy="310896"/>
          </a:xfrm>
          <a:prstGeom prst="rect">
            <a:avLst/>
          </a:prstGeom>
          <a:noFill/>
          <a:ln/>
        </p:spPr>
        <p:txBody>
          <a:bodyPr wrap="square" rtlCol="0" anchor="ctr"/>
          <a:lstStyle/>
          <a:p>
            <a:pPr indent="0" marL="0">
              <a:lnSpc>
                <a:spcPts val="1000"/>
              </a:lnSpc>
              <a:buNone/>
            </a:pPr>
            <a:r>
              <a:rPr lang="en-US" sz="820" dirty="0">
                <a:solidFill>
                  <a:srgbClr val="94A3B8"/>
                </a:solidFill>
                <a:latin typeface="Arial" pitchFamily="34" charset="0"/>
                <a:ea typeface="Arial" pitchFamily="34" charset="-122"/>
                <a:cs typeface="Arial" pitchFamily="34" charset="-120"/>
              </a:rPr>
              <a:t>Pemkot Solo &amp; BRIDA — Regulator, fasilitator kebijakan &amp; pembeli awal</a:t>
            </a:r>
            <a:endParaRPr lang="en-US" sz="820" dirty="0"/>
          </a:p>
        </p:txBody>
      </p:sp>
      <p:sp>
        <p:nvSpPr>
          <p:cNvPr id="23" name="Shape 21"/>
          <p:cNvSpPr/>
          <p:nvPr/>
        </p:nvSpPr>
        <p:spPr>
          <a:xfrm>
            <a:off x="960120" y="3959352"/>
            <a:ext cx="3200400" cy="621792"/>
          </a:xfrm>
          <a:prstGeom prst="roundRect">
            <a:avLst>
              <a:gd name="adj" fmla="val 7353"/>
            </a:avLst>
          </a:prstGeom>
          <a:solidFill>
            <a:srgbClr val="0D213F"/>
          </a:solidFill>
          <a:ln w="12700">
            <a:solidFill>
              <a:srgbClr val="1E3A5F"/>
            </a:solidFill>
            <a:prstDash val="solid"/>
          </a:ln>
        </p:spPr>
      </p:sp>
      <p:sp>
        <p:nvSpPr>
          <p:cNvPr id="24" name="Text 22"/>
          <p:cNvSpPr/>
          <p:nvPr/>
        </p:nvSpPr>
        <p:spPr>
          <a:xfrm>
            <a:off x="1051560" y="4014216"/>
            <a:ext cx="3017520"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  KOMUNITAS</a:t>
            </a:r>
            <a:endParaRPr lang="en-US" sz="950" dirty="0"/>
          </a:p>
        </p:txBody>
      </p:sp>
      <p:sp>
        <p:nvSpPr>
          <p:cNvPr id="25" name="Text 23"/>
          <p:cNvSpPr/>
          <p:nvPr/>
        </p:nvSpPr>
        <p:spPr>
          <a:xfrm>
            <a:off x="1051560" y="4233672"/>
            <a:ext cx="3017520" cy="310896"/>
          </a:xfrm>
          <a:prstGeom prst="rect">
            <a:avLst/>
          </a:prstGeom>
          <a:noFill/>
          <a:ln/>
        </p:spPr>
        <p:txBody>
          <a:bodyPr wrap="square" rtlCol="0" anchor="ctr"/>
          <a:lstStyle/>
          <a:p>
            <a:pPr indent="0" marL="0">
              <a:lnSpc>
                <a:spcPts val="1000"/>
              </a:lnSpc>
              <a:buNone/>
            </a:pPr>
            <a:r>
              <a:rPr lang="en-US" sz="820" dirty="0">
                <a:solidFill>
                  <a:srgbClr val="94A3B8"/>
                </a:solidFill>
                <a:latin typeface="Arial" pitchFamily="34" charset="0"/>
                <a:ea typeface="Arial" pitchFamily="34" charset="-122"/>
                <a:cs typeface="Arial" pitchFamily="34" charset="-120"/>
              </a:rPr>
              <a:t>Asosiasi UMKM, SMK, Komunitas Kreatif &amp; Startup lokal</a:t>
            </a:r>
            <a:endParaRPr lang="en-US" sz="820" dirty="0"/>
          </a:p>
        </p:txBody>
      </p:sp>
      <p:sp>
        <p:nvSpPr>
          <p:cNvPr id="26" name="Shape 24"/>
          <p:cNvSpPr/>
          <p:nvPr/>
        </p:nvSpPr>
        <p:spPr>
          <a:xfrm>
            <a:off x="960120" y="4654296"/>
            <a:ext cx="3200400" cy="621792"/>
          </a:xfrm>
          <a:prstGeom prst="roundRect">
            <a:avLst>
              <a:gd name="adj" fmla="val 7353"/>
            </a:avLst>
          </a:prstGeom>
          <a:solidFill>
            <a:srgbClr val="0D213F"/>
          </a:solidFill>
          <a:ln w="12700">
            <a:solidFill>
              <a:srgbClr val="1E3A5F"/>
            </a:solidFill>
            <a:prstDash val="solid"/>
          </a:ln>
        </p:spPr>
      </p:sp>
      <p:sp>
        <p:nvSpPr>
          <p:cNvPr id="27" name="Text 25"/>
          <p:cNvSpPr/>
          <p:nvPr/>
        </p:nvSpPr>
        <p:spPr>
          <a:xfrm>
            <a:off x="1051560" y="4709160"/>
            <a:ext cx="3017520"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  MEDIA MASSA</a:t>
            </a:r>
            <a:endParaRPr lang="en-US" sz="950" dirty="0"/>
          </a:p>
        </p:txBody>
      </p:sp>
      <p:sp>
        <p:nvSpPr>
          <p:cNvPr id="28" name="Text 26"/>
          <p:cNvSpPr/>
          <p:nvPr/>
        </p:nvSpPr>
        <p:spPr>
          <a:xfrm>
            <a:off x="1051560" y="4928616"/>
            <a:ext cx="3017520" cy="310896"/>
          </a:xfrm>
          <a:prstGeom prst="rect">
            <a:avLst/>
          </a:prstGeom>
          <a:noFill/>
          <a:ln/>
        </p:spPr>
        <p:txBody>
          <a:bodyPr wrap="square" rtlCol="0" anchor="ctr"/>
          <a:lstStyle/>
          <a:p>
            <a:pPr indent="0" marL="0">
              <a:lnSpc>
                <a:spcPts val="1000"/>
              </a:lnSpc>
              <a:buNone/>
            </a:pPr>
            <a:r>
              <a:rPr lang="en-US" sz="820" dirty="0">
                <a:solidFill>
                  <a:srgbClr val="94A3B8"/>
                </a:solidFill>
                <a:latin typeface="Arial" pitchFamily="34" charset="0"/>
                <a:ea typeface="Arial" pitchFamily="34" charset="-122"/>
                <a:cs typeface="Arial" pitchFamily="34" charset="-120"/>
              </a:rPr>
              <a:t>Publikasi nasional &amp; penguatan reputasi branding kota Solo</a:t>
            </a:r>
            <a:endParaRPr lang="en-US" sz="820" dirty="0"/>
          </a:p>
        </p:txBody>
      </p:sp>
      <p:sp>
        <p:nvSpPr>
          <p:cNvPr id="29" name="Shape 27"/>
          <p:cNvSpPr/>
          <p:nvPr/>
        </p:nvSpPr>
        <p:spPr>
          <a:xfrm>
            <a:off x="960120" y="5349240"/>
            <a:ext cx="3200400" cy="621792"/>
          </a:xfrm>
          <a:prstGeom prst="roundRect">
            <a:avLst>
              <a:gd name="adj" fmla="val 7353"/>
            </a:avLst>
          </a:prstGeom>
          <a:solidFill>
            <a:srgbClr val="0D213F"/>
          </a:solidFill>
          <a:ln w="12700">
            <a:solidFill>
              <a:srgbClr val="1E3A5F"/>
            </a:solidFill>
            <a:prstDash val="solid"/>
          </a:ln>
        </p:spPr>
      </p:sp>
      <p:sp>
        <p:nvSpPr>
          <p:cNvPr id="30" name="Text 28"/>
          <p:cNvSpPr/>
          <p:nvPr/>
        </p:nvSpPr>
        <p:spPr>
          <a:xfrm>
            <a:off x="1051560" y="5404104"/>
            <a:ext cx="3017520"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  INTERNASIONAL</a:t>
            </a:r>
            <a:endParaRPr lang="en-US" sz="950" dirty="0"/>
          </a:p>
        </p:txBody>
      </p:sp>
      <p:sp>
        <p:nvSpPr>
          <p:cNvPr id="31" name="Text 29"/>
          <p:cNvSpPr/>
          <p:nvPr/>
        </p:nvSpPr>
        <p:spPr>
          <a:xfrm>
            <a:off x="1051560" y="5623560"/>
            <a:ext cx="3017520" cy="310896"/>
          </a:xfrm>
          <a:prstGeom prst="rect">
            <a:avLst/>
          </a:prstGeom>
          <a:noFill/>
          <a:ln/>
        </p:spPr>
        <p:txBody>
          <a:bodyPr wrap="square" rtlCol="0" anchor="ctr"/>
          <a:lstStyle/>
          <a:p>
            <a:pPr indent="0" marL="0">
              <a:lnSpc>
                <a:spcPts val="1000"/>
              </a:lnSpc>
              <a:buNone/>
            </a:pPr>
            <a:r>
              <a:rPr lang="en-US" sz="820" dirty="0">
                <a:solidFill>
                  <a:srgbClr val="94A3B8"/>
                </a:solidFill>
                <a:latin typeface="Arial" pitchFamily="34" charset="0"/>
                <a:ea typeface="Arial" pitchFamily="34" charset="-122"/>
                <a:cs typeface="Arial" pitchFamily="34" charset="-120"/>
              </a:rPr>
              <a:t>BP3MI, OGSCI, Mitra Global — Akses sertifikasi &amp; pasar dunia</a:t>
            </a:r>
            <a:endParaRPr lang="en-US" sz="820" dirty="0"/>
          </a:p>
        </p:txBody>
      </p:sp>
      <p:sp>
        <p:nvSpPr>
          <p:cNvPr id="32" name="Shape 30"/>
          <p:cNvSpPr/>
          <p:nvPr/>
        </p:nvSpPr>
        <p:spPr>
          <a:xfrm>
            <a:off x="4572000" y="1325880"/>
            <a:ext cx="6888175" cy="3474720"/>
          </a:xfrm>
          <a:prstGeom prst="roundRect">
            <a:avLst>
              <a:gd name="adj" fmla="val 2105"/>
            </a:avLst>
          </a:prstGeom>
          <a:solidFill>
            <a:srgbClr val="0A192F"/>
          </a:solidFill>
          <a:ln w="12700">
            <a:solidFill>
              <a:srgbClr val="1E3A5F"/>
            </a:solidFill>
            <a:prstDash val="solid"/>
          </a:ln>
        </p:spPr>
      </p:sp>
      <p:sp>
        <p:nvSpPr>
          <p:cNvPr id="33" name="Text 31"/>
          <p:cNvSpPr/>
          <p:nvPr/>
        </p:nvSpPr>
        <p:spPr>
          <a:xfrm>
            <a:off x="4754880" y="1463040"/>
            <a:ext cx="6522415" cy="274320"/>
          </a:xfrm>
          <a:prstGeom prst="rect">
            <a:avLst/>
          </a:prstGeom>
          <a:noFill/>
          <a:ln/>
        </p:spPr>
        <p:txBody>
          <a:bodyPr wrap="square" rtlCol="0" anchor="ctr"/>
          <a:lstStyle/>
          <a:p>
            <a:pPr indent="0" marL="0">
              <a:buNone/>
            </a:pPr>
            <a:r>
              <a:rPr lang="en-US" sz="1050" b="1" dirty="0">
                <a:solidFill>
                  <a:srgbClr val="F59E0B"/>
                </a:solidFill>
                <a:latin typeface="Arial" pitchFamily="34" charset="0"/>
                <a:ea typeface="Arial" pitchFamily="34" charset="-122"/>
                <a:cs typeface="Arial" pitchFamily="34" charset="-120"/>
              </a:rPr>
              <a:t>MITRA INDUSTRI KELAS DUNIA YANG AKTIF BERINVESTASI DI STP</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54880" y="1783080"/>
          <a:ext cx="6522415" cy="2834640"/>
        </p:xfrm>
        <a:graphic>
          <a:graphicData uri="http://schemas.openxmlformats.org/drawingml/2006/table">
            <a:tbl>
              <a:tblPr/>
              <a:tblGrid>
                <a:gridCol w="1828800"/>
                <a:gridCol w="1920240"/>
                <a:gridCol w="2773375"/>
              </a:tblGrid>
              <a:tr h="320040">
                <a:tc>
                  <a:txBody>
                    <a:bodyPr/>
                    <a:lstStyle/>
                    <a:p>
                      <a:pPr indent="0" marL="0">
                        <a:buNone/>
                      </a:pPr>
                      <a:r>
                        <a:rPr lang="en-US" sz="880" b="1" dirty="0">
                          <a:solidFill>
                            <a:srgbClr val="FFFFFF"/>
                          </a:solidFill>
                          <a:latin typeface="Arial" pitchFamily="34" charset="0"/>
                          <a:ea typeface="Arial" pitchFamily="34" charset="-122"/>
                          <a:cs typeface="Arial" pitchFamily="34" charset="-120"/>
                        </a:rPr>
                        <a:t>SEKTOR INDUSTRI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MITRA STRATEGIS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KONTRIBUSI NYATA BAGI KAWASAN STP</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384048">
                <a:tc>
                  <a:txBody>
                    <a:bodyPr/>
                    <a:lstStyle/>
                    <a:p>
                      <a:pPr indent="0" marL="0">
                        <a:buNone/>
                      </a:pPr>
                      <a:r>
                        <a:rPr lang="en-US" sz="880" dirty="0">
                          <a:solidFill>
                            <a:srgbClr val="94A3B8"/>
                          </a:solidFill>
                          <a:latin typeface="Arial" pitchFamily="34" charset="0"/>
                          <a:ea typeface="Arial" pitchFamily="34" charset="-122"/>
                          <a:cs typeface="Arial" pitchFamily="34" charset="-120"/>
                        </a:rPr>
                        <a:t>E-Commerce &amp; Logistik</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Shopee Indonesia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Infrastruktur UMKM Hub, Co-location, sewa Rp 544 jt/th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84048">
                <a:tc>
                  <a:txBody>
                    <a:bodyPr/>
                    <a:lstStyle/>
                    <a:p>
                      <a:pPr indent="0" marL="0">
                        <a:buNone/>
                      </a:pPr>
                      <a:r>
                        <a:rPr lang="en-US" sz="880" dirty="0">
                          <a:solidFill>
                            <a:srgbClr val="94A3B8"/>
                          </a:solidFill>
                          <a:latin typeface="Arial" pitchFamily="34" charset="0"/>
                          <a:ea typeface="Arial" pitchFamily="34" charset="-122"/>
                          <a:cs typeface="Arial" pitchFamily="34" charset="-120"/>
                        </a:rPr>
                        <a:t>Gaming &amp; Kreatif</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Garena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Gaming studio, beasiswa talenta digital, turnamen esports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84048">
                <a:tc>
                  <a:txBody>
                    <a:bodyPr/>
                    <a:lstStyle/>
                    <a:p>
                      <a:pPr indent="0" marL="0">
                        <a:buNone/>
                      </a:pPr>
                      <a:r>
                        <a:rPr lang="en-US" sz="880" dirty="0">
                          <a:solidFill>
                            <a:srgbClr val="94A3B8"/>
                          </a:solidFill>
                          <a:latin typeface="Arial" pitchFamily="34" charset="0"/>
                          <a:ea typeface="Arial" pitchFamily="34" charset="-122"/>
                          <a:cs typeface="Arial" pitchFamily="34" charset="-120"/>
                        </a:rPr>
                        <a:t>Perbankan &amp; Fintech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Bank Mandiri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Mandiri Innovation Hub, fasilitasi modal startup binaan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84048">
                <a:tc>
                  <a:txBody>
                    <a:bodyPr/>
                    <a:lstStyle/>
                    <a:p>
                      <a:pPr indent="0" marL="0">
                        <a:buNone/>
                      </a:pPr>
                      <a:r>
                        <a:rPr lang="en-US" sz="880" dirty="0">
                          <a:solidFill>
                            <a:srgbClr val="94A3B8"/>
                          </a:solidFill>
                          <a:latin typeface="Arial" pitchFamily="34" charset="0"/>
                          <a:ea typeface="Arial" pitchFamily="34" charset="-122"/>
                          <a:cs typeface="Arial" pitchFamily="34" charset="-120"/>
                        </a:rPr>
                        <a:t>Telekomunikasi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Indosat Ooredoo Hutchison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Laboratorium 5G, konektivitas fiber optik kawasan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84048">
                <a:tc>
                  <a:txBody>
                    <a:bodyPr/>
                    <a:lstStyle/>
                    <a:p>
                      <a:pPr indent="0" marL="0">
                        <a:buNone/>
                      </a:pPr>
                      <a:r>
                        <a:rPr lang="en-US" sz="880" dirty="0">
                          <a:solidFill>
                            <a:srgbClr val="94A3B8"/>
                          </a:solidFill>
                          <a:latin typeface="Arial" pitchFamily="34" charset="0"/>
                          <a:ea typeface="Arial" pitchFamily="34" charset="-122"/>
                          <a:cs typeface="Arial" pitchFamily="34" charset="-120"/>
                        </a:rPr>
                        <a:t>Ride-Hailing &amp; UMKM</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GoTo (Gojek-Tokopedia)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GoTo UMKM Center, pelatihan onboarding merchant lokal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411480">
                <a:tc>
                  <a:txBody>
                    <a:bodyPr/>
                    <a:lstStyle/>
                    <a:p>
                      <a:pPr indent="0" marL="0">
                        <a:buNone/>
                      </a:pPr>
                      <a:r>
                        <a:rPr lang="en-US" sz="880" dirty="0">
                          <a:solidFill>
                            <a:srgbClr val="94A3B8"/>
                          </a:solidFill>
                          <a:latin typeface="Arial" pitchFamily="34" charset="0"/>
                          <a:ea typeface="Arial" pitchFamily="34" charset="-122"/>
                          <a:cs typeface="Arial" pitchFamily="34" charset="-120"/>
                        </a:rPr>
                        <a:t>Migas &amp; Industri Berat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OGSCI Consortium</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59E0B"/>
                          </a:solidFill>
                          <a:latin typeface="Arial" pitchFamily="34" charset="0"/>
                          <a:ea typeface="Arial" pitchFamily="34" charset="-122"/>
                          <a:cs typeface="Arial" pitchFamily="34" charset="-120"/>
                        </a:rPr>
                        <a:t>Pelatihan migas internasional: Target Rp 6,25 M (2030)</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bl>
          </a:graphicData>
        </a:graphic>
      </p:graphicFrame>
      <p:sp>
        <p:nvSpPr>
          <p:cNvPr id="35" name="Shape 32"/>
          <p:cNvSpPr/>
          <p:nvPr/>
        </p:nvSpPr>
        <p:spPr>
          <a:xfrm>
            <a:off x="4572000" y="4937760"/>
            <a:ext cx="6888175" cy="1280160"/>
          </a:xfrm>
          <a:prstGeom prst="roundRect">
            <a:avLst>
              <a:gd name="adj" fmla="val 5714"/>
            </a:avLst>
          </a:prstGeom>
          <a:solidFill>
            <a:srgbClr val="0D213F"/>
          </a:solidFill>
          <a:ln w="12700">
            <a:solidFill>
              <a:srgbClr val="10B981"/>
            </a:solidFill>
            <a:prstDash val="solid"/>
          </a:ln>
        </p:spPr>
      </p:sp>
      <p:sp>
        <p:nvSpPr>
          <p:cNvPr id="36" name="Text 33"/>
          <p:cNvSpPr/>
          <p:nvPr/>
        </p:nvSpPr>
        <p:spPr>
          <a:xfrm>
            <a:off x="4754880" y="5029200"/>
            <a:ext cx="6522415" cy="274320"/>
          </a:xfrm>
          <a:prstGeom prst="rect">
            <a:avLst/>
          </a:prstGeom>
          <a:noFill/>
          <a:ln/>
        </p:spPr>
        <p:txBody>
          <a:bodyPr wrap="square" rtlCol="0" anchor="ctr"/>
          <a:lstStyle/>
          <a:p>
            <a:pPr indent="0" marL="0">
              <a:buNone/>
            </a:pPr>
            <a:r>
              <a:rPr lang="en-US" sz="980" b="1" dirty="0">
                <a:solidFill>
                  <a:srgbClr val="10B981"/>
                </a:solidFill>
                <a:latin typeface="Arial" pitchFamily="34" charset="0"/>
                <a:ea typeface="Arial" pitchFamily="34" charset="-122"/>
                <a:cs typeface="Arial" pitchFamily="34" charset="-120"/>
              </a:rPr>
              <a:t>💎  PRINSIP ZERO APBD BURDEN: SELURUH FASILITAS CANGGIH DIBANGUN OLEH INVESTASI SWASTA</a:t>
            </a:r>
            <a:endParaRPr lang="en-US" sz="980" dirty="0"/>
          </a:p>
        </p:txBody>
      </p:sp>
      <p:sp>
        <p:nvSpPr>
          <p:cNvPr id="37" name="Text 34"/>
          <p:cNvSpPr/>
          <p:nvPr/>
        </p:nvSpPr>
        <p:spPr>
          <a:xfrm>
            <a:off x="4754880" y="5321808"/>
            <a:ext cx="6522415" cy="77724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Laboratorium AI, Studio Gaming, 5G Experience, hingga Cyber Security Hub tidak dibangun dengan membebani belanja modal APBD Kota Surakarta, melainkan murni melalui skema Public-Private Partnership (PPP). Pemkot menyediakan wahana dan arah kebijakan, korporasi global menanamkan investasi teknologi.</a:t>
            </a:r>
            <a:endParaRPr lang="en-US" sz="9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DIAGNOSTIK &amp; STRATEGI PERCEPATAN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GAP ANALYSIS JUJUR &amp; 5 TEROBOSAN SOLUSI 2026–2030</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Audit Transparan: Mengidentifikasi Titik Lemah Eksisting dan Menetapkan Solusi Terobosan Terukur</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07 / 12</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728655" cy="4023360"/>
        </p:xfrm>
        <a:graphic>
          <a:graphicData uri="http://schemas.openxmlformats.org/drawingml/2006/table">
            <a:tbl>
              <a:tblPr/>
              <a:tblGrid>
                <a:gridCol w="548640"/>
                <a:gridCol w="2286000"/>
                <a:gridCol w="3291840"/>
                <a:gridCol w="4602175"/>
              </a:tblGrid>
              <a:tr h="347472">
                <a:tc>
                  <a:txBody>
                    <a:bodyPr/>
                    <a:lstStyle/>
                    <a:p>
                      <a:pPr algn="ctr" indent="0" marL="0">
                        <a:buNone/>
                      </a:pPr>
                      <a:r>
                        <a:rPr lang="en-US" sz="880" b="1" dirty="0">
                          <a:solidFill>
                            <a:srgbClr val="FFFFFF"/>
                          </a:solidFill>
                          <a:latin typeface="Arial" pitchFamily="34" charset="0"/>
                          <a:ea typeface="Arial" pitchFamily="34" charset="-122"/>
                          <a:cs typeface="Arial" pitchFamily="34" charset="-120"/>
                        </a:rPr>
                        <a:t>NO</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GAP EKSISTING</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AKAR PERMASALAHAN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5 SOLUSI TEROBOSAN STRATEGIS 2026–2030</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713232">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1</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Jenis Pelatihan Masih Terbatas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Keterbatasan instruktur ahli internal &amp; sarana diklat berbasis industri masa depan.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FFFFFF"/>
                          </a:solidFill>
                          <a:latin typeface="Arial" pitchFamily="34" charset="0"/>
                          <a:ea typeface="Arial" pitchFamily="34" charset="-122"/>
                          <a:cs typeface="Arial" pitchFamily="34" charset="-120"/>
                        </a:rPr>
                        <a:t>Gandeng korporasi global (OGSCI, Kemenperin) buka kelas spesialis: Welder Bawah Air, AI Engineer, Teknisi Baterai EV, &amp; Drone Operator.</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713232">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2</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R&amp;D Belum Mengarah Hilirisasi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Riset kampus berjalan terisolasi, kurang terpetakan, dan belum berorientasi pasar komersial.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FFFFFF"/>
                          </a:solidFill>
                          <a:latin typeface="Arial" pitchFamily="34" charset="0"/>
                          <a:ea typeface="Arial" pitchFamily="34" charset="-122"/>
                          <a:cs typeface="Arial" pitchFamily="34" charset="-120"/>
                        </a:rPr>
                        <a:t>Bentuk Technology Transfer Office (TTO) &amp; kurasi riset kampus UNS/UMS berbasis kebutuhan industri nyata dan problem kota.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713232">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3</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Investasi Kawasan Terbatas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Lahan kosong belum optimal dikerjasamakan; promosi investor teknologi belum sistematis.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FFFFFF"/>
                          </a:solidFill>
                          <a:latin typeface="Arial" pitchFamily="34" charset="0"/>
                          <a:ea typeface="Arial" pitchFamily="34" charset="-122"/>
                          <a:cs typeface="Arial" pitchFamily="34" charset="-120"/>
                        </a:rPr>
                        <a:t>Zonasi investasi teknologi terpadu &amp; skema Long-Term Revenue Sharing (10–25 tahun) bagi investor swasta global.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713232">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4</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Kemandirian Finansial Rendah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Pendapatan masih bertumpu pada sewa lahan; hardware lab belum menghasilkan revenue optimal.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FFFFFF"/>
                          </a:solidFill>
                          <a:latin typeface="Arial" pitchFamily="34" charset="0"/>
                          <a:ea typeface="Arial" pitchFamily="34" charset="-122"/>
                          <a:cs typeface="Arial" pitchFamily="34" charset="-120"/>
                        </a:rPr>
                        <a:t>Diversifikasi 6 revenue stream: Uji NDT Penetrant, TUK/JFT mandiri, Rekayasa Manufaktur, Co-Working, &amp; Startup Binaan.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749808">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5</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Promosi &amp; Penyerapan Rendah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Networking kurang di-maintenance; belum ada regulasi penyerapan produk inovasi di pasar lokal.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59E0B"/>
                          </a:solidFill>
                          <a:latin typeface="Arial" pitchFamily="34" charset="0"/>
                          <a:ea typeface="Arial" pitchFamily="34" charset="-122"/>
                          <a:cs typeface="Arial" pitchFamily="34" charset="-120"/>
                        </a:rPr>
                        <a:t>Penerbitan Instruksi Walikota untuk e-Katalog Lokal Afirmatif bagi OPD Pemkot menyerap produk/layanan tenant STP.</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bl>
          </a:graphicData>
        </a:graphic>
      </p:graphicFrame>
      <p:sp>
        <p:nvSpPr>
          <p:cNvPr id="12" name="Shape 9"/>
          <p:cNvSpPr/>
          <p:nvPr/>
        </p:nvSpPr>
        <p:spPr>
          <a:xfrm>
            <a:off x="731520" y="5486400"/>
            <a:ext cx="10728655" cy="777240"/>
          </a:xfrm>
          <a:prstGeom prst="roundRect">
            <a:avLst>
              <a:gd name="adj" fmla="val 9412"/>
            </a:avLst>
          </a:prstGeom>
          <a:solidFill>
            <a:srgbClr val="0D213F"/>
          </a:solidFill>
          <a:ln w="12700">
            <a:solidFill>
              <a:srgbClr val="F59E0B"/>
            </a:solidFill>
            <a:prstDash val="solid"/>
          </a:ln>
        </p:spPr>
      </p:sp>
      <p:sp>
        <p:nvSpPr>
          <p:cNvPr id="13" name="Text 10"/>
          <p:cNvSpPr/>
          <p:nvPr/>
        </p:nvSpPr>
        <p:spPr>
          <a:xfrm>
            <a:off x="914400" y="5559552"/>
            <a:ext cx="10362895" cy="256032"/>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PRIORITAS #5: INSTRUKSI WALIKOTA e-KATALOG AFIRMATIF (QUICK WIN 30 HARI)</a:t>
            </a:r>
            <a:endParaRPr lang="en-US" sz="1000" dirty="0"/>
          </a:p>
        </p:txBody>
      </p:sp>
      <p:sp>
        <p:nvSpPr>
          <p:cNvPr id="14" name="Text 11"/>
          <p:cNvSpPr/>
          <p:nvPr/>
        </p:nvSpPr>
        <p:spPr>
          <a:xfrm>
            <a:off x="914400" y="5815584"/>
            <a:ext cx="10362895" cy="384048"/>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Target: Rp 2,25 Miliar serapan belanja OPD Pemkot di 2030. Memberikan pasar captive awal bagi 80+ produk tenant dan startup binaan STP tanpa perlu alokasi pagu belanja baru di APBD.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PETA JALAN STRATEGIS KELEMBAGAAN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ROADMAP 3 FASE TRANSFORMASI: DARI CENTRE MENUJU HOLDING INOVASI DAERAH</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Milestone Terukur dan Bertahap Menuju Kemandirian Finansial Penuh Tanpa Subsidi Belanja APBD 2030</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08 / 12</a:t>
            </a:r>
            <a:endParaRPr lang="en-US" sz="900" dirty="0"/>
          </a:p>
        </p:txBody>
      </p:sp>
      <p:sp>
        <p:nvSpPr>
          <p:cNvPr id="11" name="Shape 9"/>
          <p:cNvSpPr/>
          <p:nvPr/>
        </p:nvSpPr>
        <p:spPr>
          <a:xfrm>
            <a:off x="731520" y="1325880"/>
            <a:ext cx="3474720" cy="3657600"/>
          </a:xfrm>
          <a:prstGeom prst="roundRect">
            <a:avLst>
              <a:gd name="adj" fmla="val 2105"/>
            </a:avLst>
          </a:prstGeom>
          <a:solidFill>
            <a:srgbClr val="0A192F"/>
          </a:solidFill>
          <a:ln w="12700">
            <a:solidFill>
              <a:srgbClr val="1E3A5F"/>
            </a:solidFill>
            <a:prstDash val="solid"/>
          </a:ln>
        </p:spPr>
      </p:sp>
      <p:sp>
        <p:nvSpPr>
          <p:cNvPr id="12" name="Shape 10"/>
          <p:cNvSpPr/>
          <p:nvPr/>
        </p:nvSpPr>
        <p:spPr>
          <a:xfrm>
            <a:off x="731520" y="1325880"/>
            <a:ext cx="73152" cy="365760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63040"/>
            <a:ext cx="3200400" cy="594360"/>
          </a:xfrm>
          <a:prstGeom prst="roundRect">
            <a:avLst>
              <a:gd name="adj" fmla="val 7692"/>
            </a:avLst>
          </a:prstGeom>
          <a:solidFill>
            <a:srgbClr val="0D213F"/>
          </a:solidFill>
          <a:ln w="12700">
            <a:solidFill>
              <a:srgbClr val="0EA5E9"/>
            </a:solidFill>
            <a:prstDash val="solid"/>
          </a:ln>
        </p:spPr>
      </p:sp>
      <p:sp>
        <p:nvSpPr>
          <p:cNvPr id="14" name="Text 12"/>
          <p:cNvSpPr/>
          <p:nvPr/>
        </p:nvSpPr>
        <p:spPr>
          <a:xfrm>
            <a:off x="914400" y="1508760"/>
            <a:ext cx="3108960" cy="228600"/>
          </a:xfrm>
          <a:prstGeom prst="rect">
            <a:avLst/>
          </a:prstGeom>
          <a:noFill/>
          <a:ln/>
        </p:spPr>
        <p:txBody>
          <a:bodyPr wrap="square" rtlCol="0" anchor="ctr"/>
          <a:lstStyle/>
          <a:p>
            <a:pPr algn="ctr" indent="0" marL="0">
              <a:buNone/>
            </a:pPr>
            <a:r>
              <a:rPr lang="en-US" sz="950" b="1" dirty="0">
                <a:solidFill>
                  <a:srgbClr val="0EA5E9"/>
                </a:solidFill>
                <a:latin typeface="Arial" pitchFamily="34" charset="0"/>
                <a:ea typeface="Arial" pitchFamily="34" charset="-122"/>
                <a:cs typeface="Arial" pitchFamily="34" charset="-120"/>
              </a:rPr>
              <a:t>FASE 1 (2026–2027)</a:t>
            </a:r>
            <a:endParaRPr lang="en-US" sz="950" dirty="0"/>
          </a:p>
        </p:txBody>
      </p:sp>
      <p:sp>
        <p:nvSpPr>
          <p:cNvPr id="15" name="Text 13"/>
          <p:cNvSpPr/>
          <p:nvPr/>
        </p:nvSpPr>
        <p:spPr>
          <a:xfrm>
            <a:off x="914400" y="1737360"/>
            <a:ext cx="3108960" cy="27432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CENTRE OF INNOVATION &amp; CONNECTIVITY</a:t>
            </a:r>
            <a:endParaRPr lang="en-US" sz="920" dirty="0"/>
          </a:p>
        </p:txBody>
      </p:sp>
      <p:sp>
        <p:nvSpPr>
          <p:cNvPr id="16" name="Shape 14"/>
          <p:cNvSpPr/>
          <p:nvPr/>
        </p:nvSpPr>
        <p:spPr>
          <a:xfrm>
            <a:off x="914400" y="2148840"/>
            <a:ext cx="3108960" cy="365760"/>
          </a:xfrm>
          <a:prstGeom prst="roundRect">
            <a:avLst>
              <a:gd name="adj" fmla="val 10000"/>
            </a:avLst>
          </a:prstGeom>
          <a:solidFill>
            <a:srgbClr val="070D18"/>
          </a:solidFill>
          <a:ln w="12700">
            <a:solidFill>
              <a:srgbClr val="1E3A5F"/>
            </a:solidFill>
            <a:prstDash val="solid"/>
          </a:ln>
        </p:spPr>
      </p:sp>
      <p:sp>
        <p:nvSpPr>
          <p:cNvPr id="17" name="Text 15"/>
          <p:cNvSpPr/>
          <p:nvPr/>
        </p:nvSpPr>
        <p:spPr>
          <a:xfrm>
            <a:off x="914400" y="2148840"/>
            <a:ext cx="3108960" cy="365760"/>
          </a:xfrm>
          <a:prstGeom prst="rect">
            <a:avLst/>
          </a:prstGeom>
          <a:noFill/>
          <a:ln/>
        </p:spPr>
        <p:txBody>
          <a:bodyPr wrap="square" rtlCol="0" anchor="ctr"/>
          <a:lstStyle/>
          <a:p>
            <a:pPr algn="ctr" indent="0" marL="0">
              <a:buNone/>
            </a:pPr>
            <a:r>
              <a:rPr lang="en-US" sz="1050" b="1" dirty="0">
                <a:solidFill>
                  <a:srgbClr val="F59E0B"/>
                </a:solidFill>
                <a:latin typeface="Arial" pitchFamily="34" charset="0"/>
                <a:ea typeface="Arial" pitchFamily="34" charset="-122"/>
                <a:cs typeface="Arial" pitchFamily="34" charset="-120"/>
              </a:rPr>
              <a:t>Target: Rp 7,50 M ➔ Rp 12,53 M</a:t>
            </a:r>
            <a:endParaRPr lang="en-US" sz="1050" dirty="0"/>
          </a:p>
        </p:txBody>
      </p:sp>
      <p:sp>
        <p:nvSpPr>
          <p:cNvPr id="18" name="Text 16"/>
          <p:cNvSpPr/>
          <p:nvPr/>
        </p:nvSpPr>
        <p:spPr>
          <a:xfrm>
            <a:off x="914400" y="2606040"/>
            <a:ext cx="3108960" cy="224028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Pondasi tata kelola kelembagaan BLUD akuntabel</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Akreditasi laboratorium industri &amp; standarisasi uji</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Sertifikasi mutu diklat vokasi &amp; kemitraan OGSCI</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Pembentukan Konsorsium Riset 5 Kampus Solo Raya</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Aktivasi TUK Mandiri &amp; program SMK GoGlobal</a:t>
            </a:r>
            <a:endParaRPr lang="en-US" sz="920" dirty="0"/>
          </a:p>
        </p:txBody>
      </p:sp>
      <p:sp>
        <p:nvSpPr>
          <p:cNvPr id="19" name="Shape 17"/>
          <p:cNvSpPr/>
          <p:nvPr/>
        </p:nvSpPr>
        <p:spPr>
          <a:xfrm>
            <a:off x="4343400" y="1325880"/>
            <a:ext cx="3474720" cy="3657600"/>
          </a:xfrm>
          <a:prstGeom prst="roundRect">
            <a:avLst>
              <a:gd name="adj" fmla="val 2105"/>
            </a:avLst>
          </a:prstGeom>
          <a:solidFill>
            <a:srgbClr val="0A192F"/>
          </a:solidFill>
          <a:ln w="12700">
            <a:solidFill>
              <a:srgbClr val="1E3A5F"/>
            </a:solidFill>
            <a:prstDash val="solid"/>
          </a:ln>
        </p:spPr>
      </p:sp>
      <p:sp>
        <p:nvSpPr>
          <p:cNvPr id="20" name="Shape 18"/>
          <p:cNvSpPr/>
          <p:nvPr/>
        </p:nvSpPr>
        <p:spPr>
          <a:xfrm>
            <a:off x="4343400" y="1325880"/>
            <a:ext cx="73152" cy="3657600"/>
          </a:xfrm>
          <a:prstGeom prst="roundRect">
            <a:avLst>
              <a:gd name="adj" fmla="val 50000"/>
            </a:avLst>
          </a:prstGeom>
          <a:solidFill>
            <a:srgbClr val="F59E0B"/>
          </a:solidFill>
          <a:ln w="12700">
            <a:solidFill>
              <a:srgbClr val="F59E0B"/>
            </a:solidFill>
            <a:prstDash val="solid"/>
          </a:ln>
        </p:spPr>
      </p:sp>
      <p:sp>
        <p:nvSpPr>
          <p:cNvPr id="21" name="Shape 19"/>
          <p:cNvSpPr/>
          <p:nvPr/>
        </p:nvSpPr>
        <p:spPr>
          <a:xfrm>
            <a:off x="4480560" y="1463040"/>
            <a:ext cx="3200400" cy="594360"/>
          </a:xfrm>
          <a:prstGeom prst="roundRect">
            <a:avLst>
              <a:gd name="adj" fmla="val 7692"/>
            </a:avLst>
          </a:prstGeom>
          <a:solidFill>
            <a:srgbClr val="0D213F"/>
          </a:solidFill>
          <a:ln w="12700">
            <a:solidFill>
              <a:srgbClr val="F59E0B"/>
            </a:solidFill>
            <a:prstDash val="solid"/>
          </a:ln>
        </p:spPr>
      </p:sp>
      <p:sp>
        <p:nvSpPr>
          <p:cNvPr id="22" name="Text 20"/>
          <p:cNvSpPr/>
          <p:nvPr/>
        </p:nvSpPr>
        <p:spPr>
          <a:xfrm>
            <a:off x="4526280" y="1508760"/>
            <a:ext cx="3108960" cy="228600"/>
          </a:xfrm>
          <a:prstGeom prst="rect">
            <a:avLst/>
          </a:prstGeom>
          <a:noFill/>
          <a:ln/>
        </p:spPr>
        <p:txBody>
          <a:bodyPr wrap="square"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FASE 2 (2028–2029)</a:t>
            </a:r>
            <a:endParaRPr lang="en-US" sz="950" dirty="0"/>
          </a:p>
        </p:txBody>
      </p:sp>
      <p:sp>
        <p:nvSpPr>
          <p:cNvPr id="23" name="Text 21"/>
          <p:cNvSpPr/>
          <p:nvPr/>
        </p:nvSpPr>
        <p:spPr>
          <a:xfrm>
            <a:off x="4526280" y="1737360"/>
            <a:ext cx="3108960" cy="27432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ENTREPRENEUR TECHNOPARK (SBU MANDIRI)</a:t>
            </a:r>
            <a:endParaRPr lang="en-US" sz="920" dirty="0"/>
          </a:p>
        </p:txBody>
      </p:sp>
      <p:sp>
        <p:nvSpPr>
          <p:cNvPr id="24" name="Shape 22"/>
          <p:cNvSpPr/>
          <p:nvPr/>
        </p:nvSpPr>
        <p:spPr>
          <a:xfrm>
            <a:off x="4526280" y="2148840"/>
            <a:ext cx="3108960" cy="365760"/>
          </a:xfrm>
          <a:prstGeom prst="roundRect">
            <a:avLst>
              <a:gd name="adj" fmla="val 10000"/>
            </a:avLst>
          </a:prstGeom>
          <a:solidFill>
            <a:srgbClr val="070D18"/>
          </a:solidFill>
          <a:ln w="12700">
            <a:solidFill>
              <a:srgbClr val="1E3A5F"/>
            </a:solidFill>
            <a:prstDash val="solid"/>
          </a:ln>
        </p:spPr>
      </p:sp>
      <p:sp>
        <p:nvSpPr>
          <p:cNvPr id="25" name="Text 23"/>
          <p:cNvSpPr/>
          <p:nvPr/>
        </p:nvSpPr>
        <p:spPr>
          <a:xfrm>
            <a:off x="4526280" y="2148840"/>
            <a:ext cx="3108960" cy="365760"/>
          </a:xfrm>
          <a:prstGeom prst="rect">
            <a:avLst/>
          </a:prstGeom>
          <a:noFill/>
          <a:ln/>
        </p:spPr>
        <p:txBody>
          <a:bodyPr wrap="square" rtlCol="0" anchor="ctr"/>
          <a:lstStyle/>
          <a:p>
            <a:pPr algn="ctr" indent="0" marL="0">
              <a:buNone/>
            </a:pPr>
            <a:r>
              <a:rPr lang="en-US" sz="1050" b="1" dirty="0">
                <a:solidFill>
                  <a:srgbClr val="F59E0B"/>
                </a:solidFill>
                <a:latin typeface="Arial" pitchFamily="34" charset="0"/>
                <a:ea typeface="Arial" pitchFamily="34" charset="-122"/>
                <a:cs typeface="Arial" pitchFamily="34" charset="-120"/>
              </a:rPr>
              <a:t>Target: Rp 12,53 M ➔ Rp 20,62 M</a:t>
            </a:r>
            <a:endParaRPr lang="en-US" sz="1050" dirty="0"/>
          </a:p>
        </p:txBody>
      </p:sp>
      <p:sp>
        <p:nvSpPr>
          <p:cNvPr id="26" name="Text 24"/>
          <p:cNvSpPr/>
          <p:nvPr/>
        </p:nvSpPr>
        <p:spPr>
          <a:xfrm>
            <a:off x="4526280" y="2606040"/>
            <a:ext cx="3108960" cy="224028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Pembentukan Strategic Business Unit (SBU) profesional</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Hilirisasi 15–20 produk inovasi komersial ber-TKDN</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Strategi corporate marketing &amp; penetrasi pasar nasional</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Ekspansi revenue OGSCI Migas mencapai Rp 5,5 Miliar</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Operasionalisasi Co-Working &amp; Virtual Office penuh</a:t>
            </a:r>
            <a:endParaRPr lang="en-US" sz="920" dirty="0"/>
          </a:p>
        </p:txBody>
      </p:sp>
      <p:sp>
        <p:nvSpPr>
          <p:cNvPr id="27" name="Shape 25"/>
          <p:cNvSpPr/>
          <p:nvPr/>
        </p:nvSpPr>
        <p:spPr>
          <a:xfrm>
            <a:off x="7955280" y="1325880"/>
            <a:ext cx="3474720" cy="3657600"/>
          </a:xfrm>
          <a:prstGeom prst="roundRect">
            <a:avLst>
              <a:gd name="adj" fmla="val 2105"/>
            </a:avLst>
          </a:prstGeom>
          <a:solidFill>
            <a:srgbClr val="0A192F"/>
          </a:solidFill>
          <a:ln w="12700">
            <a:solidFill>
              <a:srgbClr val="1E3A5F"/>
            </a:solidFill>
            <a:prstDash val="solid"/>
          </a:ln>
        </p:spPr>
      </p:sp>
      <p:sp>
        <p:nvSpPr>
          <p:cNvPr id="28" name="Shape 26"/>
          <p:cNvSpPr/>
          <p:nvPr/>
        </p:nvSpPr>
        <p:spPr>
          <a:xfrm>
            <a:off x="7955280" y="1325880"/>
            <a:ext cx="73152" cy="3657600"/>
          </a:xfrm>
          <a:prstGeom prst="roundRect">
            <a:avLst>
              <a:gd name="adj" fmla="val 50000"/>
            </a:avLst>
          </a:prstGeom>
          <a:solidFill>
            <a:srgbClr val="10B981"/>
          </a:solidFill>
          <a:ln w="12700">
            <a:solidFill>
              <a:srgbClr val="10B981"/>
            </a:solidFill>
            <a:prstDash val="solid"/>
          </a:ln>
        </p:spPr>
      </p:sp>
      <p:sp>
        <p:nvSpPr>
          <p:cNvPr id="29" name="Shape 27"/>
          <p:cNvSpPr/>
          <p:nvPr/>
        </p:nvSpPr>
        <p:spPr>
          <a:xfrm>
            <a:off x="8092440" y="1463040"/>
            <a:ext cx="3200400" cy="594360"/>
          </a:xfrm>
          <a:prstGeom prst="roundRect">
            <a:avLst>
              <a:gd name="adj" fmla="val 7692"/>
            </a:avLst>
          </a:prstGeom>
          <a:solidFill>
            <a:srgbClr val="0D213F"/>
          </a:solidFill>
          <a:ln w="12700">
            <a:solidFill>
              <a:srgbClr val="10B981"/>
            </a:solidFill>
            <a:prstDash val="solid"/>
          </a:ln>
        </p:spPr>
      </p:sp>
      <p:sp>
        <p:nvSpPr>
          <p:cNvPr id="30" name="Text 28"/>
          <p:cNvSpPr/>
          <p:nvPr/>
        </p:nvSpPr>
        <p:spPr>
          <a:xfrm>
            <a:off x="8138160" y="1508760"/>
            <a:ext cx="3108960" cy="228600"/>
          </a:xfrm>
          <a:prstGeom prst="rect">
            <a:avLst/>
          </a:prstGeom>
          <a:noFill/>
          <a:ln/>
        </p:spPr>
        <p:txBody>
          <a:bodyPr wrap="square" rtlCol="0" anchor="ctr"/>
          <a:lstStyle/>
          <a:p>
            <a:pPr algn="ctr" indent="0" marL="0">
              <a:buNone/>
            </a:pPr>
            <a:r>
              <a:rPr lang="en-US" sz="950" b="1" dirty="0">
                <a:solidFill>
                  <a:srgbClr val="10B981"/>
                </a:solidFill>
                <a:latin typeface="Arial" pitchFamily="34" charset="0"/>
                <a:ea typeface="Arial" pitchFamily="34" charset="-122"/>
                <a:cs typeface="Arial" pitchFamily="34" charset="-120"/>
              </a:rPr>
              <a:t>FASE 3 (2029–2030)</a:t>
            </a:r>
            <a:endParaRPr lang="en-US" sz="950" dirty="0"/>
          </a:p>
        </p:txBody>
      </p:sp>
      <p:sp>
        <p:nvSpPr>
          <p:cNvPr id="31" name="Text 29"/>
          <p:cNvSpPr/>
          <p:nvPr/>
        </p:nvSpPr>
        <p:spPr>
          <a:xfrm>
            <a:off x="8138160" y="1737360"/>
            <a:ext cx="3108960" cy="27432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GLOBAL MARKET POSITIONING &amp; HOLDING</a:t>
            </a:r>
            <a:endParaRPr lang="en-US" sz="920" dirty="0"/>
          </a:p>
        </p:txBody>
      </p:sp>
      <p:sp>
        <p:nvSpPr>
          <p:cNvPr id="32" name="Shape 30"/>
          <p:cNvSpPr/>
          <p:nvPr/>
        </p:nvSpPr>
        <p:spPr>
          <a:xfrm>
            <a:off x="8138160" y="2148840"/>
            <a:ext cx="3108960" cy="365760"/>
          </a:xfrm>
          <a:prstGeom prst="roundRect">
            <a:avLst>
              <a:gd name="adj" fmla="val 10000"/>
            </a:avLst>
          </a:prstGeom>
          <a:solidFill>
            <a:srgbClr val="070D18"/>
          </a:solidFill>
          <a:ln w="12700">
            <a:solidFill>
              <a:srgbClr val="1E3A5F"/>
            </a:solidFill>
            <a:prstDash val="solid"/>
          </a:ln>
        </p:spPr>
      </p:sp>
      <p:sp>
        <p:nvSpPr>
          <p:cNvPr id="33" name="Text 31"/>
          <p:cNvSpPr/>
          <p:nvPr/>
        </p:nvSpPr>
        <p:spPr>
          <a:xfrm>
            <a:off x="8138160" y="2148840"/>
            <a:ext cx="3108960" cy="365760"/>
          </a:xfrm>
          <a:prstGeom prst="rect">
            <a:avLst/>
          </a:prstGeom>
          <a:noFill/>
          <a:ln/>
        </p:spPr>
        <p:txBody>
          <a:bodyPr wrap="square" rtlCol="0" anchor="ctr"/>
          <a:lstStyle/>
          <a:p>
            <a:pPr algn="ctr" indent="0" marL="0">
              <a:buNone/>
            </a:pPr>
            <a:r>
              <a:rPr lang="en-US" sz="1050" b="1" dirty="0">
                <a:solidFill>
                  <a:srgbClr val="F59E0B"/>
                </a:solidFill>
                <a:latin typeface="Arial" pitchFamily="34" charset="0"/>
                <a:ea typeface="Arial" pitchFamily="34" charset="-122"/>
                <a:cs typeface="Arial" pitchFamily="34" charset="-120"/>
              </a:rPr>
              <a:t>Target: Rp 20,62 M ➔ Rp 23,47 M</a:t>
            </a:r>
            <a:endParaRPr lang="en-US" sz="1050" dirty="0"/>
          </a:p>
        </p:txBody>
      </p:sp>
      <p:sp>
        <p:nvSpPr>
          <p:cNvPr id="34" name="Text 32"/>
          <p:cNvSpPr/>
          <p:nvPr/>
        </p:nvSpPr>
        <p:spPr>
          <a:xfrm>
            <a:off x="8138160" y="2606040"/>
            <a:ext cx="3108960" cy="224028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Kemandirian finansial penuh: 0% subsidi belanja APBD</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Operasional holding company inovasi daerah pertama</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Pusat pengembangan Indonesia Digital Technopark</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Realisasi target pendapatan mandiri Rp 23,47 Miliar</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Ekspansi jejaring kemitraan dan penempatan global</a:t>
            </a:r>
            <a:endParaRPr lang="en-US" sz="920" dirty="0"/>
          </a:p>
        </p:txBody>
      </p:sp>
      <p:sp>
        <p:nvSpPr>
          <p:cNvPr id="35" name="Shape 33"/>
          <p:cNvSpPr/>
          <p:nvPr/>
        </p:nvSpPr>
        <p:spPr>
          <a:xfrm>
            <a:off x="731520" y="5120640"/>
            <a:ext cx="10728655" cy="1143000"/>
          </a:xfrm>
          <a:prstGeom prst="roundRect">
            <a:avLst>
              <a:gd name="adj" fmla="val 6400"/>
            </a:avLst>
          </a:prstGeom>
          <a:solidFill>
            <a:srgbClr val="0D213F"/>
          </a:solidFill>
          <a:ln w="12700">
            <a:solidFill>
              <a:srgbClr val="0EA5E9"/>
            </a:solidFill>
            <a:prstDash val="solid"/>
          </a:ln>
        </p:spPr>
      </p:sp>
      <p:sp>
        <p:nvSpPr>
          <p:cNvPr id="36" name="Text 34"/>
          <p:cNvSpPr/>
          <p:nvPr/>
        </p:nvSpPr>
        <p:spPr>
          <a:xfrm>
            <a:off x="914400" y="5212080"/>
            <a:ext cx="10362895" cy="22860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RINGKASAN TARGET TAHUNAN MENUJU KEMANDIRIAN 2030 (AUDIT FINANSIAL RIIL):</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14400" y="5486400"/>
          <a:ext cx="10362895" cy="658368"/>
        </p:xfrm>
        <a:graphic>
          <a:graphicData uri="http://schemas.openxmlformats.org/drawingml/2006/table">
            <a:tbl>
              <a:tblPr/>
              <a:tblGrid>
                <a:gridCol w="2072030"/>
                <a:gridCol w="2072030"/>
                <a:gridCol w="2072030"/>
                <a:gridCol w="2072030"/>
                <a:gridCol w="2074774"/>
              </a:tblGrid>
              <a:tr h="292608">
                <a:tc>
                  <a:txBody>
                    <a:bodyPr/>
                    <a:lstStyle/>
                    <a:p>
                      <a:pPr algn="ctr" indent="0" marL="0">
                        <a:buNone/>
                      </a:pPr>
                      <a:r>
                        <a:rPr lang="en-US" sz="920" b="1" dirty="0">
                          <a:solidFill>
                            <a:srgbClr val="FFFFFF"/>
                          </a:solidFill>
                          <a:latin typeface="Arial" pitchFamily="34" charset="0"/>
                          <a:ea typeface="Arial" pitchFamily="34" charset="-122"/>
                          <a:cs typeface="Arial" pitchFamily="34" charset="-120"/>
                        </a:rPr>
                        <a:t>TAHUN 2026 (Baseline)</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20" b="1" dirty="0">
                          <a:solidFill>
                            <a:srgbClr val="FFFFFF"/>
                          </a:solidFill>
                          <a:latin typeface="Arial" pitchFamily="34" charset="0"/>
                          <a:ea typeface="Arial" pitchFamily="34" charset="-122"/>
                          <a:cs typeface="Arial" pitchFamily="34" charset="-120"/>
                        </a:rPr>
                        <a:t>TAHUN 2027 (+67,0%)</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20" b="1" dirty="0">
                          <a:solidFill>
                            <a:srgbClr val="FFFFFF"/>
                          </a:solidFill>
                          <a:latin typeface="Arial" pitchFamily="34" charset="0"/>
                          <a:ea typeface="Arial" pitchFamily="34" charset="-122"/>
                          <a:cs typeface="Arial" pitchFamily="34" charset="-120"/>
                        </a:rPr>
                        <a:t>TAHUN 2028 (+28,5%)</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20" b="1" dirty="0">
                          <a:solidFill>
                            <a:srgbClr val="FFFFFF"/>
                          </a:solidFill>
                          <a:latin typeface="Arial" pitchFamily="34" charset="0"/>
                          <a:ea typeface="Arial" pitchFamily="34" charset="-122"/>
                          <a:cs typeface="Arial" pitchFamily="34" charset="-120"/>
                        </a:rPr>
                        <a:t>TAHUN 2029 (+28,0%)</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20" b="1" dirty="0">
                          <a:solidFill>
                            <a:srgbClr val="F59E0B"/>
                          </a:solidFill>
                          <a:latin typeface="Arial" pitchFamily="34" charset="0"/>
                          <a:ea typeface="Arial" pitchFamily="34" charset="-122"/>
                          <a:cs typeface="Arial" pitchFamily="34" charset="-120"/>
                        </a:rPr>
                        <a:t>TAHUN 2030 (MANDIRI)</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347472">
                <a:tc>
                  <a:txBody>
                    <a:bodyPr/>
                    <a:lstStyle/>
                    <a:p>
                      <a:pPr algn="ctr" indent="0" marL="0">
                        <a:buNone/>
                      </a:pPr>
                      <a:r>
                        <a:rPr lang="en-US" sz="920" dirty="0">
                          <a:solidFill>
                            <a:srgbClr val="FFFFFF"/>
                          </a:solidFill>
                          <a:latin typeface="Arial" pitchFamily="34" charset="0"/>
                          <a:ea typeface="Arial" pitchFamily="34" charset="-122"/>
                          <a:cs typeface="Arial" pitchFamily="34" charset="-120"/>
                        </a:rPr>
                        <a:t>Rp 7.503.392.698</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20" dirty="0">
                          <a:solidFill>
                            <a:srgbClr val="38BDF8"/>
                          </a:solidFill>
                          <a:latin typeface="Arial" pitchFamily="34" charset="0"/>
                          <a:ea typeface="Arial" pitchFamily="34" charset="-122"/>
                          <a:cs typeface="Arial" pitchFamily="34" charset="-120"/>
                        </a:rPr>
                        <a:t>Rp 12.532.185.031</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20" dirty="0">
                          <a:solidFill>
                            <a:srgbClr val="38BDF8"/>
                          </a:solidFill>
                          <a:latin typeface="Arial" pitchFamily="34" charset="0"/>
                          <a:ea typeface="Arial" pitchFamily="34" charset="-122"/>
                          <a:cs typeface="Arial" pitchFamily="34" charset="-120"/>
                        </a:rPr>
                        <a:t>Rp 16.100.658.831</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20" dirty="0">
                          <a:solidFill>
                            <a:srgbClr val="38BDF8"/>
                          </a:solidFill>
                          <a:latin typeface="Arial" pitchFamily="34" charset="0"/>
                          <a:ea typeface="Arial" pitchFamily="34" charset="-122"/>
                          <a:cs typeface="Arial" pitchFamily="34" charset="-120"/>
                        </a:rPr>
                        <a:t>Rp 20.615.658.831</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20" b="1" dirty="0">
                          <a:solidFill>
                            <a:srgbClr val="F59E0B"/>
                          </a:solidFill>
                          <a:latin typeface="Arial" pitchFamily="34" charset="0"/>
                          <a:ea typeface="Arial" pitchFamily="34" charset="-122"/>
                          <a:cs typeface="Arial" pitchFamily="34" charset="-120"/>
                        </a:rPr>
                        <a:t>Rp 23.468.158.831</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PROYEKSI KEUANGAN BLUD 2026–2030</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RE-SETTING TARGET FINANSIAL: LOMPATAN KEMANDIRIAN BLUD +212,8%</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Proyeksi Pendapatan Mandiri Riil dari Rp 7,50 Miliar (2026) menuju Rp 23,47 Miliar (2030) — Tanpa Subsidi APBD</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09 / 12</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6675120" cy="2468880"/>
        </p:xfrm>
        <a:graphic>
          <a:graphicData uri="http://schemas.openxmlformats.org/drawingml/2006/table">
            <a:tbl>
              <a:tblPr/>
              <a:tblGrid>
                <a:gridCol w="822960"/>
                <a:gridCol w="2103120"/>
                <a:gridCol w="1280160"/>
                <a:gridCol w="2468880"/>
              </a:tblGrid>
              <a:tr h="347472">
                <a:tc>
                  <a:txBody>
                    <a:bodyPr/>
                    <a:lstStyle/>
                    <a:p>
                      <a:pPr algn="ctr" indent="0" marL="0">
                        <a:buNone/>
                      </a:pPr>
                      <a:r>
                        <a:rPr lang="en-US" sz="880" b="1" dirty="0">
                          <a:solidFill>
                            <a:srgbClr val="FFFFFF"/>
                          </a:solidFill>
                          <a:latin typeface="Arial" pitchFamily="34" charset="0"/>
                          <a:ea typeface="Arial" pitchFamily="34" charset="-122"/>
                          <a:cs typeface="Arial" pitchFamily="34" charset="-120"/>
                        </a:rPr>
                        <a:t>TAHUN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r" indent="0" marL="0">
                        <a:buNone/>
                      </a:pPr>
                      <a:r>
                        <a:rPr lang="en-US" sz="880" b="1" dirty="0">
                          <a:solidFill>
                            <a:srgbClr val="FFFFFF"/>
                          </a:solidFill>
                          <a:latin typeface="Arial" pitchFamily="34" charset="0"/>
                          <a:ea typeface="Arial" pitchFamily="34" charset="-122"/>
                          <a:cs typeface="Arial" pitchFamily="34" charset="-120"/>
                        </a:rPr>
                        <a:t>TARGET PENDAPATAN (RP)</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880" b="1" dirty="0">
                          <a:solidFill>
                            <a:srgbClr val="FFFFFF"/>
                          </a:solidFill>
                          <a:latin typeface="Arial" pitchFamily="34" charset="0"/>
                          <a:ea typeface="Arial" pitchFamily="34" charset="-122"/>
                          <a:cs typeface="Arial" pitchFamily="34" charset="-120"/>
                        </a:rPr>
                        <a:t>PERTUMBUHAN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KETERANGAN AKSELERATOR</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402336">
                <a:tc>
                  <a:txBody>
                    <a:bodyPr/>
                    <a:lstStyle/>
                    <a:p>
                      <a:pPr algn="ctr" indent="0" marL="0">
                        <a:buNone/>
                      </a:pPr>
                      <a:r>
                        <a:rPr lang="en-US" sz="880" b="1" dirty="0">
                          <a:solidFill>
                            <a:srgbClr val="FFFFFF"/>
                          </a:solidFill>
                          <a:latin typeface="Arial" pitchFamily="34" charset="0"/>
                          <a:ea typeface="Arial" pitchFamily="34" charset="-122"/>
                          <a:cs typeface="Arial" pitchFamily="34" charset="-120"/>
                        </a:rPr>
                        <a:t>2026</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r" indent="0" marL="0">
                        <a:buNone/>
                      </a:pPr>
                      <a:r>
                        <a:rPr lang="en-US" sz="880" dirty="0">
                          <a:solidFill>
                            <a:srgbClr val="FFFFFF"/>
                          </a:solidFill>
                          <a:latin typeface="Arial" pitchFamily="34" charset="0"/>
                          <a:ea typeface="Arial" pitchFamily="34" charset="-122"/>
                          <a:cs typeface="Arial" pitchFamily="34" charset="-120"/>
                        </a:rPr>
                        <a:t>Rp 7.503.392.698</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880" b="1" dirty="0">
                          <a:solidFill>
                            <a:srgbClr val="94A3B8"/>
                          </a:solidFill>
                          <a:latin typeface="Arial" pitchFamily="34" charset="0"/>
                          <a:ea typeface="Arial" pitchFamily="34" charset="-122"/>
                          <a:cs typeface="Arial" pitchFamily="34" charset="-120"/>
                        </a:rPr>
                        <a:t>Baseline</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Re-setting target; OGSCI Rp 1,79 M; Sewa Shopee Rp 544 jt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402336">
                <a:tc>
                  <a:txBody>
                    <a:bodyPr/>
                    <a:lstStyle/>
                    <a:p>
                      <a:pPr algn="ctr" indent="0" marL="0">
                        <a:buNone/>
                      </a:pPr>
                      <a:r>
                        <a:rPr lang="en-US" sz="880" b="1" dirty="0">
                          <a:solidFill>
                            <a:srgbClr val="FFFFFF"/>
                          </a:solidFill>
                          <a:latin typeface="Arial" pitchFamily="34" charset="0"/>
                          <a:ea typeface="Arial" pitchFamily="34" charset="-122"/>
                          <a:cs typeface="Arial" pitchFamily="34" charset="-120"/>
                        </a:rPr>
                        <a:t>2027</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r" indent="0" marL="0">
                        <a:buNone/>
                      </a:pPr>
                      <a:r>
                        <a:rPr lang="en-US" sz="880" dirty="0">
                          <a:solidFill>
                            <a:srgbClr val="38BDF8"/>
                          </a:solidFill>
                          <a:latin typeface="Arial" pitchFamily="34" charset="0"/>
                          <a:ea typeface="Arial" pitchFamily="34" charset="-122"/>
                          <a:cs typeface="Arial" pitchFamily="34" charset="-120"/>
                        </a:rPr>
                        <a:t>Rp 12.532.185.031</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880" b="1" dirty="0">
                          <a:solidFill>
                            <a:srgbClr val="38BDF8"/>
                          </a:solidFill>
                          <a:latin typeface="Arial" pitchFamily="34" charset="0"/>
                          <a:ea typeface="Arial" pitchFamily="34" charset="-122"/>
                          <a:cs typeface="Arial" pitchFamily="34" charset="-120"/>
                        </a:rPr>
                        <a:t>+67,0%</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OGSCI Rp 2,5 M; TUK/JFT aktif; Startup binaan Rp 1,25 M</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402336">
                <a:tc>
                  <a:txBody>
                    <a:bodyPr/>
                    <a:lstStyle/>
                    <a:p>
                      <a:pPr algn="ctr" indent="0" marL="0">
                        <a:buNone/>
                      </a:pPr>
                      <a:r>
                        <a:rPr lang="en-US" sz="880" b="1" dirty="0">
                          <a:solidFill>
                            <a:srgbClr val="FFFFFF"/>
                          </a:solidFill>
                          <a:latin typeface="Arial" pitchFamily="34" charset="0"/>
                          <a:ea typeface="Arial" pitchFamily="34" charset="-122"/>
                          <a:cs typeface="Arial" pitchFamily="34" charset="-120"/>
                        </a:rPr>
                        <a:t>2028</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r" indent="0" marL="0">
                        <a:buNone/>
                      </a:pPr>
                      <a:r>
                        <a:rPr lang="en-US" sz="880" dirty="0">
                          <a:solidFill>
                            <a:srgbClr val="38BDF8"/>
                          </a:solidFill>
                          <a:latin typeface="Arial" pitchFamily="34" charset="0"/>
                          <a:ea typeface="Arial" pitchFamily="34" charset="-122"/>
                          <a:cs typeface="Arial" pitchFamily="34" charset="-120"/>
                        </a:rPr>
                        <a:t>Rp 16.100.658.831</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880" b="1" dirty="0">
                          <a:solidFill>
                            <a:srgbClr val="38BDF8"/>
                          </a:solidFill>
                          <a:latin typeface="Arial" pitchFamily="34" charset="0"/>
                          <a:ea typeface="Arial" pitchFamily="34" charset="-122"/>
                          <a:cs typeface="Arial" pitchFamily="34" charset="-120"/>
                        </a:rPr>
                        <a:t>+28,5%</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BEP Tercapai; SBU terbentuk; Rekayasa manufaktur Rp 1,11 M</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402336">
                <a:tc>
                  <a:txBody>
                    <a:bodyPr/>
                    <a:lstStyle/>
                    <a:p>
                      <a:pPr algn="ctr" indent="0" marL="0">
                        <a:buNone/>
                      </a:pPr>
                      <a:r>
                        <a:rPr lang="en-US" sz="880" b="1" dirty="0">
                          <a:solidFill>
                            <a:srgbClr val="FFFFFF"/>
                          </a:solidFill>
                          <a:latin typeface="Arial" pitchFamily="34" charset="0"/>
                          <a:ea typeface="Arial" pitchFamily="34" charset="-122"/>
                          <a:cs typeface="Arial" pitchFamily="34" charset="-120"/>
                        </a:rPr>
                        <a:t>2029</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r" indent="0" marL="0">
                        <a:buNone/>
                      </a:pPr>
                      <a:r>
                        <a:rPr lang="en-US" sz="880" dirty="0">
                          <a:solidFill>
                            <a:srgbClr val="38BDF8"/>
                          </a:solidFill>
                          <a:latin typeface="Arial" pitchFamily="34" charset="0"/>
                          <a:ea typeface="Arial" pitchFamily="34" charset="-122"/>
                          <a:cs typeface="Arial" pitchFamily="34" charset="-120"/>
                        </a:rPr>
                        <a:t>Rp 20.615.658.831</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880" b="1" dirty="0">
                          <a:solidFill>
                            <a:srgbClr val="38BDF8"/>
                          </a:solidFill>
                          <a:latin typeface="Arial" pitchFamily="34" charset="0"/>
                          <a:ea typeface="Arial" pitchFamily="34" charset="-122"/>
                          <a:cs typeface="Arial" pitchFamily="34" charset="-120"/>
                        </a:rPr>
                        <a:t>+28,0%</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OGSCI Rp 5,5 M; TUK/JFT Rp 2,27 M; Hilirisasi riset masif</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457200">
                <a:tc>
                  <a:txBody>
                    <a:bodyPr/>
                    <a:lstStyle/>
                    <a:p>
                      <a:pPr algn="ctr" indent="0" marL="0">
                        <a:buNone/>
                      </a:pPr>
                      <a:r>
                        <a:rPr lang="en-US" sz="880" b="1" dirty="0">
                          <a:solidFill>
                            <a:srgbClr val="F59E0B"/>
                          </a:solidFill>
                          <a:latin typeface="Arial" pitchFamily="34" charset="0"/>
                          <a:ea typeface="Arial" pitchFamily="34" charset="-122"/>
                          <a:cs typeface="Arial" pitchFamily="34" charset="-120"/>
                        </a:rPr>
                        <a:t>2030</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r" indent="0" marL="0">
                        <a:buNone/>
                      </a:pPr>
                      <a:r>
                        <a:rPr lang="en-US" sz="880" b="1" dirty="0">
                          <a:solidFill>
                            <a:srgbClr val="F59E0B"/>
                          </a:solidFill>
                          <a:latin typeface="Arial" pitchFamily="34" charset="0"/>
                          <a:ea typeface="Arial" pitchFamily="34" charset="-122"/>
                          <a:cs typeface="Arial" pitchFamily="34" charset="-120"/>
                        </a:rPr>
                        <a:t>Rp 23.468.158.831</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880" b="1" dirty="0">
                          <a:solidFill>
                            <a:srgbClr val="F59E0B"/>
                          </a:solidFill>
                          <a:latin typeface="Arial" pitchFamily="34" charset="0"/>
                          <a:ea typeface="Arial" pitchFamily="34" charset="-122"/>
                          <a:cs typeface="Arial" pitchFamily="34" charset="-120"/>
                        </a:rPr>
                        <a:t>0% APBD</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FDE68A"/>
                          </a:solidFill>
                          <a:latin typeface="Arial" pitchFamily="34" charset="0"/>
                          <a:ea typeface="Arial" pitchFamily="34" charset="-122"/>
                          <a:cs typeface="Arial" pitchFamily="34" charset="-120"/>
                        </a:rPr>
                        <a:t>Kemandirian penuh; OGSCI Rp 6,25 M; Startup Rp 2,0 M; Holding</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bl>
          </a:graphicData>
        </a:graphic>
      </p:graphicFrame>
      <p:sp>
        <p:nvSpPr>
          <p:cNvPr id="12" name="Shape 9"/>
          <p:cNvSpPr/>
          <p:nvPr/>
        </p:nvSpPr>
        <p:spPr>
          <a:xfrm>
            <a:off x="731520" y="3931920"/>
            <a:ext cx="6675120" cy="2331720"/>
          </a:xfrm>
          <a:prstGeom prst="roundRect">
            <a:avLst>
              <a:gd name="adj" fmla="val 3137"/>
            </a:avLst>
          </a:prstGeom>
          <a:solidFill>
            <a:srgbClr val="0D213F"/>
          </a:solidFill>
          <a:ln w="12700">
            <a:solidFill>
              <a:srgbClr val="1E3A5F"/>
            </a:solidFill>
            <a:prstDash val="solid"/>
          </a:ln>
        </p:spPr>
      </p:sp>
      <p:sp>
        <p:nvSpPr>
          <p:cNvPr id="13" name="Shape 10"/>
          <p:cNvSpPr/>
          <p:nvPr/>
        </p:nvSpPr>
        <p:spPr>
          <a:xfrm>
            <a:off x="731520" y="3931920"/>
            <a:ext cx="73152" cy="2331720"/>
          </a:xfrm>
          <a:prstGeom prst="roundRect">
            <a:avLst>
              <a:gd name="adj" fmla="val 50000"/>
            </a:avLst>
          </a:prstGeom>
          <a:solidFill>
            <a:srgbClr val="0EA5E9"/>
          </a:solidFill>
          <a:ln w="12700">
            <a:solidFill>
              <a:srgbClr val="0EA5E9"/>
            </a:solidFill>
            <a:prstDash val="solid"/>
          </a:ln>
        </p:spPr>
      </p:sp>
      <p:sp>
        <p:nvSpPr>
          <p:cNvPr id="14" name="Text 11"/>
          <p:cNvSpPr/>
          <p:nvPr/>
        </p:nvSpPr>
        <p:spPr>
          <a:xfrm>
            <a:off x="960120" y="4069080"/>
            <a:ext cx="6309360" cy="320040"/>
          </a:xfrm>
          <a:prstGeom prst="rect">
            <a:avLst/>
          </a:prstGeom>
          <a:noFill/>
          <a:ln/>
        </p:spPr>
        <p:txBody>
          <a:bodyPr wrap="square" rtlCol="0" anchor="ctr"/>
          <a:lstStyle/>
          <a:p>
            <a:pPr indent="0" marL="0">
              <a:buNone/>
            </a:pPr>
            <a:r>
              <a:rPr lang="en-US" sz="1200" b="1" dirty="0">
                <a:solidFill>
                  <a:srgbClr val="F59E0B"/>
                </a:solidFill>
                <a:latin typeface="Arial" pitchFamily="34" charset="0"/>
                <a:ea typeface="Arial" pitchFamily="34" charset="-122"/>
                <a:cs typeface="Arial" pitchFamily="34" charset="-120"/>
              </a:rPr>
              <a:t>LOMPATAN FINANSIAL: +212,8% (3,1× LIPAT DALAM 4 TAHUN)</a:t>
            </a:r>
            <a:endParaRPr lang="en-US" sz="1200" dirty="0"/>
          </a:p>
        </p:txBody>
      </p:sp>
      <p:sp>
        <p:nvSpPr>
          <p:cNvPr id="15" name="Text 12"/>
          <p:cNvSpPr/>
          <p:nvPr/>
        </p:nvSpPr>
        <p:spPr>
          <a:xfrm>
            <a:off x="960120" y="4434840"/>
            <a:ext cx="6309360" cy="1691640"/>
          </a:xfrm>
          <a:prstGeom prst="rect">
            <a:avLst/>
          </a:prstGeom>
          <a:noFill/>
          <a:ln/>
        </p:spPr>
        <p:txBody>
          <a:bodyPr wrap="square" rtlCol="0" anchor="ctr"/>
          <a:lstStyle/>
          <a:p>
            <a:pPr indent="0" marL="0">
              <a:lnSpc>
                <a:spcPts val="1400"/>
              </a:lnSpc>
              <a:buNone/>
            </a:pPr>
            <a:r>
              <a:rPr lang="en-US" sz="920" b="1" dirty="0">
                <a:solidFill>
                  <a:srgbClr val="FFFFFF"/>
                </a:solidFill>
                <a:latin typeface="Arial" pitchFamily="34" charset="0"/>
                <a:ea typeface="Arial" pitchFamily="34" charset="-122"/>
                <a:cs typeface="Arial" pitchFamily="34" charset="-120"/>
              </a:rPr>
              <a:t>• Mandiri Total Tanpa APBD di 2030: </a:t>
            </a:r>
            <a:pPr indent="0" marL="0">
              <a:lnSpc>
                <a:spcPts val="1400"/>
              </a:lnSpc>
              <a:buNone/>
            </a:pPr>
            <a:r>
              <a:rPr lang="en-US" sz="920" dirty="0">
                <a:solidFill>
                  <a:srgbClr val="94A3B8"/>
                </a:solidFill>
                <a:latin typeface="Arial" pitchFamily="34" charset="0"/>
                <a:ea typeface="Arial" pitchFamily="34" charset="-122"/>
                <a:cs typeface="Arial" pitchFamily="34" charset="-120"/>
              </a:rPr>
              <a:t>Seluruh biaya operasional UPTD STP tertutup penuh oleh pendapatan layanan mandiri tanpa subsidi kas daerah.
</a:t>
            </a:r>
            <a:pPr indent="0" marL="0">
              <a:lnSpc>
                <a:spcPts val="1400"/>
              </a:lnSpc>
              <a:buNone/>
            </a:pPr>
            <a:r>
              <a:rPr lang="en-US" sz="920" b="1" dirty="0">
                <a:solidFill>
                  <a:srgbClr val="FFFFFF"/>
                </a:solidFill>
                <a:latin typeface="Arial" pitchFamily="34" charset="0"/>
                <a:ea typeface="Arial" pitchFamily="34" charset="-122"/>
                <a:cs typeface="Arial" pitchFamily="34" charset="-120"/>
              </a:rPr>
              <a:t>• Titik Impas (BEP) di Tahun 2028: </a:t>
            </a:r>
            <a:pPr indent="0" marL="0">
              <a:lnSpc>
                <a:spcPts val="1400"/>
              </a:lnSpc>
              <a:buNone/>
            </a:pPr>
            <a:r>
              <a:rPr lang="en-US" sz="920" dirty="0">
                <a:solidFill>
                  <a:srgbClr val="94A3B8"/>
                </a:solidFill>
                <a:latin typeface="Arial" pitchFamily="34" charset="0"/>
                <a:ea typeface="Arial" pitchFamily="34" charset="-122"/>
                <a:cs typeface="Arial" pitchFamily="34" charset="-120"/>
              </a:rPr>
              <a:t>Tercapai di angka Rp 16,10 Miliar seiring beroperasinya Strategic Business Unit (SBU) manufaktur dan vokasi.
</a:t>
            </a:r>
            <a:pPr indent="0" marL="0">
              <a:lnSpc>
                <a:spcPts val="1400"/>
              </a:lnSpc>
              <a:buNone/>
            </a:pPr>
            <a:r>
              <a:rPr lang="en-US" sz="920" b="1" dirty="0">
                <a:solidFill>
                  <a:srgbClr val="FFFFFF"/>
                </a:solidFill>
                <a:latin typeface="Arial" pitchFamily="34" charset="0"/>
                <a:ea typeface="Arial" pitchFamily="34" charset="-122"/>
                <a:cs typeface="Arial" pitchFamily="34" charset="-120"/>
              </a:rPr>
              <a:t>• Kualitas Pendapatan Berkelanjutan: </a:t>
            </a:r>
            <a:pPr indent="0" marL="0">
              <a:lnSpc>
                <a:spcPts val="1400"/>
              </a:lnSpc>
              <a:buNone/>
            </a:pPr>
            <a:r>
              <a:rPr lang="en-US" sz="920" dirty="0">
                <a:solidFill>
                  <a:srgbClr val="94A3B8"/>
                </a:solidFill>
                <a:latin typeface="Arial" pitchFamily="34" charset="0"/>
                <a:ea typeface="Arial" pitchFamily="34" charset="-122"/>
                <a:cs typeface="Arial" pitchFamily="34" charset="-120"/>
              </a:rPr>
              <a:t>88% disumbang keahlian riset &amp; vokasi industri (program migas, uji lab, diklat spesialis, dan startup).</a:t>
            </a:r>
            <a:endParaRPr lang="en-US" sz="920" dirty="0"/>
          </a:p>
        </p:txBody>
      </p:sp>
      <p:sp>
        <p:nvSpPr>
          <p:cNvPr id="16" name="Shape 13"/>
          <p:cNvSpPr/>
          <p:nvPr/>
        </p:nvSpPr>
        <p:spPr>
          <a:xfrm>
            <a:off x="7589520" y="1325880"/>
            <a:ext cx="3870655" cy="4937760"/>
          </a:xfrm>
          <a:prstGeom prst="roundRect">
            <a:avLst>
              <a:gd name="adj" fmla="val 1890"/>
            </a:avLst>
          </a:prstGeom>
          <a:solidFill>
            <a:srgbClr val="0A192F"/>
          </a:solidFill>
          <a:ln w="12700">
            <a:solidFill>
              <a:srgbClr val="1E3A5F"/>
            </a:solidFill>
            <a:prstDash val="solid"/>
          </a:ln>
        </p:spPr>
      </p:sp>
      <p:sp>
        <p:nvSpPr>
          <p:cNvPr id="17" name="Shape 14"/>
          <p:cNvSpPr/>
          <p:nvPr/>
        </p:nvSpPr>
        <p:spPr>
          <a:xfrm>
            <a:off x="7589520" y="1325880"/>
            <a:ext cx="73152" cy="4937760"/>
          </a:xfrm>
          <a:prstGeom prst="roundRect">
            <a:avLst>
              <a:gd name="adj" fmla="val 50000"/>
            </a:avLst>
          </a:prstGeom>
          <a:solidFill>
            <a:srgbClr val="F59E0B"/>
          </a:solidFill>
          <a:ln w="12700">
            <a:solidFill>
              <a:srgbClr val="F59E0B"/>
            </a:solidFill>
            <a:prstDash val="solid"/>
          </a:ln>
        </p:spPr>
      </p:sp>
      <p:sp>
        <p:nvSpPr>
          <p:cNvPr id="18" name="Text 15"/>
          <p:cNvSpPr/>
          <p:nvPr/>
        </p:nvSpPr>
        <p:spPr>
          <a:xfrm>
            <a:off x="7818120" y="1463040"/>
            <a:ext cx="3474720" cy="27432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KOMPOSISI REVENUE STREAM 2030</a:t>
            </a:r>
            <a:endParaRPr lang="en-US" sz="1050" dirty="0"/>
          </a:p>
        </p:txBody>
      </p:sp>
      <p:sp>
        <p:nvSpPr>
          <p:cNvPr id="19" name="Shape 16"/>
          <p:cNvSpPr/>
          <p:nvPr/>
        </p:nvSpPr>
        <p:spPr>
          <a:xfrm>
            <a:off x="7818120" y="1828800"/>
            <a:ext cx="3474720" cy="438912"/>
          </a:xfrm>
          <a:prstGeom prst="roundRect">
            <a:avLst>
              <a:gd name="adj" fmla="val 8333"/>
            </a:avLst>
          </a:prstGeom>
          <a:solidFill>
            <a:srgbClr val="0D213F"/>
          </a:solidFill>
          <a:ln w="12700">
            <a:solidFill>
              <a:srgbClr val="1E3A5F"/>
            </a:solidFill>
            <a:prstDash val="solid"/>
          </a:ln>
        </p:spPr>
      </p:sp>
      <p:sp>
        <p:nvSpPr>
          <p:cNvPr id="20" name="Text 17"/>
          <p:cNvSpPr/>
          <p:nvPr/>
        </p:nvSpPr>
        <p:spPr>
          <a:xfrm>
            <a:off x="7909560" y="1901952"/>
            <a:ext cx="1920240" cy="292608"/>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 Kerjasama Program</a:t>
            </a:r>
            <a:endParaRPr lang="en-US" sz="880" dirty="0"/>
          </a:p>
        </p:txBody>
      </p:sp>
      <p:sp>
        <p:nvSpPr>
          <p:cNvPr id="21" name="Text 18"/>
          <p:cNvSpPr/>
          <p:nvPr/>
        </p:nvSpPr>
        <p:spPr>
          <a:xfrm>
            <a:off x="9829800" y="1901952"/>
            <a:ext cx="1371600" cy="292608"/>
          </a:xfrm>
          <a:prstGeom prst="rect">
            <a:avLst/>
          </a:prstGeom>
          <a:noFill/>
          <a:ln/>
        </p:spPr>
        <p:txBody>
          <a:bodyPr wrap="square" rtlCol="0" anchor="ctr"/>
          <a:lstStyle/>
          <a:p>
            <a:pPr algn="r" indent="0" marL="0">
              <a:buNone/>
            </a:pPr>
            <a:r>
              <a:rPr lang="en-US" sz="880" b="1" dirty="0">
                <a:solidFill>
                  <a:srgbClr val="0EA5E9"/>
                </a:solidFill>
                <a:latin typeface="Arial" pitchFamily="34" charset="0"/>
                <a:ea typeface="Arial" pitchFamily="34" charset="-122"/>
                <a:cs typeface="Arial" pitchFamily="34" charset="-120"/>
              </a:rPr>
              <a:t>Rp 12,83 M (51%)</a:t>
            </a:r>
            <a:endParaRPr lang="en-US" sz="880" dirty="0"/>
          </a:p>
        </p:txBody>
      </p:sp>
      <p:sp>
        <p:nvSpPr>
          <p:cNvPr id="22" name="Shape 19"/>
          <p:cNvSpPr/>
          <p:nvPr/>
        </p:nvSpPr>
        <p:spPr>
          <a:xfrm>
            <a:off x="7818120" y="2331720"/>
            <a:ext cx="3474720" cy="438912"/>
          </a:xfrm>
          <a:prstGeom prst="roundRect">
            <a:avLst>
              <a:gd name="adj" fmla="val 8333"/>
            </a:avLst>
          </a:prstGeom>
          <a:solidFill>
            <a:srgbClr val="0D213F"/>
          </a:solidFill>
          <a:ln w="12700">
            <a:solidFill>
              <a:srgbClr val="1E3A5F"/>
            </a:solidFill>
            <a:prstDash val="solid"/>
          </a:ln>
        </p:spPr>
      </p:sp>
      <p:sp>
        <p:nvSpPr>
          <p:cNvPr id="23" name="Text 20"/>
          <p:cNvSpPr/>
          <p:nvPr/>
        </p:nvSpPr>
        <p:spPr>
          <a:xfrm>
            <a:off x="7909560" y="2404872"/>
            <a:ext cx="1920240" cy="292608"/>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 Pelatihan &amp; Sertifikasi</a:t>
            </a:r>
            <a:endParaRPr lang="en-US" sz="880" dirty="0"/>
          </a:p>
        </p:txBody>
      </p:sp>
      <p:sp>
        <p:nvSpPr>
          <p:cNvPr id="24" name="Text 21"/>
          <p:cNvSpPr/>
          <p:nvPr/>
        </p:nvSpPr>
        <p:spPr>
          <a:xfrm>
            <a:off x="9829800" y="2404872"/>
            <a:ext cx="1371600" cy="292608"/>
          </a:xfrm>
          <a:prstGeom prst="rect">
            <a:avLst/>
          </a:prstGeom>
          <a:noFill/>
          <a:ln/>
        </p:spPr>
        <p:txBody>
          <a:bodyPr wrap="square" rtlCol="0" anchor="ctr"/>
          <a:lstStyle/>
          <a:p>
            <a:pPr algn="r" indent="0" marL="0">
              <a:buNone/>
            </a:pPr>
            <a:r>
              <a:rPr lang="en-US" sz="880" b="1" dirty="0">
                <a:solidFill>
                  <a:srgbClr val="38BDF8"/>
                </a:solidFill>
                <a:latin typeface="Arial" pitchFamily="34" charset="0"/>
                <a:ea typeface="Arial" pitchFamily="34" charset="-122"/>
                <a:cs typeface="Arial" pitchFamily="34" charset="-120"/>
              </a:rPr>
              <a:t>Rp 5,41 M (23%)</a:t>
            </a:r>
            <a:endParaRPr lang="en-US" sz="880" dirty="0"/>
          </a:p>
        </p:txBody>
      </p:sp>
      <p:sp>
        <p:nvSpPr>
          <p:cNvPr id="25" name="Shape 22"/>
          <p:cNvSpPr/>
          <p:nvPr/>
        </p:nvSpPr>
        <p:spPr>
          <a:xfrm>
            <a:off x="7818120" y="2834640"/>
            <a:ext cx="3474720" cy="438912"/>
          </a:xfrm>
          <a:prstGeom prst="roundRect">
            <a:avLst>
              <a:gd name="adj" fmla="val 8333"/>
            </a:avLst>
          </a:prstGeom>
          <a:solidFill>
            <a:srgbClr val="0D213F"/>
          </a:solidFill>
          <a:ln w="12700">
            <a:solidFill>
              <a:srgbClr val="1E3A5F"/>
            </a:solidFill>
            <a:prstDash val="solid"/>
          </a:ln>
        </p:spPr>
      </p:sp>
      <p:sp>
        <p:nvSpPr>
          <p:cNvPr id="26" name="Text 23"/>
          <p:cNvSpPr/>
          <p:nvPr/>
        </p:nvSpPr>
        <p:spPr>
          <a:xfrm>
            <a:off x="7909560" y="2907792"/>
            <a:ext cx="1920240" cy="292608"/>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 Sewa Kawasan &amp; Coworking</a:t>
            </a:r>
            <a:endParaRPr lang="en-US" sz="880" dirty="0"/>
          </a:p>
        </p:txBody>
      </p:sp>
      <p:sp>
        <p:nvSpPr>
          <p:cNvPr id="27" name="Text 24"/>
          <p:cNvSpPr/>
          <p:nvPr/>
        </p:nvSpPr>
        <p:spPr>
          <a:xfrm>
            <a:off x="9829800" y="2907792"/>
            <a:ext cx="1371600" cy="292608"/>
          </a:xfrm>
          <a:prstGeom prst="rect">
            <a:avLst/>
          </a:prstGeom>
          <a:noFill/>
          <a:ln/>
        </p:spPr>
        <p:txBody>
          <a:bodyPr wrap="square" rtlCol="0" anchor="ctr"/>
          <a:lstStyle/>
          <a:p>
            <a:pPr algn="r" indent="0" marL="0">
              <a:buNone/>
            </a:pPr>
            <a:r>
              <a:rPr lang="en-US" sz="880" b="1" dirty="0">
                <a:solidFill>
                  <a:srgbClr val="10B981"/>
                </a:solidFill>
                <a:latin typeface="Arial" pitchFamily="34" charset="0"/>
                <a:ea typeface="Arial" pitchFamily="34" charset="-122"/>
                <a:cs typeface="Arial" pitchFamily="34" charset="-120"/>
              </a:rPr>
              <a:t>Rp 4,17 M (18%)</a:t>
            </a:r>
            <a:endParaRPr lang="en-US" sz="880" dirty="0"/>
          </a:p>
        </p:txBody>
      </p:sp>
      <p:sp>
        <p:nvSpPr>
          <p:cNvPr id="28" name="Shape 25"/>
          <p:cNvSpPr/>
          <p:nvPr/>
        </p:nvSpPr>
        <p:spPr>
          <a:xfrm>
            <a:off x="7818120" y="3337560"/>
            <a:ext cx="3474720" cy="438912"/>
          </a:xfrm>
          <a:prstGeom prst="roundRect">
            <a:avLst>
              <a:gd name="adj" fmla="val 8333"/>
            </a:avLst>
          </a:prstGeom>
          <a:solidFill>
            <a:srgbClr val="0D213F"/>
          </a:solidFill>
          <a:ln w="12700">
            <a:solidFill>
              <a:srgbClr val="1E3A5F"/>
            </a:solidFill>
            <a:prstDash val="solid"/>
          </a:ln>
        </p:spPr>
      </p:sp>
      <p:sp>
        <p:nvSpPr>
          <p:cNvPr id="29" name="Text 26"/>
          <p:cNvSpPr/>
          <p:nvPr/>
        </p:nvSpPr>
        <p:spPr>
          <a:xfrm>
            <a:off x="7909560" y="3410712"/>
            <a:ext cx="1920240" cy="292608"/>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 Produksi &amp; Rekayasa</a:t>
            </a:r>
            <a:endParaRPr lang="en-US" sz="880" dirty="0"/>
          </a:p>
        </p:txBody>
      </p:sp>
      <p:sp>
        <p:nvSpPr>
          <p:cNvPr id="30" name="Text 27"/>
          <p:cNvSpPr/>
          <p:nvPr/>
        </p:nvSpPr>
        <p:spPr>
          <a:xfrm>
            <a:off x="9829800" y="3410712"/>
            <a:ext cx="1371600" cy="292608"/>
          </a:xfrm>
          <a:prstGeom prst="rect">
            <a:avLst/>
          </a:prstGeom>
          <a:noFill/>
          <a:ln/>
        </p:spPr>
        <p:txBody>
          <a:bodyPr wrap="square" rtlCol="0" anchor="ctr"/>
          <a:lstStyle/>
          <a:p>
            <a:pPr algn="r" indent="0" marL="0">
              <a:buNone/>
            </a:pPr>
            <a:r>
              <a:rPr lang="en-US" sz="880" b="1" dirty="0">
                <a:solidFill>
                  <a:srgbClr val="94A3B8"/>
                </a:solidFill>
                <a:latin typeface="Arial" pitchFamily="34" charset="0"/>
                <a:ea typeface="Arial" pitchFamily="34" charset="-122"/>
                <a:cs typeface="Arial" pitchFamily="34" charset="-120"/>
              </a:rPr>
              <a:t>Rp 1,07 M (8%)</a:t>
            </a:r>
            <a:endParaRPr lang="en-US" sz="880" dirty="0"/>
          </a:p>
        </p:txBody>
      </p:sp>
      <p:sp>
        <p:nvSpPr>
          <p:cNvPr id="31" name="Text 28"/>
          <p:cNvSpPr/>
          <p:nvPr/>
        </p:nvSpPr>
        <p:spPr>
          <a:xfrm>
            <a:off x="7818120" y="3977640"/>
            <a:ext cx="3474720" cy="228600"/>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TOP 5 KATALISATOR PENDAPATAN 2030:</a:t>
            </a:r>
            <a:endParaRPr lang="en-US" sz="950" dirty="0"/>
          </a:p>
        </p:txBody>
      </p:sp>
      <p:sp>
        <p:nvSpPr>
          <p:cNvPr id="32" name="Text 29"/>
          <p:cNvSpPr/>
          <p:nvPr/>
        </p:nvSpPr>
        <p:spPr>
          <a:xfrm>
            <a:off x="7818120" y="4251960"/>
            <a:ext cx="1920240"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#1 OGSCI Program Migas</a:t>
            </a:r>
            <a:endParaRPr lang="en-US" sz="850" dirty="0"/>
          </a:p>
        </p:txBody>
      </p:sp>
      <p:sp>
        <p:nvSpPr>
          <p:cNvPr id="33" name="Text 30"/>
          <p:cNvSpPr/>
          <p:nvPr/>
        </p:nvSpPr>
        <p:spPr>
          <a:xfrm>
            <a:off x="9738360" y="4251960"/>
            <a:ext cx="1554480" cy="320040"/>
          </a:xfrm>
          <a:prstGeom prst="rect">
            <a:avLst/>
          </a:prstGeom>
          <a:noFill/>
          <a:ln/>
        </p:spPr>
        <p:txBody>
          <a:bodyPr wrap="square" rtlCol="0" anchor="ctr"/>
          <a:lstStyle/>
          <a:p>
            <a:pPr algn="r" indent="0" marL="0">
              <a:buNone/>
            </a:pPr>
            <a:r>
              <a:rPr lang="en-US" sz="850" b="1" dirty="0">
                <a:solidFill>
                  <a:srgbClr val="FFFFFF"/>
                </a:solidFill>
                <a:latin typeface="Arial" pitchFamily="34" charset="0"/>
                <a:ea typeface="Arial" pitchFamily="34" charset="-122"/>
                <a:cs typeface="Arial" pitchFamily="34" charset="-120"/>
              </a:rPr>
              <a:t>Rp 6.250.000.000</a:t>
            </a:r>
            <a:endParaRPr lang="en-US" sz="850" dirty="0"/>
          </a:p>
        </p:txBody>
      </p:sp>
      <p:sp>
        <p:nvSpPr>
          <p:cNvPr id="34" name="Text 31"/>
          <p:cNvSpPr/>
          <p:nvPr/>
        </p:nvSpPr>
        <p:spPr>
          <a:xfrm>
            <a:off x="7818120" y="4636008"/>
            <a:ext cx="1920240"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#2 Pemda e-Katalog Inovasi</a:t>
            </a:r>
            <a:endParaRPr lang="en-US" sz="850" dirty="0"/>
          </a:p>
        </p:txBody>
      </p:sp>
      <p:sp>
        <p:nvSpPr>
          <p:cNvPr id="35" name="Text 32"/>
          <p:cNvSpPr/>
          <p:nvPr/>
        </p:nvSpPr>
        <p:spPr>
          <a:xfrm>
            <a:off x="9738360" y="4636008"/>
            <a:ext cx="1554480" cy="320040"/>
          </a:xfrm>
          <a:prstGeom prst="rect">
            <a:avLst/>
          </a:prstGeom>
          <a:noFill/>
          <a:ln/>
        </p:spPr>
        <p:txBody>
          <a:bodyPr wrap="square" rtlCol="0" anchor="ctr"/>
          <a:lstStyle/>
          <a:p>
            <a:pPr algn="r" indent="0" marL="0">
              <a:buNone/>
            </a:pPr>
            <a:r>
              <a:rPr lang="en-US" sz="850" b="1" dirty="0">
                <a:solidFill>
                  <a:srgbClr val="FFFFFF"/>
                </a:solidFill>
                <a:latin typeface="Arial" pitchFamily="34" charset="0"/>
                <a:ea typeface="Arial" pitchFamily="34" charset="-122"/>
                <a:cs typeface="Arial" pitchFamily="34" charset="-120"/>
              </a:rPr>
              <a:t>Rp 2.250.000.000</a:t>
            </a:r>
            <a:endParaRPr lang="en-US" sz="850" dirty="0"/>
          </a:p>
        </p:txBody>
      </p:sp>
      <p:sp>
        <p:nvSpPr>
          <p:cNvPr id="36" name="Text 33"/>
          <p:cNvSpPr/>
          <p:nvPr/>
        </p:nvSpPr>
        <p:spPr>
          <a:xfrm>
            <a:off x="7818120" y="5020056"/>
            <a:ext cx="1920240"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#3 Startup Binaan STP</a:t>
            </a:r>
            <a:endParaRPr lang="en-US" sz="850" dirty="0"/>
          </a:p>
        </p:txBody>
      </p:sp>
      <p:sp>
        <p:nvSpPr>
          <p:cNvPr id="37" name="Text 34"/>
          <p:cNvSpPr/>
          <p:nvPr/>
        </p:nvSpPr>
        <p:spPr>
          <a:xfrm>
            <a:off x="9738360" y="5020056"/>
            <a:ext cx="1554480" cy="320040"/>
          </a:xfrm>
          <a:prstGeom prst="rect">
            <a:avLst/>
          </a:prstGeom>
          <a:noFill/>
          <a:ln/>
        </p:spPr>
        <p:txBody>
          <a:bodyPr wrap="square" rtlCol="0" anchor="ctr"/>
          <a:lstStyle/>
          <a:p>
            <a:pPr algn="r" indent="0" marL="0">
              <a:buNone/>
            </a:pPr>
            <a:r>
              <a:rPr lang="en-US" sz="850" b="1" dirty="0">
                <a:solidFill>
                  <a:srgbClr val="FFFFFF"/>
                </a:solidFill>
                <a:latin typeface="Arial" pitchFamily="34" charset="0"/>
                <a:ea typeface="Arial" pitchFamily="34" charset="-122"/>
                <a:cs typeface="Arial" pitchFamily="34" charset="-120"/>
              </a:rPr>
              <a:t>Rp 2.000.000.000</a:t>
            </a:r>
            <a:endParaRPr lang="en-US" sz="850" dirty="0"/>
          </a:p>
        </p:txBody>
      </p:sp>
      <p:sp>
        <p:nvSpPr>
          <p:cNvPr id="38" name="Text 35"/>
          <p:cNvSpPr/>
          <p:nvPr/>
        </p:nvSpPr>
        <p:spPr>
          <a:xfrm>
            <a:off x="7818120" y="5404104"/>
            <a:ext cx="1920240"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#4 Sertifikasi Tenaga JFT</a:t>
            </a:r>
            <a:endParaRPr lang="en-US" sz="850" dirty="0"/>
          </a:p>
        </p:txBody>
      </p:sp>
      <p:sp>
        <p:nvSpPr>
          <p:cNvPr id="39" name="Text 36"/>
          <p:cNvSpPr/>
          <p:nvPr/>
        </p:nvSpPr>
        <p:spPr>
          <a:xfrm>
            <a:off x="9738360" y="5404104"/>
            <a:ext cx="1554480" cy="320040"/>
          </a:xfrm>
          <a:prstGeom prst="rect">
            <a:avLst/>
          </a:prstGeom>
          <a:noFill/>
          <a:ln/>
        </p:spPr>
        <p:txBody>
          <a:bodyPr wrap="square" rtlCol="0" anchor="ctr"/>
          <a:lstStyle/>
          <a:p>
            <a:pPr algn="r" indent="0" marL="0">
              <a:buNone/>
            </a:pPr>
            <a:r>
              <a:rPr lang="en-US" sz="850" b="1" dirty="0">
                <a:solidFill>
                  <a:srgbClr val="FFFFFF"/>
                </a:solidFill>
                <a:latin typeface="Arial" pitchFamily="34" charset="0"/>
                <a:ea typeface="Arial" pitchFamily="34" charset="-122"/>
                <a:cs typeface="Arial" pitchFamily="34" charset="-120"/>
              </a:rPr>
              <a:t>Rp 1.375.000.000</a:t>
            </a:r>
            <a:endParaRPr lang="en-US" sz="850" dirty="0"/>
          </a:p>
        </p:txBody>
      </p:sp>
      <p:sp>
        <p:nvSpPr>
          <p:cNvPr id="40" name="Text 37"/>
          <p:cNvSpPr/>
          <p:nvPr/>
        </p:nvSpPr>
        <p:spPr>
          <a:xfrm>
            <a:off x="7818120" y="5788152"/>
            <a:ext cx="1920240"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#5 Tempat Uji Kompetensi</a:t>
            </a:r>
            <a:endParaRPr lang="en-US" sz="850" dirty="0"/>
          </a:p>
        </p:txBody>
      </p:sp>
      <p:sp>
        <p:nvSpPr>
          <p:cNvPr id="41" name="Text 38"/>
          <p:cNvSpPr/>
          <p:nvPr/>
        </p:nvSpPr>
        <p:spPr>
          <a:xfrm>
            <a:off x="9738360" y="5788152"/>
            <a:ext cx="1554480" cy="320040"/>
          </a:xfrm>
          <a:prstGeom prst="rect">
            <a:avLst/>
          </a:prstGeom>
          <a:noFill/>
          <a:ln/>
        </p:spPr>
        <p:txBody>
          <a:bodyPr wrap="square" rtlCol="0" anchor="ctr"/>
          <a:lstStyle/>
          <a:p>
            <a:pPr algn="r" indent="0" marL="0">
              <a:buNone/>
            </a:pPr>
            <a:r>
              <a:rPr lang="en-US" sz="850" b="1" dirty="0">
                <a:solidFill>
                  <a:srgbClr val="FFFFFF"/>
                </a:solidFill>
                <a:latin typeface="Arial" pitchFamily="34" charset="0"/>
                <a:ea typeface="Arial" pitchFamily="34" charset="-122"/>
                <a:cs typeface="Arial" pitchFamily="34" charset="-120"/>
              </a:rPr>
              <a:t>Rp 1.350.000.000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TRANSPARANSI ANGGARAN &amp; STRUKTUR PENDAPATAN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ANATOMY MESIN PENDAPATAN 2030: RINCIAN PER MATA ANGGARAN</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Transparansi Total Hasil Rekonsiliasi: Dari Mana Setiap Rupiah dari Target Rp 23,47 Miliar Berasal</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10 / 12</a:t>
            </a:r>
            <a:endParaRPr lang="en-US" sz="900" dirty="0"/>
          </a:p>
        </p:txBody>
      </p:sp>
      <p:sp>
        <p:nvSpPr>
          <p:cNvPr id="11" name="Shape 9"/>
          <p:cNvSpPr/>
          <p:nvPr/>
        </p:nvSpPr>
        <p:spPr>
          <a:xfrm>
            <a:off x="731520" y="1325880"/>
            <a:ext cx="3474720" cy="2057400"/>
          </a:xfrm>
          <a:prstGeom prst="roundRect">
            <a:avLst>
              <a:gd name="adj" fmla="val 3556"/>
            </a:avLst>
          </a:prstGeom>
          <a:solidFill>
            <a:srgbClr val="0A192F"/>
          </a:solidFill>
          <a:ln w="12700">
            <a:solidFill>
              <a:srgbClr val="1E3A5F"/>
            </a:solidFill>
            <a:prstDash val="solid"/>
          </a:ln>
        </p:spPr>
      </p:sp>
      <p:sp>
        <p:nvSpPr>
          <p:cNvPr id="12" name="Shape 10"/>
          <p:cNvSpPr/>
          <p:nvPr/>
        </p:nvSpPr>
        <p:spPr>
          <a:xfrm>
            <a:off x="731520" y="1325880"/>
            <a:ext cx="73152" cy="205740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17320"/>
            <a:ext cx="3200400" cy="475488"/>
          </a:xfrm>
          <a:prstGeom prst="roundRect">
            <a:avLst>
              <a:gd name="adj" fmla="val 7692"/>
            </a:avLst>
          </a:prstGeom>
          <a:solidFill>
            <a:srgbClr val="0D213F"/>
          </a:solidFill>
          <a:ln w="12700">
            <a:solidFill>
              <a:srgbClr val="0EA5E9"/>
            </a:solidFill>
            <a:prstDash val="solid"/>
          </a:ln>
        </p:spPr>
      </p:sp>
      <p:sp>
        <p:nvSpPr>
          <p:cNvPr id="14" name="Text 12"/>
          <p:cNvSpPr/>
          <p:nvPr/>
        </p:nvSpPr>
        <p:spPr>
          <a:xfrm>
            <a:off x="914400" y="1435608"/>
            <a:ext cx="3108960" cy="20116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KLASTER A: KERJASAMA PROGRAM STRATEGIS</a:t>
            </a:r>
            <a:endParaRPr lang="en-US" sz="850" dirty="0"/>
          </a:p>
        </p:txBody>
      </p:sp>
      <p:sp>
        <p:nvSpPr>
          <p:cNvPr id="15" name="Text 13"/>
          <p:cNvSpPr/>
          <p:nvPr/>
        </p:nvSpPr>
        <p:spPr>
          <a:xfrm>
            <a:off x="914400" y="1636776"/>
            <a:ext cx="3108960" cy="219456"/>
          </a:xfrm>
          <a:prstGeom prst="rect">
            <a:avLst/>
          </a:prstGeom>
          <a:noFill/>
          <a:ln/>
        </p:spPr>
        <p:txBody>
          <a:bodyPr wrap="square" rtlCol="0" anchor="ctr"/>
          <a:lstStyle/>
          <a:p>
            <a:pPr indent="0" marL="0">
              <a:buNone/>
            </a:pPr>
            <a:r>
              <a:rPr lang="en-US" sz="950" b="1" dirty="0">
                <a:solidFill>
                  <a:srgbClr val="0EA5E9"/>
                </a:solidFill>
                <a:latin typeface="Arial" pitchFamily="34" charset="0"/>
                <a:ea typeface="Arial" pitchFamily="34" charset="-122"/>
                <a:cs typeface="Arial" pitchFamily="34" charset="-120"/>
              </a:rPr>
              <a:t>Rp 12.825.000.000 (51%)</a:t>
            </a:r>
            <a:endParaRPr lang="en-US" sz="950" dirty="0"/>
          </a:p>
        </p:txBody>
      </p:sp>
      <p:sp>
        <p:nvSpPr>
          <p:cNvPr id="16" name="Text 14"/>
          <p:cNvSpPr/>
          <p:nvPr/>
        </p:nvSpPr>
        <p:spPr>
          <a:xfrm>
            <a:off x="896112" y="1947672"/>
            <a:ext cx="3154680" cy="1325880"/>
          </a:xfrm>
          <a:prstGeom prst="rect">
            <a:avLst/>
          </a:prstGeom>
          <a:noFill/>
          <a:ln/>
        </p:spPr>
        <p:txBody>
          <a:bodyPr wrap="square" rtlCol="0" anchor="ctr"/>
          <a:lstStyle/>
          <a:p>
            <a:pPr indent="0" marL="0">
              <a:lnSpc>
                <a:spcPts val="1000"/>
              </a:lnSpc>
              <a:buNone/>
            </a:pPr>
            <a:r>
              <a:rPr lang="en-US" sz="780" dirty="0">
                <a:solidFill>
                  <a:srgbClr val="94A3B8"/>
                </a:solidFill>
                <a:latin typeface="Arial" pitchFamily="34" charset="0"/>
                <a:ea typeface="Arial" pitchFamily="34" charset="-122"/>
                <a:cs typeface="Arial" pitchFamily="34" charset="-120"/>
              </a:rPr>
              <a:t>• OGSCI (Oil, Gas, Coal, Ship &amp; Infra): Rp 6.250.000.000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Pemda Surakarta (e-Katalog Inovasi): Rp 2.250.000.000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Startup Binaan STP (Komersialisasi): Rp 2.000.000.000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BP3MI - SMK GoGlobal (Talenta Global): Rp 1.500.000.000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LPK Lainnya &amp; Kemenperin: Rp 825.000.000</a:t>
            </a:r>
            <a:endParaRPr lang="en-US" sz="780" dirty="0"/>
          </a:p>
        </p:txBody>
      </p:sp>
      <p:sp>
        <p:nvSpPr>
          <p:cNvPr id="17" name="Shape 15"/>
          <p:cNvSpPr/>
          <p:nvPr/>
        </p:nvSpPr>
        <p:spPr>
          <a:xfrm>
            <a:off x="4343400" y="1325880"/>
            <a:ext cx="3474720" cy="2057400"/>
          </a:xfrm>
          <a:prstGeom prst="roundRect">
            <a:avLst>
              <a:gd name="adj" fmla="val 3556"/>
            </a:avLst>
          </a:prstGeom>
          <a:solidFill>
            <a:srgbClr val="0A192F"/>
          </a:solidFill>
          <a:ln w="12700">
            <a:solidFill>
              <a:srgbClr val="1E3A5F"/>
            </a:solidFill>
            <a:prstDash val="solid"/>
          </a:ln>
        </p:spPr>
      </p:sp>
      <p:sp>
        <p:nvSpPr>
          <p:cNvPr id="18" name="Shape 16"/>
          <p:cNvSpPr/>
          <p:nvPr/>
        </p:nvSpPr>
        <p:spPr>
          <a:xfrm>
            <a:off x="4343400" y="1325880"/>
            <a:ext cx="73152" cy="2057400"/>
          </a:xfrm>
          <a:prstGeom prst="roundRect">
            <a:avLst>
              <a:gd name="adj" fmla="val 50000"/>
            </a:avLst>
          </a:prstGeom>
          <a:solidFill>
            <a:srgbClr val="38BDF8"/>
          </a:solidFill>
          <a:ln w="12700">
            <a:solidFill>
              <a:srgbClr val="38BDF8"/>
            </a:solidFill>
            <a:prstDash val="solid"/>
          </a:ln>
        </p:spPr>
      </p:sp>
      <p:sp>
        <p:nvSpPr>
          <p:cNvPr id="19" name="Shape 17"/>
          <p:cNvSpPr/>
          <p:nvPr/>
        </p:nvSpPr>
        <p:spPr>
          <a:xfrm>
            <a:off x="4480560" y="1417320"/>
            <a:ext cx="3200400" cy="475488"/>
          </a:xfrm>
          <a:prstGeom prst="roundRect">
            <a:avLst>
              <a:gd name="adj" fmla="val 7692"/>
            </a:avLst>
          </a:prstGeom>
          <a:solidFill>
            <a:srgbClr val="0D213F"/>
          </a:solidFill>
          <a:ln w="12700">
            <a:solidFill>
              <a:srgbClr val="38BDF8"/>
            </a:solidFill>
            <a:prstDash val="solid"/>
          </a:ln>
        </p:spPr>
      </p:sp>
      <p:sp>
        <p:nvSpPr>
          <p:cNvPr id="20" name="Text 18"/>
          <p:cNvSpPr/>
          <p:nvPr/>
        </p:nvSpPr>
        <p:spPr>
          <a:xfrm>
            <a:off x="4526280" y="1435608"/>
            <a:ext cx="3108960" cy="20116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KLASTER B: LAYANAN VOKASI &amp; SERTIFIKASI</a:t>
            </a:r>
            <a:endParaRPr lang="en-US" sz="850" dirty="0"/>
          </a:p>
        </p:txBody>
      </p:sp>
      <p:sp>
        <p:nvSpPr>
          <p:cNvPr id="21" name="Text 19"/>
          <p:cNvSpPr/>
          <p:nvPr/>
        </p:nvSpPr>
        <p:spPr>
          <a:xfrm>
            <a:off x="4526280" y="1636776"/>
            <a:ext cx="3108960" cy="219456"/>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Rp 3.679.800.000 (16%)</a:t>
            </a:r>
            <a:endParaRPr lang="en-US" sz="950" dirty="0"/>
          </a:p>
        </p:txBody>
      </p:sp>
      <p:sp>
        <p:nvSpPr>
          <p:cNvPr id="22" name="Text 20"/>
          <p:cNvSpPr/>
          <p:nvPr/>
        </p:nvSpPr>
        <p:spPr>
          <a:xfrm>
            <a:off x="4507992" y="1947672"/>
            <a:ext cx="3154680" cy="1325880"/>
          </a:xfrm>
          <a:prstGeom prst="rect">
            <a:avLst/>
          </a:prstGeom>
          <a:noFill/>
          <a:ln/>
        </p:spPr>
        <p:txBody>
          <a:bodyPr wrap="square" rtlCol="0" anchor="ctr"/>
          <a:lstStyle/>
          <a:p>
            <a:pPr indent="0" marL="0">
              <a:lnSpc>
                <a:spcPts val="1000"/>
              </a:lnSpc>
              <a:buNone/>
            </a:pPr>
            <a:r>
              <a:rPr lang="en-US" sz="780" dirty="0">
                <a:solidFill>
                  <a:srgbClr val="94A3B8"/>
                </a:solidFill>
                <a:latin typeface="Arial" pitchFamily="34" charset="0"/>
                <a:ea typeface="Arial" pitchFamily="34" charset="-122"/>
                <a:cs typeface="Arial" pitchFamily="34" charset="-120"/>
              </a:rPr>
              <a:t>• Sertifikasi JFT (Fungsional Tertentu): Rp 1.375.000.000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TUK (Tempat Uji Kompetensi Mandiri): Rp 1.350.000.000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Konsultasi Lab &amp; Data Center: Rp 950.000.000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Prakerin Siswa SMK Se-Solo Raya: Rp 4.800.000</a:t>
            </a:r>
            <a:endParaRPr lang="en-US" sz="780" dirty="0"/>
          </a:p>
        </p:txBody>
      </p:sp>
      <p:sp>
        <p:nvSpPr>
          <p:cNvPr id="23" name="Shape 21"/>
          <p:cNvSpPr/>
          <p:nvPr/>
        </p:nvSpPr>
        <p:spPr>
          <a:xfrm>
            <a:off x="7955280" y="1325880"/>
            <a:ext cx="3474720" cy="2057400"/>
          </a:xfrm>
          <a:prstGeom prst="roundRect">
            <a:avLst>
              <a:gd name="adj" fmla="val 3556"/>
            </a:avLst>
          </a:prstGeom>
          <a:solidFill>
            <a:srgbClr val="0A192F"/>
          </a:solidFill>
          <a:ln w="12700">
            <a:solidFill>
              <a:srgbClr val="1E3A5F"/>
            </a:solidFill>
            <a:prstDash val="solid"/>
          </a:ln>
        </p:spPr>
      </p:sp>
      <p:sp>
        <p:nvSpPr>
          <p:cNvPr id="24" name="Shape 22"/>
          <p:cNvSpPr/>
          <p:nvPr/>
        </p:nvSpPr>
        <p:spPr>
          <a:xfrm>
            <a:off x="7955280" y="1325880"/>
            <a:ext cx="73152" cy="2057400"/>
          </a:xfrm>
          <a:prstGeom prst="roundRect">
            <a:avLst>
              <a:gd name="adj" fmla="val 50000"/>
            </a:avLst>
          </a:prstGeom>
          <a:solidFill>
            <a:srgbClr val="F59E0B"/>
          </a:solidFill>
          <a:ln w="12700">
            <a:solidFill>
              <a:srgbClr val="F59E0B"/>
            </a:solidFill>
            <a:prstDash val="solid"/>
          </a:ln>
        </p:spPr>
      </p:sp>
      <p:sp>
        <p:nvSpPr>
          <p:cNvPr id="25" name="Shape 23"/>
          <p:cNvSpPr/>
          <p:nvPr/>
        </p:nvSpPr>
        <p:spPr>
          <a:xfrm>
            <a:off x="8092440" y="1417320"/>
            <a:ext cx="3200400" cy="475488"/>
          </a:xfrm>
          <a:prstGeom prst="roundRect">
            <a:avLst>
              <a:gd name="adj" fmla="val 7692"/>
            </a:avLst>
          </a:prstGeom>
          <a:solidFill>
            <a:srgbClr val="0D213F"/>
          </a:solidFill>
          <a:ln w="12700">
            <a:solidFill>
              <a:srgbClr val="F59E0B"/>
            </a:solidFill>
            <a:prstDash val="solid"/>
          </a:ln>
        </p:spPr>
      </p:sp>
      <p:sp>
        <p:nvSpPr>
          <p:cNvPr id="26" name="Text 24"/>
          <p:cNvSpPr/>
          <p:nvPr/>
        </p:nvSpPr>
        <p:spPr>
          <a:xfrm>
            <a:off x="8138160" y="1435608"/>
            <a:ext cx="3108960" cy="20116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KLASTER C: DIKLAT MANDIRI SPESIALIS</a:t>
            </a:r>
            <a:endParaRPr lang="en-US" sz="850" dirty="0"/>
          </a:p>
        </p:txBody>
      </p:sp>
      <p:sp>
        <p:nvSpPr>
          <p:cNvPr id="27" name="Text 25"/>
          <p:cNvSpPr/>
          <p:nvPr/>
        </p:nvSpPr>
        <p:spPr>
          <a:xfrm>
            <a:off x="8138160" y="1636776"/>
            <a:ext cx="3108960" cy="219456"/>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Rp 2.469.000.000 (10%)</a:t>
            </a:r>
            <a:endParaRPr lang="en-US" sz="950" dirty="0"/>
          </a:p>
        </p:txBody>
      </p:sp>
      <p:sp>
        <p:nvSpPr>
          <p:cNvPr id="28" name="Text 26"/>
          <p:cNvSpPr/>
          <p:nvPr/>
        </p:nvSpPr>
        <p:spPr>
          <a:xfrm>
            <a:off x="8119872" y="1947672"/>
            <a:ext cx="3154680" cy="1325880"/>
          </a:xfrm>
          <a:prstGeom prst="rect">
            <a:avLst/>
          </a:prstGeom>
          <a:noFill/>
          <a:ln/>
        </p:spPr>
        <p:txBody>
          <a:bodyPr wrap="square" rtlCol="0" anchor="ctr"/>
          <a:lstStyle/>
          <a:p>
            <a:pPr indent="0" marL="0">
              <a:lnSpc>
                <a:spcPts val="1000"/>
              </a:lnSpc>
              <a:buNone/>
            </a:pPr>
            <a:r>
              <a:rPr lang="en-US" sz="780" dirty="0">
                <a:solidFill>
                  <a:srgbClr val="94A3B8"/>
                </a:solidFill>
                <a:latin typeface="Arial" pitchFamily="34" charset="0"/>
                <a:ea typeface="Arial" pitchFamily="34" charset="-122"/>
                <a:cs typeface="Arial" pitchFamily="34" charset="-120"/>
              </a:rPr>
              <a:t>• Underwater Wet Welding (Keahlian Langka): Rp 846.000.000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Manufaktur Presisi &amp; Welding Intensif: Rp 728.000.000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Digital Tech (Cyber Security &amp; AI): Rp 225.000.000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Desain Produk, Manajerial &amp; EV: Rp 555.000.000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Kewirausahaan &amp; Digitalisasi UMKM: Rp 115.000.000</a:t>
            </a:r>
            <a:endParaRPr lang="en-US" sz="780" dirty="0"/>
          </a:p>
        </p:txBody>
      </p:sp>
      <p:sp>
        <p:nvSpPr>
          <p:cNvPr id="29" name="Shape 27"/>
          <p:cNvSpPr/>
          <p:nvPr/>
        </p:nvSpPr>
        <p:spPr>
          <a:xfrm>
            <a:off x="731520" y="3502152"/>
            <a:ext cx="3474720" cy="2057400"/>
          </a:xfrm>
          <a:prstGeom prst="roundRect">
            <a:avLst>
              <a:gd name="adj" fmla="val 3556"/>
            </a:avLst>
          </a:prstGeom>
          <a:solidFill>
            <a:srgbClr val="0A192F"/>
          </a:solidFill>
          <a:ln w="12700">
            <a:solidFill>
              <a:srgbClr val="1E3A5F"/>
            </a:solidFill>
            <a:prstDash val="solid"/>
          </a:ln>
        </p:spPr>
      </p:sp>
      <p:sp>
        <p:nvSpPr>
          <p:cNvPr id="30" name="Shape 28"/>
          <p:cNvSpPr/>
          <p:nvPr/>
        </p:nvSpPr>
        <p:spPr>
          <a:xfrm>
            <a:off x="731520" y="3502152"/>
            <a:ext cx="73152" cy="2057400"/>
          </a:xfrm>
          <a:prstGeom prst="roundRect">
            <a:avLst>
              <a:gd name="adj" fmla="val 50000"/>
            </a:avLst>
          </a:prstGeom>
          <a:solidFill>
            <a:srgbClr val="10B981"/>
          </a:solidFill>
          <a:ln w="12700">
            <a:solidFill>
              <a:srgbClr val="10B981"/>
            </a:solidFill>
            <a:prstDash val="solid"/>
          </a:ln>
        </p:spPr>
      </p:sp>
      <p:sp>
        <p:nvSpPr>
          <p:cNvPr id="31" name="Shape 29"/>
          <p:cNvSpPr/>
          <p:nvPr/>
        </p:nvSpPr>
        <p:spPr>
          <a:xfrm>
            <a:off x="868680" y="3593592"/>
            <a:ext cx="3200400" cy="475488"/>
          </a:xfrm>
          <a:prstGeom prst="roundRect">
            <a:avLst>
              <a:gd name="adj" fmla="val 7692"/>
            </a:avLst>
          </a:prstGeom>
          <a:solidFill>
            <a:srgbClr val="0D213F"/>
          </a:solidFill>
          <a:ln w="12700">
            <a:solidFill>
              <a:srgbClr val="10B981"/>
            </a:solidFill>
            <a:prstDash val="solid"/>
          </a:ln>
        </p:spPr>
      </p:sp>
      <p:sp>
        <p:nvSpPr>
          <p:cNvPr id="32" name="Text 30"/>
          <p:cNvSpPr/>
          <p:nvPr/>
        </p:nvSpPr>
        <p:spPr>
          <a:xfrm>
            <a:off x="914400" y="3611880"/>
            <a:ext cx="3108960" cy="20116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KLASTER D: LAIN-LAIN PENDAPATAN BLUD</a:t>
            </a:r>
            <a:endParaRPr lang="en-US" sz="850" dirty="0"/>
          </a:p>
        </p:txBody>
      </p:sp>
      <p:sp>
        <p:nvSpPr>
          <p:cNvPr id="33" name="Text 31"/>
          <p:cNvSpPr/>
          <p:nvPr/>
        </p:nvSpPr>
        <p:spPr>
          <a:xfrm>
            <a:off x="914400" y="3813048"/>
            <a:ext cx="3108960" cy="219456"/>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Rp 2.450.000.000 (10%)</a:t>
            </a:r>
            <a:endParaRPr lang="en-US" sz="950" dirty="0"/>
          </a:p>
        </p:txBody>
      </p:sp>
      <p:sp>
        <p:nvSpPr>
          <p:cNvPr id="34" name="Text 32"/>
          <p:cNvSpPr/>
          <p:nvPr/>
        </p:nvSpPr>
        <p:spPr>
          <a:xfrm>
            <a:off x="896112" y="4123944"/>
            <a:ext cx="3154680" cy="1325880"/>
          </a:xfrm>
          <a:prstGeom prst="rect">
            <a:avLst/>
          </a:prstGeom>
          <a:noFill/>
          <a:ln/>
        </p:spPr>
        <p:txBody>
          <a:bodyPr wrap="square" rtlCol="0" anchor="ctr"/>
          <a:lstStyle/>
          <a:p>
            <a:pPr indent="0" marL="0">
              <a:lnSpc>
                <a:spcPts val="1000"/>
              </a:lnSpc>
              <a:buNone/>
            </a:pPr>
            <a:r>
              <a:rPr lang="en-US" sz="780" dirty="0">
                <a:solidFill>
                  <a:srgbClr val="94A3B8"/>
                </a:solidFill>
                <a:latin typeface="Arial" pitchFamily="34" charset="0"/>
                <a:ea typeface="Arial" pitchFamily="34" charset="-122"/>
                <a:cs typeface="Arial" pitchFamily="34" charset="-120"/>
              </a:rPr>
              <a:t>• Pemanfaatan Sarana Kawasan &amp; Event/MICE: Rp 1.500.000.000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Co-Working Space &amp; Virtual Office: Rp 900.000.000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Jasa Giro Rekening Kas BLUD: Rp 50.000.000</a:t>
            </a:r>
            <a:endParaRPr lang="en-US" sz="780" dirty="0"/>
          </a:p>
        </p:txBody>
      </p:sp>
      <p:sp>
        <p:nvSpPr>
          <p:cNvPr id="35" name="Shape 33"/>
          <p:cNvSpPr/>
          <p:nvPr/>
        </p:nvSpPr>
        <p:spPr>
          <a:xfrm>
            <a:off x="4343400" y="3502152"/>
            <a:ext cx="3474720" cy="2057400"/>
          </a:xfrm>
          <a:prstGeom prst="roundRect">
            <a:avLst>
              <a:gd name="adj" fmla="val 3556"/>
            </a:avLst>
          </a:prstGeom>
          <a:solidFill>
            <a:srgbClr val="0A192F"/>
          </a:solidFill>
          <a:ln w="12700">
            <a:solidFill>
              <a:srgbClr val="1E3A5F"/>
            </a:solidFill>
            <a:prstDash val="solid"/>
          </a:ln>
        </p:spPr>
      </p:sp>
      <p:sp>
        <p:nvSpPr>
          <p:cNvPr id="36" name="Shape 34"/>
          <p:cNvSpPr/>
          <p:nvPr/>
        </p:nvSpPr>
        <p:spPr>
          <a:xfrm>
            <a:off x="4343400" y="3502152"/>
            <a:ext cx="73152" cy="2057400"/>
          </a:xfrm>
          <a:prstGeom prst="roundRect">
            <a:avLst>
              <a:gd name="adj" fmla="val 50000"/>
            </a:avLst>
          </a:prstGeom>
          <a:solidFill>
            <a:srgbClr val="FFFFFF"/>
          </a:solidFill>
          <a:ln w="12700">
            <a:solidFill>
              <a:srgbClr val="FFFFFF"/>
            </a:solidFill>
            <a:prstDash val="solid"/>
          </a:ln>
        </p:spPr>
      </p:sp>
      <p:sp>
        <p:nvSpPr>
          <p:cNvPr id="37" name="Shape 35"/>
          <p:cNvSpPr/>
          <p:nvPr/>
        </p:nvSpPr>
        <p:spPr>
          <a:xfrm>
            <a:off x="4480560" y="3593592"/>
            <a:ext cx="3200400" cy="475488"/>
          </a:xfrm>
          <a:prstGeom prst="roundRect">
            <a:avLst>
              <a:gd name="adj" fmla="val 7692"/>
            </a:avLst>
          </a:prstGeom>
          <a:solidFill>
            <a:srgbClr val="0D213F"/>
          </a:solidFill>
          <a:ln w="12700">
            <a:solidFill>
              <a:srgbClr val="FFFFFF"/>
            </a:solidFill>
            <a:prstDash val="solid"/>
          </a:ln>
        </p:spPr>
      </p:sp>
      <p:sp>
        <p:nvSpPr>
          <p:cNvPr id="38" name="Text 36"/>
          <p:cNvSpPr/>
          <p:nvPr/>
        </p:nvSpPr>
        <p:spPr>
          <a:xfrm>
            <a:off x="4526280" y="3611880"/>
            <a:ext cx="3108960" cy="20116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KLASTER E: REKAYASA MANUFAKTUR &amp; PRODUKSI</a:t>
            </a:r>
            <a:endParaRPr lang="en-US" sz="850" dirty="0"/>
          </a:p>
        </p:txBody>
      </p:sp>
      <p:sp>
        <p:nvSpPr>
          <p:cNvPr id="39" name="Text 37"/>
          <p:cNvSpPr/>
          <p:nvPr/>
        </p:nvSpPr>
        <p:spPr>
          <a:xfrm>
            <a:off x="4526280" y="3813048"/>
            <a:ext cx="3108960" cy="219456"/>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Rp 1.465.000.000 (6%)</a:t>
            </a:r>
            <a:endParaRPr lang="en-US" sz="950" dirty="0"/>
          </a:p>
        </p:txBody>
      </p:sp>
      <p:sp>
        <p:nvSpPr>
          <p:cNvPr id="40" name="Text 38"/>
          <p:cNvSpPr/>
          <p:nvPr/>
        </p:nvSpPr>
        <p:spPr>
          <a:xfrm>
            <a:off x="4507992" y="4123944"/>
            <a:ext cx="3154680" cy="1325880"/>
          </a:xfrm>
          <a:prstGeom prst="rect">
            <a:avLst/>
          </a:prstGeom>
          <a:noFill/>
          <a:ln/>
        </p:spPr>
        <p:txBody>
          <a:bodyPr wrap="square" rtlCol="0" anchor="ctr"/>
          <a:lstStyle/>
          <a:p>
            <a:pPr indent="0" marL="0">
              <a:lnSpc>
                <a:spcPts val="1000"/>
              </a:lnSpc>
              <a:buNone/>
            </a:pPr>
            <a:r>
              <a:rPr lang="en-US" sz="780" dirty="0">
                <a:solidFill>
                  <a:srgbClr val="94A3B8"/>
                </a:solidFill>
                <a:latin typeface="Arial" pitchFamily="34" charset="0"/>
                <a:ea typeface="Arial" pitchFamily="34" charset="-122"/>
                <a:cs typeface="Arial" pitchFamily="34" charset="-120"/>
              </a:rPr>
              <a:t>• Jasa Produksi Precision Parts: Rp 1.225.000.000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Standarisasi Produk &amp; Sertifikasi TKDN: Rp 135.000.000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Produksi Pesanan Pemda (e-Katalog): Rp 105.000.000</a:t>
            </a:r>
            <a:endParaRPr lang="en-US" sz="780" dirty="0"/>
          </a:p>
        </p:txBody>
      </p:sp>
      <p:sp>
        <p:nvSpPr>
          <p:cNvPr id="41" name="Shape 39"/>
          <p:cNvSpPr/>
          <p:nvPr/>
        </p:nvSpPr>
        <p:spPr>
          <a:xfrm>
            <a:off x="7955280" y="3502152"/>
            <a:ext cx="3474720" cy="2057400"/>
          </a:xfrm>
          <a:prstGeom prst="roundRect">
            <a:avLst>
              <a:gd name="adj" fmla="val 3556"/>
            </a:avLst>
          </a:prstGeom>
          <a:solidFill>
            <a:srgbClr val="0A192F"/>
          </a:solidFill>
          <a:ln w="12700">
            <a:solidFill>
              <a:srgbClr val="1E3A5F"/>
            </a:solidFill>
            <a:prstDash val="solid"/>
          </a:ln>
        </p:spPr>
      </p:sp>
      <p:sp>
        <p:nvSpPr>
          <p:cNvPr id="42" name="Shape 40"/>
          <p:cNvSpPr/>
          <p:nvPr/>
        </p:nvSpPr>
        <p:spPr>
          <a:xfrm>
            <a:off x="7955280" y="3502152"/>
            <a:ext cx="73152" cy="2057400"/>
          </a:xfrm>
          <a:prstGeom prst="roundRect">
            <a:avLst>
              <a:gd name="adj" fmla="val 50000"/>
            </a:avLst>
          </a:prstGeom>
          <a:solidFill>
            <a:srgbClr val="94A3B8"/>
          </a:solidFill>
          <a:ln w="12700">
            <a:solidFill>
              <a:srgbClr val="94A3B8"/>
            </a:solidFill>
            <a:prstDash val="solid"/>
          </a:ln>
        </p:spPr>
      </p:sp>
      <p:sp>
        <p:nvSpPr>
          <p:cNvPr id="43" name="Shape 41"/>
          <p:cNvSpPr/>
          <p:nvPr/>
        </p:nvSpPr>
        <p:spPr>
          <a:xfrm>
            <a:off x="8092440" y="3593592"/>
            <a:ext cx="3200400" cy="475488"/>
          </a:xfrm>
          <a:prstGeom prst="roundRect">
            <a:avLst>
              <a:gd name="adj" fmla="val 7692"/>
            </a:avLst>
          </a:prstGeom>
          <a:solidFill>
            <a:srgbClr val="0D213F"/>
          </a:solidFill>
          <a:ln w="12700">
            <a:solidFill>
              <a:srgbClr val="94A3B8"/>
            </a:solidFill>
            <a:prstDash val="solid"/>
          </a:ln>
        </p:spPr>
      </p:sp>
      <p:sp>
        <p:nvSpPr>
          <p:cNvPr id="44" name="Text 42"/>
          <p:cNvSpPr/>
          <p:nvPr/>
        </p:nvSpPr>
        <p:spPr>
          <a:xfrm>
            <a:off x="8138160" y="3611880"/>
            <a:ext cx="3108960" cy="20116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KLASTER F: KEMITRAAN LAHAN EKSISTING</a:t>
            </a:r>
            <a:endParaRPr lang="en-US" sz="850" dirty="0"/>
          </a:p>
        </p:txBody>
      </p:sp>
      <p:sp>
        <p:nvSpPr>
          <p:cNvPr id="45" name="Text 43"/>
          <p:cNvSpPr/>
          <p:nvPr/>
        </p:nvSpPr>
        <p:spPr>
          <a:xfrm>
            <a:off x="8138160" y="3813048"/>
            <a:ext cx="3108960" cy="219456"/>
          </a:xfrm>
          <a:prstGeom prst="rect">
            <a:avLst/>
          </a:prstGeom>
          <a:noFill/>
          <a:ln/>
        </p:spPr>
        <p:txBody>
          <a:bodyPr wrap="square" rtlCol="0" anchor="ctr"/>
          <a:lstStyle/>
          <a:p>
            <a:pPr indent="0" marL="0">
              <a:buNone/>
            </a:pPr>
            <a:r>
              <a:rPr lang="en-US" sz="950" b="1" dirty="0">
                <a:solidFill>
                  <a:srgbClr val="94A3B8"/>
                </a:solidFill>
                <a:latin typeface="Arial" pitchFamily="34" charset="0"/>
                <a:ea typeface="Arial" pitchFamily="34" charset="-122"/>
                <a:cs typeface="Arial" pitchFamily="34" charset="-120"/>
              </a:rPr>
              <a:t>Rp 579.358.831 (3%)</a:t>
            </a:r>
            <a:endParaRPr lang="en-US" sz="950" dirty="0"/>
          </a:p>
        </p:txBody>
      </p:sp>
      <p:sp>
        <p:nvSpPr>
          <p:cNvPr id="46" name="Text 44"/>
          <p:cNvSpPr/>
          <p:nvPr/>
        </p:nvSpPr>
        <p:spPr>
          <a:xfrm>
            <a:off x="8119872" y="4123944"/>
            <a:ext cx="3154680" cy="1325880"/>
          </a:xfrm>
          <a:prstGeom prst="rect">
            <a:avLst/>
          </a:prstGeom>
          <a:noFill/>
          <a:ln/>
        </p:spPr>
        <p:txBody>
          <a:bodyPr wrap="square" rtlCol="0" anchor="ctr"/>
          <a:lstStyle/>
          <a:p>
            <a:pPr indent="0" marL="0">
              <a:lnSpc>
                <a:spcPts val="1000"/>
              </a:lnSpc>
              <a:buNone/>
            </a:pPr>
            <a:r>
              <a:rPr lang="en-US" sz="780" dirty="0">
                <a:solidFill>
                  <a:srgbClr val="94A3B8"/>
                </a:solidFill>
                <a:latin typeface="Arial" pitchFamily="34" charset="0"/>
                <a:ea typeface="Arial" pitchFamily="34" charset="-122"/>
                <a:cs typeface="Arial" pitchFamily="34" charset="-120"/>
              </a:rPr>
              <a:t>• Shopee Indonesia (Sewa Lahan/Co-location): Rp 544.358.831</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Katulondi (Sewa Fasilitas Kawasan): Rp 35.000.000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Catatan: Porsi sewa lahan ditekan ke 3% demi fokus layanan bernilai tambah tinggi.</a:t>
            </a:r>
            <a:endParaRPr lang="en-US" sz="780" dirty="0"/>
          </a:p>
        </p:txBody>
      </p:sp>
      <p:sp>
        <p:nvSpPr>
          <p:cNvPr id="47" name="Shape 45"/>
          <p:cNvSpPr/>
          <p:nvPr/>
        </p:nvSpPr>
        <p:spPr>
          <a:xfrm>
            <a:off x="731520" y="5760720"/>
            <a:ext cx="10728655" cy="566928"/>
          </a:xfrm>
          <a:prstGeom prst="roundRect">
            <a:avLst>
              <a:gd name="adj" fmla="val 12903"/>
            </a:avLst>
          </a:prstGeom>
          <a:solidFill>
            <a:srgbClr val="0D213F"/>
          </a:solidFill>
          <a:ln w="12700">
            <a:solidFill>
              <a:srgbClr val="F59E0B"/>
            </a:solidFill>
            <a:prstDash val="solid"/>
          </a:ln>
        </p:spPr>
      </p:sp>
      <p:sp>
        <p:nvSpPr>
          <p:cNvPr id="48" name="Text 46"/>
          <p:cNvSpPr/>
          <p:nvPr/>
        </p:nvSpPr>
        <p:spPr>
          <a:xfrm>
            <a:off x="914400" y="5760720"/>
            <a:ext cx="10362895" cy="56692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TOTAL TARGET PENDAPATAN BLUD 2030:   </a:t>
            </a:r>
            <a:pPr algn="ctr" indent="0" marL="0">
              <a:buNone/>
            </a:pPr>
            <a:r>
              <a:rPr lang="en-US" sz="1400" b="1" dirty="0">
                <a:solidFill>
                  <a:srgbClr val="F59E0B"/>
                </a:solidFill>
                <a:latin typeface="Arial" pitchFamily="34" charset="0"/>
                <a:ea typeface="Arial" pitchFamily="34" charset="-122"/>
                <a:cs typeface="Arial" pitchFamily="34" charset="-120"/>
              </a:rPr>
              <a:t>Rp 23.468.158.831  </a:t>
            </a:r>
            <a:pPr algn="ctr" indent="0" marL="0">
              <a:buNone/>
            </a:pPr>
            <a:r>
              <a:rPr lang="en-US" sz="850" i="1" dirty="0">
                <a:solidFill>
                  <a:srgbClr val="94A3B8"/>
                </a:solidFill>
                <a:latin typeface="Arial" pitchFamily="34" charset="0"/>
                <a:ea typeface="Arial" pitchFamily="34" charset="-122"/>
                <a:cs typeface="Arial" pitchFamily="34" charset="-120"/>
              </a:rPr>
              <a:t>(Dua Puluh Tiga Miliar Empat Ratus Enam Puluh Delapan Juta Seratus Lima Puluh Delapan Ribu Rupiah)</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DAMPAK SOSIAL-EKONOMI DAERAH</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6 DIMENSI KEBERDAMPAKAN: SOLO TECHNOPARK UNTUK WARGA SURAKARTA</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"Indikator Keberhasilan Harus Mengukur IMPACT — Bukan Sekadar Aktivitas dan Pendapatan Kas" (Dokumen Strategi STP 2026)</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11 / 12</a:t>
            </a:r>
            <a:endParaRPr lang="en-US" sz="900" dirty="0"/>
          </a:p>
        </p:txBody>
      </p:sp>
      <p:sp>
        <p:nvSpPr>
          <p:cNvPr id="11" name="Shape 9"/>
          <p:cNvSpPr/>
          <p:nvPr/>
        </p:nvSpPr>
        <p:spPr>
          <a:xfrm>
            <a:off x="731520" y="1325880"/>
            <a:ext cx="3474720" cy="2103120"/>
          </a:xfrm>
          <a:prstGeom prst="roundRect">
            <a:avLst>
              <a:gd name="adj" fmla="val 3478"/>
            </a:avLst>
          </a:prstGeom>
          <a:solidFill>
            <a:srgbClr val="0A192F"/>
          </a:solidFill>
          <a:ln w="12700">
            <a:solidFill>
              <a:srgbClr val="1E3A5F"/>
            </a:solidFill>
            <a:prstDash val="solid"/>
          </a:ln>
        </p:spPr>
      </p:sp>
      <p:sp>
        <p:nvSpPr>
          <p:cNvPr id="12" name="Shape 10"/>
          <p:cNvSpPr/>
          <p:nvPr/>
        </p:nvSpPr>
        <p:spPr>
          <a:xfrm>
            <a:off x="731520" y="1325880"/>
            <a:ext cx="73152" cy="210312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914400" y="1463040"/>
            <a:ext cx="310896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1. SDM LEBIH KOMPETEN</a:t>
            </a:r>
            <a:endParaRPr lang="en-US" sz="1050" dirty="0"/>
          </a:p>
        </p:txBody>
      </p:sp>
      <p:sp>
        <p:nvSpPr>
          <p:cNvPr id="14" name="Text 12"/>
          <p:cNvSpPr/>
          <p:nvPr/>
        </p:nvSpPr>
        <p:spPr>
          <a:xfrm>
            <a:off x="914400" y="1801368"/>
            <a:ext cx="3108960" cy="5943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Pelatihan vokasi industri &amp; uji kompetensi memperkuat daya saing kerja warga kota.</a:t>
            </a:r>
            <a:endParaRPr lang="en-US" sz="880" dirty="0"/>
          </a:p>
        </p:txBody>
      </p:sp>
      <p:sp>
        <p:nvSpPr>
          <p:cNvPr id="15" name="Shape 13"/>
          <p:cNvSpPr/>
          <p:nvPr/>
        </p:nvSpPr>
        <p:spPr>
          <a:xfrm>
            <a:off x="914400" y="2468880"/>
            <a:ext cx="3108960" cy="777240"/>
          </a:xfrm>
          <a:prstGeom prst="roundRect">
            <a:avLst>
              <a:gd name="adj" fmla="val 5882"/>
            </a:avLst>
          </a:prstGeom>
          <a:solidFill>
            <a:srgbClr val="0D213F"/>
          </a:solidFill>
          <a:ln w="12700">
            <a:solidFill>
              <a:srgbClr val="0EA5E9"/>
            </a:solidFill>
            <a:prstDash val="solid"/>
          </a:ln>
        </p:spPr>
      </p:sp>
      <p:sp>
        <p:nvSpPr>
          <p:cNvPr id="16" name="Text 14"/>
          <p:cNvSpPr/>
          <p:nvPr/>
        </p:nvSpPr>
        <p:spPr>
          <a:xfrm>
            <a:off x="960120" y="2514600"/>
            <a:ext cx="3017520" cy="384048"/>
          </a:xfrm>
          <a:prstGeom prst="rect">
            <a:avLst/>
          </a:prstGeom>
          <a:noFill/>
          <a:ln/>
        </p:spPr>
        <p:txBody>
          <a:bodyPr wrap="square" rtlCol="0" anchor="ctr"/>
          <a:lstStyle/>
          <a:p>
            <a:pPr algn="ctr" indent="0" marL="0">
              <a:buNone/>
            </a:pPr>
            <a:r>
              <a:rPr lang="en-US" sz="1300" b="1" dirty="0">
                <a:solidFill>
                  <a:srgbClr val="0EA5E9"/>
                </a:solidFill>
                <a:latin typeface="Arial" pitchFamily="34" charset="0"/>
                <a:ea typeface="Arial" pitchFamily="34" charset="-122"/>
                <a:cs typeface="Arial" pitchFamily="34" charset="-120"/>
              </a:rPr>
              <a:t>9.000 Peserta / Thn</a:t>
            </a:r>
            <a:endParaRPr lang="en-US" sz="1300" dirty="0"/>
          </a:p>
        </p:txBody>
      </p:sp>
      <p:sp>
        <p:nvSpPr>
          <p:cNvPr id="17" name="Text 15"/>
          <p:cNvSpPr/>
          <p:nvPr/>
        </p:nvSpPr>
        <p:spPr>
          <a:xfrm>
            <a:off x="960120" y="2898648"/>
            <a:ext cx="3017520" cy="274320"/>
          </a:xfrm>
          <a:prstGeom prst="rect">
            <a:avLst/>
          </a:prstGeom>
          <a:noFill/>
          <a:ln/>
        </p:spPr>
        <p:txBody>
          <a:bodyPr wrap="square" rtlCol="0" anchor="ctr"/>
          <a:lstStyle/>
          <a:p>
            <a:pPr algn="ctr" indent="0" marL="0">
              <a:buNone/>
            </a:pPr>
            <a:r>
              <a:rPr lang="en-US" sz="850" b="1" dirty="0">
                <a:solidFill>
                  <a:srgbClr val="94A3B8"/>
                </a:solidFill>
                <a:latin typeface="Arial" pitchFamily="34" charset="0"/>
                <a:ea typeface="Arial" pitchFamily="34" charset="-122"/>
                <a:cs typeface="Arial" pitchFamily="34" charset="-120"/>
              </a:rPr>
              <a:t>Kuota afirmasi 65% KTP Surakarta</a:t>
            </a:r>
            <a:endParaRPr lang="en-US" sz="850" dirty="0"/>
          </a:p>
        </p:txBody>
      </p:sp>
      <p:sp>
        <p:nvSpPr>
          <p:cNvPr id="18" name="Shape 16"/>
          <p:cNvSpPr/>
          <p:nvPr/>
        </p:nvSpPr>
        <p:spPr>
          <a:xfrm>
            <a:off x="4343400" y="1325880"/>
            <a:ext cx="3474720" cy="2103120"/>
          </a:xfrm>
          <a:prstGeom prst="roundRect">
            <a:avLst>
              <a:gd name="adj" fmla="val 3478"/>
            </a:avLst>
          </a:prstGeom>
          <a:solidFill>
            <a:srgbClr val="0A192F"/>
          </a:solidFill>
          <a:ln w="12700">
            <a:solidFill>
              <a:srgbClr val="1E3A5F"/>
            </a:solidFill>
            <a:prstDash val="solid"/>
          </a:ln>
        </p:spPr>
      </p:sp>
      <p:sp>
        <p:nvSpPr>
          <p:cNvPr id="19" name="Shape 17"/>
          <p:cNvSpPr/>
          <p:nvPr/>
        </p:nvSpPr>
        <p:spPr>
          <a:xfrm>
            <a:off x="4343400" y="1325880"/>
            <a:ext cx="73152" cy="2103120"/>
          </a:xfrm>
          <a:prstGeom prst="roundRect">
            <a:avLst>
              <a:gd name="adj" fmla="val 50000"/>
            </a:avLst>
          </a:prstGeom>
          <a:solidFill>
            <a:srgbClr val="F59E0B"/>
          </a:solidFill>
          <a:ln w="12700">
            <a:solidFill>
              <a:srgbClr val="F59E0B"/>
            </a:solidFill>
            <a:prstDash val="solid"/>
          </a:ln>
        </p:spPr>
      </p:sp>
      <p:sp>
        <p:nvSpPr>
          <p:cNvPr id="20" name="Text 18"/>
          <p:cNvSpPr/>
          <p:nvPr/>
        </p:nvSpPr>
        <p:spPr>
          <a:xfrm>
            <a:off x="4526280" y="1463040"/>
            <a:ext cx="310896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2. UMKM &amp; STARTUP TUMBUH</a:t>
            </a:r>
            <a:endParaRPr lang="en-US" sz="1050" dirty="0"/>
          </a:p>
        </p:txBody>
      </p:sp>
      <p:sp>
        <p:nvSpPr>
          <p:cNvPr id="21" name="Text 19"/>
          <p:cNvSpPr/>
          <p:nvPr/>
        </p:nvSpPr>
        <p:spPr>
          <a:xfrm>
            <a:off x="4526280" y="1801368"/>
            <a:ext cx="3108960" cy="5943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Inkubasi memberi pendampingan teknis, digitalisasi GoTo Hub, &amp; akses pasar modal.</a:t>
            </a:r>
            <a:endParaRPr lang="en-US" sz="880" dirty="0"/>
          </a:p>
        </p:txBody>
      </p:sp>
      <p:sp>
        <p:nvSpPr>
          <p:cNvPr id="22" name="Shape 20"/>
          <p:cNvSpPr/>
          <p:nvPr/>
        </p:nvSpPr>
        <p:spPr>
          <a:xfrm>
            <a:off x="4526280" y="2468880"/>
            <a:ext cx="3108960" cy="777240"/>
          </a:xfrm>
          <a:prstGeom prst="roundRect">
            <a:avLst>
              <a:gd name="adj" fmla="val 5882"/>
            </a:avLst>
          </a:prstGeom>
          <a:solidFill>
            <a:srgbClr val="0D213F"/>
          </a:solidFill>
          <a:ln w="12700">
            <a:solidFill>
              <a:srgbClr val="F59E0B"/>
            </a:solidFill>
            <a:prstDash val="solid"/>
          </a:ln>
        </p:spPr>
      </p:sp>
      <p:sp>
        <p:nvSpPr>
          <p:cNvPr id="23" name="Text 21"/>
          <p:cNvSpPr/>
          <p:nvPr/>
        </p:nvSpPr>
        <p:spPr>
          <a:xfrm>
            <a:off x="4572000" y="2514600"/>
            <a:ext cx="3017520" cy="384048"/>
          </a:xfrm>
          <a:prstGeom prst="rect">
            <a:avLst/>
          </a:prstGeom>
          <a:noFill/>
          <a:ln/>
        </p:spPr>
        <p:txBody>
          <a:bodyPr wrap="square" rtlCol="0" anchor="ctr"/>
          <a:lstStyle/>
          <a:p>
            <a:pPr algn="ctr" indent="0" marL="0">
              <a:buNone/>
            </a:pPr>
            <a:r>
              <a:rPr lang="en-US" sz="1300" b="1" dirty="0">
                <a:solidFill>
                  <a:srgbClr val="F59E0B"/>
                </a:solidFill>
                <a:latin typeface="Arial" pitchFamily="34" charset="0"/>
                <a:ea typeface="Arial" pitchFamily="34" charset="-122"/>
                <a:cs typeface="Arial" pitchFamily="34" charset="-120"/>
              </a:rPr>
              <a:t>80+ Wirausaha Baru</a:t>
            </a:r>
            <a:endParaRPr lang="en-US" sz="1300" dirty="0"/>
          </a:p>
        </p:txBody>
      </p:sp>
      <p:sp>
        <p:nvSpPr>
          <p:cNvPr id="24" name="Text 22"/>
          <p:cNvSpPr/>
          <p:nvPr/>
        </p:nvSpPr>
        <p:spPr>
          <a:xfrm>
            <a:off x="4572000" y="2898648"/>
            <a:ext cx="3017520" cy="274320"/>
          </a:xfrm>
          <a:prstGeom prst="rect">
            <a:avLst/>
          </a:prstGeom>
          <a:noFill/>
          <a:ln/>
        </p:spPr>
        <p:txBody>
          <a:bodyPr wrap="square" rtlCol="0" anchor="ctr"/>
          <a:lstStyle/>
          <a:p>
            <a:pPr algn="ctr" indent="0" marL="0">
              <a:buNone/>
            </a:pPr>
            <a:r>
              <a:rPr lang="en-US" sz="850" b="1" dirty="0">
                <a:solidFill>
                  <a:srgbClr val="94A3B8"/>
                </a:solidFill>
                <a:latin typeface="Arial" pitchFamily="34" charset="0"/>
                <a:ea typeface="Arial" pitchFamily="34" charset="-122"/>
                <a:cs typeface="Arial" pitchFamily="34" charset="-120"/>
              </a:rPr>
              <a:t>Peningkatan omzet &amp; legalitas</a:t>
            </a:r>
            <a:endParaRPr lang="en-US" sz="850" dirty="0"/>
          </a:p>
        </p:txBody>
      </p:sp>
      <p:sp>
        <p:nvSpPr>
          <p:cNvPr id="25" name="Shape 23"/>
          <p:cNvSpPr/>
          <p:nvPr/>
        </p:nvSpPr>
        <p:spPr>
          <a:xfrm>
            <a:off x="7955280" y="1325880"/>
            <a:ext cx="3474720" cy="2103120"/>
          </a:xfrm>
          <a:prstGeom prst="roundRect">
            <a:avLst>
              <a:gd name="adj" fmla="val 3478"/>
            </a:avLst>
          </a:prstGeom>
          <a:solidFill>
            <a:srgbClr val="0A192F"/>
          </a:solidFill>
          <a:ln w="12700">
            <a:solidFill>
              <a:srgbClr val="1E3A5F"/>
            </a:solidFill>
            <a:prstDash val="solid"/>
          </a:ln>
        </p:spPr>
      </p:sp>
      <p:sp>
        <p:nvSpPr>
          <p:cNvPr id="26" name="Shape 24"/>
          <p:cNvSpPr/>
          <p:nvPr/>
        </p:nvSpPr>
        <p:spPr>
          <a:xfrm>
            <a:off x="7955280" y="1325880"/>
            <a:ext cx="73152" cy="2103120"/>
          </a:xfrm>
          <a:prstGeom prst="roundRect">
            <a:avLst>
              <a:gd name="adj" fmla="val 50000"/>
            </a:avLst>
          </a:prstGeom>
          <a:solidFill>
            <a:srgbClr val="10B981"/>
          </a:solidFill>
          <a:ln w="12700">
            <a:solidFill>
              <a:srgbClr val="10B981"/>
            </a:solidFill>
            <a:prstDash val="solid"/>
          </a:ln>
        </p:spPr>
      </p:sp>
      <p:sp>
        <p:nvSpPr>
          <p:cNvPr id="27" name="Text 25"/>
          <p:cNvSpPr/>
          <p:nvPr/>
        </p:nvSpPr>
        <p:spPr>
          <a:xfrm>
            <a:off x="8138160" y="1463040"/>
            <a:ext cx="310896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3. RISET DEKAT KE PASAR</a:t>
            </a:r>
            <a:endParaRPr lang="en-US" sz="1050" dirty="0"/>
          </a:p>
        </p:txBody>
      </p:sp>
      <p:sp>
        <p:nvSpPr>
          <p:cNvPr id="28" name="Text 26"/>
          <p:cNvSpPr/>
          <p:nvPr/>
        </p:nvSpPr>
        <p:spPr>
          <a:xfrm>
            <a:off x="8138160" y="1801368"/>
            <a:ext cx="3108960" cy="5943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Hilirisasi menghubungkan inventor kampus dengan industri manufaktur dan OPD.</a:t>
            </a:r>
            <a:endParaRPr lang="en-US" sz="880" dirty="0"/>
          </a:p>
        </p:txBody>
      </p:sp>
      <p:sp>
        <p:nvSpPr>
          <p:cNvPr id="29" name="Shape 27"/>
          <p:cNvSpPr/>
          <p:nvPr/>
        </p:nvSpPr>
        <p:spPr>
          <a:xfrm>
            <a:off x="8138160" y="2468880"/>
            <a:ext cx="3108960" cy="777240"/>
          </a:xfrm>
          <a:prstGeom prst="roundRect">
            <a:avLst>
              <a:gd name="adj" fmla="val 5882"/>
            </a:avLst>
          </a:prstGeom>
          <a:solidFill>
            <a:srgbClr val="0D213F"/>
          </a:solidFill>
          <a:ln w="12700">
            <a:solidFill>
              <a:srgbClr val="10B981"/>
            </a:solidFill>
            <a:prstDash val="solid"/>
          </a:ln>
        </p:spPr>
      </p:sp>
      <p:sp>
        <p:nvSpPr>
          <p:cNvPr id="30" name="Text 28"/>
          <p:cNvSpPr/>
          <p:nvPr/>
        </p:nvSpPr>
        <p:spPr>
          <a:xfrm>
            <a:off x="8183880" y="2514600"/>
            <a:ext cx="3017520" cy="384048"/>
          </a:xfrm>
          <a:prstGeom prst="rect">
            <a:avLst/>
          </a:prstGeom>
          <a:noFill/>
          <a:ln/>
        </p:spPr>
        <p:txBody>
          <a:bodyPr wrap="square" rtlCol="0" anchor="ctr"/>
          <a:lstStyle/>
          <a:p>
            <a:pPr algn="ctr" indent="0" marL="0">
              <a:buNone/>
            </a:pPr>
            <a:r>
              <a:rPr lang="en-US" sz="1300" b="1" dirty="0">
                <a:solidFill>
                  <a:srgbClr val="10B981"/>
                </a:solidFill>
                <a:latin typeface="Arial" pitchFamily="34" charset="0"/>
                <a:ea typeface="Arial" pitchFamily="34" charset="-122"/>
                <a:cs typeface="Arial" pitchFamily="34" charset="-120"/>
              </a:rPr>
              <a:t>45+ Produk Hilirisasi</a:t>
            </a:r>
            <a:endParaRPr lang="en-US" sz="1300" dirty="0"/>
          </a:p>
        </p:txBody>
      </p:sp>
      <p:sp>
        <p:nvSpPr>
          <p:cNvPr id="31" name="Text 29"/>
          <p:cNvSpPr/>
          <p:nvPr/>
        </p:nvSpPr>
        <p:spPr>
          <a:xfrm>
            <a:off x="8183880" y="2898648"/>
            <a:ext cx="3017520" cy="274320"/>
          </a:xfrm>
          <a:prstGeom prst="rect">
            <a:avLst/>
          </a:prstGeom>
          <a:noFill/>
          <a:ln/>
        </p:spPr>
        <p:txBody>
          <a:bodyPr wrap="square" rtlCol="0" anchor="ctr"/>
          <a:lstStyle/>
          <a:p>
            <a:pPr algn="ctr" indent="0" marL="0">
              <a:buNone/>
            </a:pPr>
            <a:r>
              <a:rPr lang="en-US" sz="850" b="1" dirty="0">
                <a:solidFill>
                  <a:srgbClr val="94A3B8"/>
                </a:solidFill>
                <a:latin typeface="Arial" pitchFamily="34" charset="0"/>
                <a:ea typeface="Arial" pitchFamily="34" charset="-122"/>
                <a:cs typeface="Arial" pitchFamily="34" charset="-120"/>
              </a:rPr>
              <a:t>Paten HKI &amp; Standar TKDN</a:t>
            </a:r>
            <a:endParaRPr lang="en-US" sz="850" dirty="0"/>
          </a:p>
        </p:txBody>
      </p:sp>
      <p:sp>
        <p:nvSpPr>
          <p:cNvPr id="32" name="Shape 30"/>
          <p:cNvSpPr/>
          <p:nvPr/>
        </p:nvSpPr>
        <p:spPr>
          <a:xfrm>
            <a:off x="731520" y="3566160"/>
            <a:ext cx="3474720" cy="2103120"/>
          </a:xfrm>
          <a:prstGeom prst="roundRect">
            <a:avLst>
              <a:gd name="adj" fmla="val 3478"/>
            </a:avLst>
          </a:prstGeom>
          <a:solidFill>
            <a:srgbClr val="0A192F"/>
          </a:solidFill>
          <a:ln w="12700">
            <a:solidFill>
              <a:srgbClr val="1E3A5F"/>
            </a:solidFill>
            <a:prstDash val="solid"/>
          </a:ln>
        </p:spPr>
      </p:sp>
      <p:sp>
        <p:nvSpPr>
          <p:cNvPr id="33" name="Shape 31"/>
          <p:cNvSpPr/>
          <p:nvPr/>
        </p:nvSpPr>
        <p:spPr>
          <a:xfrm>
            <a:off x="731520" y="3566160"/>
            <a:ext cx="73152" cy="2103120"/>
          </a:xfrm>
          <a:prstGeom prst="roundRect">
            <a:avLst>
              <a:gd name="adj" fmla="val 50000"/>
            </a:avLst>
          </a:prstGeom>
          <a:solidFill>
            <a:srgbClr val="38BDF8"/>
          </a:solidFill>
          <a:ln w="12700">
            <a:solidFill>
              <a:srgbClr val="38BDF8"/>
            </a:solidFill>
            <a:prstDash val="solid"/>
          </a:ln>
        </p:spPr>
      </p:sp>
      <p:sp>
        <p:nvSpPr>
          <p:cNvPr id="34" name="Text 32"/>
          <p:cNvSpPr/>
          <p:nvPr/>
        </p:nvSpPr>
        <p:spPr>
          <a:xfrm>
            <a:off x="914400" y="3703320"/>
            <a:ext cx="310896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4. AKSES TEKNOLOGI TERBUKA</a:t>
            </a:r>
            <a:endParaRPr lang="en-US" sz="1050" dirty="0"/>
          </a:p>
        </p:txBody>
      </p:sp>
      <p:sp>
        <p:nvSpPr>
          <p:cNvPr id="35" name="Text 33"/>
          <p:cNvSpPr/>
          <p:nvPr/>
        </p:nvSpPr>
        <p:spPr>
          <a:xfrm>
            <a:off x="914400" y="4041648"/>
            <a:ext cx="3108960" cy="5943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Fasilitas canggih AI, Cyber Security, 5G &amp; Lab Presisi dibuka bagi pelajar SMK &amp; publik.</a:t>
            </a:r>
            <a:endParaRPr lang="en-US" sz="880" dirty="0"/>
          </a:p>
        </p:txBody>
      </p:sp>
      <p:sp>
        <p:nvSpPr>
          <p:cNvPr id="36" name="Shape 34"/>
          <p:cNvSpPr/>
          <p:nvPr/>
        </p:nvSpPr>
        <p:spPr>
          <a:xfrm>
            <a:off x="914400" y="4709160"/>
            <a:ext cx="3108960" cy="777240"/>
          </a:xfrm>
          <a:prstGeom prst="roundRect">
            <a:avLst>
              <a:gd name="adj" fmla="val 5882"/>
            </a:avLst>
          </a:prstGeom>
          <a:solidFill>
            <a:srgbClr val="0D213F"/>
          </a:solidFill>
          <a:ln w="12700">
            <a:solidFill>
              <a:srgbClr val="38BDF8"/>
            </a:solidFill>
            <a:prstDash val="solid"/>
          </a:ln>
        </p:spPr>
      </p:sp>
      <p:sp>
        <p:nvSpPr>
          <p:cNvPr id="37" name="Text 35"/>
          <p:cNvSpPr/>
          <p:nvPr/>
        </p:nvSpPr>
        <p:spPr>
          <a:xfrm>
            <a:off x="960120" y="4754880"/>
            <a:ext cx="3017520" cy="384048"/>
          </a:xfrm>
          <a:prstGeom prst="rect">
            <a:avLst/>
          </a:prstGeom>
          <a:noFill/>
          <a:ln/>
        </p:spPr>
        <p:txBody>
          <a:bodyPr wrap="square" rtlCol="0" anchor="ctr"/>
          <a:lstStyle/>
          <a:p>
            <a:pPr algn="ctr" indent="0" marL="0">
              <a:buNone/>
            </a:pPr>
            <a:r>
              <a:rPr lang="en-US" sz="1300" b="1" dirty="0">
                <a:solidFill>
                  <a:srgbClr val="38BDF8"/>
                </a:solidFill>
                <a:latin typeface="Arial" pitchFamily="34" charset="0"/>
                <a:ea typeface="Arial" pitchFamily="34" charset="-122"/>
                <a:cs typeface="Arial" pitchFamily="34" charset="-120"/>
              </a:rPr>
              <a:t>10.000+ Kunjungan/Thn</a:t>
            </a:r>
            <a:endParaRPr lang="en-US" sz="1300" dirty="0"/>
          </a:p>
        </p:txBody>
      </p:sp>
      <p:sp>
        <p:nvSpPr>
          <p:cNvPr id="38" name="Text 36"/>
          <p:cNvSpPr/>
          <p:nvPr/>
        </p:nvSpPr>
        <p:spPr>
          <a:xfrm>
            <a:off x="960120" y="5138928"/>
            <a:ext cx="3017520" cy="274320"/>
          </a:xfrm>
          <a:prstGeom prst="rect">
            <a:avLst/>
          </a:prstGeom>
          <a:noFill/>
          <a:ln/>
        </p:spPr>
        <p:txBody>
          <a:bodyPr wrap="square" rtlCol="0" anchor="ctr"/>
          <a:lstStyle/>
          <a:p>
            <a:pPr algn="ctr" indent="0" marL="0">
              <a:buNone/>
            </a:pPr>
            <a:r>
              <a:rPr lang="en-US" sz="850" b="1" dirty="0">
                <a:solidFill>
                  <a:srgbClr val="94A3B8"/>
                </a:solidFill>
                <a:latin typeface="Arial" pitchFamily="34" charset="0"/>
                <a:ea typeface="Arial" pitchFamily="34" charset="-122"/>
                <a:cs typeface="Arial" pitchFamily="34" charset="-120"/>
              </a:rPr>
              <a:t>Prakerin SMK se-Solo Raya</a:t>
            </a:r>
            <a:endParaRPr lang="en-US" sz="850" dirty="0"/>
          </a:p>
        </p:txBody>
      </p:sp>
      <p:sp>
        <p:nvSpPr>
          <p:cNvPr id="39" name="Shape 37"/>
          <p:cNvSpPr/>
          <p:nvPr/>
        </p:nvSpPr>
        <p:spPr>
          <a:xfrm>
            <a:off x="4343400" y="3566160"/>
            <a:ext cx="3474720" cy="2103120"/>
          </a:xfrm>
          <a:prstGeom prst="roundRect">
            <a:avLst>
              <a:gd name="adj" fmla="val 3478"/>
            </a:avLst>
          </a:prstGeom>
          <a:solidFill>
            <a:srgbClr val="0A192F"/>
          </a:solidFill>
          <a:ln w="12700">
            <a:solidFill>
              <a:srgbClr val="1E3A5F"/>
            </a:solidFill>
            <a:prstDash val="solid"/>
          </a:ln>
        </p:spPr>
      </p:sp>
      <p:sp>
        <p:nvSpPr>
          <p:cNvPr id="40" name="Shape 38"/>
          <p:cNvSpPr/>
          <p:nvPr/>
        </p:nvSpPr>
        <p:spPr>
          <a:xfrm>
            <a:off x="4343400" y="3566160"/>
            <a:ext cx="73152" cy="2103120"/>
          </a:xfrm>
          <a:prstGeom prst="roundRect">
            <a:avLst>
              <a:gd name="adj" fmla="val 50000"/>
            </a:avLst>
          </a:prstGeom>
          <a:solidFill>
            <a:srgbClr val="F59E0B"/>
          </a:solidFill>
          <a:ln w="12700">
            <a:solidFill>
              <a:srgbClr val="F59E0B"/>
            </a:solidFill>
            <a:prstDash val="solid"/>
          </a:ln>
        </p:spPr>
      </p:sp>
      <p:sp>
        <p:nvSpPr>
          <p:cNvPr id="41" name="Text 39"/>
          <p:cNvSpPr/>
          <p:nvPr/>
        </p:nvSpPr>
        <p:spPr>
          <a:xfrm>
            <a:off x="4526280" y="3703320"/>
            <a:ext cx="310896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5. PELUANG KERJA BARU</a:t>
            </a:r>
            <a:endParaRPr lang="en-US" sz="1050" dirty="0"/>
          </a:p>
        </p:txBody>
      </p:sp>
      <p:sp>
        <p:nvSpPr>
          <p:cNvPr id="42" name="Text 40"/>
          <p:cNvSpPr/>
          <p:nvPr/>
        </p:nvSpPr>
        <p:spPr>
          <a:xfrm>
            <a:off x="4526280" y="4041648"/>
            <a:ext cx="3108960" cy="5943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Ekosistem menghasilkan SDM terserap industri dan lahirnya wirausaha mandiri.</a:t>
            </a:r>
            <a:endParaRPr lang="en-US" sz="880" dirty="0"/>
          </a:p>
        </p:txBody>
      </p:sp>
      <p:sp>
        <p:nvSpPr>
          <p:cNvPr id="43" name="Shape 41"/>
          <p:cNvSpPr/>
          <p:nvPr/>
        </p:nvSpPr>
        <p:spPr>
          <a:xfrm>
            <a:off x="4526280" y="4709160"/>
            <a:ext cx="3108960" cy="777240"/>
          </a:xfrm>
          <a:prstGeom prst="roundRect">
            <a:avLst>
              <a:gd name="adj" fmla="val 5882"/>
            </a:avLst>
          </a:prstGeom>
          <a:solidFill>
            <a:srgbClr val="0D213F"/>
          </a:solidFill>
          <a:ln w="12700">
            <a:solidFill>
              <a:srgbClr val="F59E0B"/>
            </a:solidFill>
            <a:prstDash val="solid"/>
          </a:ln>
        </p:spPr>
      </p:sp>
      <p:sp>
        <p:nvSpPr>
          <p:cNvPr id="44" name="Text 42"/>
          <p:cNvSpPr/>
          <p:nvPr/>
        </p:nvSpPr>
        <p:spPr>
          <a:xfrm>
            <a:off x="4572000" y="4754880"/>
            <a:ext cx="3017520" cy="384048"/>
          </a:xfrm>
          <a:prstGeom prst="rect">
            <a:avLst/>
          </a:prstGeom>
          <a:noFill/>
          <a:ln/>
        </p:spPr>
        <p:txBody>
          <a:bodyPr wrap="square" rtlCol="0" anchor="ctr"/>
          <a:lstStyle/>
          <a:p>
            <a:pPr algn="ctr" indent="0" marL="0">
              <a:buNone/>
            </a:pPr>
            <a:r>
              <a:rPr lang="en-US" sz="1300" b="1" dirty="0">
                <a:solidFill>
                  <a:srgbClr val="F59E0B"/>
                </a:solidFill>
                <a:latin typeface="Arial" pitchFamily="34" charset="0"/>
                <a:ea typeface="Arial" pitchFamily="34" charset="-122"/>
                <a:cs typeface="Arial" pitchFamily="34" charset="-120"/>
              </a:rPr>
              <a:t>Rp 180 M Perputaran</a:t>
            </a:r>
            <a:endParaRPr lang="en-US" sz="1300" dirty="0"/>
          </a:p>
        </p:txBody>
      </p:sp>
      <p:sp>
        <p:nvSpPr>
          <p:cNvPr id="45" name="Text 43"/>
          <p:cNvSpPr/>
          <p:nvPr/>
        </p:nvSpPr>
        <p:spPr>
          <a:xfrm>
            <a:off x="4572000" y="5138928"/>
            <a:ext cx="3017520" cy="274320"/>
          </a:xfrm>
          <a:prstGeom prst="rect">
            <a:avLst/>
          </a:prstGeom>
          <a:noFill/>
          <a:ln/>
        </p:spPr>
        <p:txBody>
          <a:bodyPr wrap="square" rtlCol="0" anchor="ctr"/>
          <a:lstStyle/>
          <a:p>
            <a:pPr algn="ctr" indent="0" marL="0">
              <a:buNone/>
            </a:pPr>
            <a:r>
              <a:rPr lang="en-US" sz="850" b="1" dirty="0">
                <a:solidFill>
                  <a:srgbClr val="94A3B8"/>
                </a:solidFill>
                <a:latin typeface="Arial" pitchFamily="34" charset="0"/>
                <a:ea typeface="Arial" pitchFamily="34" charset="-122"/>
                <a:cs typeface="Arial" pitchFamily="34" charset="-120"/>
              </a:rPr>
              <a:t>Multiplier effect hotel &amp; MICE</a:t>
            </a:r>
            <a:endParaRPr lang="en-US" sz="850" dirty="0"/>
          </a:p>
        </p:txBody>
      </p:sp>
      <p:sp>
        <p:nvSpPr>
          <p:cNvPr id="46" name="Shape 44"/>
          <p:cNvSpPr/>
          <p:nvPr/>
        </p:nvSpPr>
        <p:spPr>
          <a:xfrm>
            <a:off x="7955280" y="3566160"/>
            <a:ext cx="3474720" cy="2103120"/>
          </a:xfrm>
          <a:prstGeom prst="roundRect">
            <a:avLst>
              <a:gd name="adj" fmla="val 3478"/>
            </a:avLst>
          </a:prstGeom>
          <a:solidFill>
            <a:srgbClr val="0A192F"/>
          </a:solidFill>
          <a:ln w="12700">
            <a:solidFill>
              <a:srgbClr val="1E3A5F"/>
            </a:solidFill>
            <a:prstDash val="solid"/>
          </a:ln>
        </p:spPr>
      </p:sp>
      <p:sp>
        <p:nvSpPr>
          <p:cNvPr id="47" name="Shape 45"/>
          <p:cNvSpPr/>
          <p:nvPr/>
        </p:nvSpPr>
        <p:spPr>
          <a:xfrm>
            <a:off x="7955280" y="3566160"/>
            <a:ext cx="73152" cy="2103120"/>
          </a:xfrm>
          <a:prstGeom prst="roundRect">
            <a:avLst>
              <a:gd name="adj" fmla="val 50000"/>
            </a:avLst>
          </a:prstGeom>
          <a:solidFill>
            <a:srgbClr val="10B981"/>
          </a:solidFill>
          <a:ln w="12700">
            <a:solidFill>
              <a:srgbClr val="10B981"/>
            </a:solidFill>
            <a:prstDash val="solid"/>
          </a:ln>
        </p:spPr>
      </p:sp>
      <p:sp>
        <p:nvSpPr>
          <p:cNvPr id="48" name="Text 46"/>
          <p:cNvSpPr/>
          <p:nvPr/>
        </p:nvSpPr>
        <p:spPr>
          <a:xfrm>
            <a:off x="8138160" y="3703320"/>
            <a:ext cx="310896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6. KOLABORASI INDUSTRI</a:t>
            </a:r>
            <a:endParaRPr lang="en-US" sz="1050" dirty="0"/>
          </a:p>
        </p:txBody>
      </p:sp>
      <p:sp>
        <p:nvSpPr>
          <p:cNvPr id="49" name="Text 47"/>
          <p:cNvSpPr/>
          <p:nvPr/>
        </p:nvSpPr>
        <p:spPr>
          <a:xfrm>
            <a:off x="8138160" y="4041648"/>
            <a:ext cx="3108960" cy="5943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95+ korporasi multinasional menanamkan fasilitas dan proyek langsung di Solo.</a:t>
            </a:r>
            <a:endParaRPr lang="en-US" sz="880" dirty="0"/>
          </a:p>
        </p:txBody>
      </p:sp>
      <p:sp>
        <p:nvSpPr>
          <p:cNvPr id="50" name="Shape 48"/>
          <p:cNvSpPr/>
          <p:nvPr/>
        </p:nvSpPr>
        <p:spPr>
          <a:xfrm>
            <a:off x="8138160" y="4709160"/>
            <a:ext cx="3108960" cy="777240"/>
          </a:xfrm>
          <a:prstGeom prst="roundRect">
            <a:avLst>
              <a:gd name="adj" fmla="val 5882"/>
            </a:avLst>
          </a:prstGeom>
          <a:solidFill>
            <a:srgbClr val="0D213F"/>
          </a:solidFill>
          <a:ln w="12700">
            <a:solidFill>
              <a:srgbClr val="10B981"/>
            </a:solidFill>
            <a:prstDash val="solid"/>
          </a:ln>
        </p:spPr>
      </p:sp>
      <p:sp>
        <p:nvSpPr>
          <p:cNvPr id="51" name="Text 49"/>
          <p:cNvSpPr/>
          <p:nvPr/>
        </p:nvSpPr>
        <p:spPr>
          <a:xfrm>
            <a:off x="8183880" y="4754880"/>
            <a:ext cx="3017520" cy="384048"/>
          </a:xfrm>
          <a:prstGeom prst="rect">
            <a:avLst/>
          </a:prstGeom>
          <a:noFill/>
          <a:ln/>
        </p:spPr>
        <p:txBody>
          <a:bodyPr wrap="square" rtlCol="0" anchor="ctr"/>
          <a:lstStyle/>
          <a:p>
            <a:pPr algn="ctr" indent="0" marL="0">
              <a:buNone/>
            </a:pPr>
            <a:r>
              <a:rPr lang="en-US" sz="1300" b="1" dirty="0">
                <a:solidFill>
                  <a:srgbClr val="10B981"/>
                </a:solidFill>
                <a:latin typeface="Arial" pitchFamily="34" charset="0"/>
                <a:ea typeface="Arial" pitchFamily="34" charset="-122"/>
                <a:cs typeface="Arial" pitchFamily="34" charset="-120"/>
              </a:rPr>
              <a:t>100% Swasta / PPP</a:t>
            </a:r>
            <a:endParaRPr lang="en-US" sz="1300" dirty="0"/>
          </a:p>
        </p:txBody>
      </p:sp>
      <p:sp>
        <p:nvSpPr>
          <p:cNvPr id="52" name="Text 50"/>
          <p:cNvSpPr/>
          <p:nvPr/>
        </p:nvSpPr>
        <p:spPr>
          <a:xfrm>
            <a:off x="8183880" y="5138928"/>
            <a:ext cx="3017520" cy="274320"/>
          </a:xfrm>
          <a:prstGeom prst="rect">
            <a:avLst/>
          </a:prstGeom>
          <a:noFill/>
          <a:ln/>
        </p:spPr>
        <p:txBody>
          <a:bodyPr wrap="square" rtlCol="0" anchor="ctr"/>
          <a:lstStyle/>
          <a:p>
            <a:pPr algn="ctr" indent="0" marL="0">
              <a:buNone/>
            </a:pPr>
            <a:r>
              <a:rPr lang="en-US" sz="850" b="1" dirty="0">
                <a:solidFill>
                  <a:srgbClr val="94A3B8"/>
                </a:solidFill>
                <a:latin typeface="Arial" pitchFamily="34" charset="0"/>
                <a:ea typeface="Arial" pitchFamily="34" charset="-122"/>
                <a:cs typeface="Arial" pitchFamily="34" charset="-120"/>
              </a:rPr>
              <a:t>0% beban belanja modal APBD</a:t>
            </a:r>
            <a:endParaRPr lang="en-US" sz="850" dirty="0"/>
          </a:p>
        </p:txBody>
      </p:sp>
      <p:sp>
        <p:nvSpPr>
          <p:cNvPr id="53" name="Shape 51"/>
          <p:cNvSpPr/>
          <p:nvPr/>
        </p:nvSpPr>
        <p:spPr>
          <a:xfrm>
            <a:off x="731520" y="5897880"/>
            <a:ext cx="10728655" cy="438912"/>
          </a:xfrm>
          <a:prstGeom prst="roundRect">
            <a:avLst>
              <a:gd name="adj" fmla="val 16667"/>
            </a:avLst>
          </a:prstGeom>
          <a:solidFill>
            <a:srgbClr val="0D213F"/>
          </a:solidFill>
          <a:ln w="12700">
            <a:solidFill>
              <a:srgbClr val="1E3A5F"/>
            </a:solidFill>
            <a:prstDash val="solid"/>
          </a:ln>
        </p:spPr>
      </p:sp>
      <p:sp>
        <p:nvSpPr>
          <p:cNvPr id="54" name="Text 52"/>
          <p:cNvSpPr/>
          <p:nvPr/>
        </p:nvSpPr>
        <p:spPr>
          <a:xfrm>
            <a:off x="914400" y="5897880"/>
            <a:ext cx="10362895" cy="438912"/>
          </a:xfrm>
          <a:prstGeom prst="rect">
            <a:avLst/>
          </a:prstGeom>
          <a:noFill/>
          <a:ln/>
        </p:spPr>
        <p:txBody>
          <a:bodyPr wrap="square" rtlCol="0" anchor="ctr"/>
          <a:lstStyle/>
          <a:p>
            <a:pPr algn="ctr" indent="0" marL="0">
              <a:buNone/>
            </a:pPr>
            <a:r>
              <a:rPr lang="en-US" sz="920" b="1" dirty="0">
                <a:solidFill>
                  <a:srgbClr val="38BDF8"/>
                </a:solidFill>
                <a:latin typeface="Arial" pitchFamily="34" charset="0"/>
                <a:ea typeface="Arial" pitchFamily="34" charset="-122"/>
                <a:cs typeface="Arial" pitchFamily="34" charset="-120"/>
              </a:rPr>
              <a:t>TOLAK UKUR KUNCI: Peserta terserap kerja (afirmasi KTP Solo) • Tenant tumbuh • Prototipe tervalidasi • HKI terdaftar • Produk masuk pasar • Investasi daerah bertambah</a:t>
            </a:r>
            <a:endParaRPr lang="en-US" sz="9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DUKUNGAN KEPEMIMPINAN &amp; KOMITMEN EKSEKUSI</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3 PERMOHONAN KEBIJAKAN KEPADA WALIKOTA &amp; RENCANA AKSI 100 HARI</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Kami Tidak Memohon Tambahan Pagu APBD — Kami Memohon 3 Payung Regulasi Kepemimpinan Walikota</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12 / 12</a:t>
            </a:r>
            <a:endParaRPr lang="en-US" sz="900" dirty="0"/>
          </a:p>
        </p:txBody>
      </p:sp>
      <p:sp>
        <p:nvSpPr>
          <p:cNvPr id="11" name="Shape 9"/>
          <p:cNvSpPr/>
          <p:nvPr/>
        </p:nvSpPr>
        <p:spPr>
          <a:xfrm>
            <a:off x="731520" y="1325880"/>
            <a:ext cx="3474720" cy="2468880"/>
          </a:xfrm>
          <a:prstGeom prst="roundRect">
            <a:avLst>
              <a:gd name="adj" fmla="val 2963"/>
            </a:avLst>
          </a:prstGeom>
          <a:solidFill>
            <a:srgbClr val="0A192F"/>
          </a:solidFill>
          <a:ln w="12700">
            <a:solidFill>
              <a:srgbClr val="1E3A5F"/>
            </a:solidFill>
            <a:prstDash val="solid"/>
          </a:ln>
        </p:spPr>
      </p:sp>
      <p:sp>
        <p:nvSpPr>
          <p:cNvPr id="12" name="Shape 10"/>
          <p:cNvSpPr/>
          <p:nvPr/>
        </p:nvSpPr>
        <p:spPr>
          <a:xfrm>
            <a:off x="731520" y="1325880"/>
            <a:ext cx="73152" cy="246888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63040"/>
            <a:ext cx="3200400" cy="502920"/>
          </a:xfrm>
          <a:prstGeom prst="roundRect">
            <a:avLst>
              <a:gd name="adj" fmla="val 9091"/>
            </a:avLst>
          </a:prstGeom>
          <a:solidFill>
            <a:srgbClr val="0D213F"/>
          </a:solidFill>
          <a:ln w="12700">
            <a:solidFill>
              <a:srgbClr val="0EA5E9"/>
            </a:solidFill>
            <a:prstDash val="solid"/>
          </a:ln>
        </p:spPr>
      </p:sp>
      <p:sp>
        <p:nvSpPr>
          <p:cNvPr id="14" name="Text 12"/>
          <p:cNvSpPr/>
          <p:nvPr/>
        </p:nvSpPr>
        <p:spPr>
          <a:xfrm>
            <a:off x="914400" y="1490472"/>
            <a:ext cx="3108960" cy="201168"/>
          </a:xfrm>
          <a:prstGeom prst="rect">
            <a:avLst/>
          </a:prstGeom>
          <a:noFill/>
          <a:ln/>
        </p:spPr>
        <p:txBody>
          <a:bodyPr wrap="square" rtlCol="0" anchor="ctr"/>
          <a:lstStyle/>
          <a:p>
            <a:pPr algn="ctr" indent="0" marL="0">
              <a:buNone/>
            </a:pPr>
            <a:r>
              <a:rPr lang="en-US" sz="850" b="1" dirty="0">
                <a:solidFill>
                  <a:srgbClr val="0EA5E9"/>
                </a:solidFill>
                <a:latin typeface="Arial" pitchFamily="34" charset="0"/>
                <a:ea typeface="Arial" pitchFamily="34" charset="-122"/>
                <a:cs typeface="Arial" pitchFamily="34" charset="-120"/>
              </a:rPr>
              <a:t>PERMOHONAN 1</a:t>
            </a:r>
            <a:endParaRPr lang="en-US" sz="850" dirty="0"/>
          </a:p>
        </p:txBody>
      </p:sp>
      <p:sp>
        <p:nvSpPr>
          <p:cNvPr id="15" name="Text 13"/>
          <p:cNvSpPr/>
          <p:nvPr/>
        </p:nvSpPr>
        <p:spPr>
          <a:xfrm>
            <a:off x="914400" y="1719072"/>
            <a:ext cx="3108960" cy="22860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INSTRUKSI WALIKOTA AFIRMASI e-KATALOG</a:t>
            </a:r>
            <a:endParaRPr lang="en-US" sz="920" dirty="0"/>
          </a:p>
        </p:txBody>
      </p:sp>
      <p:sp>
        <p:nvSpPr>
          <p:cNvPr id="16" name="Text 14"/>
          <p:cNvSpPr/>
          <p:nvPr/>
        </p:nvSpPr>
        <p:spPr>
          <a:xfrm>
            <a:off x="914400" y="2057400"/>
            <a:ext cx="3108960" cy="8229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Mengarahkan seluruh OPD Pemkot memprioritaskan belanja produk teknologi &amp; layanan tenant STP via e-Katalog Lokal.</a:t>
            </a:r>
            <a:endParaRPr lang="en-US" sz="880" dirty="0"/>
          </a:p>
        </p:txBody>
      </p:sp>
      <p:sp>
        <p:nvSpPr>
          <p:cNvPr id="17" name="Shape 15"/>
          <p:cNvSpPr/>
          <p:nvPr/>
        </p:nvSpPr>
        <p:spPr>
          <a:xfrm>
            <a:off x="914400" y="2971800"/>
            <a:ext cx="3108960" cy="685800"/>
          </a:xfrm>
          <a:prstGeom prst="roundRect">
            <a:avLst>
              <a:gd name="adj" fmla="val 5333"/>
            </a:avLst>
          </a:prstGeom>
          <a:solidFill>
            <a:srgbClr val="070D18"/>
          </a:solidFill>
          <a:ln w="12700">
            <a:solidFill>
              <a:srgbClr val="1E3A5F"/>
            </a:solidFill>
            <a:prstDash val="solid"/>
          </a:ln>
        </p:spPr>
      </p:sp>
      <p:sp>
        <p:nvSpPr>
          <p:cNvPr id="18" name="Text 16"/>
          <p:cNvSpPr/>
          <p:nvPr/>
        </p:nvSpPr>
        <p:spPr>
          <a:xfrm>
            <a:off x="960120" y="3017520"/>
            <a:ext cx="3017520" cy="320040"/>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Target: Rp 2,25 M / Thn di 2030 (80+ Produk Terserap)</a:t>
            </a:r>
            <a:endParaRPr lang="en-US" sz="880" dirty="0"/>
          </a:p>
        </p:txBody>
      </p:sp>
      <p:sp>
        <p:nvSpPr>
          <p:cNvPr id="19" name="Text 17"/>
          <p:cNvSpPr/>
          <p:nvPr/>
        </p:nvSpPr>
        <p:spPr>
          <a:xfrm>
            <a:off x="960120" y="3337560"/>
            <a:ext cx="3017520" cy="274320"/>
          </a:xfrm>
          <a:prstGeom prst="rect">
            <a:avLst/>
          </a:prstGeom>
          <a:noFill/>
          <a:ln/>
        </p:spPr>
        <p:txBody>
          <a:bodyPr wrap="square" rtlCol="0" anchor="ctr"/>
          <a:lstStyle/>
          <a:p>
            <a:pPr indent="0" marL="0">
              <a:buNone/>
            </a:pPr>
            <a:r>
              <a:rPr lang="en-US" sz="820" i="1" dirty="0">
                <a:solidFill>
                  <a:srgbClr val="0EA5E9"/>
                </a:solidFill>
                <a:latin typeface="Arial" pitchFamily="34" charset="0"/>
                <a:ea typeface="Arial" pitchFamily="34" charset="-122"/>
                <a:cs typeface="Arial" pitchFamily="34" charset="-120"/>
              </a:rPr>
              <a:t>⚡ Bisa diterbitkan dalam 30 hari pertama</a:t>
            </a:r>
            <a:endParaRPr lang="en-US" sz="820" dirty="0"/>
          </a:p>
        </p:txBody>
      </p:sp>
      <p:sp>
        <p:nvSpPr>
          <p:cNvPr id="20" name="Shape 18"/>
          <p:cNvSpPr/>
          <p:nvPr/>
        </p:nvSpPr>
        <p:spPr>
          <a:xfrm>
            <a:off x="4343400" y="1325880"/>
            <a:ext cx="3474720" cy="2468880"/>
          </a:xfrm>
          <a:prstGeom prst="roundRect">
            <a:avLst>
              <a:gd name="adj" fmla="val 2963"/>
            </a:avLst>
          </a:prstGeom>
          <a:solidFill>
            <a:srgbClr val="0A192F"/>
          </a:solidFill>
          <a:ln w="12700">
            <a:solidFill>
              <a:srgbClr val="1E3A5F"/>
            </a:solidFill>
            <a:prstDash val="solid"/>
          </a:ln>
        </p:spPr>
      </p:sp>
      <p:sp>
        <p:nvSpPr>
          <p:cNvPr id="21" name="Shape 19"/>
          <p:cNvSpPr/>
          <p:nvPr/>
        </p:nvSpPr>
        <p:spPr>
          <a:xfrm>
            <a:off x="4343400" y="1325880"/>
            <a:ext cx="73152" cy="2468880"/>
          </a:xfrm>
          <a:prstGeom prst="roundRect">
            <a:avLst>
              <a:gd name="adj" fmla="val 50000"/>
            </a:avLst>
          </a:prstGeom>
          <a:solidFill>
            <a:srgbClr val="F59E0B"/>
          </a:solidFill>
          <a:ln w="12700">
            <a:solidFill>
              <a:srgbClr val="F59E0B"/>
            </a:solidFill>
            <a:prstDash val="solid"/>
          </a:ln>
        </p:spPr>
      </p:sp>
      <p:sp>
        <p:nvSpPr>
          <p:cNvPr id="22" name="Shape 20"/>
          <p:cNvSpPr/>
          <p:nvPr/>
        </p:nvSpPr>
        <p:spPr>
          <a:xfrm>
            <a:off x="4480560" y="1463040"/>
            <a:ext cx="3200400" cy="502920"/>
          </a:xfrm>
          <a:prstGeom prst="roundRect">
            <a:avLst>
              <a:gd name="adj" fmla="val 9091"/>
            </a:avLst>
          </a:prstGeom>
          <a:solidFill>
            <a:srgbClr val="0D213F"/>
          </a:solidFill>
          <a:ln w="12700">
            <a:solidFill>
              <a:srgbClr val="F59E0B"/>
            </a:solidFill>
            <a:prstDash val="solid"/>
          </a:ln>
        </p:spPr>
      </p:sp>
      <p:sp>
        <p:nvSpPr>
          <p:cNvPr id="23" name="Text 21"/>
          <p:cNvSpPr/>
          <p:nvPr/>
        </p:nvSpPr>
        <p:spPr>
          <a:xfrm>
            <a:off x="4526280" y="1490472"/>
            <a:ext cx="3108960" cy="201168"/>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PERMOHONAN 2</a:t>
            </a:r>
            <a:endParaRPr lang="en-US" sz="850" dirty="0"/>
          </a:p>
        </p:txBody>
      </p:sp>
      <p:sp>
        <p:nvSpPr>
          <p:cNvPr id="24" name="Text 22"/>
          <p:cNvSpPr/>
          <p:nvPr/>
        </p:nvSpPr>
        <p:spPr>
          <a:xfrm>
            <a:off x="4526280" y="1719072"/>
            <a:ext cx="3108960" cy="22860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FLEKSIBILITAS KERJASAMA LAHAN BLUD</a:t>
            </a:r>
            <a:endParaRPr lang="en-US" sz="920" dirty="0"/>
          </a:p>
        </p:txBody>
      </p:sp>
      <p:sp>
        <p:nvSpPr>
          <p:cNvPr id="25" name="Text 23"/>
          <p:cNvSpPr/>
          <p:nvPr/>
        </p:nvSpPr>
        <p:spPr>
          <a:xfrm>
            <a:off x="4526280" y="2057400"/>
            <a:ext cx="3108960" cy="8229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Peraturan Walikota skema Long-Term Revenue Sharing (10–25 tahun) yang fleksibel bagi investor teknologi global di kawasan STP.</a:t>
            </a:r>
            <a:endParaRPr lang="en-US" sz="880" dirty="0"/>
          </a:p>
        </p:txBody>
      </p:sp>
      <p:sp>
        <p:nvSpPr>
          <p:cNvPr id="26" name="Shape 24"/>
          <p:cNvSpPr/>
          <p:nvPr/>
        </p:nvSpPr>
        <p:spPr>
          <a:xfrm>
            <a:off x="4526280" y="2971800"/>
            <a:ext cx="3108960" cy="685800"/>
          </a:xfrm>
          <a:prstGeom prst="roundRect">
            <a:avLst>
              <a:gd name="adj" fmla="val 5333"/>
            </a:avLst>
          </a:prstGeom>
          <a:solidFill>
            <a:srgbClr val="070D18"/>
          </a:solidFill>
          <a:ln w="12700">
            <a:solidFill>
              <a:srgbClr val="1E3A5F"/>
            </a:solidFill>
            <a:prstDash val="solid"/>
          </a:ln>
        </p:spPr>
      </p:sp>
      <p:sp>
        <p:nvSpPr>
          <p:cNvPr id="27" name="Text 25"/>
          <p:cNvSpPr/>
          <p:nvPr/>
        </p:nvSpPr>
        <p:spPr>
          <a:xfrm>
            <a:off x="4572000" y="3017520"/>
            <a:ext cx="3017520" cy="320040"/>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Target: Menarik 3–5 Investor Baru Tanpa Beban APBD</a:t>
            </a:r>
            <a:endParaRPr lang="en-US" sz="880" dirty="0"/>
          </a:p>
        </p:txBody>
      </p:sp>
      <p:sp>
        <p:nvSpPr>
          <p:cNvPr id="28" name="Text 26"/>
          <p:cNvSpPr/>
          <p:nvPr/>
        </p:nvSpPr>
        <p:spPr>
          <a:xfrm>
            <a:off x="4572000" y="3337560"/>
            <a:ext cx="3017520" cy="274320"/>
          </a:xfrm>
          <a:prstGeom prst="rect">
            <a:avLst/>
          </a:prstGeom>
          <a:noFill/>
          <a:ln/>
        </p:spPr>
        <p:txBody>
          <a:bodyPr wrap="square" rtlCol="0" anchor="ctr"/>
          <a:lstStyle/>
          <a:p>
            <a:pPr indent="0" marL="0">
              <a:buNone/>
            </a:pPr>
            <a:r>
              <a:rPr lang="en-US" sz="820" i="1" dirty="0">
                <a:solidFill>
                  <a:srgbClr val="F59E0B"/>
                </a:solidFill>
                <a:latin typeface="Arial" pitchFamily="34" charset="0"/>
                <a:ea typeface="Arial" pitchFamily="34" charset="-122"/>
                <a:cs typeface="Arial" pitchFamily="34" charset="-120"/>
              </a:rPr>
              <a:t>⚡ Harmonisasi bersama BPKAD &amp; Bagian Hukum</a:t>
            </a:r>
            <a:endParaRPr lang="en-US" sz="820" dirty="0"/>
          </a:p>
        </p:txBody>
      </p:sp>
      <p:sp>
        <p:nvSpPr>
          <p:cNvPr id="29" name="Shape 27"/>
          <p:cNvSpPr/>
          <p:nvPr/>
        </p:nvSpPr>
        <p:spPr>
          <a:xfrm>
            <a:off x="7955280" y="1325880"/>
            <a:ext cx="3474720" cy="2468880"/>
          </a:xfrm>
          <a:prstGeom prst="roundRect">
            <a:avLst>
              <a:gd name="adj" fmla="val 2963"/>
            </a:avLst>
          </a:prstGeom>
          <a:solidFill>
            <a:srgbClr val="0A192F"/>
          </a:solidFill>
          <a:ln w="12700">
            <a:solidFill>
              <a:srgbClr val="1E3A5F"/>
            </a:solidFill>
            <a:prstDash val="solid"/>
          </a:ln>
        </p:spPr>
      </p:sp>
      <p:sp>
        <p:nvSpPr>
          <p:cNvPr id="30" name="Shape 28"/>
          <p:cNvSpPr/>
          <p:nvPr/>
        </p:nvSpPr>
        <p:spPr>
          <a:xfrm>
            <a:off x="7955280" y="1325880"/>
            <a:ext cx="73152" cy="2468880"/>
          </a:xfrm>
          <a:prstGeom prst="roundRect">
            <a:avLst>
              <a:gd name="adj" fmla="val 50000"/>
            </a:avLst>
          </a:prstGeom>
          <a:solidFill>
            <a:srgbClr val="10B981"/>
          </a:solidFill>
          <a:ln w="12700">
            <a:solidFill>
              <a:srgbClr val="10B981"/>
            </a:solidFill>
            <a:prstDash val="solid"/>
          </a:ln>
        </p:spPr>
      </p:sp>
      <p:sp>
        <p:nvSpPr>
          <p:cNvPr id="31" name="Shape 29"/>
          <p:cNvSpPr/>
          <p:nvPr/>
        </p:nvSpPr>
        <p:spPr>
          <a:xfrm>
            <a:off x="8092440" y="1463040"/>
            <a:ext cx="3200400" cy="502920"/>
          </a:xfrm>
          <a:prstGeom prst="roundRect">
            <a:avLst>
              <a:gd name="adj" fmla="val 9091"/>
            </a:avLst>
          </a:prstGeom>
          <a:solidFill>
            <a:srgbClr val="0D213F"/>
          </a:solidFill>
          <a:ln w="12700">
            <a:solidFill>
              <a:srgbClr val="10B981"/>
            </a:solidFill>
            <a:prstDash val="solid"/>
          </a:ln>
        </p:spPr>
      </p:sp>
      <p:sp>
        <p:nvSpPr>
          <p:cNvPr id="32" name="Text 30"/>
          <p:cNvSpPr/>
          <p:nvPr/>
        </p:nvSpPr>
        <p:spPr>
          <a:xfrm>
            <a:off x="8138160" y="1490472"/>
            <a:ext cx="3108960" cy="201168"/>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PERMOHONAN 3</a:t>
            </a:r>
            <a:endParaRPr lang="en-US" sz="850" dirty="0"/>
          </a:p>
        </p:txBody>
      </p:sp>
      <p:sp>
        <p:nvSpPr>
          <p:cNvPr id="33" name="Text 31"/>
          <p:cNvSpPr/>
          <p:nvPr/>
        </p:nvSpPr>
        <p:spPr>
          <a:xfrm>
            <a:off x="8138160" y="1719072"/>
            <a:ext cx="3108960" cy="22860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SURAT EDARAN KONSORSIUM RISET DAERAH</a:t>
            </a:r>
            <a:endParaRPr lang="en-US" sz="920" dirty="0"/>
          </a:p>
        </p:txBody>
      </p:sp>
      <p:sp>
        <p:nvSpPr>
          <p:cNvPr id="34" name="Text 32"/>
          <p:cNvSpPr/>
          <p:nvPr/>
        </p:nvSpPr>
        <p:spPr>
          <a:xfrm>
            <a:off x="8138160" y="2057400"/>
            <a:ext cx="3108960" cy="8229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Mendorong perguruan tinggi (UNS, UMS, ISI, Poltek) mengarahkan minimal 30% riset terapan menyelesaikan problem kota di STP.</a:t>
            </a:r>
            <a:endParaRPr lang="en-US" sz="880" dirty="0"/>
          </a:p>
        </p:txBody>
      </p:sp>
      <p:sp>
        <p:nvSpPr>
          <p:cNvPr id="35" name="Shape 33"/>
          <p:cNvSpPr/>
          <p:nvPr/>
        </p:nvSpPr>
        <p:spPr>
          <a:xfrm>
            <a:off x="8138160" y="2971800"/>
            <a:ext cx="3108960" cy="685800"/>
          </a:xfrm>
          <a:prstGeom prst="roundRect">
            <a:avLst>
              <a:gd name="adj" fmla="val 5333"/>
            </a:avLst>
          </a:prstGeom>
          <a:solidFill>
            <a:srgbClr val="070D18"/>
          </a:solidFill>
          <a:ln w="12700">
            <a:solidFill>
              <a:srgbClr val="1E3A5F"/>
            </a:solidFill>
            <a:prstDash val="solid"/>
          </a:ln>
        </p:spPr>
      </p:sp>
      <p:sp>
        <p:nvSpPr>
          <p:cNvPr id="36" name="Text 34"/>
          <p:cNvSpPr/>
          <p:nvPr/>
        </p:nvSpPr>
        <p:spPr>
          <a:xfrm>
            <a:off x="8183880" y="3017520"/>
            <a:ext cx="3017520" cy="320040"/>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Target: 5 Kampus Mitra, 30 Klaster Riset Terapan</a:t>
            </a:r>
            <a:endParaRPr lang="en-US" sz="880" dirty="0"/>
          </a:p>
        </p:txBody>
      </p:sp>
      <p:sp>
        <p:nvSpPr>
          <p:cNvPr id="37" name="Text 35"/>
          <p:cNvSpPr/>
          <p:nvPr/>
        </p:nvSpPr>
        <p:spPr>
          <a:xfrm>
            <a:off x="8183880" y="3337560"/>
            <a:ext cx="3017520" cy="274320"/>
          </a:xfrm>
          <a:prstGeom prst="rect">
            <a:avLst/>
          </a:prstGeom>
          <a:noFill/>
          <a:ln/>
        </p:spPr>
        <p:txBody>
          <a:bodyPr wrap="square" rtlCol="0" anchor="ctr"/>
          <a:lstStyle/>
          <a:p>
            <a:pPr indent="0" marL="0">
              <a:buNone/>
            </a:pPr>
            <a:r>
              <a:rPr lang="en-US" sz="820" i="1" dirty="0">
                <a:solidFill>
                  <a:srgbClr val="10B981"/>
                </a:solidFill>
                <a:latin typeface="Arial" pitchFamily="34" charset="0"/>
                <a:ea typeface="Arial" pitchFamily="34" charset="-122"/>
                <a:cs typeface="Arial" pitchFamily="34" charset="-120"/>
              </a:rPr>
              <a:t>⚡ Penyusunan MoU bersama 5 Rektor Solo Raya</a:t>
            </a:r>
            <a:endParaRPr lang="en-US" sz="820" dirty="0"/>
          </a:p>
        </p:txBody>
      </p:sp>
      <p:sp>
        <p:nvSpPr>
          <p:cNvPr id="38" name="Shape 36"/>
          <p:cNvSpPr/>
          <p:nvPr/>
        </p:nvSpPr>
        <p:spPr>
          <a:xfrm>
            <a:off x="731520" y="3931920"/>
            <a:ext cx="10728655" cy="2423160"/>
          </a:xfrm>
          <a:prstGeom prst="roundRect">
            <a:avLst>
              <a:gd name="adj" fmla="val 3019"/>
            </a:avLst>
          </a:prstGeom>
          <a:solidFill>
            <a:srgbClr val="0A192F"/>
          </a:solidFill>
          <a:ln w="12700">
            <a:solidFill>
              <a:srgbClr val="0EA5E9"/>
            </a:solidFill>
            <a:prstDash val="solid"/>
          </a:ln>
        </p:spPr>
      </p:sp>
      <p:sp>
        <p:nvSpPr>
          <p:cNvPr id="39" name="Text 37"/>
          <p:cNvSpPr/>
          <p:nvPr/>
        </p:nvSpPr>
        <p:spPr>
          <a:xfrm>
            <a:off x="914400" y="4023360"/>
            <a:ext cx="10362895" cy="256032"/>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RENCANA AKSI 100 HARI PERTAMA (QUICK WINS PASCA-ARAHAN WALIKOTA SURAKARTA):</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14400" y="4343400"/>
          <a:ext cx="10362895" cy="1874520"/>
        </p:xfrm>
        <a:graphic>
          <a:graphicData uri="http://schemas.openxmlformats.org/drawingml/2006/table">
            <a:tbl>
              <a:tblPr/>
              <a:tblGrid>
                <a:gridCol w="1280160"/>
                <a:gridCol w="3474720"/>
                <a:gridCol w="5608015"/>
              </a:tblGrid>
              <a:tr h="274320">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PERIODE</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AGENDA STRATEGIS</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OUTPUT KONKRET &amp; TARGET KEBERHASILAN</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256032">
                <a:tc>
                  <a:txBody>
                    <a:bodyPr/>
                    <a:lstStyle/>
                    <a:p>
                      <a:pPr algn="ctr" indent="0" marL="0">
                        <a:buNone/>
                      </a:pPr>
                      <a:r>
                        <a:rPr lang="en-US" sz="850" b="1" dirty="0">
                          <a:solidFill>
                            <a:srgbClr val="38BDF8"/>
                          </a:solidFill>
                          <a:latin typeface="Arial" pitchFamily="34" charset="0"/>
                          <a:ea typeface="Arial" pitchFamily="34" charset="-122"/>
                          <a:cs typeface="Arial" pitchFamily="34" charset="-120"/>
                        </a:rPr>
                        <a:t>Hari 1–10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Penyusunan Draf Instruksi Walikota e-Katalog</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Draf Inkwal Afirmatif siap harmonisasi bersama Bagian Hukum Setda &amp; BPKAD.</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38BDF8"/>
                          </a:solidFill>
                          <a:latin typeface="Arial" pitchFamily="34" charset="0"/>
                          <a:ea typeface="Arial" pitchFamily="34" charset="-122"/>
                          <a:cs typeface="Arial" pitchFamily="34" charset="-120"/>
                        </a:rPr>
                        <a:t>Hari 11–30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Harmonisasi &amp; Penerbitan Instruksi Walikota</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10B981"/>
                          </a:solidFill>
                          <a:latin typeface="Arial" pitchFamily="34" charset="0"/>
                          <a:ea typeface="Arial" pitchFamily="34" charset="-122"/>
                          <a:cs typeface="Arial" pitchFamily="34" charset="-120"/>
                        </a:rPr>
                        <a:t>Inkwal ditandatangani Walikota; Sosialisasi ke seluruh OPD prioritas Pemkot.</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F59E0B"/>
                          </a:solidFill>
                          <a:latin typeface="Arial" pitchFamily="34" charset="0"/>
                          <a:ea typeface="Arial" pitchFamily="34" charset="-122"/>
                          <a:cs typeface="Arial" pitchFamily="34" charset="-120"/>
                        </a:rPr>
                        <a:t>Hari 31–50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Kurasi &amp; Seleksi 5 Produk Inovasi Unggulan</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Katalog 5 Produk Unggulan Hilirisasi STP (Smart Agri IoT, Alkes, Mesin Sortasi).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F59E0B"/>
                          </a:solidFill>
                          <a:latin typeface="Arial" pitchFamily="34" charset="0"/>
                          <a:ea typeface="Arial" pitchFamily="34" charset="-122"/>
                          <a:cs typeface="Arial" pitchFamily="34" charset="-120"/>
                        </a:rPr>
                        <a:t>Hari 51–60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Showcase Inovasi di Depan Walikota &amp; OPD</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FFFFFF"/>
                          </a:solidFill>
                          <a:latin typeface="Arial" pitchFamily="34" charset="0"/>
                          <a:ea typeface="Arial" pitchFamily="34" charset="-122"/>
                          <a:cs typeface="Arial" pitchFamily="34" charset="-120"/>
                        </a:rPr>
                        <a:t>Demonstrasi produk di hadapan Walikota &amp; media; komitmen serapan perdana OPD.</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10B981"/>
                          </a:solidFill>
                          <a:latin typeface="Arial" pitchFamily="34" charset="0"/>
                          <a:ea typeface="Arial" pitchFamily="34" charset="-122"/>
                          <a:cs typeface="Arial" pitchFamily="34" charset="-120"/>
                        </a:rPr>
                        <a:t>Hari 61–80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Inisiasi Konsorsium Riset 5 Perguruan Tinggi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MoU Pra-Konsorsium bersama Rektor UNS, UMS, ISI, Poltek Solo Raya.</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10B981"/>
                          </a:solidFill>
                          <a:latin typeface="Arial" pitchFamily="34" charset="0"/>
                          <a:ea typeface="Arial" pitchFamily="34" charset="-122"/>
                          <a:cs typeface="Arial" pitchFamily="34" charset="-120"/>
                        </a:rPr>
                        <a:t>Hari 81–100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Launching Resmi Konsorsium &amp; Hilirisasi Inovasi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10B981"/>
                          </a:solidFill>
                          <a:latin typeface="Arial" pitchFamily="34" charset="0"/>
                          <a:ea typeface="Arial" pitchFamily="34" charset="-122"/>
                          <a:cs typeface="Arial" pitchFamily="34" charset="-120"/>
                        </a:rPr>
                        <a:t>Penandatanganan MoU Riset Terapan bersama Kadin/Apindo di STP; kick-off hilirisasi.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Pemerintah Kota Surakarta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Solo Technopark: Dari Kawasan Sains &amp; Teknologi Menuju Mesin Impact Daerah (V3)</dc:title>
  <dc:subject>Bahan Paparan Resmi Walikota Surakarta 2026–2030</dc:subject>
  <dc:creator>UPTD KST Solo Technopark &amp; BRIDA Kota Surakarta</dc:creator>
  <cp:lastModifiedBy>UPTD KST Solo Technopark &amp; BRIDA Kota Surakarta</cp:lastModifiedBy>
  <cp:revision>1</cp:revision>
  <dcterms:created xsi:type="dcterms:W3CDTF">2026-09-11T03:36:09Z</dcterms:created>
  <dcterms:modified xsi:type="dcterms:W3CDTF">2026-09-11T03:36:09Z</dcterms:modified>
</cp:coreProperties>
</file>