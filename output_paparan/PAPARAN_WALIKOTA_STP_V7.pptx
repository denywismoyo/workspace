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Aktor Hexahelix</c:v>
                </c:pt>
              </c:strCache>
            </c:strRef>
          </c:tx>
          <c:spPr>
            <a:solidFill>
              <a:schemeClr val="accent1"/>
            </a:solidFill>
            <a:ln w="9525" cap="flat">
              <a:solidFill>
                <a:srgbClr val="F9F9F9"/>
              </a:solidFill>
              <a:prstDash val="solid"/>
              <a:round/>
            </a:ln>
            <a:effectLst/>
          </c:spPr>
          <c:dPt>
            <c:idx val="0"/>
            <c:bubble3D val="0"/>
            <c:spPr>
              <a:solidFill>
                <a:srgbClr val="0EA5E9"/>
              </a:solidFill>
              <a:effectLst/>
            </c:spPr>
          </c:dPt>
          <c:dPt>
            <c:idx val="1"/>
            <c:bubble3D val="0"/>
            <c:spPr>
              <a:solidFill>
                <a:srgbClr val="38BDF8"/>
              </a:solidFill>
              <a:effectLst/>
            </c:spPr>
          </c:dPt>
          <c:dPt>
            <c:idx val="2"/>
            <c:bubble3D val="0"/>
            <c:spPr>
              <a:solidFill>
                <a:srgbClr val="10B981"/>
              </a:solidFill>
              <a:effectLst/>
            </c:spPr>
          </c:dPt>
          <c:dPt>
            <c:idx val="3"/>
            <c:bubble3D val="0"/>
            <c:spPr>
              <a:solidFill>
                <a:srgbClr val="F59E0B"/>
              </a:solidFill>
              <a:effectLst/>
            </c:spPr>
          </c:dPt>
          <c:dPt>
            <c:idx val="4"/>
            <c:bubble3D val="0"/>
            <c:spPr>
              <a:solidFill>
                <a:srgbClr val="8B5CF6"/>
              </a:solidFill>
              <a:effectLst/>
            </c:spPr>
          </c:dPt>
          <c:dPt>
            <c:idx val="5"/>
            <c:bubble3D val="0"/>
            <c:spPr>
              <a:solidFill>
                <a:srgbClr val="EC4899"/>
              </a:solidFill>
              <a:effectLst/>
            </c:spPr>
          </c:dPt>
          <c:dLbls>
            <c:dLbl>
              <c:idx val="0"/>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Sheet1!$A$2:$A$7</c:f>
              <c:strCache>
                <c:ptCount val="6"/>
                <c:pt idx="0">
                  <c:v>Industri &amp; Bisnis (37%)</c:v>
                </c:pt>
                <c:pt idx="1">
                  <c:v>Akademisi / Kampus (21%)</c:v>
                </c:pt>
                <c:pt idx="2">
                  <c:v>Komunitas &amp; Asosiasi (16%)</c:v>
                </c:pt>
                <c:pt idx="3">
                  <c:v>Pemerintah / BUMN (13%)</c:v>
                </c:pt>
                <c:pt idx="4">
                  <c:v>Media Massa (8%)</c:v>
                </c:pt>
                <c:pt idx="5">
                  <c:v>Lembaga Global (5%)</c:v>
                </c:pt>
              </c:strCache>
            </c:strRef>
          </c:cat>
          <c:val>
            <c:numRef>
              <c:f>Sheet1!$B$2:$B$7</c:f>
              <c:numCache>
                <c:ptCount val="6"/>
                <c:pt idx="0">
                  <c:v>35</c:v>
                </c:pt>
                <c:pt idx="1">
                  <c:v>20</c:v>
                </c:pt>
                <c:pt idx="2">
                  <c:v>15</c:v>
                </c:pt>
                <c:pt idx="3">
                  <c:v>12</c:v>
                </c:pt>
                <c:pt idx="4">
                  <c:v>8</c:v>
                </c:pt>
                <c:pt idx="5">
                  <c:v>5</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Pendapatan BLUD (Rp Miliar)</c:v>
                </c:pt>
              </c:strCache>
            </c:strRef>
          </c:tx>
          <c:spPr>
            <a:solidFill>
              <a:srgbClr val="94A3B8"/>
            </a:solidFill>
            <a:effectLst/>
          </c:spPr>
          <c:invertIfNegative val="0"/>
          <c:dLbls>
            <c:numFmt formatCode="#,##0" sourceLinked="0"/>
            <c:txPr>
              <a:bodyPr/>
              <a:lstStyle/>
              <a:p>
                <a:pPr>
                  <a:defRPr b="0" i="0" strike="noStrike" sz="950" u="none">
                    <a:solidFill>
                      <a:srgbClr val="0F172A"/>
                    </a:solidFill>
                    <a:latin typeface="Arial"/>
                  </a:defRPr>
                </a:pPr>
              </a:p>
            </c:txPr>
            <c:showLegendKey val="0"/>
            <c:showVal val="1"/>
            <c:showCatName val="0"/>
            <c:showSerName val="0"/>
            <c:showPercent val="0"/>
            <c:showBubbleSize val="0"/>
            <c:showLeaderLines val="0"/>
          </c:dLbls>
          <c:dPt>
            <c:idx val="0"/>
            <c:invertIfNegative val="0"/>
            <c:bubble3D val="0"/>
            <c:spPr>
              <a:solidFill>
                <a:srgbClr val="94A3B8"/>
              </a:solidFill>
              <a:effectLst/>
            </c:spPr>
          </c:dPt>
          <c:dPt>
            <c:idx val="1"/>
            <c:invertIfNegative val="0"/>
            <c:bubble3D val="0"/>
            <c:spPr>
              <a:solidFill>
                <a:srgbClr val="38BDF8"/>
              </a:solidFill>
              <a:effectLst/>
            </c:spPr>
          </c:dPt>
          <c:dPt>
            <c:idx val="2"/>
            <c:invertIfNegative val="0"/>
            <c:bubble3D val="0"/>
            <c:spPr>
              <a:solidFill>
                <a:srgbClr val="0EA5E9"/>
              </a:solidFill>
              <a:effectLst/>
            </c:spPr>
          </c:dPt>
          <c:dPt>
            <c:idx val="3"/>
            <c:invertIfNegative val="0"/>
            <c:bubble3D val="0"/>
            <c:spPr>
              <a:solidFill>
                <a:srgbClr val="10B981"/>
              </a:solidFill>
              <a:effectLst/>
            </c:spPr>
          </c:dPt>
          <c:dPt>
            <c:idx val="4"/>
            <c:invertIfNegative val="0"/>
            <c:bubble3D val="0"/>
            <c:spPr>
              <a:solidFill>
                <a:srgbClr val="F59E0B"/>
              </a:solidFill>
              <a:effectLst/>
            </c:spPr>
          </c:dPt>
          <c:cat>
            <c:multiLvlStrRef>
              <c:f>Sheet1!$A$2:$A$6</c:f>
              <c:multiLvlStrCache>
                <c:ptCount val="5"/>
                <c:lvl>
                  <c:pt idx="0">
                    <c:v>2026
(Baseline)</c:v>
                  </c:pt>
                  <c:pt idx="1">
                    <c:v>2027
(+67%)</c:v>
                  </c:pt>
                  <c:pt idx="2">
                    <c:v>2028
(+28,5%)</c:v>
                  </c:pt>
                  <c:pt idx="3">
                    <c:v>2029
(+28%)</c:v>
                  </c:pt>
                  <c:pt idx="4">
                    <c:v>2030
(MANDIRI)</c:v>
                  </c:pt>
                </c:lvl>
              </c:multiLvlStrCache>
            </c:multiLvlStrRef>
          </c:cat>
          <c:val>
            <c:numRef>
              <c:f>Sheet1!$B$2:$B$6</c:f>
              <c:numCache>
                <c:formatCode>General</c:formatCode>
                <c:ptCount val="5"/>
                <c:pt idx="0">
                  <c:v>7.5</c:v>
                </c:pt>
                <c:pt idx="1">
                  <c:v>12.53</c:v>
                </c:pt>
                <c:pt idx="2">
                  <c:v>16.1</c:v>
                </c:pt>
                <c:pt idx="3">
                  <c:v>20.62</c:v>
                </c:pt>
                <c:pt idx="4">
                  <c:v>23.47</c:v>
                </c:pt>
              </c:numCache>
            </c:numRef>
          </c:val>
        </c:ser>
        <c:dLbls>
          <c:numFmt formatCode="#,##0" sourceLinked="0"/>
          <c:txPr>
            <a:bodyPr/>
            <a:lstStyle/>
            <a:p>
              <a:pPr>
                <a:defRPr b="0" i="0" strike="noStrike" sz="950" u="none">
                  <a:solidFill>
                    <a:srgbClr val="0F17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F172A"/>
                </a:solidFill>
                <a:latin typeface="Arial"/>
              </a:defRPr>
            </a:pPr>
            <a:endParaRPr lang="en-US"/>
          </a:p>
        </c:txPr>
        <c:crossAx val="2094734552"/>
        <c:crosses val="autoZero"/>
        <c:auto val="1"/>
        <c:lblAlgn val="ctr"/>
        <c:noMultiLvlLbl val="1"/>
      </c:catAx>
      <c:valAx>
        <c:axId val="2094734552"/>
        <c:scaling>
          <c:orientation val="minMax"/>
          <c:max val="27"/>
          <c:min val="0"/>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Revenue Stream 2030</c:v>
                </c:pt>
              </c:strCache>
            </c:strRef>
          </c:tx>
          <c:spPr>
            <a:solidFill>
              <a:schemeClr val="accent1"/>
            </a:solidFill>
            <a:ln w="9525" cap="flat">
              <a:solidFill>
                <a:srgbClr val="F9F9F9"/>
              </a:solidFill>
              <a:prstDash val="solid"/>
              <a:round/>
            </a:ln>
            <a:effectLst/>
          </c:spPr>
          <c:dPt>
            <c:idx val="0"/>
            <c:bubble3D val="0"/>
            <c:spPr>
              <a:solidFill>
                <a:srgbClr val="0EA5E9"/>
              </a:solidFill>
              <a:effectLst/>
            </c:spPr>
          </c:dPt>
          <c:dPt>
            <c:idx val="1"/>
            <c:bubble3D val="0"/>
            <c:spPr>
              <a:solidFill>
                <a:srgbClr val="38BDF8"/>
              </a:solidFill>
              <a:effectLst/>
            </c:spPr>
          </c:dPt>
          <c:dPt>
            <c:idx val="2"/>
            <c:bubble3D val="0"/>
            <c:spPr>
              <a:solidFill>
                <a:srgbClr val="10B981"/>
              </a:solidFill>
              <a:effectLst/>
            </c:spPr>
          </c:dPt>
          <c:dPt>
            <c:idx val="3"/>
            <c:bubble3D val="0"/>
            <c:spPr>
              <a:solidFill>
                <a:srgbClr val="F59E0B"/>
              </a:solidFill>
              <a:effectLst/>
            </c:spPr>
          </c:dPt>
          <c:dPt>
            <c:idx val="4"/>
            <c:bubble3D val="0"/>
            <c:spPr>
              <a:solidFill>
                <a:srgbClr val="8B5CF6"/>
              </a:solidFill>
              <a:effectLst/>
            </c:spPr>
          </c:dPt>
          <c:dPt>
            <c:idx val="5"/>
            <c:bubble3D val="0"/>
            <c:spPr>
              <a:solidFill>
                <a:srgbClr val="64748B"/>
              </a:solidFill>
              <a:effectLst/>
            </c:spPr>
          </c:dPt>
          <c:dLbls>
            <c:dLbl>
              <c:idx val="0"/>
              <c:numFmt formatCode="0%" sourceLinked="0"/>
              <c:spPr/>
              <c:txPr>
                <a:bodyPr/>
                <a:lstStyle/>
                <a:p>
                  <a:pPr>
                    <a:defRPr sz="75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75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75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75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750" b="0"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75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Sheet1!$A$2:$A$7</c:f>
              <c:strCache>
                <c:ptCount val="6"/>
                <c:pt idx="0">
                  <c:v>Kerjasama Program (54,6%)</c:v>
                </c:pt>
                <c:pt idx="1">
                  <c:v>Pelatihan &amp; Sertifikasi (15,7%)</c:v>
                </c:pt>
                <c:pt idx="2">
                  <c:v>Diklat Mandiri (10,5%)</c:v>
                </c:pt>
                <c:pt idx="3">
                  <c:v>Lain-lain BLUD / MICE (10,4%)</c:v>
                </c:pt>
                <c:pt idx="4">
                  <c:v>Rekayasa Manufaktur (6,2%)</c:v>
                </c:pt>
                <c:pt idx="5">
                  <c:v>Kemitraan Lahan (2,5%)</c:v>
                </c:pt>
              </c:strCache>
            </c:strRef>
          </c:cat>
          <c:val>
            <c:numRef>
              <c:f>Sheet1!$B$2:$B$7</c:f>
              <c:numCache>
                <c:ptCount val="6"/>
                <c:pt idx="0">
                  <c:v>54.6</c:v>
                </c:pt>
                <c:pt idx="1">
                  <c:v>15.7</c:v>
                </c:pt>
                <c:pt idx="2">
                  <c:v>10.5</c:v>
                </c:pt>
                <c:pt idx="3">
                  <c:v>10.4</c:v>
                </c:pt>
                <c:pt idx="4">
                  <c:v>6.2</c:v>
                </c:pt>
                <c:pt idx="5">
                  <c:v>2.5</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Capaian Target 2030 (%)</c:v>
                </c:pt>
              </c:strCache>
            </c:strRef>
          </c:tx>
          <c:spPr>
            <a:solidFill>
              <a:srgbClr val="38BDF8"/>
            </a:solidFill>
            <a:effectLst/>
          </c:spPr>
          <c:invertIfNegative val="0"/>
          <c:dLbls>
            <c:numFmt formatCode="#,##0" sourceLinked="0"/>
            <c:txPr>
              <a:bodyPr/>
              <a:lstStyle/>
              <a:p>
                <a:pPr>
                  <a:defRPr b="0" i="0" strike="noStrike" sz="900" u="none">
                    <a:solidFill>
                      <a:srgbClr val="0F172A"/>
                    </a:solidFill>
                    <a:latin typeface="Arial"/>
                  </a:defRPr>
                </a:pPr>
              </a:p>
            </c:txPr>
            <c:showLegendKey val="0"/>
            <c:showVal val="1"/>
            <c:showCatName val="0"/>
            <c:showSerName val="0"/>
            <c:showPercent val="0"/>
            <c:showBubbleSize val="0"/>
            <c:showLeaderLines val="0"/>
          </c:dLbls>
          <c:dPt>
            <c:idx val="0"/>
            <c:invertIfNegative val="0"/>
            <c:bubble3D val="0"/>
            <c:spPr>
              <a:solidFill>
                <a:srgbClr val="38BDF8"/>
              </a:solidFill>
              <a:effectLst/>
            </c:spPr>
          </c:dPt>
          <c:dPt>
            <c:idx val="1"/>
            <c:invertIfNegative val="0"/>
            <c:bubble3D val="0"/>
            <c:spPr>
              <a:solidFill>
                <a:srgbClr val="0EA5E9"/>
              </a:solidFill>
              <a:effectLst/>
            </c:spPr>
          </c:dPt>
          <c:dPt>
            <c:idx val="2"/>
            <c:invertIfNegative val="0"/>
            <c:bubble3D val="0"/>
            <c:spPr>
              <a:solidFill>
                <a:srgbClr val="10B981"/>
              </a:solidFill>
              <a:effectLst/>
            </c:spPr>
          </c:dPt>
          <c:dPt>
            <c:idx val="3"/>
            <c:invertIfNegative val="0"/>
            <c:bubble3D val="0"/>
            <c:spPr>
              <a:solidFill>
                <a:srgbClr val="F59E0B"/>
              </a:solidFill>
              <a:effectLst/>
            </c:spPr>
          </c:dPt>
          <c:dPt>
            <c:idx val="4"/>
            <c:invertIfNegative val="0"/>
            <c:bubble3D val="0"/>
            <c:spPr>
              <a:solidFill>
                <a:srgbClr val="F97316"/>
              </a:solidFill>
              <a:effectLst/>
            </c:spPr>
          </c:dPt>
          <c:dPt>
            <c:idx val="5"/>
            <c:invertIfNegative val="0"/>
            <c:bubble3D val="0"/>
            <c:spPr>
              <a:solidFill>
                <a:srgbClr val="10B981"/>
              </a:solidFill>
              <a:effectLst/>
            </c:spPr>
          </c:dPt>
          <c:cat>
            <c:multiLvlStrRef>
              <c:f>Sheet1!$A$2:$A$7</c:f>
              <c:multiLvlStrCache>
                <c:ptCount val="6"/>
                <c:lvl>
                  <c:pt idx="0">
                    <c:v>Hilirisasi Riset Kampus</c:v>
                  </c:pt>
                  <c:pt idx="1">
                    <c:v>Peluang Kerja Daerah</c:v>
                  </c:pt>
                  <c:pt idx="2">
                    <c:v>UMKM &amp; Startup Mandiri</c:v>
                  </c:pt>
                  <c:pt idx="3">
                    <c:v>Akses Fasilitas Publik</c:v>
                  </c:pt>
                  <c:pt idx="4">
                    <c:v>SDM Kompeten &amp; Sertifikasi</c:v>
                  </c:pt>
                  <c:pt idx="5">
                    <c:v>Kolaborasi Industri Murni</c:v>
                  </c:pt>
                </c:lvl>
              </c:multiLvlStrCache>
            </c:multiLvlStrRef>
          </c:cat>
          <c:val>
            <c:numRef>
              <c:f>Sheet1!$B$2:$B$7</c:f>
              <c:numCache>
                <c:formatCode>General</c:formatCode>
                <c:ptCount val="6"/>
                <c:pt idx="0">
                  <c:v>70</c:v>
                </c:pt>
                <c:pt idx="1">
                  <c:v>75</c:v>
                </c:pt>
                <c:pt idx="2">
                  <c:v>80</c:v>
                </c:pt>
                <c:pt idx="3">
                  <c:v>85</c:v>
                </c:pt>
                <c:pt idx="4">
                  <c:v>90</c:v>
                </c:pt>
                <c:pt idx="5">
                  <c:v>100</c:v>
                </c:pt>
              </c:numCache>
            </c:numRef>
          </c:val>
        </c:ser>
        <c:dLbls>
          <c:numFmt formatCode="#,##0" sourceLinked="0"/>
          <c:txPr>
            <a:bodyPr/>
            <a:lstStyle/>
            <a:p>
              <a:pPr>
                <a:defRPr b="0" i="0" strike="noStrike" sz="900" u="none">
                  <a:solidFill>
                    <a:srgbClr val="0F17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majorGridlines>
          <c:spPr>
            <a:ln w="12700" cap="flat">
              <a:solidFill>
                <a:srgbClr val="E2E8F0"/>
              </a:solidFill>
              <a:prstDash val="solid"/>
              <a:round/>
            </a:ln>
          </c:spPr>
        </c:majorGridlines>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F172A"/>
                </a:solidFill>
                <a:latin typeface="Arial"/>
              </a:defRPr>
            </a:pPr>
            <a:endParaRPr lang="en-US"/>
          </a:p>
        </c:txPr>
        <c:crossAx val="2094734552"/>
        <c:crosses val="autoZero"/>
        <c:auto val="1"/>
        <c:lblAlgn val="ctr"/>
        <c:noMultiLvlLbl val="1"/>
      </c:catAx>
      <c:valAx>
        <c:axId val="2094734552"/>
        <c:scaling>
          <c:orientation val="minMax"/>
          <c:max val="110"/>
          <c:min val="0"/>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Bapak Walikota yang kami hormati, izinkan kami mempersembahkan arah baru Solo Technopark untuk periode 2026 hingga 2030. Kita tidak lagi memposisikan Solo Technopark hanya sebagai aset fisik atau deretan gedung sewa. Dengan mandat yang Bapak berikan, kami hadir dengan proposisi yang berbeda: Solo Technopark adalah mesin impact daerah—yang mengukur keberhasilannya bukan dari saldo kas semata, melainkan dari berapa banyak warga Solo yang mendapat pekerjaan, berapa banyak riset kampus yang jadi produk bernilai, dan seberapa mandiri keuangannya tanpa beban APBD.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Posisi kelembagaan kita sangat jelas dan terstruktur, Bapak Walikota. BRIDA adalah arsitek kebijakan—merumuskan arah, memonitor dampak, dan mengorkestrasi ekosistem Iptek kota. Solo Technopark adalah insinyur pelaksana—menguji teknologi, melatih SDM, menginkubasi startup, dan menghubungkan riset kampus ke pasar industri. Dan pada ujung rantai ini, yang merasakan manfaat langsung adalah warga Solo—mendapat pekerjaan, UMKM mereka naik kelas, dan produk lokal bisa bersaing.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bicara angka dan target, Bapak Walikota, perlu kami tegaskan: fondasi hukum kita sangat kuat. Permendagri 79/2018 memberi kita fleksibilitas BLUD—artinya kita bisa bergerak lincah bermitra dengan Shopee, Garena, atau OGSCI tanpa terjebak rigiditas pengadaan APBD. Perpres 106/2017 memberi mandat nasional: kita harus inkubasi startup, fasilitasi spin-off perusahaan berbasis riset. Dan Perwali 15 serta 38/2022 dari Bapak sendiri telah mengokohkan posisi STP sebagai delivery unit profesional di bawah BRIDA.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pilar ini bukan sekadar daftar layanan, Bapak Walikota. Ini adalah ekosistem yang saling mengunci. Di pilar vokasi, kita melatih keahlian langka seperti underwater welding—keahlian yang satu pesertanya bisa langsung terserap industri migas dengan gaji di atas Rp 15 juta per bulan. Di inkubasi, kita tidak sekadar menampung startup, kita mendampinginya hingga produknya masuk pasar. Dan semuanya berjalan bersama, membentuk satu ekosistem yang mengubah potensi menjadi nilai ekonomi nyata bagi kota Surakarta.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Bapak Walikota, kami ingin menghapus fenomena riset lemari arsip—di mana penelitian kampus hebat tapi berakhir hanya sebagai tumpukan laporan jurnal. Pipeline hilirisasi kami memutus kebuntuan itu. Riset dosen UNS tentang mesin sortasi kopi? Kita ambil, kita uji prototipenya di lab presisi STP, kita bantu urus patennya, kita carikan investor atau offtaker industrinya. Inilah nilai sejati Solo Technopark: jembatan dari ilmu pengetahuan menuju perputaran uang dan lapangan kerja bagi warga Solo.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Lihatlah daftar mitra ini, Bapak Walikota. Shopee, Garena, GoTo, Indosat, Bank Mandiri, hingga konsorsium migas internasional OGSCI. Mereka hadir di Solo bukan karena subsidi APBD—karena kita menerapkan prinsip Zero APBD Burden. Pemkot menyediakan wadah dan kepastian regulasi, pihak swasta menanamkan modal dan teknologinya. Hasilnya: fasilitas canggih berkelas internasional berdiri di jantung kota Surakarta, dan anak-anak muda Solo bisa belajar serta bekerja langsung di dalamnya.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berdiri di sini dengan kejujuran penuh, Bapak Walikota. Lima gap ini adalah tantangan nyata yang kami identifikasi sendiri. Pendapatan kita masih terlalu bergantung sewa lahan dan satu program unggulan. Riset kampus belum terhubung ke pasar. Promosi produk inovasi kita masih lemah regulasinya. Namun kami tidak datang hanya dengan masalah—kami hadir dengan 5 solusi terobosan yang terukur dan ada satu yang sangat bergantung pada 1 lembar Instruksi Walikota: e-Katalog Lokal yang mengarahkan OPD Pemkot menyerap produk binaan STP.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ini kami rancang dalam tiga fase yang saling membangun. 2026–2027 adalah fase pondasi: tata kelola BLUD diperkuat, lab kita terakreditasi, dan kita mulai ekspansi kerjasama OGSCI dan SMK GoGlobal. 2028–2029 adalah fase akselerasi: SBU terbentuk dan mulai mandiri seperti entitas bisnis profesional. Puncaknya, 2030, Solo Technopark beroperasi sebagai holding company inovasi daerah yang sepenuhnya mandiri—mengharumkan nama Surakarta di panggung teknologi nasional bahkan global.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Inilah komitmen terukur kami, Bapak Walikota. Angka-angka ini bukan proyeksi asal-asalan—setiap rupiah memiliki sumber yang teridentifikasi. Pendorong terbesar adalah program OGSCI yang akan menyumbang Rp 6,25 Miliar di 2030—itu sendirian sudah hampir menyamai total pendapatan STP tahun 2026. Ditambah program Startup Binaan yang kami proyeksi menghasilkan Rp 2 Miliar, dan e-Katalog yang membutuhkan Instruksi Walikota untuk membuka pasar Rp 2,25 Miliar. Dengan diversifikasi ini, STP akan menjadi BLUD yang sepenuhnya mandiri pada 2030.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Bapak Walikota, slide ini adalah bukti transparansi kami. Setiap mata anggaran dari Rp 23,47 Miliar sudah teridentifikasi sumbernya. Ini bukan angka anggan-anggan—ini adalah komitmen yang sudah terverifikasi bersama mitra-mitra kami. Perhatikan porsi Klaster A yang menyumbang 54,6%—OGSCI saja menghasilkan Rp 6,25 Miliar, dan e-Katalog Inovasi Rp 2,25 Miliar. Sementara itu, porsi sewa lahan pasif sengaja kami tekan tinggal 2,5%, membuktikan STP bukan sekadar penyewa lahan, melainkan pusat inovasi bernilai tambah tinggi.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Bapak Walikota, ukuran keberhasilan tertinggi kami bukan saldo rekening BLUD, melainkan enam dimensi dampak ini: seberapa banyak warga Solo mendapat pekerjaan, seberapa banyak UMKM naik kelas, seberapa banyak riset kampus menjadi produk nyata di pasar. Indikator-indikator ini yang setiap bulan kami pantau bersama BRIDA. Karena pada akhirnya, semua program yang kami jalankan harus bisa dijawab dengan satu pertanyaan sederhana: apakah warga Solo hidupnya lebih baik karena Solo Technopark 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Menutup paparan ini, Bapak Walikota, manajemen Solo Technopark dan BRIDA tidak hadir meminta tambahan anggaran. Tiga permohonan kami semuanya adalah payung regulasi—bukan rupiah belanja. Instruksi Walikota untuk e-Katalog, Perwal kerjasama lahan, dan Surat Edaran konsorsium riset. Tiga lembar kebijakan ini yang akan menjadi kunci pembuka ekosistem senilai Rp 23 Miliar di 2030. Dengan kepemimpinan dan arahan Bapak, tim kami siap langsung tancap gas mengeksekusi 100 hari pertama. Bersama Bapak, Solo Technopark akan menjadi kebanggaan kota Surakarta dan teladan nasional pengelolaan kawasan inovasi yang mandiri, berdampak, dan berkelanjutan.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8686800" cy="109728"/>
          </a:xfrm>
          <a:prstGeom prst="rect">
            <a:avLst/>
          </a:prstGeom>
          <a:solidFill>
            <a:srgbClr val="0284C7"/>
          </a:solidFill>
          <a:ln/>
        </p:spPr>
      </p:sp>
      <p:sp>
        <p:nvSpPr>
          <p:cNvPr id="3" name="Shape 1"/>
          <p:cNvSpPr/>
          <p:nvPr/>
        </p:nvSpPr>
        <p:spPr>
          <a:xfrm>
            <a:off x="8686800" y="0"/>
            <a:ext cx="3504895" cy="109728"/>
          </a:xfrm>
          <a:prstGeom prst="rect">
            <a:avLst/>
          </a:prstGeom>
          <a:solidFill>
            <a:srgbClr val="D97706"/>
          </a:solidFill>
          <a:ln/>
        </p:spPr>
      </p:sp>
      <p:sp>
        <p:nvSpPr>
          <p:cNvPr id="4" name="Shape 2"/>
          <p:cNvSpPr/>
          <p:nvPr/>
        </p:nvSpPr>
        <p:spPr>
          <a:xfrm>
            <a:off x="822960" y="502920"/>
            <a:ext cx="4206240" cy="329184"/>
          </a:xfrm>
          <a:prstGeom prst="roundRect">
            <a:avLst>
              <a:gd name="adj" fmla="val 22222"/>
            </a:avLst>
          </a:prstGeom>
          <a:solidFill>
            <a:srgbClr val="FFFFFF"/>
          </a:solidFill>
          <a:ln w="15240">
            <a:solidFill>
              <a:srgbClr val="0284C7"/>
            </a:solidFill>
            <a:prstDash val="solid"/>
          </a:ln>
        </p:spPr>
      </p:sp>
      <p:sp>
        <p:nvSpPr>
          <p:cNvPr id="5" name="Text 3"/>
          <p:cNvSpPr/>
          <p:nvPr/>
        </p:nvSpPr>
        <p:spPr>
          <a:xfrm>
            <a:off x="822960" y="502920"/>
            <a:ext cx="4206240" cy="329184"/>
          </a:xfrm>
          <a:prstGeom prst="rect">
            <a:avLst/>
          </a:prstGeom>
          <a:noFill/>
          <a:ln/>
        </p:spPr>
        <p:txBody>
          <a:bodyPr wrap="square" rtlCol="0" anchor="ctr"/>
          <a:lstStyle/>
          <a:p>
            <a:pPr algn="ctr" indent="0" marL="0">
              <a:buNone/>
            </a:pPr>
            <a:r>
              <a:rPr lang="en-US" sz="950" b="1" dirty="0">
                <a:solidFill>
                  <a:srgbClr val="0369A1"/>
                </a:solidFill>
                <a:latin typeface="Arial" pitchFamily="34" charset="0"/>
                <a:ea typeface="Arial" pitchFamily="34" charset="-122"/>
                <a:cs typeface="Arial" pitchFamily="34" charset="-120"/>
              </a:rPr>
              <a:t>🏛️ PEMERINTAH KOTA SURAKARTA  •  BRIDA</a:t>
            </a:r>
            <a:endParaRPr lang="en-US" sz="950" dirty="0"/>
          </a:p>
        </p:txBody>
      </p:sp>
      <p:sp>
        <p:nvSpPr>
          <p:cNvPr id="6" name="Shape 4"/>
          <p:cNvSpPr/>
          <p:nvPr/>
        </p:nvSpPr>
        <p:spPr>
          <a:xfrm>
            <a:off x="5166360" y="502920"/>
            <a:ext cx="3291840" cy="329184"/>
          </a:xfrm>
          <a:prstGeom prst="roundRect">
            <a:avLst>
              <a:gd name="adj" fmla="val 22222"/>
            </a:avLst>
          </a:prstGeom>
          <a:solidFill>
            <a:srgbClr val="FFFFFF"/>
          </a:solidFill>
          <a:ln w="15240">
            <a:solidFill>
              <a:srgbClr val="D97706"/>
            </a:solidFill>
            <a:prstDash val="solid"/>
          </a:ln>
        </p:spPr>
      </p:sp>
      <p:sp>
        <p:nvSpPr>
          <p:cNvPr id="7" name="Text 5"/>
          <p:cNvSpPr/>
          <p:nvPr/>
        </p:nvSpPr>
        <p:spPr>
          <a:xfrm>
            <a:off x="5166360" y="502920"/>
            <a:ext cx="3291840" cy="329184"/>
          </a:xfrm>
          <a:prstGeom prst="rect">
            <a:avLst/>
          </a:prstGeom>
          <a:noFill/>
          <a:ln/>
        </p:spPr>
        <p:txBody>
          <a:bodyPr wrap="square" rtlCol="0" anchor="ctr"/>
          <a:lstStyle/>
          <a:p>
            <a:pPr algn="ctr" indent="0" marL="0">
              <a:buNone/>
            </a:pPr>
            <a:r>
              <a:rPr lang="en-US" sz="950" b="1" dirty="0">
                <a:solidFill>
                  <a:srgbClr val="D97706"/>
                </a:solidFill>
                <a:latin typeface="Arial" pitchFamily="34" charset="0"/>
                <a:ea typeface="Arial" pitchFamily="34" charset="-122"/>
                <a:cs typeface="Arial" pitchFamily="34" charset="-120"/>
              </a:rPr>
              <a:t>ROADMAP STRATEGIS 2026–2030</a:t>
            </a:r>
            <a:endParaRPr lang="en-US" sz="950" dirty="0"/>
          </a:p>
        </p:txBody>
      </p:sp>
      <p:sp>
        <p:nvSpPr>
          <p:cNvPr id="8" name="Shape 6"/>
          <p:cNvSpPr/>
          <p:nvPr/>
        </p:nvSpPr>
        <p:spPr>
          <a:xfrm>
            <a:off x="8595360" y="502920"/>
            <a:ext cx="2773375" cy="329184"/>
          </a:xfrm>
          <a:prstGeom prst="roundRect">
            <a:avLst>
              <a:gd name="adj" fmla="val 22222"/>
            </a:avLst>
          </a:prstGeom>
          <a:solidFill>
            <a:srgbClr val="F1F5F9"/>
          </a:solidFill>
          <a:ln w="15240">
            <a:solidFill>
              <a:srgbClr val="059669"/>
            </a:solidFill>
            <a:prstDash val="solid"/>
          </a:ln>
        </p:spPr>
      </p:sp>
      <p:sp>
        <p:nvSpPr>
          <p:cNvPr id="9" name="Text 7"/>
          <p:cNvSpPr/>
          <p:nvPr/>
        </p:nvSpPr>
        <p:spPr>
          <a:xfrm>
            <a:off x="8595360" y="502920"/>
            <a:ext cx="2773375" cy="329184"/>
          </a:xfrm>
          <a:prstGeom prst="rect">
            <a:avLst/>
          </a:prstGeom>
          <a:noFill/>
          <a:ln/>
        </p:spPr>
        <p:txBody>
          <a:bodyPr wrap="square" rtlCol="0" anchor="ctr"/>
          <a:lstStyle/>
          <a:p>
            <a:pPr algn="ctr" indent="0" marL="0">
              <a:buNone/>
            </a:pPr>
            <a:r>
              <a:rPr lang="en-US" sz="920" b="1" dirty="0">
                <a:solidFill>
                  <a:srgbClr val="059669"/>
                </a:solidFill>
                <a:latin typeface="Arial" pitchFamily="34" charset="0"/>
                <a:ea typeface="Arial" pitchFamily="34" charset="-122"/>
                <a:cs typeface="Arial" pitchFamily="34" charset="-120"/>
              </a:rPr>
              <a:t>EDISI EKSEKUTIF RESMI</a:t>
            </a:r>
            <a:endParaRPr lang="en-US" sz="920" dirty="0"/>
          </a:p>
        </p:txBody>
      </p:sp>
      <p:sp>
        <p:nvSpPr>
          <p:cNvPr id="10" name="Text 8"/>
          <p:cNvSpPr/>
          <p:nvPr/>
        </p:nvSpPr>
        <p:spPr>
          <a:xfrm>
            <a:off x="822960" y="1051560"/>
            <a:ext cx="10545775" cy="1508760"/>
          </a:xfrm>
          <a:prstGeom prst="rect">
            <a:avLst/>
          </a:prstGeom>
          <a:noFill/>
          <a:ln/>
        </p:spPr>
        <p:txBody>
          <a:bodyPr wrap="square" rtlCol="0" anchor="ctr"/>
          <a:lstStyle/>
          <a:p>
            <a:pPr indent="0" marL="0">
              <a:lnSpc>
                <a:spcPts val="3600"/>
              </a:lnSpc>
              <a:buNone/>
            </a:pPr>
            <a:r>
              <a:rPr lang="en-US" sz="3200" b="1" dirty="0">
                <a:solidFill>
                  <a:srgbClr val="0F172A"/>
                </a:solidFill>
                <a:latin typeface="Arial" pitchFamily="34" charset="0"/>
                <a:ea typeface="Arial" pitchFamily="34" charset="-122"/>
                <a:cs typeface="Arial" pitchFamily="34" charset="-120"/>
              </a:rPr>
              <a:t>SOLO TECHNOPARK: DARI KAWASAN SAINS</a:t>
            </a:r>
            <a:endParaRPr lang="en-US" sz="3200" dirty="0"/>
          </a:p>
          <a:p>
            <a:pPr indent="0" marL="0">
              <a:lnSpc>
                <a:spcPts val="3600"/>
              </a:lnSpc>
              <a:buNone/>
            </a:pPr>
            <a:r>
              <a:rPr lang="en-US" sz="3200" b="1" dirty="0">
                <a:solidFill>
                  <a:srgbClr val="0F172A"/>
                </a:solidFill>
                <a:latin typeface="Arial" pitchFamily="34" charset="0"/>
                <a:ea typeface="Arial" pitchFamily="34" charset="-122"/>
                <a:cs typeface="Arial" pitchFamily="34" charset="-120"/>
              </a:rPr>
              <a:t>MENUJU MESIN IMPACT DAERAH</a:t>
            </a:r>
            <a:endParaRPr lang="en-US" sz="3200" dirty="0"/>
          </a:p>
        </p:txBody>
      </p:sp>
      <p:sp>
        <p:nvSpPr>
          <p:cNvPr id="11" name="Text 9"/>
          <p:cNvSpPr/>
          <p:nvPr/>
        </p:nvSpPr>
        <p:spPr>
          <a:xfrm>
            <a:off x="822960" y="2606040"/>
            <a:ext cx="10545775" cy="411480"/>
          </a:xfrm>
          <a:prstGeom prst="rect">
            <a:avLst/>
          </a:prstGeom>
          <a:noFill/>
          <a:ln/>
        </p:spPr>
        <p:txBody>
          <a:bodyPr wrap="square" rtlCol="0" anchor="ctr"/>
          <a:lstStyle/>
          <a:p>
            <a:pPr indent="0" marL="0">
              <a:buNone/>
            </a:pPr>
            <a:r>
              <a:rPr lang="en-US" sz="1250" i="1" dirty="0">
                <a:solidFill>
                  <a:srgbClr val="B45309"/>
                </a:solidFill>
                <a:latin typeface="Arial" pitchFamily="34" charset="0"/>
                <a:ea typeface="Arial" pitchFamily="34" charset="-122"/>
                <a:cs typeface="Arial" pitchFamily="34" charset="-120"/>
              </a:rPr>
              <a:t>"Roadmap Transformasi UPTD KST Surakarta: Mewujudkan Kemandirian BLUD, Hilirisasi Riset Kampus, dan Kesejahteraan Nyata Warga Kota"</a:t>
            </a:r>
            <a:endParaRPr lang="en-US" sz="1250" dirty="0"/>
          </a:p>
        </p:txBody>
      </p:sp>
      <p:sp>
        <p:nvSpPr>
          <p:cNvPr id="12" name="Shape 10"/>
          <p:cNvSpPr/>
          <p:nvPr/>
        </p:nvSpPr>
        <p:spPr>
          <a:xfrm>
            <a:off x="822960" y="3127248"/>
            <a:ext cx="2560320" cy="420624"/>
          </a:xfrm>
          <a:prstGeom prst="roundRect">
            <a:avLst>
              <a:gd name="adj" fmla="val 8696"/>
            </a:avLst>
          </a:prstGeom>
          <a:solidFill>
            <a:srgbClr val="FFFFFF"/>
          </a:solidFill>
          <a:ln w="12700">
            <a:solidFill>
              <a:srgbClr val="D97706"/>
            </a:solidFill>
            <a:prstDash val="solid"/>
          </a:ln>
        </p:spPr>
      </p:sp>
      <p:sp>
        <p:nvSpPr>
          <p:cNvPr id="13" name="Text 11"/>
          <p:cNvSpPr/>
          <p:nvPr/>
        </p:nvSpPr>
        <p:spPr>
          <a:xfrm>
            <a:off x="932688" y="3145536"/>
            <a:ext cx="1325880" cy="384048"/>
          </a:xfrm>
          <a:prstGeom prst="rect">
            <a:avLst/>
          </a:prstGeom>
          <a:noFill/>
          <a:ln/>
        </p:spPr>
        <p:txBody>
          <a:bodyPr wrap="square" rtlCol="0" anchor="ctr"/>
          <a:lstStyle/>
          <a:p>
            <a:pPr indent="0" marL="0">
              <a:buNone/>
            </a:pPr>
            <a:r>
              <a:rPr lang="en-US" sz="760" dirty="0">
                <a:solidFill>
                  <a:srgbClr val="334155"/>
                </a:solidFill>
                <a:latin typeface="Arial" pitchFamily="34" charset="0"/>
                <a:ea typeface="Arial" pitchFamily="34" charset="-122"/>
                <a:cs typeface="Arial" pitchFamily="34" charset="-120"/>
              </a:rPr>
              <a:t>Lompatan Finansial: </a:t>
            </a:r>
            <a:endParaRPr lang="en-US" sz="760" dirty="0"/>
          </a:p>
        </p:txBody>
      </p:sp>
      <p:sp>
        <p:nvSpPr>
          <p:cNvPr id="14" name="Text 12"/>
          <p:cNvSpPr/>
          <p:nvPr/>
        </p:nvSpPr>
        <p:spPr>
          <a:xfrm>
            <a:off x="2103120" y="3145536"/>
            <a:ext cx="1188720" cy="384048"/>
          </a:xfrm>
          <a:prstGeom prst="rect">
            <a:avLst/>
          </a:prstGeom>
          <a:noFill/>
          <a:ln/>
        </p:spPr>
        <p:txBody>
          <a:bodyPr wrap="square" rtlCol="0" anchor="ctr"/>
          <a:lstStyle/>
          <a:p>
            <a:pPr algn="r" indent="0" marL="0">
              <a:buNone/>
            </a:pPr>
            <a:r>
              <a:rPr lang="en-US" sz="850" b="1" dirty="0">
                <a:solidFill>
                  <a:srgbClr val="D97706"/>
                </a:solidFill>
                <a:latin typeface="Arial" pitchFamily="34" charset="0"/>
                <a:ea typeface="Arial" pitchFamily="34" charset="-122"/>
                <a:cs typeface="Arial" pitchFamily="34" charset="-120"/>
              </a:rPr>
              <a:t>+212,8% Mandiri</a:t>
            </a:r>
            <a:endParaRPr lang="en-US" sz="850" dirty="0"/>
          </a:p>
        </p:txBody>
      </p:sp>
      <p:sp>
        <p:nvSpPr>
          <p:cNvPr id="15" name="Shape 13"/>
          <p:cNvSpPr/>
          <p:nvPr/>
        </p:nvSpPr>
        <p:spPr>
          <a:xfrm>
            <a:off x="3493008" y="3127248"/>
            <a:ext cx="2560320" cy="420624"/>
          </a:xfrm>
          <a:prstGeom prst="roundRect">
            <a:avLst>
              <a:gd name="adj" fmla="val 8696"/>
            </a:avLst>
          </a:prstGeom>
          <a:solidFill>
            <a:srgbClr val="FFFFFF"/>
          </a:solidFill>
          <a:ln w="12700">
            <a:solidFill>
              <a:srgbClr val="0369A1"/>
            </a:solidFill>
            <a:prstDash val="solid"/>
          </a:ln>
        </p:spPr>
      </p:sp>
      <p:sp>
        <p:nvSpPr>
          <p:cNvPr id="16" name="Text 14"/>
          <p:cNvSpPr/>
          <p:nvPr/>
        </p:nvSpPr>
        <p:spPr>
          <a:xfrm>
            <a:off x="3602736" y="3145536"/>
            <a:ext cx="1325880" cy="384048"/>
          </a:xfrm>
          <a:prstGeom prst="rect">
            <a:avLst/>
          </a:prstGeom>
          <a:noFill/>
          <a:ln/>
        </p:spPr>
        <p:txBody>
          <a:bodyPr wrap="square" rtlCol="0" anchor="ctr"/>
          <a:lstStyle/>
          <a:p>
            <a:pPr indent="0" marL="0">
              <a:buNone/>
            </a:pPr>
            <a:r>
              <a:rPr lang="en-US" sz="760" dirty="0">
                <a:solidFill>
                  <a:srgbClr val="334155"/>
                </a:solidFill>
                <a:latin typeface="Arial" pitchFamily="34" charset="0"/>
                <a:ea typeface="Arial" pitchFamily="34" charset="-122"/>
                <a:cs typeface="Arial" pitchFamily="34" charset="-120"/>
              </a:rPr>
              <a:t>Target Pendapatan 2030: </a:t>
            </a:r>
            <a:endParaRPr lang="en-US" sz="760" dirty="0"/>
          </a:p>
        </p:txBody>
      </p:sp>
      <p:sp>
        <p:nvSpPr>
          <p:cNvPr id="17" name="Text 15"/>
          <p:cNvSpPr/>
          <p:nvPr/>
        </p:nvSpPr>
        <p:spPr>
          <a:xfrm>
            <a:off x="4773168" y="3145536"/>
            <a:ext cx="1188720" cy="384048"/>
          </a:xfrm>
          <a:prstGeom prst="rect">
            <a:avLst/>
          </a:prstGeom>
          <a:noFill/>
          <a:ln/>
        </p:spPr>
        <p:txBody>
          <a:bodyPr wrap="square" rtlCol="0" anchor="ctr"/>
          <a:lstStyle/>
          <a:p>
            <a:pPr algn="r" indent="0" marL="0">
              <a:buNone/>
            </a:pPr>
            <a:r>
              <a:rPr lang="en-US" sz="850" b="1" dirty="0">
                <a:solidFill>
                  <a:srgbClr val="0369A1"/>
                </a:solidFill>
                <a:latin typeface="Arial" pitchFamily="34" charset="0"/>
                <a:ea typeface="Arial" pitchFamily="34" charset="-122"/>
                <a:cs typeface="Arial" pitchFamily="34" charset="-120"/>
              </a:rPr>
              <a:t>Rp 23,47 Miliar</a:t>
            </a:r>
            <a:endParaRPr lang="en-US" sz="850" dirty="0"/>
          </a:p>
        </p:txBody>
      </p:sp>
      <p:sp>
        <p:nvSpPr>
          <p:cNvPr id="18" name="Shape 16"/>
          <p:cNvSpPr/>
          <p:nvPr/>
        </p:nvSpPr>
        <p:spPr>
          <a:xfrm>
            <a:off x="6163056" y="3127248"/>
            <a:ext cx="2560320" cy="420624"/>
          </a:xfrm>
          <a:prstGeom prst="roundRect">
            <a:avLst>
              <a:gd name="adj" fmla="val 8696"/>
            </a:avLst>
          </a:prstGeom>
          <a:solidFill>
            <a:srgbClr val="FFFFFF"/>
          </a:solidFill>
          <a:ln w="12700">
            <a:solidFill>
              <a:srgbClr val="059669"/>
            </a:solidFill>
            <a:prstDash val="solid"/>
          </a:ln>
        </p:spPr>
      </p:sp>
      <p:sp>
        <p:nvSpPr>
          <p:cNvPr id="19" name="Text 17"/>
          <p:cNvSpPr/>
          <p:nvPr/>
        </p:nvSpPr>
        <p:spPr>
          <a:xfrm>
            <a:off x="6272784" y="3145536"/>
            <a:ext cx="1325880" cy="384048"/>
          </a:xfrm>
          <a:prstGeom prst="rect">
            <a:avLst/>
          </a:prstGeom>
          <a:noFill/>
          <a:ln/>
        </p:spPr>
        <p:txBody>
          <a:bodyPr wrap="square" rtlCol="0" anchor="ctr"/>
          <a:lstStyle/>
          <a:p>
            <a:pPr indent="0" marL="0">
              <a:buNone/>
            </a:pPr>
            <a:r>
              <a:rPr lang="en-US" sz="760" dirty="0">
                <a:solidFill>
                  <a:srgbClr val="334155"/>
                </a:solidFill>
                <a:latin typeface="Arial" pitchFamily="34" charset="0"/>
                <a:ea typeface="Arial" pitchFamily="34" charset="-122"/>
                <a:cs typeface="Arial" pitchFamily="34" charset="-120"/>
              </a:rPr>
              <a:t>Kapasitas Pelatihan: </a:t>
            </a:r>
            <a:endParaRPr lang="en-US" sz="760" dirty="0"/>
          </a:p>
        </p:txBody>
      </p:sp>
      <p:sp>
        <p:nvSpPr>
          <p:cNvPr id="20" name="Text 18"/>
          <p:cNvSpPr/>
          <p:nvPr/>
        </p:nvSpPr>
        <p:spPr>
          <a:xfrm>
            <a:off x="7443216" y="3145536"/>
            <a:ext cx="1188720" cy="384048"/>
          </a:xfrm>
          <a:prstGeom prst="rect">
            <a:avLst/>
          </a:prstGeom>
          <a:noFill/>
          <a:ln/>
        </p:spPr>
        <p:txBody>
          <a:bodyPr wrap="square" rtlCol="0" anchor="ctr"/>
          <a:lstStyle/>
          <a:p>
            <a:pPr algn="r" indent="0" marL="0">
              <a:buNone/>
            </a:pPr>
            <a:r>
              <a:rPr lang="en-US" sz="850" b="1" dirty="0">
                <a:solidFill>
                  <a:srgbClr val="059669"/>
                </a:solidFill>
                <a:latin typeface="Arial" pitchFamily="34" charset="0"/>
                <a:ea typeface="Arial" pitchFamily="34" charset="-122"/>
                <a:cs typeface="Arial" pitchFamily="34" charset="-120"/>
              </a:rPr>
              <a:t>9.000 SDM / Tahun</a:t>
            </a:r>
            <a:endParaRPr lang="en-US" sz="850" dirty="0"/>
          </a:p>
        </p:txBody>
      </p:sp>
      <p:sp>
        <p:nvSpPr>
          <p:cNvPr id="21" name="Shape 19"/>
          <p:cNvSpPr/>
          <p:nvPr/>
        </p:nvSpPr>
        <p:spPr>
          <a:xfrm>
            <a:off x="8833104" y="3127248"/>
            <a:ext cx="2560320" cy="420624"/>
          </a:xfrm>
          <a:prstGeom prst="roundRect">
            <a:avLst>
              <a:gd name="adj" fmla="val 8696"/>
            </a:avLst>
          </a:prstGeom>
          <a:solidFill>
            <a:srgbClr val="FFFFFF"/>
          </a:solidFill>
          <a:ln w="12700">
            <a:solidFill>
              <a:srgbClr val="7C3AED"/>
            </a:solidFill>
            <a:prstDash val="solid"/>
          </a:ln>
        </p:spPr>
      </p:sp>
      <p:sp>
        <p:nvSpPr>
          <p:cNvPr id="22" name="Text 20"/>
          <p:cNvSpPr/>
          <p:nvPr/>
        </p:nvSpPr>
        <p:spPr>
          <a:xfrm>
            <a:off x="8942832" y="3145536"/>
            <a:ext cx="1325880" cy="384048"/>
          </a:xfrm>
          <a:prstGeom prst="rect">
            <a:avLst/>
          </a:prstGeom>
          <a:noFill/>
          <a:ln/>
        </p:spPr>
        <p:txBody>
          <a:bodyPr wrap="square" rtlCol="0" anchor="ctr"/>
          <a:lstStyle/>
          <a:p>
            <a:pPr indent="0" marL="0">
              <a:buNone/>
            </a:pPr>
            <a:r>
              <a:rPr lang="en-US" sz="760" dirty="0">
                <a:solidFill>
                  <a:srgbClr val="334155"/>
                </a:solidFill>
                <a:latin typeface="Arial" pitchFamily="34" charset="0"/>
                <a:ea typeface="Arial" pitchFamily="34" charset="-122"/>
                <a:cs typeface="Arial" pitchFamily="34" charset="-120"/>
              </a:rPr>
              <a:t>Kemitraan Industri Global: </a:t>
            </a:r>
            <a:endParaRPr lang="en-US" sz="760" dirty="0"/>
          </a:p>
        </p:txBody>
      </p:sp>
      <p:sp>
        <p:nvSpPr>
          <p:cNvPr id="23" name="Text 21"/>
          <p:cNvSpPr/>
          <p:nvPr/>
        </p:nvSpPr>
        <p:spPr>
          <a:xfrm>
            <a:off x="10113264" y="3145536"/>
            <a:ext cx="1188720" cy="384048"/>
          </a:xfrm>
          <a:prstGeom prst="rect">
            <a:avLst/>
          </a:prstGeom>
          <a:noFill/>
          <a:ln/>
        </p:spPr>
        <p:txBody>
          <a:bodyPr wrap="square" rtlCol="0" anchor="ctr"/>
          <a:lstStyle/>
          <a:p>
            <a:pPr algn="r" indent="0" marL="0">
              <a:buNone/>
            </a:pPr>
            <a:r>
              <a:rPr lang="en-US" sz="850" b="1" dirty="0">
                <a:solidFill>
                  <a:srgbClr val="7C3AED"/>
                </a:solidFill>
                <a:latin typeface="Arial" pitchFamily="34" charset="0"/>
                <a:ea typeface="Arial" pitchFamily="34" charset="-122"/>
                <a:cs typeface="Arial" pitchFamily="34" charset="-120"/>
              </a:rPr>
              <a:t>95+ Korporasi</a:t>
            </a:r>
            <a:endParaRPr lang="en-US" sz="850" dirty="0"/>
          </a:p>
        </p:txBody>
      </p:sp>
      <p:sp>
        <p:nvSpPr>
          <p:cNvPr id="24" name="Shape 22"/>
          <p:cNvSpPr/>
          <p:nvPr/>
        </p:nvSpPr>
        <p:spPr>
          <a:xfrm>
            <a:off x="822960" y="3675888"/>
            <a:ext cx="10545775" cy="18288"/>
          </a:xfrm>
          <a:prstGeom prst="rect">
            <a:avLst/>
          </a:prstGeom>
          <a:solidFill>
            <a:srgbClr val="CBD5E1"/>
          </a:solidFill>
          <a:ln/>
        </p:spPr>
      </p:sp>
      <p:sp>
        <p:nvSpPr>
          <p:cNvPr id="25" name="Shape 23"/>
          <p:cNvSpPr/>
          <p:nvPr/>
        </p:nvSpPr>
        <p:spPr>
          <a:xfrm>
            <a:off x="822960" y="3822192"/>
            <a:ext cx="3337560" cy="2148840"/>
          </a:xfrm>
          <a:prstGeom prst="roundRect">
            <a:avLst>
              <a:gd name="adj" fmla="val 3404"/>
            </a:avLst>
          </a:prstGeom>
          <a:solidFill>
            <a:srgbClr val="FFFFFF"/>
          </a:solidFill>
          <a:ln w="12700">
            <a:solidFill>
              <a:srgbClr val="CBD5E1"/>
            </a:solidFill>
            <a:prstDash val="solid"/>
          </a:ln>
        </p:spPr>
      </p:sp>
      <p:sp>
        <p:nvSpPr>
          <p:cNvPr id="26" name="Shape 24"/>
          <p:cNvSpPr/>
          <p:nvPr/>
        </p:nvSpPr>
        <p:spPr>
          <a:xfrm>
            <a:off x="822960" y="3822192"/>
            <a:ext cx="73152" cy="2148840"/>
          </a:xfrm>
          <a:prstGeom prst="roundRect">
            <a:avLst>
              <a:gd name="adj" fmla="val 50000"/>
            </a:avLst>
          </a:prstGeom>
          <a:solidFill>
            <a:srgbClr val="0284C7"/>
          </a:solidFill>
          <a:ln w="12700">
            <a:solidFill>
              <a:srgbClr val="0284C7"/>
            </a:solidFill>
            <a:prstDash val="solid"/>
          </a:ln>
        </p:spPr>
      </p:sp>
      <p:sp>
        <p:nvSpPr>
          <p:cNvPr id="27" name="Text 25"/>
          <p:cNvSpPr/>
          <p:nvPr/>
        </p:nvSpPr>
        <p:spPr>
          <a:xfrm>
            <a:off x="1005840" y="3931920"/>
            <a:ext cx="2971800" cy="256032"/>
          </a:xfrm>
          <a:prstGeom prst="rect">
            <a:avLst/>
          </a:prstGeom>
          <a:noFill/>
          <a:ln/>
        </p:spPr>
        <p:txBody>
          <a:bodyPr wrap="square" rtlCol="0" anchor="ctr"/>
          <a:lstStyle/>
          <a:p>
            <a:pPr indent="0" marL="0">
              <a:buNone/>
            </a:pPr>
            <a:r>
              <a:rPr lang="en-US" sz="950" b="1" dirty="0">
                <a:solidFill>
                  <a:srgbClr val="0284C7"/>
                </a:solidFill>
                <a:latin typeface="Arial" pitchFamily="34" charset="0"/>
                <a:ea typeface="Arial" pitchFamily="34" charset="-122"/>
                <a:cs typeface="Arial" pitchFamily="34" charset="-120"/>
              </a:rPr>
              <a:t>🎯  PARADIGMA BARU</a:t>
            </a:r>
            <a:endParaRPr lang="en-US" sz="950" dirty="0"/>
          </a:p>
        </p:txBody>
      </p:sp>
      <p:sp>
        <p:nvSpPr>
          <p:cNvPr id="28" name="Text 26"/>
          <p:cNvSpPr/>
          <p:nvPr/>
        </p:nvSpPr>
        <p:spPr>
          <a:xfrm>
            <a:off x="1005840" y="4187952"/>
            <a:ext cx="2971800" cy="292608"/>
          </a:xfrm>
          <a:prstGeom prst="rect">
            <a:avLst/>
          </a:prstGeom>
          <a:noFill/>
          <a:ln/>
        </p:spPr>
        <p:txBody>
          <a:bodyPr wrap="square" rtlCol="0" anchor="ctr"/>
          <a:lstStyle/>
          <a:p>
            <a:pPr indent="0" marL="0">
              <a:buNone/>
            </a:pPr>
            <a:r>
              <a:rPr lang="en-US" sz="1200" b="1" dirty="0">
                <a:solidFill>
                  <a:srgbClr val="0F172A"/>
                </a:solidFill>
                <a:latin typeface="Arial" pitchFamily="34" charset="0"/>
                <a:ea typeface="Arial" pitchFamily="34" charset="-122"/>
                <a:cs typeface="Arial" pitchFamily="34" charset="-120"/>
              </a:rPr>
              <a:t>Bukan Sekadar Gedung Fisik</a:t>
            </a:r>
            <a:endParaRPr lang="en-US" sz="1200" dirty="0"/>
          </a:p>
        </p:txBody>
      </p:sp>
      <p:sp>
        <p:nvSpPr>
          <p:cNvPr id="29" name="Text 27"/>
          <p:cNvSpPr/>
          <p:nvPr/>
        </p:nvSpPr>
        <p:spPr>
          <a:xfrm>
            <a:off x="1005840" y="4517136"/>
            <a:ext cx="2971800" cy="1051560"/>
          </a:xfrm>
          <a:prstGeom prst="rect">
            <a:avLst/>
          </a:prstGeom>
          <a:noFill/>
          <a:ln/>
        </p:spPr>
        <p:txBody>
          <a:bodyPr wrap="square" rtlCol="0" anchor="ctr"/>
          <a:lstStyle/>
          <a:p>
            <a:pPr indent="0" marL="0">
              <a:lnSpc>
                <a:spcPts val="1300"/>
              </a:lnSpc>
              <a:buNone/>
            </a:pPr>
            <a:r>
              <a:rPr lang="en-US" sz="920" dirty="0">
                <a:solidFill>
                  <a:srgbClr val="334155"/>
                </a:solidFill>
                <a:latin typeface="Arial" pitchFamily="34" charset="0"/>
                <a:ea typeface="Arial" pitchFamily="34" charset="-122"/>
                <a:cs typeface="Arial" pitchFamily="34" charset="-120"/>
              </a:rPr>
              <a:t>Beralih dari pengelola sewa lahan menjadi DELIVERY UNIT inovasi BRIDA yang menghasilkan IMPACT nyata bagi masyarakat dan industri.</a:t>
            </a:r>
            <a:endParaRPr lang="en-US" sz="920" dirty="0"/>
          </a:p>
        </p:txBody>
      </p:sp>
      <p:sp>
        <p:nvSpPr>
          <p:cNvPr id="30" name="Shape 28"/>
          <p:cNvSpPr/>
          <p:nvPr/>
        </p:nvSpPr>
        <p:spPr>
          <a:xfrm>
            <a:off x="1005840" y="5632704"/>
            <a:ext cx="2971800" cy="237744"/>
          </a:xfrm>
          <a:prstGeom prst="roundRect">
            <a:avLst>
              <a:gd name="adj" fmla="val 11538"/>
            </a:avLst>
          </a:prstGeom>
          <a:solidFill>
            <a:srgbClr val="F1F5F9"/>
          </a:solidFill>
          <a:ln w="10160">
            <a:solidFill>
              <a:srgbClr val="0284C7"/>
            </a:solidFill>
            <a:prstDash val="solid"/>
          </a:ln>
        </p:spPr>
      </p:sp>
      <p:sp>
        <p:nvSpPr>
          <p:cNvPr id="31" name="Text 29"/>
          <p:cNvSpPr/>
          <p:nvPr/>
        </p:nvSpPr>
        <p:spPr>
          <a:xfrm>
            <a:off x="1005840" y="5632704"/>
            <a:ext cx="2971800" cy="237744"/>
          </a:xfrm>
          <a:prstGeom prst="rect">
            <a:avLst/>
          </a:prstGeom>
          <a:noFill/>
          <a:ln/>
        </p:spPr>
        <p:txBody>
          <a:bodyPr wrap="square" rtlCol="0" anchor="ctr"/>
          <a:lstStyle/>
          <a:p>
            <a:pPr algn="ctr" indent="0" marL="0">
              <a:buNone/>
            </a:pPr>
            <a:r>
              <a:rPr lang="en-US" sz="780" b="1" dirty="0">
                <a:solidFill>
                  <a:srgbClr val="0284C7"/>
                </a:solidFill>
                <a:latin typeface="Arial" pitchFamily="34" charset="0"/>
                <a:ea typeface="Arial" pitchFamily="34" charset="-122"/>
                <a:cs typeface="Arial" pitchFamily="34" charset="-120"/>
              </a:rPr>
              <a:t>⭐ PILAR STRATEGIS: DELIVERY UNIT BRIDA</a:t>
            </a:r>
            <a:endParaRPr lang="en-US" sz="780" dirty="0"/>
          </a:p>
        </p:txBody>
      </p:sp>
      <p:sp>
        <p:nvSpPr>
          <p:cNvPr id="32" name="Shape 30"/>
          <p:cNvSpPr/>
          <p:nvPr/>
        </p:nvSpPr>
        <p:spPr>
          <a:xfrm>
            <a:off x="4425696" y="3822192"/>
            <a:ext cx="3337560" cy="2148840"/>
          </a:xfrm>
          <a:prstGeom prst="roundRect">
            <a:avLst>
              <a:gd name="adj" fmla="val 3404"/>
            </a:avLst>
          </a:prstGeom>
          <a:solidFill>
            <a:srgbClr val="FFFFFF"/>
          </a:solidFill>
          <a:ln w="12700">
            <a:solidFill>
              <a:srgbClr val="CBD5E1"/>
            </a:solidFill>
            <a:prstDash val="solid"/>
          </a:ln>
        </p:spPr>
      </p:sp>
      <p:sp>
        <p:nvSpPr>
          <p:cNvPr id="33" name="Shape 31"/>
          <p:cNvSpPr/>
          <p:nvPr/>
        </p:nvSpPr>
        <p:spPr>
          <a:xfrm>
            <a:off x="4425696" y="3822192"/>
            <a:ext cx="73152" cy="2148840"/>
          </a:xfrm>
          <a:prstGeom prst="roundRect">
            <a:avLst>
              <a:gd name="adj" fmla="val 50000"/>
            </a:avLst>
          </a:prstGeom>
          <a:solidFill>
            <a:srgbClr val="D97706"/>
          </a:solidFill>
          <a:ln w="12700">
            <a:solidFill>
              <a:srgbClr val="D97706"/>
            </a:solidFill>
            <a:prstDash val="solid"/>
          </a:ln>
        </p:spPr>
      </p:sp>
      <p:sp>
        <p:nvSpPr>
          <p:cNvPr id="34" name="Text 32"/>
          <p:cNvSpPr/>
          <p:nvPr/>
        </p:nvSpPr>
        <p:spPr>
          <a:xfrm>
            <a:off x="4608576" y="3931920"/>
            <a:ext cx="2971800" cy="256032"/>
          </a:xfrm>
          <a:prstGeom prst="rect">
            <a:avLst/>
          </a:prstGeom>
          <a:noFill/>
          <a:ln/>
        </p:spPr>
        <p:txBody>
          <a:bodyPr wrap="square" rtlCol="0" anchor="ctr"/>
          <a:lstStyle/>
          <a:p>
            <a:pPr indent="0" marL="0">
              <a:buNone/>
            </a:pPr>
            <a:r>
              <a:rPr lang="en-US" sz="950" b="1" dirty="0">
                <a:solidFill>
                  <a:srgbClr val="D97706"/>
                </a:solidFill>
                <a:latin typeface="Arial" pitchFamily="34" charset="0"/>
                <a:ea typeface="Arial" pitchFamily="34" charset="-122"/>
                <a:cs typeface="Arial" pitchFamily="34" charset="-120"/>
              </a:rPr>
              <a:t>💡  KEMANDIRIAN PENUH</a:t>
            </a:r>
            <a:endParaRPr lang="en-US" sz="950" dirty="0"/>
          </a:p>
        </p:txBody>
      </p:sp>
      <p:sp>
        <p:nvSpPr>
          <p:cNvPr id="35" name="Text 33"/>
          <p:cNvSpPr/>
          <p:nvPr/>
        </p:nvSpPr>
        <p:spPr>
          <a:xfrm>
            <a:off x="4608576" y="4187952"/>
            <a:ext cx="2971800" cy="292608"/>
          </a:xfrm>
          <a:prstGeom prst="rect">
            <a:avLst/>
          </a:prstGeom>
          <a:noFill/>
          <a:ln/>
        </p:spPr>
        <p:txBody>
          <a:bodyPr wrap="square" rtlCol="0" anchor="ctr"/>
          <a:lstStyle/>
          <a:p>
            <a:pPr indent="0" marL="0">
              <a:buNone/>
            </a:pPr>
            <a:r>
              <a:rPr lang="en-US" sz="1200" b="1" dirty="0">
                <a:solidFill>
                  <a:srgbClr val="0F172A"/>
                </a:solidFill>
                <a:latin typeface="Arial" pitchFamily="34" charset="0"/>
                <a:ea typeface="Arial" pitchFamily="34" charset="-122"/>
                <a:cs typeface="Arial" pitchFamily="34" charset="-120"/>
              </a:rPr>
              <a:t>BLUD Mandiri Tanpa APBD</a:t>
            </a:r>
            <a:endParaRPr lang="en-US" sz="1200" dirty="0"/>
          </a:p>
        </p:txBody>
      </p:sp>
      <p:sp>
        <p:nvSpPr>
          <p:cNvPr id="36" name="Text 34"/>
          <p:cNvSpPr/>
          <p:nvPr/>
        </p:nvSpPr>
        <p:spPr>
          <a:xfrm>
            <a:off x="4608576" y="4517136"/>
            <a:ext cx="2971800" cy="1051560"/>
          </a:xfrm>
          <a:prstGeom prst="rect">
            <a:avLst/>
          </a:prstGeom>
          <a:noFill/>
          <a:ln/>
        </p:spPr>
        <p:txBody>
          <a:bodyPr wrap="square" rtlCol="0" anchor="ctr"/>
          <a:lstStyle/>
          <a:p>
            <a:pPr indent="0" marL="0">
              <a:lnSpc>
                <a:spcPts val="1300"/>
              </a:lnSpc>
              <a:buNone/>
            </a:pPr>
            <a:r>
              <a:rPr lang="en-US" sz="920" dirty="0">
                <a:solidFill>
                  <a:srgbClr val="334155"/>
                </a:solidFill>
                <a:latin typeface="Arial" pitchFamily="34" charset="0"/>
                <a:ea typeface="Arial" pitchFamily="34" charset="-122"/>
                <a:cs typeface="Arial" pitchFamily="34" charset="-120"/>
              </a:rPr>
              <a:t>Lompatan pendapatan terukur dari Rp 7,50 M (2026) menuju Rp 23,47 M (2030) — tumbuh +212,8% dengan 0% subsidi kas daerah.</a:t>
            </a:r>
            <a:endParaRPr lang="en-US" sz="920" dirty="0"/>
          </a:p>
        </p:txBody>
      </p:sp>
      <p:sp>
        <p:nvSpPr>
          <p:cNvPr id="37" name="Shape 35"/>
          <p:cNvSpPr/>
          <p:nvPr/>
        </p:nvSpPr>
        <p:spPr>
          <a:xfrm>
            <a:off x="4608576" y="5632704"/>
            <a:ext cx="2971800" cy="237744"/>
          </a:xfrm>
          <a:prstGeom prst="roundRect">
            <a:avLst>
              <a:gd name="adj" fmla="val 11538"/>
            </a:avLst>
          </a:prstGeom>
          <a:solidFill>
            <a:srgbClr val="F1F5F9"/>
          </a:solidFill>
          <a:ln w="10160">
            <a:solidFill>
              <a:srgbClr val="D97706"/>
            </a:solidFill>
            <a:prstDash val="solid"/>
          </a:ln>
        </p:spPr>
      </p:sp>
      <p:sp>
        <p:nvSpPr>
          <p:cNvPr id="38" name="Text 36"/>
          <p:cNvSpPr/>
          <p:nvPr/>
        </p:nvSpPr>
        <p:spPr>
          <a:xfrm>
            <a:off x="4608576" y="5632704"/>
            <a:ext cx="2971800" cy="237744"/>
          </a:xfrm>
          <a:prstGeom prst="rect">
            <a:avLst/>
          </a:prstGeom>
          <a:noFill/>
          <a:ln/>
        </p:spPr>
        <p:txBody>
          <a:bodyPr wrap="square" rtlCol="0" anchor="ctr"/>
          <a:lstStyle/>
          <a:p>
            <a:pPr algn="ctr" indent="0" marL="0">
              <a:buNone/>
            </a:pPr>
            <a:r>
              <a:rPr lang="en-US" sz="780" b="1" dirty="0">
                <a:solidFill>
                  <a:srgbClr val="D97706"/>
                </a:solidFill>
                <a:latin typeface="Arial" pitchFamily="34" charset="0"/>
                <a:ea typeface="Arial" pitchFamily="34" charset="-122"/>
                <a:cs typeface="Arial" pitchFamily="34" charset="-120"/>
              </a:rPr>
              <a:t>⭐ PILAR STRATEGIS: 0% SUBSIDI 2030</a:t>
            </a:r>
            <a:endParaRPr lang="en-US" sz="780" dirty="0"/>
          </a:p>
        </p:txBody>
      </p:sp>
      <p:sp>
        <p:nvSpPr>
          <p:cNvPr id="39" name="Shape 37"/>
          <p:cNvSpPr/>
          <p:nvPr/>
        </p:nvSpPr>
        <p:spPr>
          <a:xfrm>
            <a:off x="8028432" y="3822192"/>
            <a:ext cx="3337560" cy="2148840"/>
          </a:xfrm>
          <a:prstGeom prst="roundRect">
            <a:avLst>
              <a:gd name="adj" fmla="val 3404"/>
            </a:avLst>
          </a:prstGeom>
          <a:solidFill>
            <a:srgbClr val="FFFFFF"/>
          </a:solidFill>
          <a:ln w="12700">
            <a:solidFill>
              <a:srgbClr val="CBD5E1"/>
            </a:solidFill>
            <a:prstDash val="solid"/>
          </a:ln>
        </p:spPr>
      </p:sp>
      <p:sp>
        <p:nvSpPr>
          <p:cNvPr id="40" name="Shape 38"/>
          <p:cNvSpPr/>
          <p:nvPr/>
        </p:nvSpPr>
        <p:spPr>
          <a:xfrm>
            <a:off x="8028432" y="3822192"/>
            <a:ext cx="73152" cy="2148840"/>
          </a:xfrm>
          <a:prstGeom prst="roundRect">
            <a:avLst>
              <a:gd name="adj" fmla="val 50000"/>
            </a:avLst>
          </a:prstGeom>
          <a:solidFill>
            <a:srgbClr val="059669"/>
          </a:solidFill>
          <a:ln w="12700">
            <a:solidFill>
              <a:srgbClr val="059669"/>
            </a:solidFill>
            <a:prstDash val="solid"/>
          </a:ln>
        </p:spPr>
      </p:sp>
      <p:sp>
        <p:nvSpPr>
          <p:cNvPr id="41" name="Text 39"/>
          <p:cNvSpPr/>
          <p:nvPr/>
        </p:nvSpPr>
        <p:spPr>
          <a:xfrm>
            <a:off x="8211312" y="3931920"/>
            <a:ext cx="2971800" cy="256032"/>
          </a:xfrm>
          <a:prstGeom prst="rect">
            <a:avLst/>
          </a:prstGeom>
          <a:noFill/>
          <a:ln/>
        </p:spPr>
        <p:txBody>
          <a:bodyPr wrap="square" rtlCol="0" anchor="ctr"/>
          <a:lstStyle/>
          <a:p>
            <a:pPr indent="0" marL="0">
              <a:buNone/>
            </a:pPr>
            <a:r>
              <a:rPr lang="en-US" sz="950" b="1" dirty="0">
                <a:solidFill>
                  <a:srgbClr val="059669"/>
                </a:solidFill>
                <a:latin typeface="Arial" pitchFamily="34" charset="0"/>
                <a:ea typeface="Arial" pitchFamily="34" charset="-122"/>
                <a:cs typeface="Arial" pitchFamily="34" charset="-120"/>
              </a:rPr>
              <a:t>🌐  HEXAHELIX &amp; DAMPAK</a:t>
            </a:r>
            <a:endParaRPr lang="en-US" sz="950" dirty="0"/>
          </a:p>
        </p:txBody>
      </p:sp>
      <p:sp>
        <p:nvSpPr>
          <p:cNvPr id="42" name="Text 40"/>
          <p:cNvSpPr/>
          <p:nvPr/>
        </p:nvSpPr>
        <p:spPr>
          <a:xfrm>
            <a:off x="8211312" y="4187952"/>
            <a:ext cx="2971800" cy="292608"/>
          </a:xfrm>
          <a:prstGeom prst="rect">
            <a:avLst/>
          </a:prstGeom>
          <a:noFill/>
          <a:ln/>
        </p:spPr>
        <p:txBody>
          <a:bodyPr wrap="square" rtlCol="0" anchor="ctr"/>
          <a:lstStyle/>
          <a:p>
            <a:pPr indent="0" marL="0">
              <a:buNone/>
            </a:pPr>
            <a:r>
              <a:rPr lang="en-US" sz="1200" b="1" dirty="0">
                <a:solidFill>
                  <a:srgbClr val="0F172A"/>
                </a:solidFill>
                <a:latin typeface="Arial" pitchFamily="34" charset="0"/>
                <a:ea typeface="Arial" pitchFamily="34" charset="-122"/>
                <a:cs typeface="Arial" pitchFamily="34" charset="-120"/>
              </a:rPr>
              <a:t>95+ Mitra Korporasi Dunia</a:t>
            </a:r>
            <a:endParaRPr lang="en-US" sz="1200" dirty="0"/>
          </a:p>
        </p:txBody>
      </p:sp>
      <p:sp>
        <p:nvSpPr>
          <p:cNvPr id="43" name="Text 41"/>
          <p:cNvSpPr/>
          <p:nvPr/>
        </p:nvSpPr>
        <p:spPr>
          <a:xfrm>
            <a:off x="8211312" y="4517136"/>
            <a:ext cx="2971800" cy="1051560"/>
          </a:xfrm>
          <a:prstGeom prst="rect">
            <a:avLst/>
          </a:prstGeom>
          <a:noFill/>
          <a:ln/>
        </p:spPr>
        <p:txBody>
          <a:bodyPr wrap="square" rtlCol="0" anchor="ctr"/>
          <a:lstStyle/>
          <a:p>
            <a:pPr indent="0" marL="0">
              <a:lnSpc>
                <a:spcPts val="1300"/>
              </a:lnSpc>
              <a:buNone/>
            </a:pPr>
            <a:r>
              <a:rPr lang="en-US" sz="920" dirty="0">
                <a:solidFill>
                  <a:srgbClr val="334155"/>
                </a:solidFill>
                <a:latin typeface="Arial" pitchFamily="34" charset="0"/>
                <a:ea typeface="Arial" pitchFamily="34" charset="-122"/>
                <a:cs typeface="Arial" pitchFamily="34" charset="-120"/>
              </a:rPr>
              <a:t>Investasi swasta murni berkolaborasi menyerap 9.000 tenaga kerja dengan komitmen afirmasi minimal 65% warga KTP Surakarta.</a:t>
            </a:r>
            <a:endParaRPr lang="en-US" sz="920" dirty="0"/>
          </a:p>
        </p:txBody>
      </p:sp>
      <p:sp>
        <p:nvSpPr>
          <p:cNvPr id="44" name="Shape 42"/>
          <p:cNvSpPr/>
          <p:nvPr/>
        </p:nvSpPr>
        <p:spPr>
          <a:xfrm>
            <a:off x="8211312" y="5632704"/>
            <a:ext cx="2971800" cy="237744"/>
          </a:xfrm>
          <a:prstGeom prst="roundRect">
            <a:avLst>
              <a:gd name="adj" fmla="val 11538"/>
            </a:avLst>
          </a:prstGeom>
          <a:solidFill>
            <a:srgbClr val="F1F5F9"/>
          </a:solidFill>
          <a:ln w="10160">
            <a:solidFill>
              <a:srgbClr val="059669"/>
            </a:solidFill>
            <a:prstDash val="solid"/>
          </a:ln>
        </p:spPr>
      </p:sp>
      <p:sp>
        <p:nvSpPr>
          <p:cNvPr id="45" name="Text 43"/>
          <p:cNvSpPr/>
          <p:nvPr/>
        </p:nvSpPr>
        <p:spPr>
          <a:xfrm>
            <a:off x="8211312" y="5632704"/>
            <a:ext cx="2971800" cy="237744"/>
          </a:xfrm>
          <a:prstGeom prst="rect">
            <a:avLst/>
          </a:prstGeom>
          <a:noFill/>
          <a:ln/>
        </p:spPr>
        <p:txBody>
          <a:bodyPr wrap="square" rtlCol="0" anchor="ctr"/>
          <a:lstStyle/>
          <a:p>
            <a:pPr algn="ctr" indent="0" marL="0">
              <a:buNone/>
            </a:pPr>
            <a:r>
              <a:rPr lang="en-US" sz="780" b="1" dirty="0">
                <a:solidFill>
                  <a:srgbClr val="059669"/>
                </a:solidFill>
                <a:latin typeface="Arial" pitchFamily="34" charset="0"/>
                <a:ea typeface="Arial" pitchFamily="34" charset="-122"/>
                <a:cs typeface="Arial" pitchFamily="34" charset="-120"/>
              </a:rPr>
              <a:t>⭐ PILAR STRATEGIS: 65% AFIRMASI KTP SOLO</a:t>
            </a:r>
            <a:endParaRPr lang="en-US" sz="780" dirty="0"/>
          </a:p>
        </p:txBody>
      </p:sp>
      <p:sp>
        <p:nvSpPr>
          <p:cNvPr id="46" name="Text 44"/>
          <p:cNvSpPr/>
          <p:nvPr/>
        </p:nvSpPr>
        <p:spPr>
          <a:xfrm>
            <a:off x="822960" y="6345936"/>
            <a:ext cx="10545775" cy="274320"/>
          </a:xfrm>
          <a:prstGeom prst="rect">
            <a:avLst/>
          </a:prstGeom>
          <a:noFill/>
          <a:ln/>
        </p:spPr>
        <p:txBody>
          <a:bodyPr wrap="square" rtlCol="0" anchor="ctr"/>
          <a:lstStyle/>
          <a:p>
            <a:pPr algn="ctr" indent="0" marL="0">
              <a:buNone/>
            </a:pPr>
            <a:r>
              <a:rPr lang="en-US" sz="880" dirty="0">
                <a:solidFill>
                  <a:srgbClr val="334155"/>
                </a:solidFill>
                <a:latin typeface="Arial" pitchFamily="34" charset="0"/>
                <a:ea typeface="Arial" pitchFamily="34" charset="-122"/>
                <a:cs typeface="Arial" pitchFamily="34" charset="-120"/>
              </a:rPr>
              <a:t>Disampaikan oleh: Kepala UPTD KST Solo Technopark  •  Didampingi: Kepala BRIDA Kota Surakarta  •  Surakarta, 2026</a:t>
            </a:r>
            <a:endParaRPr lang="en-US" sz="8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84C7"/>
          </a:solidFill>
          <a:ln/>
        </p:spPr>
      </p:sp>
      <p:sp>
        <p:nvSpPr>
          <p:cNvPr id="3" name="Shape 1"/>
          <p:cNvSpPr/>
          <p:nvPr/>
        </p:nvSpPr>
        <p:spPr>
          <a:xfrm>
            <a:off x="9144000" y="0"/>
            <a:ext cx="3047695" cy="73152"/>
          </a:xfrm>
          <a:prstGeom prst="rect">
            <a:avLst/>
          </a:prstGeom>
          <a:solidFill>
            <a:srgbClr val="D97706"/>
          </a:solidFill>
          <a:ln/>
        </p:spPr>
      </p:sp>
      <p:sp>
        <p:nvSpPr>
          <p:cNvPr id="4" name="Shape 2"/>
          <p:cNvSpPr/>
          <p:nvPr/>
        </p:nvSpPr>
        <p:spPr>
          <a:xfrm>
            <a:off x="731520" y="256032"/>
            <a:ext cx="3291840" cy="237744"/>
          </a:xfrm>
          <a:prstGeom prst="roundRect">
            <a:avLst>
              <a:gd name="adj" fmla="val 19231"/>
            </a:avLst>
          </a:prstGeom>
          <a:solidFill>
            <a:srgbClr val="E0F2FE"/>
          </a:solidFill>
          <a:ln w="12700">
            <a:solidFill>
              <a:srgbClr val="0284C7"/>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0369A1"/>
                </a:solidFill>
                <a:latin typeface="Arial" pitchFamily="34" charset="0"/>
                <a:ea typeface="Arial" pitchFamily="34" charset="-122"/>
                <a:cs typeface="Arial" pitchFamily="34" charset="-120"/>
              </a:rPr>
              <a:t>TATA KELOLA PEMERINTAHAN &amp; KELEMBAGAAN</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0F172A"/>
                </a:solidFill>
                <a:latin typeface="Arial" pitchFamily="34" charset="0"/>
                <a:ea typeface="Arial" pitchFamily="34" charset="-122"/>
                <a:cs typeface="Arial" pitchFamily="34" charset="-120"/>
              </a:rPr>
              <a:t>KEDUDUKAN KELEMBAGAAN &amp; RANTAI DAMPAK (CHAIN OF IMPACT)</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334155"/>
                </a:solidFill>
                <a:latin typeface="Arial" pitchFamily="34" charset="0"/>
                <a:ea typeface="Arial" pitchFamily="34" charset="-122"/>
                <a:cs typeface="Arial" pitchFamily="34" charset="-120"/>
              </a:rPr>
              <a:t>Arsitektur Nilai: BRIDA sebagai Otak Kebijakan, STP sebagai Tangan Eksekutor, Warga &amp; Industri sebagai Penerima Dampak</a:t>
            </a:r>
            <a:endParaRPr lang="en-US" sz="1000" dirty="0"/>
          </a:p>
        </p:txBody>
      </p:sp>
      <p:sp>
        <p:nvSpPr>
          <p:cNvPr id="8" name="Shape 6"/>
          <p:cNvSpPr/>
          <p:nvPr/>
        </p:nvSpPr>
        <p:spPr>
          <a:xfrm>
            <a:off x="731520" y="6419088"/>
            <a:ext cx="10728655" cy="18288"/>
          </a:xfrm>
          <a:prstGeom prst="rect">
            <a:avLst/>
          </a:prstGeom>
          <a:solidFill>
            <a:srgbClr val="CBD5E1"/>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334155"/>
                </a:solidFill>
                <a:latin typeface="Arial" pitchFamily="34" charset="0"/>
                <a:ea typeface="Arial" pitchFamily="34" charset="-122"/>
                <a:cs typeface="Arial" pitchFamily="34" charset="-120"/>
              </a:rPr>
              <a:t>UPTD KST SOLO TECHNOPARK  |  BRIDA KOTA SURAKARTA  •  Bahan Paparan Resmi Walikota (Edisi V7 Light)</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0369A1"/>
                </a:solidFill>
                <a:latin typeface="Arial" pitchFamily="34" charset="0"/>
                <a:ea typeface="Arial" pitchFamily="34" charset="-122"/>
                <a:cs typeface="Arial" pitchFamily="34" charset="-120"/>
              </a:rPr>
              <a:t>Slide 02 / 12</a:t>
            </a:r>
            <a:endParaRPr lang="en-US" sz="900" dirty="0"/>
          </a:p>
        </p:txBody>
      </p:sp>
      <p:sp>
        <p:nvSpPr>
          <p:cNvPr id="11" name="Shape 9"/>
          <p:cNvSpPr/>
          <p:nvPr/>
        </p:nvSpPr>
        <p:spPr>
          <a:xfrm>
            <a:off x="731520" y="1325880"/>
            <a:ext cx="3200400" cy="3977640"/>
          </a:xfrm>
          <a:prstGeom prst="roundRect">
            <a:avLst>
              <a:gd name="adj" fmla="val 2286"/>
            </a:avLst>
          </a:prstGeom>
          <a:solidFill>
            <a:srgbClr val="FFFFFF"/>
          </a:solidFill>
          <a:ln w="12700">
            <a:solidFill>
              <a:srgbClr val="CBD5E1"/>
            </a:solidFill>
            <a:prstDash val="solid"/>
          </a:ln>
        </p:spPr>
      </p:sp>
      <p:sp>
        <p:nvSpPr>
          <p:cNvPr id="12" name="Shape 10"/>
          <p:cNvSpPr/>
          <p:nvPr/>
        </p:nvSpPr>
        <p:spPr>
          <a:xfrm>
            <a:off x="731520" y="1325880"/>
            <a:ext cx="73152" cy="3977640"/>
          </a:xfrm>
          <a:prstGeom prst="roundRect">
            <a:avLst>
              <a:gd name="adj" fmla="val 50000"/>
            </a:avLst>
          </a:prstGeom>
          <a:solidFill>
            <a:srgbClr val="0284C7"/>
          </a:solidFill>
          <a:ln w="12700">
            <a:solidFill>
              <a:srgbClr val="0284C7"/>
            </a:solidFill>
            <a:prstDash val="solid"/>
          </a:ln>
        </p:spPr>
      </p:sp>
      <p:sp>
        <p:nvSpPr>
          <p:cNvPr id="13" name="Shape 11"/>
          <p:cNvSpPr/>
          <p:nvPr/>
        </p:nvSpPr>
        <p:spPr>
          <a:xfrm>
            <a:off x="868680" y="1463040"/>
            <a:ext cx="2926080" cy="320040"/>
          </a:xfrm>
          <a:prstGeom prst="roundRect">
            <a:avLst>
              <a:gd name="adj" fmla="val 11429"/>
            </a:avLst>
          </a:prstGeom>
          <a:solidFill>
            <a:srgbClr val="F1F5F9"/>
          </a:solidFill>
          <a:ln w="12700">
            <a:solidFill>
              <a:srgbClr val="0284C7"/>
            </a:solidFill>
            <a:prstDash val="solid"/>
          </a:ln>
        </p:spPr>
      </p:sp>
      <p:sp>
        <p:nvSpPr>
          <p:cNvPr id="14" name="Text 12"/>
          <p:cNvSpPr/>
          <p:nvPr/>
        </p:nvSpPr>
        <p:spPr>
          <a:xfrm>
            <a:off x="868680" y="1463040"/>
            <a:ext cx="2926080" cy="320040"/>
          </a:xfrm>
          <a:prstGeom prst="rect">
            <a:avLst/>
          </a:prstGeom>
          <a:noFill/>
          <a:ln/>
        </p:spPr>
        <p:txBody>
          <a:bodyPr wrap="square" rtlCol="0" anchor="ctr"/>
          <a:lstStyle/>
          <a:p>
            <a:pPr algn="ctr" indent="0" marL="0">
              <a:buNone/>
            </a:pPr>
            <a:r>
              <a:rPr lang="en-US" sz="800" b="1" dirty="0">
                <a:solidFill>
                  <a:srgbClr val="0284C7"/>
                </a:solidFill>
                <a:latin typeface="Arial" pitchFamily="34" charset="0"/>
                <a:ea typeface="Arial" pitchFamily="34" charset="-122"/>
                <a:cs typeface="Arial" pitchFamily="34" charset="-120"/>
              </a:rPr>
              <a:t>TAHAP 1: REGULASI &amp; ARAHAN (INPUT)</a:t>
            </a:r>
            <a:endParaRPr lang="en-US" sz="800" dirty="0"/>
          </a:p>
        </p:txBody>
      </p:sp>
      <p:sp>
        <p:nvSpPr>
          <p:cNvPr id="15" name="Text 13"/>
          <p:cNvSpPr/>
          <p:nvPr/>
        </p:nvSpPr>
        <p:spPr>
          <a:xfrm>
            <a:off x="868680" y="1874520"/>
            <a:ext cx="2926080" cy="411480"/>
          </a:xfrm>
          <a:prstGeom prst="rect">
            <a:avLst/>
          </a:prstGeom>
          <a:noFill/>
          <a:ln/>
        </p:spPr>
        <p:txBody>
          <a:bodyPr wrap="square" rtlCol="0" anchor="ctr"/>
          <a:lstStyle/>
          <a:p>
            <a:pPr algn="ctr" indent="0" marL="0">
              <a:buNone/>
            </a:pPr>
            <a:r>
              <a:rPr lang="en-US" sz="1200" b="1" dirty="0">
                <a:solidFill>
                  <a:srgbClr val="0F172A"/>
                </a:solidFill>
                <a:latin typeface="Arial" pitchFamily="34" charset="0"/>
                <a:ea typeface="Arial" pitchFamily="34" charset="-122"/>
                <a:cs typeface="Arial" pitchFamily="34" charset="-120"/>
              </a:rPr>
              <a:t>BRIDA KOTA SURAKARTA</a:t>
            </a:r>
            <a:endParaRPr lang="en-US" sz="1200" dirty="0"/>
          </a:p>
        </p:txBody>
      </p:sp>
      <p:sp>
        <p:nvSpPr>
          <p:cNvPr id="16" name="Text 14"/>
          <p:cNvSpPr/>
          <p:nvPr/>
        </p:nvSpPr>
        <p:spPr>
          <a:xfrm>
            <a:off x="868680" y="2240280"/>
            <a:ext cx="2926080" cy="256032"/>
          </a:xfrm>
          <a:prstGeom prst="rect">
            <a:avLst/>
          </a:prstGeom>
          <a:noFill/>
          <a:ln/>
        </p:spPr>
        <p:txBody>
          <a:bodyPr wrap="square" rtlCol="0" anchor="ctr"/>
          <a:lstStyle/>
          <a:p>
            <a:pPr algn="ctr" indent="0" marL="0">
              <a:buNone/>
            </a:pPr>
            <a:r>
              <a:rPr lang="en-US" sz="900" b="1" dirty="0">
                <a:solidFill>
                  <a:srgbClr val="0284C7"/>
                </a:solidFill>
                <a:latin typeface="Arial" pitchFamily="34" charset="0"/>
                <a:ea typeface="Arial" pitchFamily="34" charset="-122"/>
                <a:cs typeface="Arial" pitchFamily="34" charset="-120"/>
              </a:rPr>
              <a:t>Otak &amp; Regulator Kebijakan Daerah</a:t>
            </a:r>
            <a:endParaRPr lang="en-US" sz="900" dirty="0"/>
          </a:p>
        </p:txBody>
      </p:sp>
      <p:sp>
        <p:nvSpPr>
          <p:cNvPr id="17" name="Shape 15"/>
          <p:cNvSpPr/>
          <p:nvPr/>
        </p:nvSpPr>
        <p:spPr>
          <a:xfrm>
            <a:off x="1005840" y="2560320"/>
            <a:ext cx="2651760" cy="13716"/>
          </a:xfrm>
          <a:prstGeom prst="rect">
            <a:avLst/>
          </a:prstGeom>
          <a:solidFill>
            <a:srgbClr val="CBD5E1"/>
          </a:solidFill>
          <a:ln/>
        </p:spPr>
      </p:sp>
      <p:sp>
        <p:nvSpPr>
          <p:cNvPr id="18" name="Text 16"/>
          <p:cNvSpPr/>
          <p:nvPr/>
        </p:nvSpPr>
        <p:spPr>
          <a:xfrm>
            <a:off x="932688" y="2697480"/>
            <a:ext cx="2798064" cy="1920240"/>
          </a:xfrm>
          <a:prstGeom prst="rect">
            <a:avLst/>
          </a:prstGeom>
          <a:noFill/>
          <a:ln/>
        </p:spPr>
        <p:txBody>
          <a:bodyPr wrap="square" rtlCol="0" anchor="ctr"/>
          <a:lstStyle/>
          <a:p>
            <a:pPr indent="0" marL="0">
              <a:lnSpc>
                <a:spcPts val="1300"/>
              </a:lnSpc>
              <a:buNone/>
            </a:pPr>
            <a:r>
              <a:rPr lang="en-US" sz="920" dirty="0">
                <a:solidFill>
                  <a:srgbClr val="334155"/>
                </a:solidFill>
                <a:latin typeface="Arial" pitchFamily="34" charset="0"/>
                <a:ea typeface="Arial" pitchFamily="34" charset="-122"/>
                <a:cs typeface="Arial" pitchFamily="34" charset="-120"/>
              </a:rPr>
              <a:t>•  Merumuskan arah kebijakan riset &amp; inovasi daerah</a:t>
            </a:r>
            <a:endParaRPr lang="en-US" sz="920" dirty="0"/>
          </a:p>
          <a:p>
            <a:pPr indent="0" marL="0">
              <a:lnSpc>
                <a:spcPts val="1300"/>
              </a:lnSpc>
              <a:buNone/>
            </a:pPr>
            <a:endParaRPr lang="en-US" sz="920" dirty="0"/>
          </a:p>
          <a:p>
            <a:pPr indent="0" marL="0">
              <a:lnSpc>
                <a:spcPts val="1300"/>
              </a:lnSpc>
              <a:buNone/>
            </a:pPr>
            <a:r>
              <a:rPr lang="en-US" sz="920" dirty="0">
                <a:solidFill>
                  <a:srgbClr val="334155"/>
                </a:solidFill>
                <a:latin typeface="Arial" pitchFamily="34" charset="0"/>
                <a:ea typeface="Arial" pitchFamily="34" charset="-122"/>
                <a:cs typeface="Arial" pitchFamily="34" charset="-120"/>
              </a:rPr>
              <a:t>•  Penyusunan kajian teknokratik &amp; roadmap strategis</a:t>
            </a:r>
            <a:endParaRPr lang="en-US" sz="920" dirty="0"/>
          </a:p>
          <a:p>
            <a:pPr indent="0" marL="0">
              <a:lnSpc>
                <a:spcPts val="1300"/>
              </a:lnSpc>
              <a:buNone/>
            </a:pPr>
            <a:endParaRPr lang="en-US" sz="920" dirty="0"/>
          </a:p>
          <a:p>
            <a:pPr indent="0" marL="0">
              <a:lnSpc>
                <a:spcPts val="1300"/>
              </a:lnSpc>
              <a:buNone/>
            </a:pPr>
            <a:r>
              <a:rPr lang="en-US" sz="920" dirty="0">
                <a:solidFill>
                  <a:srgbClr val="334155"/>
                </a:solidFill>
                <a:latin typeface="Arial" pitchFamily="34" charset="0"/>
                <a:ea typeface="Arial" pitchFamily="34" charset="-122"/>
                <a:cs typeface="Arial" pitchFamily="34" charset="-120"/>
              </a:rPr>
              <a:t>•  Orkestrasi ekosistem Iptek antar-OPD &amp; perguruan tinggi</a:t>
            </a:r>
            <a:endParaRPr lang="en-US" sz="920" dirty="0"/>
          </a:p>
          <a:p>
            <a:pPr indent="0" marL="0">
              <a:lnSpc>
                <a:spcPts val="1300"/>
              </a:lnSpc>
              <a:buNone/>
            </a:pPr>
            <a:endParaRPr lang="en-US" sz="920" dirty="0"/>
          </a:p>
          <a:p>
            <a:pPr indent="0" marL="0">
              <a:lnSpc>
                <a:spcPts val="1300"/>
              </a:lnSpc>
              <a:buNone/>
            </a:pPr>
            <a:r>
              <a:rPr lang="en-US" sz="920" dirty="0">
                <a:solidFill>
                  <a:srgbClr val="334155"/>
                </a:solidFill>
                <a:latin typeface="Arial" pitchFamily="34" charset="0"/>
                <a:ea typeface="Arial" pitchFamily="34" charset="-122"/>
                <a:cs typeface="Arial" pitchFamily="34" charset="-120"/>
              </a:rPr>
              <a:t>•  Monitoring &amp; evaluasi akuntabilitas dampak sosial-ekonomi</a:t>
            </a:r>
            <a:endParaRPr lang="en-US" sz="920" dirty="0"/>
          </a:p>
        </p:txBody>
      </p:sp>
      <p:sp>
        <p:nvSpPr>
          <p:cNvPr id="19" name="Shape 17"/>
          <p:cNvSpPr/>
          <p:nvPr/>
        </p:nvSpPr>
        <p:spPr>
          <a:xfrm>
            <a:off x="868680" y="4709160"/>
            <a:ext cx="2926080" cy="457200"/>
          </a:xfrm>
          <a:prstGeom prst="roundRect">
            <a:avLst>
              <a:gd name="adj" fmla="val 8000"/>
            </a:avLst>
          </a:prstGeom>
          <a:solidFill>
            <a:srgbClr val="F8FAFC"/>
          </a:solidFill>
          <a:ln w="12700">
            <a:solidFill>
              <a:srgbClr val="0284C7"/>
            </a:solidFill>
            <a:prstDash val="solid"/>
          </a:ln>
        </p:spPr>
      </p:sp>
      <p:sp>
        <p:nvSpPr>
          <p:cNvPr id="20" name="Text 18"/>
          <p:cNvSpPr/>
          <p:nvPr/>
        </p:nvSpPr>
        <p:spPr>
          <a:xfrm>
            <a:off x="914400" y="4709160"/>
            <a:ext cx="2834640" cy="457200"/>
          </a:xfrm>
          <a:prstGeom prst="rect">
            <a:avLst/>
          </a:prstGeom>
          <a:noFill/>
          <a:ln/>
        </p:spPr>
        <p:txBody>
          <a:bodyPr wrap="square" rtlCol="0" anchor="ctr"/>
          <a:lstStyle/>
          <a:p>
            <a:pPr algn="ctr" indent="0" marL="0">
              <a:buNone/>
            </a:pPr>
            <a:r>
              <a:rPr lang="en-US" sz="850" b="1" dirty="0">
                <a:solidFill>
                  <a:srgbClr val="0F172A"/>
                </a:solidFill>
                <a:latin typeface="Arial" pitchFamily="34" charset="0"/>
                <a:ea typeface="Arial" pitchFamily="34" charset="-122"/>
                <a:cs typeface="Arial" pitchFamily="34" charset="-120"/>
              </a:rPr>
              <a:t>Output: Regulasi, Roadmap, &amp; Pengawasan Kebijakan</a:t>
            </a:r>
            <a:endParaRPr lang="en-US" sz="850" dirty="0"/>
          </a:p>
        </p:txBody>
      </p:sp>
      <p:sp>
        <p:nvSpPr>
          <p:cNvPr id="21" name="Shape 19"/>
          <p:cNvSpPr/>
          <p:nvPr/>
        </p:nvSpPr>
        <p:spPr>
          <a:xfrm>
            <a:off x="4480560" y="1325880"/>
            <a:ext cx="3200400" cy="3977640"/>
          </a:xfrm>
          <a:prstGeom prst="roundRect">
            <a:avLst>
              <a:gd name="adj" fmla="val 2286"/>
            </a:avLst>
          </a:prstGeom>
          <a:solidFill>
            <a:srgbClr val="FFFFFF"/>
          </a:solidFill>
          <a:ln w="12700">
            <a:solidFill>
              <a:srgbClr val="CBD5E1"/>
            </a:solidFill>
            <a:prstDash val="solid"/>
          </a:ln>
        </p:spPr>
      </p:sp>
      <p:sp>
        <p:nvSpPr>
          <p:cNvPr id="22" name="Shape 20"/>
          <p:cNvSpPr/>
          <p:nvPr/>
        </p:nvSpPr>
        <p:spPr>
          <a:xfrm>
            <a:off x="4480560" y="1325880"/>
            <a:ext cx="73152" cy="3977640"/>
          </a:xfrm>
          <a:prstGeom prst="roundRect">
            <a:avLst>
              <a:gd name="adj" fmla="val 50000"/>
            </a:avLst>
          </a:prstGeom>
          <a:solidFill>
            <a:srgbClr val="D97706"/>
          </a:solidFill>
          <a:ln w="12700">
            <a:solidFill>
              <a:srgbClr val="D97706"/>
            </a:solidFill>
            <a:prstDash val="solid"/>
          </a:ln>
        </p:spPr>
      </p:sp>
      <p:sp>
        <p:nvSpPr>
          <p:cNvPr id="23" name="Shape 21"/>
          <p:cNvSpPr/>
          <p:nvPr/>
        </p:nvSpPr>
        <p:spPr>
          <a:xfrm>
            <a:off x="4617720" y="1463040"/>
            <a:ext cx="2926080" cy="320040"/>
          </a:xfrm>
          <a:prstGeom prst="roundRect">
            <a:avLst>
              <a:gd name="adj" fmla="val 11429"/>
            </a:avLst>
          </a:prstGeom>
          <a:solidFill>
            <a:srgbClr val="F1F5F9"/>
          </a:solidFill>
          <a:ln w="12700">
            <a:solidFill>
              <a:srgbClr val="D97706"/>
            </a:solidFill>
            <a:prstDash val="solid"/>
          </a:ln>
        </p:spPr>
      </p:sp>
      <p:sp>
        <p:nvSpPr>
          <p:cNvPr id="24" name="Text 22"/>
          <p:cNvSpPr/>
          <p:nvPr/>
        </p:nvSpPr>
        <p:spPr>
          <a:xfrm>
            <a:off x="4617720" y="1463040"/>
            <a:ext cx="2926080" cy="320040"/>
          </a:xfrm>
          <a:prstGeom prst="rect">
            <a:avLst/>
          </a:prstGeom>
          <a:noFill/>
          <a:ln/>
        </p:spPr>
        <p:txBody>
          <a:bodyPr wrap="square" rtlCol="0" anchor="ctr"/>
          <a:lstStyle/>
          <a:p>
            <a:pPr algn="ctr" indent="0" marL="0">
              <a:buNone/>
            </a:pPr>
            <a:r>
              <a:rPr lang="en-US" sz="800" b="1" dirty="0">
                <a:solidFill>
                  <a:srgbClr val="D97706"/>
                </a:solidFill>
                <a:latin typeface="Arial" pitchFamily="34" charset="0"/>
                <a:ea typeface="Arial" pitchFamily="34" charset="-122"/>
                <a:cs typeface="Arial" pitchFamily="34" charset="-120"/>
              </a:rPr>
              <a:t>TAHAP 2: DELIVERY UNIT &amp; OPERASI (PROSES)</a:t>
            </a:r>
            <a:endParaRPr lang="en-US" sz="800" dirty="0"/>
          </a:p>
        </p:txBody>
      </p:sp>
      <p:sp>
        <p:nvSpPr>
          <p:cNvPr id="25" name="Text 23"/>
          <p:cNvSpPr/>
          <p:nvPr/>
        </p:nvSpPr>
        <p:spPr>
          <a:xfrm>
            <a:off x="4617720" y="1874520"/>
            <a:ext cx="2926080" cy="411480"/>
          </a:xfrm>
          <a:prstGeom prst="rect">
            <a:avLst/>
          </a:prstGeom>
          <a:noFill/>
          <a:ln/>
        </p:spPr>
        <p:txBody>
          <a:bodyPr wrap="square" rtlCol="0" anchor="ctr"/>
          <a:lstStyle/>
          <a:p>
            <a:pPr algn="ctr" indent="0" marL="0">
              <a:buNone/>
            </a:pPr>
            <a:r>
              <a:rPr lang="en-US" sz="1200" b="1" dirty="0">
                <a:solidFill>
                  <a:srgbClr val="0F172A"/>
                </a:solidFill>
                <a:latin typeface="Arial" pitchFamily="34" charset="0"/>
                <a:ea typeface="Arial" pitchFamily="34" charset="-122"/>
                <a:cs typeface="Arial" pitchFamily="34" charset="-120"/>
              </a:rPr>
              <a:t>UPTD KST SOLO TECHNOPARK</a:t>
            </a:r>
            <a:endParaRPr lang="en-US" sz="1200" dirty="0"/>
          </a:p>
        </p:txBody>
      </p:sp>
      <p:sp>
        <p:nvSpPr>
          <p:cNvPr id="26" name="Text 24"/>
          <p:cNvSpPr/>
          <p:nvPr/>
        </p:nvSpPr>
        <p:spPr>
          <a:xfrm>
            <a:off x="4617720" y="2240280"/>
            <a:ext cx="2926080" cy="256032"/>
          </a:xfrm>
          <a:prstGeom prst="rect">
            <a:avLst/>
          </a:prstGeom>
          <a:noFill/>
          <a:ln/>
        </p:spPr>
        <p:txBody>
          <a:bodyPr wrap="square" rtlCol="0" anchor="ctr"/>
          <a:lstStyle/>
          <a:p>
            <a:pPr algn="ctr" indent="0" marL="0">
              <a:buNone/>
            </a:pPr>
            <a:r>
              <a:rPr lang="en-US" sz="900" b="1" dirty="0">
                <a:solidFill>
                  <a:srgbClr val="D97706"/>
                </a:solidFill>
                <a:latin typeface="Arial" pitchFamily="34" charset="0"/>
                <a:ea typeface="Arial" pitchFamily="34" charset="-122"/>
                <a:cs typeface="Arial" pitchFamily="34" charset="-120"/>
              </a:rPr>
              <a:t>Tangan Eksekutor &amp; Operator Bisnis BLUD</a:t>
            </a:r>
            <a:endParaRPr lang="en-US" sz="900" dirty="0"/>
          </a:p>
        </p:txBody>
      </p:sp>
      <p:sp>
        <p:nvSpPr>
          <p:cNvPr id="27" name="Shape 25"/>
          <p:cNvSpPr/>
          <p:nvPr/>
        </p:nvSpPr>
        <p:spPr>
          <a:xfrm>
            <a:off x="4754880" y="2560320"/>
            <a:ext cx="2651760" cy="13716"/>
          </a:xfrm>
          <a:prstGeom prst="rect">
            <a:avLst/>
          </a:prstGeom>
          <a:solidFill>
            <a:srgbClr val="CBD5E1"/>
          </a:solidFill>
          <a:ln/>
        </p:spPr>
      </p:sp>
      <p:sp>
        <p:nvSpPr>
          <p:cNvPr id="28" name="Text 26"/>
          <p:cNvSpPr/>
          <p:nvPr/>
        </p:nvSpPr>
        <p:spPr>
          <a:xfrm>
            <a:off x="4681728" y="2697480"/>
            <a:ext cx="2798064" cy="1920240"/>
          </a:xfrm>
          <a:prstGeom prst="rect">
            <a:avLst/>
          </a:prstGeom>
          <a:noFill/>
          <a:ln/>
        </p:spPr>
        <p:txBody>
          <a:bodyPr wrap="square" rtlCol="0" anchor="ctr"/>
          <a:lstStyle/>
          <a:p>
            <a:pPr indent="0" marL="0">
              <a:lnSpc>
                <a:spcPts val="1300"/>
              </a:lnSpc>
              <a:buNone/>
            </a:pPr>
            <a:r>
              <a:rPr lang="en-US" sz="920" dirty="0">
                <a:solidFill>
                  <a:srgbClr val="334155"/>
                </a:solidFill>
                <a:latin typeface="Arial" pitchFamily="34" charset="0"/>
                <a:ea typeface="Arial" pitchFamily="34" charset="-122"/>
                <a:cs typeface="Arial" pitchFamily="34" charset="-120"/>
              </a:rPr>
              <a:t>•  Penyelenggaraan diklat vokasi &amp; sertifikasi industri</a:t>
            </a:r>
            <a:endParaRPr lang="en-US" sz="920" dirty="0"/>
          </a:p>
          <a:p>
            <a:pPr indent="0" marL="0">
              <a:lnSpc>
                <a:spcPts val="1300"/>
              </a:lnSpc>
              <a:buNone/>
            </a:pPr>
            <a:endParaRPr lang="en-US" sz="920" dirty="0"/>
          </a:p>
          <a:p>
            <a:pPr indent="0" marL="0">
              <a:lnSpc>
                <a:spcPts val="1300"/>
              </a:lnSpc>
              <a:buNone/>
            </a:pPr>
            <a:r>
              <a:rPr lang="en-US" sz="920" dirty="0">
                <a:solidFill>
                  <a:srgbClr val="334155"/>
                </a:solidFill>
                <a:latin typeface="Arial" pitchFamily="34" charset="0"/>
                <a:ea typeface="Arial" pitchFamily="34" charset="-122"/>
                <a:cs typeface="Arial" pitchFamily="34" charset="-120"/>
              </a:rPr>
              <a:t>•  Inkubasi bisnis, alih teknologi &amp; komersialisasi riset</a:t>
            </a:r>
            <a:endParaRPr lang="en-US" sz="920" dirty="0"/>
          </a:p>
          <a:p>
            <a:pPr indent="0" marL="0">
              <a:lnSpc>
                <a:spcPts val="1300"/>
              </a:lnSpc>
              <a:buNone/>
            </a:pPr>
            <a:endParaRPr lang="en-US" sz="920" dirty="0"/>
          </a:p>
          <a:p>
            <a:pPr indent="0" marL="0">
              <a:lnSpc>
                <a:spcPts val="1300"/>
              </a:lnSpc>
              <a:buNone/>
            </a:pPr>
            <a:r>
              <a:rPr lang="en-US" sz="920" dirty="0">
                <a:solidFill>
                  <a:srgbClr val="334155"/>
                </a:solidFill>
                <a:latin typeface="Arial" pitchFamily="34" charset="0"/>
                <a:ea typeface="Arial" pitchFamily="34" charset="-122"/>
                <a:cs typeface="Arial" pitchFamily="34" charset="-120"/>
              </a:rPr>
              <a:t>•  Uji coba prototipe lab presisi &amp; penetrant testing (NDT)</a:t>
            </a:r>
            <a:endParaRPr lang="en-US" sz="920" dirty="0"/>
          </a:p>
          <a:p>
            <a:pPr indent="0" marL="0">
              <a:lnSpc>
                <a:spcPts val="1300"/>
              </a:lnSpc>
              <a:buNone/>
            </a:pPr>
            <a:endParaRPr lang="en-US" sz="920" dirty="0"/>
          </a:p>
          <a:p>
            <a:pPr indent="0" marL="0">
              <a:lnSpc>
                <a:spcPts val="1300"/>
              </a:lnSpc>
              <a:buNone/>
            </a:pPr>
            <a:r>
              <a:rPr lang="en-US" sz="920" dirty="0">
                <a:solidFill>
                  <a:srgbClr val="334155"/>
                </a:solidFill>
                <a:latin typeface="Arial" pitchFamily="34" charset="0"/>
                <a:ea typeface="Arial" pitchFamily="34" charset="-122"/>
                <a:cs typeface="Arial" pitchFamily="34" charset="-120"/>
              </a:rPr>
              <a:t>•  Pengelolaan portofolio bisnis BLUD mandiri &amp; kemitraan</a:t>
            </a:r>
            <a:endParaRPr lang="en-US" sz="920" dirty="0"/>
          </a:p>
        </p:txBody>
      </p:sp>
      <p:sp>
        <p:nvSpPr>
          <p:cNvPr id="29" name="Shape 27"/>
          <p:cNvSpPr/>
          <p:nvPr/>
        </p:nvSpPr>
        <p:spPr>
          <a:xfrm>
            <a:off x="4617720" y="4709160"/>
            <a:ext cx="2926080" cy="457200"/>
          </a:xfrm>
          <a:prstGeom prst="roundRect">
            <a:avLst>
              <a:gd name="adj" fmla="val 8000"/>
            </a:avLst>
          </a:prstGeom>
          <a:solidFill>
            <a:srgbClr val="F8FAFC"/>
          </a:solidFill>
          <a:ln w="12700">
            <a:solidFill>
              <a:srgbClr val="D97706"/>
            </a:solidFill>
            <a:prstDash val="solid"/>
          </a:ln>
        </p:spPr>
      </p:sp>
      <p:sp>
        <p:nvSpPr>
          <p:cNvPr id="30" name="Text 28"/>
          <p:cNvSpPr/>
          <p:nvPr/>
        </p:nvSpPr>
        <p:spPr>
          <a:xfrm>
            <a:off x="4663440" y="4709160"/>
            <a:ext cx="2834640" cy="457200"/>
          </a:xfrm>
          <a:prstGeom prst="rect">
            <a:avLst/>
          </a:prstGeom>
          <a:noFill/>
          <a:ln/>
        </p:spPr>
        <p:txBody>
          <a:bodyPr wrap="square" rtlCol="0" anchor="ctr"/>
          <a:lstStyle/>
          <a:p>
            <a:pPr algn="ctr" indent="0" marL="0">
              <a:buNone/>
            </a:pPr>
            <a:r>
              <a:rPr lang="en-US" sz="850" b="1" dirty="0">
                <a:solidFill>
                  <a:srgbClr val="0F172A"/>
                </a:solidFill>
                <a:latin typeface="Arial" pitchFamily="34" charset="0"/>
                <a:ea typeface="Arial" pitchFamily="34" charset="-122"/>
                <a:cs typeface="Arial" pitchFamily="34" charset="-120"/>
              </a:rPr>
              <a:t>Output: Layanan Teknis, Inkubasi, &amp; Hilirisasi Produk</a:t>
            </a:r>
            <a:endParaRPr lang="en-US" sz="850" dirty="0"/>
          </a:p>
        </p:txBody>
      </p:sp>
      <p:sp>
        <p:nvSpPr>
          <p:cNvPr id="31" name="Shape 29"/>
          <p:cNvSpPr/>
          <p:nvPr/>
        </p:nvSpPr>
        <p:spPr>
          <a:xfrm>
            <a:off x="8229600" y="1325880"/>
            <a:ext cx="3200400" cy="3977640"/>
          </a:xfrm>
          <a:prstGeom prst="roundRect">
            <a:avLst>
              <a:gd name="adj" fmla="val 2286"/>
            </a:avLst>
          </a:prstGeom>
          <a:solidFill>
            <a:srgbClr val="FFFFFF"/>
          </a:solidFill>
          <a:ln w="12700">
            <a:solidFill>
              <a:srgbClr val="CBD5E1"/>
            </a:solidFill>
            <a:prstDash val="solid"/>
          </a:ln>
        </p:spPr>
      </p:sp>
      <p:sp>
        <p:nvSpPr>
          <p:cNvPr id="32" name="Shape 30"/>
          <p:cNvSpPr/>
          <p:nvPr/>
        </p:nvSpPr>
        <p:spPr>
          <a:xfrm>
            <a:off x="8229600" y="1325880"/>
            <a:ext cx="73152" cy="3977640"/>
          </a:xfrm>
          <a:prstGeom prst="roundRect">
            <a:avLst>
              <a:gd name="adj" fmla="val 50000"/>
            </a:avLst>
          </a:prstGeom>
          <a:solidFill>
            <a:srgbClr val="059669"/>
          </a:solidFill>
          <a:ln w="12700">
            <a:solidFill>
              <a:srgbClr val="059669"/>
            </a:solidFill>
            <a:prstDash val="solid"/>
          </a:ln>
        </p:spPr>
      </p:sp>
      <p:sp>
        <p:nvSpPr>
          <p:cNvPr id="33" name="Shape 31"/>
          <p:cNvSpPr/>
          <p:nvPr/>
        </p:nvSpPr>
        <p:spPr>
          <a:xfrm>
            <a:off x="8366760" y="1463040"/>
            <a:ext cx="2926080" cy="320040"/>
          </a:xfrm>
          <a:prstGeom prst="roundRect">
            <a:avLst>
              <a:gd name="adj" fmla="val 11429"/>
            </a:avLst>
          </a:prstGeom>
          <a:solidFill>
            <a:srgbClr val="F1F5F9"/>
          </a:solidFill>
          <a:ln w="12700">
            <a:solidFill>
              <a:srgbClr val="059669"/>
            </a:solidFill>
            <a:prstDash val="solid"/>
          </a:ln>
        </p:spPr>
      </p:sp>
      <p:sp>
        <p:nvSpPr>
          <p:cNvPr id="34" name="Text 32"/>
          <p:cNvSpPr/>
          <p:nvPr/>
        </p:nvSpPr>
        <p:spPr>
          <a:xfrm>
            <a:off x="8366760" y="1463040"/>
            <a:ext cx="2926080" cy="320040"/>
          </a:xfrm>
          <a:prstGeom prst="rect">
            <a:avLst/>
          </a:prstGeom>
          <a:noFill/>
          <a:ln/>
        </p:spPr>
        <p:txBody>
          <a:bodyPr wrap="square" rtlCol="0" anchor="ctr"/>
          <a:lstStyle/>
          <a:p>
            <a:pPr algn="ctr" indent="0" marL="0">
              <a:buNone/>
            </a:pPr>
            <a:r>
              <a:rPr lang="en-US" sz="800" b="1" dirty="0">
                <a:solidFill>
                  <a:srgbClr val="059669"/>
                </a:solidFill>
                <a:latin typeface="Arial" pitchFamily="34" charset="0"/>
                <a:ea typeface="Arial" pitchFamily="34" charset="-122"/>
                <a:cs typeface="Arial" pitchFamily="34" charset="-120"/>
              </a:rPr>
              <a:t>TAHAP 3: DAMPAK KESEJAHTERAAN (OUTCOME)</a:t>
            </a:r>
            <a:endParaRPr lang="en-US" sz="800" dirty="0"/>
          </a:p>
        </p:txBody>
      </p:sp>
      <p:sp>
        <p:nvSpPr>
          <p:cNvPr id="35" name="Text 33"/>
          <p:cNvSpPr/>
          <p:nvPr/>
        </p:nvSpPr>
        <p:spPr>
          <a:xfrm>
            <a:off x="8366760" y="1874520"/>
            <a:ext cx="2926080" cy="411480"/>
          </a:xfrm>
          <a:prstGeom prst="rect">
            <a:avLst/>
          </a:prstGeom>
          <a:noFill/>
          <a:ln/>
        </p:spPr>
        <p:txBody>
          <a:bodyPr wrap="square" rtlCol="0" anchor="ctr"/>
          <a:lstStyle/>
          <a:p>
            <a:pPr algn="ctr" indent="0" marL="0">
              <a:buNone/>
            </a:pPr>
            <a:r>
              <a:rPr lang="en-US" sz="1200" b="1" dirty="0">
                <a:solidFill>
                  <a:srgbClr val="0F172A"/>
                </a:solidFill>
                <a:latin typeface="Arial" pitchFamily="34" charset="0"/>
                <a:ea typeface="Arial" pitchFamily="34" charset="-122"/>
                <a:cs typeface="Arial" pitchFamily="34" charset="-120"/>
              </a:rPr>
              <a:t>WARGA SURAKARTA &amp; DUNIA USAHA</a:t>
            </a:r>
            <a:endParaRPr lang="en-US" sz="1200" dirty="0"/>
          </a:p>
        </p:txBody>
      </p:sp>
      <p:sp>
        <p:nvSpPr>
          <p:cNvPr id="36" name="Text 34"/>
          <p:cNvSpPr/>
          <p:nvPr/>
        </p:nvSpPr>
        <p:spPr>
          <a:xfrm>
            <a:off x="8366760" y="2240280"/>
            <a:ext cx="2926080" cy="256032"/>
          </a:xfrm>
          <a:prstGeom prst="rect">
            <a:avLst/>
          </a:prstGeom>
          <a:noFill/>
          <a:ln/>
        </p:spPr>
        <p:txBody>
          <a:bodyPr wrap="square" rtlCol="0" anchor="ctr"/>
          <a:lstStyle/>
          <a:p>
            <a:pPr algn="ctr" indent="0" marL="0">
              <a:buNone/>
            </a:pPr>
            <a:r>
              <a:rPr lang="en-US" sz="900" b="1" dirty="0">
                <a:solidFill>
                  <a:srgbClr val="059669"/>
                </a:solidFill>
                <a:latin typeface="Arial" pitchFamily="34" charset="0"/>
                <a:ea typeface="Arial" pitchFamily="34" charset="-122"/>
                <a:cs typeface="Arial" pitchFamily="34" charset="-120"/>
              </a:rPr>
              <a:t>Penerima Manfaat Utama (Benefisiari)</a:t>
            </a:r>
            <a:endParaRPr lang="en-US" sz="900" dirty="0"/>
          </a:p>
        </p:txBody>
      </p:sp>
      <p:sp>
        <p:nvSpPr>
          <p:cNvPr id="37" name="Shape 35"/>
          <p:cNvSpPr/>
          <p:nvPr/>
        </p:nvSpPr>
        <p:spPr>
          <a:xfrm>
            <a:off x="8503920" y="2560320"/>
            <a:ext cx="2651760" cy="13716"/>
          </a:xfrm>
          <a:prstGeom prst="rect">
            <a:avLst/>
          </a:prstGeom>
          <a:solidFill>
            <a:srgbClr val="CBD5E1"/>
          </a:solidFill>
          <a:ln/>
        </p:spPr>
      </p:sp>
      <p:sp>
        <p:nvSpPr>
          <p:cNvPr id="38" name="Text 36"/>
          <p:cNvSpPr/>
          <p:nvPr/>
        </p:nvSpPr>
        <p:spPr>
          <a:xfrm>
            <a:off x="8430768" y="2697480"/>
            <a:ext cx="2798064" cy="1920240"/>
          </a:xfrm>
          <a:prstGeom prst="rect">
            <a:avLst/>
          </a:prstGeom>
          <a:noFill/>
          <a:ln/>
        </p:spPr>
        <p:txBody>
          <a:bodyPr wrap="square" rtlCol="0" anchor="ctr"/>
          <a:lstStyle/>
          <a:p>
            <a:pPr indent="0" marL="0">
              <a:lnSpc>
                <a:spcPts val="1300"/>
              </a:lnSpc>
              <a:buNone/>
            </a:pPr>
            <a:r>
              <a:rPr lang="en-US" sz="920" dirty="0">
                <a:solidFill>
                  <a:srgbClr val="334155"/>
                </a:solidFill>
                <a:latin typeface="Arial" pitchFamily="34" charset="0"/>
                <a:ea typeface="Arial" pitchFamily="34" charset="-122"/>
                <a:cs typeface="Arial" pitchFamily="34" charset="-120"/>
              </a:rPr>
              <a:t>•  SDM lokal kompeten &amp; tersertifikasi kerja industri global</a:t>
            </a:r>
            <a:endParaRPr lang="en-US" sz="920" dirty="0"/>
          </a:p>
          <a:p>
            <a:pPr indent="0" marL="0">
              <a:lnSpc>
                <a:spcPts val="1300"/>
              </a:lnSpc>
              <a:buNone/>
            </a:pPr>
            <a:endParaRPr lang="en-US" sz="920" dirty="0"/>
          </a:p>
          <a:p>
            <a:pPr indent="0" marL="0">
              <a:lnSpc>
                <a:spcPts val="1300"/>
              </a:lnSpc>
              <a:buNone/>
            </a:pPr>
            <a:r>
              <a:rPr lang="en-US" sz="920" dirty="0">
                <a:solidFill>
                  <a:srgbClr val="334155"/>
                </a:solidFill>
                <a:latin typeface="Arial" pitchFamily="34" charset="0"/>
                <a:ea typeface="Arial" pitchFamily="34" charset="-122"/>
                <a:cs typeface="Arial" pitchFamily="34" charset="-120"/>
              </a:rPr>
              <a:t>•  UMKM &amp; startup teknologi tumbuh mandiri omzetnya</a:t>
            </a:r>
            <a:endParaRPr lang="en-US" sz="920" dirty="0"/>
          </a:p>
          <a:p>
            <a:pPr indent="0" marL="0">
              <a:lnSpc>
                <a:spcPts val="1300"/>
              </a:lnSpc>
              <a:buNone/>
            </a:pPr>
            <a:endParaRPr lang="en-US" sz="920" dirty="0"/>
          </a:p>
          <a:p>
            <a:pPr indent="0" marL="0">
              <a:lnSpc>
                <a:spcPts val="1300"/>
              </a:lnSpc>
              <a:buNone/>
            </a:pPr>
            <a:r>
              <a:rPr lang="en-US" sz="920" dirty="0">
                <a:solidFill>
                  <a:srgbClr val="334155"/>
                </a:solidFill>
                <a:latin typeface="Arial" pitchFamily="34" charset="0"/>
                <a:ea typeface="Arial" pitchFamily="34" charset="-122"/>
                <a:cs typeface="Arial" pitchFamily="34" charset="-120"/>
              </a:rPr>
              <a:t>•  Produk inovasi kampus terserap pasar &amp; e-Katalog Pemda</a:t>
            </a:r>
            <a:endParaRPr lang="en-US" sz="920" dirty="0"/>
          </a:p>
          <a:p>
            <a:pPr indent="0" marL="0">
              <a:lnSpc>
                <a:spcPts val="1300"/>
              </a:lnSpc>
              <a:buNone/>
            </a:pPr>
            <a:endParaRPr lang="en-US" sz="920" dirty="0"/>
          </a:p>
          <a:p>
            <a:pPr indent="0" marL="0">
              <a:lnSpc>
                <a:spcPts val="1300"/>
              </a:lnSpc>
              <a:buNone/>
            </a:pPr>
            <a:r>
              <a:rPr lang="en-US" sz="920" dirty="0">
                <a:solidFill>
                  <a:srgbClr val="334155"/>
                </a:solidFill>
                <a:latin typeface="Arial" pitchFamily="34" charset="0"/>
                <a:ea typeface="Arial" pitchFamily="34" charset="-122"/>
                <a:cs typeface="Arial" pitchFamily="34" charset="-120"/>
              </a:rPr>
              <a:t>•  Masuknya investasi swasta &amp; penyerapan 9.000 tenaga kerja</a:t>
            </a:r>
            <a:endParaRPr lang="en-US" sz="920" dirty="0"/>
          </a:p>
        </p:txBody>
      </p:sp>
      <p:sp>
        <p:nvSpPr>
          <p:cNvPr id="39" name="Shape 37"/>
          <p:cNvSpPr/>
          <p:nvPr/>
        </p:nvSpPr>
        <p:spPr>
          <a:xfrm>
            <a:off x="8366760" y="4709160"/>
            <a:ext cx="2926080" cy="457200"/>
          </a:xfrm>
          <a:prstGeom prst="roundRect">
            <a:avLst>
              <a:gd name="adj" fmla="val 8000"/>
            </a:avLst>
          </a:prstGeom>
          <a:solidFill>
            <a:srgbClr val="F8FAFC"/>
          </a:solidFill>
          <a:ln w="12700">
            <a:solidFill>
              <a:srgbClr val="059669"/>
            </a:solidFill>
            <a:prstDash val="solid"/>
          </a:ln>
        </p:spPr>
      </p:sp>
      <p:sp>
        <p:nvSpPr>
          <p:cNvPr id="40" name="Text 38"/>
          <p:cNvSpPr/>
          <p:nvPr/>
        </p:nvSpPr>
        <p:spPr>
          <a:xfrm>
            <a:off x="8412480" y="4709160"/>
            <a:ext cx="2834640" cy="457200"/>
          </a:xfrm>
          <a:prstGeom prst="rect">
            <a:avLst/>
          </a:prstGeom>
          <a:noFill/>
          <a:ln/>
        </p:spPr>
        <p:txBody>
          <a:bodyPr wrap="square" rtlCol="0" anchor="ctr"/>
          <a:lstStyle/>
          <a:p>
            <a:pPr algn="ctr" indent="0" marL="0">
              <a:buNone/>
            </a:pPr>
            <a:r>
              <a:rPr lang="en-US" sz="850" b="1" dirty="0">
                <a:solidFill>
                  <a:srgbClr val="0F172A"/>
                </a:solidFill>
                <a:latin typeface="Arial" pitchFamily="34" charset="0"/>
                <a:ea typeface="Arial" pitchFamily="34" charset="-122"/>
                <a:cs typeface="Arial" pitchFamily="34" charset="-120"/>
              </a:rPr>
              <a:t>Impact: Lapangan Kerja, Daya Saing, &amp; PAD Mandiri</a:t>
            </a:r>
            <a:endParaRPr lang="en-US" sz="850" dirty="0"/>
          </a:p>
        </p:txBody>
      </p:sp>
      <p:sp>
        <p:nvSpPr>
          <p:cNvPr id="41" name="Shape 39"/>
          <p:cNvSpPr/>
          <p:nvPr/>
        </p:nvSpPr>
        <p:spPr>
          <a:xfrm>
            <a:off x="3977640" y="3017520"/>
            <a:ext cx="457200" cy="411480"/>
          </a:xfrm>
          <a:prstGeom prst="rightArrow">
            <a:avLst/>
          </a:prstGeom>
          <a:solidFill>
            <a:srgbClr val="0284C7"/>
          </a:solidFill>
          <a:ln w="12700">
            <a:solidFill>
              <a:srgbClr val="0284C7"/>
            </a:solidFill>
            <a:prstDash val="solid"/>
          </a:ln>
        </p:spPr>
      </p:sp>
      <p:sp>
        <p:nvSpPr>
          <p:cNvPr id="42" name="Text 40"/>
          <p:cNvSpPr/>
          <p:nvPr/>
        </p:nvSpPr>
        <p:spPr>
          <a:xfrm>
            <a:off x="3886200" y="2468880"/>
            <a:ext cx="640080" cy="502920"/>
          </a:xfrm>
          <a:prstGeom prst="rect">
            <a:avLst/>
          </a:prstGeom>
          <a:noFill/>
          <a:ln/>
        </p:spPr>
        <p:txBody>
          <a:bodyPr wrap="square" rtlCol="0" anchor="ctr"/>
          <a:lstStyle/>
          <a:p>
            <a:pPr algn="ctr" indent="0" marL="0">
              <a:buNone/>
            </a:pPr>
            <a:r>
              <a:rPr lang="en-US" sz="750" b="1" dirty="0">
                <a:solidFill>
                  <a:srgbClr val="0369A1"/>
                </a:solidFill>
                <a:latin typeface="Arial" pitchFamily="34" charset="0"/>
                <a:ea typeface="Arial" pitchFamily="34" charset="-122"/>
                <a:cs typeface="Arial" pitchFamily="34" charset="-120"/>
              </a:rPr>
              <a:t>Regulasi &amp;</a:t>
            </a:r>
            <a:endParaRPr lang="en-US" sz="750" dirty="0"/>
          </a:p>
          <a:p>
            <a:pPr algn="ctr" indent="0" marL="0">
              <a:buNone/>
            </a:pPr>
            <a:r>
              <a:rPr lang="en-US" sz="750" b="1" dirty="0">
                <a:solidFill>
                  <a:srgbClr val="0369A1"/>
                </a:solidFill>
                <a:latin typeface="Arial" pitchFamily="34" charset="0"/>
                <a:ea typeface="Arial" pitchFamily="34" charset="-122"/>
                <a:cs typeface="Arial" pitchFamily="34" charset="-120"/>
              </a:rPr>
              <a:t>Arahan</a:t>
            </a:r>
            <a:endParaRPr lang="en-US" sz="750" dirty="0"/>
          </a:p>
        </p:txBody>
      </p:sp>
      <p:sp>
        <p:nvSpPr>
          <p:cNvPr id="43" name="Shape 41"/>
          <p:cNvSpPr/>
          <p:nvPr/>
        </p:nvSpPr>
        <p:spPr>
          <a:xfrm>
            <a:off x="7726680" y="3017520"/>
            <a:ext cx="457200" cy="411480"/>
          </a:xfrm>
          <a:prstGeom prst="rightArrow">
            <a:avLst/>
          </a:prstGeom>
          <a:solidFill>
            <a:srgbClr val="D97706"/>
          </a:solidFill>
          <a:ln w="12700">
            <a:solidFill>
              <a:srgbClr val="D97706"/>
            </a:solidFill>
            <a:prstDash val="solid"/>
          </a:ln>
        </p:spPr>
      </p:sp>
      <p:sp>
        <p:nvSpPr>
          <p:cNvPr id="44" name="Text 42"/>
          <p:cNvSpPr/>
          <p:nvPr/>
        </p:nvSpPr>
        <p:spPr>
          <a:xfrm>
            <a:off x="7635240" y="2468880"/>
            <a:ext cx="640080" cy="502920"/>
          </a:xfrm>
          <a:prstGeom prst="rect">
            <a:avLst/>
          </a:prstGeom>
          <a:noFill/>
          <a:ln/>
        </p:spPr>
        <p:txBody>
          <a:bodyPr wrap="square" rtlCol="0" anchor="ctr"/>
          <a:lstStyle/>
          <a:p>
            <a:pPr algn="ctr" indent="0" marL="0">
              <a:buNone/>
            </a:pPr>
            <a:r>
              <a:rPr lang="en-US" sz="750" b="1" dirty="0">
                <a:solidFill>
                  <a:srgbClr val="D97706"/>
                </a:solidFill>
                <a:latin typeface="Arial" pitchFamily="34" charset="0"/>
                <a:ea typeface="Arial" pitchFamily="34" charset="-122"/>
                <a:cs typeface="Arial" pitchFamily="34" charset="-120"/>
              </a:rPr>
              <a:t>Layanan &amp;</a:t>
            </a:r>
            <a:endParaRPr lang="en-US" sz="750" dirty="0"/>
          </a:p>
          <a:p>
            <a:pPr algn="ctr" indent="0" marL="0">
              <a:buNone/>
            </a:pPr>
            <a:r>
              <a:rPr lang="en-US" sz="750" b="1" dirty="0">
                <a:solidFill>
                  <a:srgbClr val="D97706"/>
                </a:solidFill>
                <a:latin typeface="Arial" pitchFamily="34" charset="0"/>
                <a:ea typeface="Arial" pitchFamily="34" charset="-122"/>
                <a:cs typeface="Arial" pitchFamily="34" charset="-120"/>
              </a:rPr>
              <a:t>Inovasi</a:t>
            </a:r>
            <a:endParaRPr lang="en-US" sz="750" dirty="0"/>
          </a:p>
        </p:txBody>
      </p:sp>
      <p:sp>
        <p:nvSpPr>
          <p:cNvPr id="45" name="Shape 43"/>
          <p:cNvSpPr/>
          <p:nvPr/>
        </p:nvSpPr>
        <p:spPr>
          <a:xfrm>
            <a:off x="731520" y="5440680"/>
            <a:ext cx="10728655" cy="804672"/>
          </a:xfrm>
          <a:prstGeom prst="roundRect">
            <a:avLst>
              <a:gd name="adj" fmla="val 9091"/>
            </a:avLst>
          </a:prstGeom>
          <a:solidFill>
            <a:srgbClr val="F1F5F9"/>
          </a:solidFill>
          <a:ln w="12700">
            <a:solidFill>
              <a:srgbClr val="CBD5E1"/>
            </a:solidFill>
            <a:prstDash val="solid"/>
          </a:ln>
        </p:spPr>
      </p:sp>
      <p:sp>
        <p:nvSpPr>
          <p:cNvPr id="46" name="Text 44"/>
          <p:cNvSpPr/>
          <p:nvPr/>
        </p:nvSpPr>
        <p:spPr>
          <a:xfrm>
            <a:off x="914400" y="5532120"/>
            <a:ext cx="10362895" cy="219456"/>
          </a:xfrm>
          <a:prstGeom prst="rect">
            <a:avLst/>
          </a:prstGeom>
          <a:noFill/>
          <a:ln/>
        </p:spPr>
        <p:txBody>
          <a:bodyPr wrap="square" rtlCol="0" anchor="ctr"/>
          <a:lstStyle/>
          <a:p>
            <a:pPr indent="0" marL="0">
              <a:buNone/>
            </a:pPr>
            <a:r>
              <a:rPr lang="en-US" sz="920" b="1" dirty="0">
                <a:solidFill>
                  <a:srgbClr val="0369A1"/>
                </a:solidFill>
                <a:latin typeface="Arial" pitchFamily="34" charset="0"/>
                <a:ea typeface="Arial" pitchFamily="34" charset="-122"/>
                <a:cs typeface="Arial" pitchFamily="34" charset="-120"/>
              </a:rPr>
              <a:t>LANDASAN HUKUM KELEMBAGAAN KOTA SURAKARTA:</a:t>
            </a:r>
            <a:endParaRPr lang="en-US" sz="920" dirty="0"/>
          </a:p>
        </p:txBody>
      </p:sp>
      <p:sp>
        <p:nvSpPr>
          <p:cNvPr id="47" name="Text 45"/>
          <p:cNvSpPr/>
          <p:nvPr/>
        </p:nvSpPr>
        <p:spPr>
          <a:xfrm>
            <a:off x="914400" y="5760720"/>
            <a:ext cx="10362895" cy="411480"/>
          </a:xfrm>
          <a:prstGeom prst="rect">
            <a:avLst/>
          </a:prstGeom>
          <a:noFill/>
          <a:ln/>
        </p:spPr>
        <p:txBody>
          <a:bodyPr wrap="square" rtlCol="0" anchor="ctr"/>
          <a:lstStyle/>
          <a:p>
            <a:pPr indent="0" marL="0">
              <a:lnSpc>
                <a:spcPts val="1200"/>
              </a:lnSpc>
              <a:buNone/>
            </a:pPr>
            <a:r>
              <a:rPr lang="en-US" sz="900" dirty="0">
                <a:solidFill>
                  <a:srgbClr val="0F172A"/>
                </a:solidFill>
                <a:latin typeface="Arial" pitchFamily="34" charset="0"/>
                <a:ea typeface="Arial" pitchFamily="34" charset="-122"/>
                <a:cs typeface="Arial" pitchFamily="34" charset="-120"/>
              </a:rPr>
              <a:t>• Perwali Surakarta No. 15 Tahun 2022: Penetapan kedudukan UPTD KST Solo Technopark sebagai unit pelaksana teknis operasional di bawah naungan BRIDA.</a:t>
            </a:r>
            <a:endParaRPr lang="en-US" sz="900" dirty="0"/>
          </a:p>
          <a:p>
            <a:pPr indent="0" marL="0">
              <a:lnSpc>
                <a:spcPts val="1200"/>
              </a:lnSpc>
              <a:buNone/>
            </a:pPr>
            <a:r>
              <a:rPr lang="en-US" sz="900" dirty="0">
                <a:solidFill>
                  <a:srgbClr val="0F172A"/>
                </a:solidFill>
                <a:latin typeface="Arial" pitchFamily="34" charset="0"/>
                <a:ea typeface="Arial" pitchFamily="34" charset="-122"/>
                <a:cs typeface="Arial" pitchFamily="34" charset="-120"/>
              </a:rPr>
              <a:t>• Perwali Surakarta No. 38 Tahun 2022: Penetapan Pola Tata Kelola Badan Layanan Umum Daerah (BLUD) UPTD KST Solo Technopark dengan fleksibilitas bisnis sehat.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84C7"/>
          </a:solidFill>
          <a:ln/>
        </p:spPr>
      </p:sp>
      <p:sp>
        <p:nvSpPr>
          <p:cNvPr id="3" name="Shape 1"/>
          <p:cNvSpPr/>
          <p:nvPr/>
        </p:nvSpPr>
        <p:spPr>
          <a:xfrm>
            <a:off x="9144000" y="0"/>
            <a:ext cx="3047695" cy="73152"/>
          </a:xfrm>
          <a:prstGeom prst="rect">
            <a:avLst/>
          </a:prstGeom>
          <a:solidFill>
            <a:srgbClr val="D97706"/>
          </a:solidFill>
          <a:ln/>
        </p:spPr>
      </p:sp>
      <p:sp>
        <p:nvSpPr>
          <p:cNvPr id="4" name="Shape 2"/>
          <p:cNvSpPr/>
          <p:nvPr/>
        </p:nvSpPr>
        <p:spPr>
          <a:xfrm>
            <a:off x="731520" y="256032"/>
            <a:ext cx="3291840" cy="237744"/>
          </a:xfrm>
          <a:prstGeom prst="roundRect">
            <a:avLst>
              <a:gd name="adj" fmla="val 19231"/>
            </a:avLst>
          </a:prstGeom>
          <a:solidFill>
            <a:srgbClr val="E0F2FE"/>
          </a:solidFill>
          <a:ln w="12700">
            <a:solidFill>
              <a:srgbClr val="0284C7"/>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0369A1"/>
                </a:solidFill>
                <a:latin typeface="Arial" pitchFamily="34" charset="0"/>
                <a:ea typeface="Arial" pitchFamily="34" charset="-122"/>
                <a:cs typeface="Arial" pitchFamily="34" charset="-120"/>
              </a:rPr>
              <a:t>LANDASAN REGULASI &amp; TATA KELOLA</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0F172A"/>
                </a:solidFill>
                <a:latin typeface="Arial" pitchFamily="34" charset="0"/>
                <a:ea typeface="Arial" pitchFamily="34" charset="-122"/>
                <a:cs typeface="Arial" pitchFamily="34" charset="-120"/>
              </a:rPr>
              <a:t>FONDASI HUKUM YANG KOKOH: MANDAT &amp; FLEKSIBILITAS BLUD</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334155"/>
                </a:solidFill>
                <a:latin typeface="Arial" pitchFamily="34" charset="0"/>
                <a:ea typeface="Arial" pitchFamily="34" charset="-122"/>
                <a:cs typeface="Arial" pitchFamily="34" charset="-120"/>
              </a:rPr>
              <a:t>Tiga Pilar Regulasi yang Memberi Kewenangan, Fleksibilitas Bisnis Sehat, dan Arah Strategis KST</a:t>
            </a:r>
            <a:endParaRPr lang="en-US" sz="1000" dirty="0"/>
          </a:p>
        </p:txBody>
      </p:sp>
      <p:sp>
        <p:nvSpPr>
          <p:cNvPr id="8" name="Shape 6"/>
          <p:cNvSpPr/>
          <p:nvPr/>
        </p:nvSpPr>
        <p:spPr>
          <a:xfrm>
            <a:off x="731520" y="6419088"/>
            <a:ext cx="10728655" cy="18288"/>
          </a:xfrm>
          <a:prstGeom prst="rect">
            <a:avLst/>
          </a:prstGeom>
          <a:solidFill>
            <a:srgbClr val="CBD5E1"/>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334155"/>
                </a:solidFill>
                <a:latin typeface="Arial" pitchFamily="34" charset="0"/>
                <a:ea typeface="Arial" pitchFamily="34" charset="-122"/>
                <a:cs typeface="Arial" pitchFamily="34" charset="-120"/>
              </a:rPr>
              <a:t>UPTD KST SOLO TECHNOPARK  |  BRIDA KOTA SURAKARTA  •  Bahan Paparan Resmi Walikota (Edisi V7 Light)</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0369A1"/>
                </a:solidFill>
                <a:latin typeface="Arial" pitchFamily="34" charset="0"/>
                <a:ea typeface="Arial" pitchFamily="34" charset="-122"/>
                <a:cs typeface="Arial" pitchFamily="34" charset="-120"/>
              </a:rPr>
              <a:t>Slide 03 / 12</a:t>
            </a:r>
            <a:endParaRPr lang="en-US" sz="900" dirty="0"/>
          </a:p>
        </p:txBody>
      </p:sp>
      <p:sp>
        <p:nvSpPr>
          <p:cNvPr id="11" name="Shape 9"/>
          <p:cNvSpPr/>
          <p:nvPr/>
        </p:nvSpPr>
        <p:spPr>
          <a:xfrm>
            <a:off x="731520" y="1325880"/>
            <a:ext cx="3474720" cy="4023360"/>
          </a:xfrm>
          <a:prstGeom prst="roundRect">
            <a:avLst>
              <a:gd name="adj" fmla="val 2105"/>
            </a:avLst>
          </a:prstGeom>
          <a:solidFill>
            <a:srgbClr val="FFFFFF"/>
          </a:solidFill>
          <a:ln w="12700">
            <a:solidFill>
              <a:srgbClr val="CBD5E1"/>
            </a:solidFill>
            <a:prstDash val="solid"/>
          </a:ln>
        </p:spPr>
      </p:sp>
      <p:sp>
        <p:nvSpPr>
          <p:cNvPr id="12" name="Shape 10"/>
          <p:cNvSpPr/>
          <p:nvPr/>
        </p:nvSpPr>
        <p:spPr>
          <a:xfrm>
            <a:off x="731520" y="1325880"/>
            <a:ext cx="73152" cy="4023360"/>
          </a:xfrm>
          <a:prstGeom prst="roundRect">
            <a:avLst>
              <a:gd name="adj" fmla="val 50000"/>
            </a:avLst>
          </a:prstGeom>
          <a:solidFill>
            <a:srgbClr val="0284C7"/>
          </a:solidFill>
          <a:ln w="12700">
            <a:solidFill>
              <a:srgbClr val="0284C7"/>
            </a:solidFill>
            <a:prstDash val="solid"/>
          </a:ln>
        </p:spPr>
      </p:sp>
      <p:sp>
        <p:nvSpPr>
          <p:cNvPr id="13" name="Shape 11"/>
          <p:cNvSpPr/>
          <p:nvPr/>
        </p:nvSpPr>
        <p:spPr>
          <a:xfrm>
            <a:off x="914400" y="1508760"/>
            <a:ext cx="3108960" cy="502920"/>
          </a:xfrm>
          <a:prstGeom prst="roundRect">
            <a:avLst>
              <a:gd name="adj" fmla="val 9091"/>
            </a:avLst>
          </a:prstGeom>
          <a:solidFill>
            <a:srgbClr val="F1F5F9"/>
          </a:solidFill>
          <a:ln w="12700">
            <a:solidFill>
              <a:srgbClr val="0284C7"/>
            </a:solidFill>
            <a:prstDash val="solid"/>
          </a:ln>
        </p:spPr>
      </p:sp>
      <p:sp>
        <p:nvSpPr>
          <p:cNvPr id="14" name="Text 12"/>
          <p:cNvSpPr/>
          <p:nvPr/>
        </p:nvSpPr>
        <p:spPr>
          <a:xfrm>
            <a:off x="914400" y="1536192"/>
            <a:ext cx="3108960" cy="256032"/>
          </a:xfrm>
          <a:prstGeom prst="rect">
            <a:avLst/>
          </a:prstGeom>
          <a:noFill/>
          <a:ln/>
        </p:spPr>
        <p:txBody>
          <a:bodyPr wrap="square" rtlCol="0" anchor="ctr"/>
          <a:lstStyle/>
          <a:p>
            <a:pPr algn="ctr" indent="0" marL="0">
              <a:buNone/>
            </a:pPr>
            <a:r>
              <a:rPr lang="en-US" sz="1100" b="1" dirty="0">
                <a:solidFill>
                  <a:srgbClr val="0F172A"/>
                </a:solidFill>
                <a:latin typeface="Arial" pitchFamily="34" charset="0"/>
                <a:ea typeface="Arial" pitchFamily="34" charset="-122"/>
                <a:cs typeface="Arial" pitchFamily="34" charset="-120"/>
              </a:rPr>
              <a:t>PERMENDAGRI 79/2018</a:t>
            </a:r>
            <a:endParaRPr lang="en-US" sz="1100" dirty="0"/>
          </a:p>
        </p:txBody>
      </p:sp>
      <p:sp>
        <p:nvSpPr>
          <p:cNvPr id="15" name="Text 13"/>
          <p:cNvSpPr/>
          <p:nvPr/>
        </p:nvSpPr>
        <p:spPr>
          <a:xfrm>
            <a:off x="914400" y="1783080"/>
            <a:ext cx="3108960" cy="201168"/>
          </a:xfrm>
          <a:prstGeom prst="rect">
            <a:avLst/>
          </a:prstGeom>
          <a:noFill/>
          <a:ln/>
        </p:spPr>
        <p:txBody>
          <a:bodyPr wrap="square" rtlCol="0" anchor="ctr"/>
          <a:lstStyle/>
          <a:p>
            <a:pPr algn="ctr" indent="0" marL="0">
              <a:buNone/>
            </a:pPr>
            <a:r>
              <a:rPr lang="en-US" sz="850" b="1" dirty="0">
                <a:solidFill>
                  <a:srgbClr val="0284C7"/>
                </a:solidFill>
                <a:latin typeface="Arial" pitchFamily="34" charset="0"/>
                <a:ea typeface="Arial" pitchFamily="34" charset="-122"/>
                <a:cs typeface="Arial" pitchFamily="34" charset="-120"/>
              </a:rPr>
              <a:t>Tata Kelola Keuangan BLUD</a:t>
            </a:r>
            <a:endParaRPr lang="en-US" sz="850" dirty="0"/>
          </a:p>
        </p:txBody>
      </p:sp>
      <p:sp>
        <p:nvSpPr>
          <p:cNvPr id="16" name="Shape 14"/>
          <p:cNvSpPr/>
          <p:nvPr/>
        </p:nvSpPr>
        <p:spPr>
          <a:xfrm>
            <a:off x="914400" y="2148840"/>
            <a:ext cx="3108960" cy="1325880"/>
          </a:xfrm>
          <a:prstGeom prst="roundRect">
            <a:avLst>
              <a:gd name="adj" fmla="val 2759"/>
            </a:avLst>
          </a:prstGeom>
          <a:solidFill>
            <a:srgbClr val="F8FAFC"/>
          </a:solidFill>
          <a:ln w="12700">
            <a:solidFill>
              <a:srgbClr val="CBD5E1"/>
            </a:solidFill>
            <a:prstDash val="solid"/>
          </a:ln>
        </p:spPr>
      </p:sp>
      <p:sp>
        <p:nvSpPr>
          <p:cNvPr id="17" name="Text 15"/>
          <p:cNvSpPr/>
          <p:nvPr/>
        </p:nvSpPr>
        <p:spPr>
          <a:xfrm>
            <a:off x="1005840" y="2212848"/>
            <a:ext cx="2926080" cy="1188720"/>
          </a:xfrm>
          <a:prstGeom prst="rect">
            <a:avLst/>
          </a:prstGeom>
          <a:noFill/>
          <a:ln/>
        </p:spPr>
        <p:txBody>
          <a:bodyPr wrap="square" rtlCol="0" anchor="ctr"/>
          <a:lstStyle/>
          <a:p>
            <a:pPr indent="0" marL="0">
              <a:lnSpc>
                <a:spcPts val="1200"/>
              </a:lnSpc>
              <a:buNone/>
            </a:pPr>
            <a:r>
              <a:rPr lang="en-US" sz="880" i="1" dirty="0">
                <a:solidFill>
                  <a:srgbClr val="B45309"/>
                </a:solidFill>
                <a:latin typeface="Arial" pitchFamily="34" charset="0"/>
                <a:ea typeface="Arial" pitchFamily="34" charset="-122"/>
                <a:cs typeface="Arial" pitchFamily="34" charset="-120"/>
              </a:rPr>
              <a:t>"Fleksibilitas BLUD adalah keleluasaan dalam pola pengelolaan keuangan dengan menerapkan praktik bisnis yang sehat untuk meningkatkan layanan kepada masyarakat tanpa mencari keuntungan semata."</a:t>
            </a:r>
            <a:endParaRPr lang="en-US" sz="880" dirty="0"/>
          </a:p>
        </p:txBody>
      </p:sp>
      <p:sp>
        <p:nvSpPr>
          <p:cNvPr id="18" name="Text 16"/>
          <p:cNvSpPr/>
          <p:nvPr/>
        </p:nvSpPr>
        <p:spPr>
          <a:xfrm>
            <a:off x="914400" y="3611880"/>
            <a:ext cx="3108960" cy="1600200"/>
          </a:xfrm>
          <a:prstGeom prst="rect">
            <a:avLst/>
          </a:prstGeom>
          <a:noFill/>
          <a:ln/>
        </p:spPr>
        <p:txBody>
          <a:bodyPr wrap="square" rtlCol="0" anchor="ctr"/>
          <a:lstStyle/>
          <a:p>
            <a:pPr indent="0" marL="0">
              <a:lnSpc>
                <a:spcPts val="1300"/>
              </a:lnSpc>
              <a:buNone/>
            </a:pPr>
            <a:r>
              <a:rPr lang="en-US" sz="920" dirty="0">
                <a:solidFill>
                  <a:srgbClr val="0F172A"/>
                </a:solidFill>
                <a:latin typeface="Arial" pitchFamily="34" charset="0"/>
                <a:ea typeface="Arial" pitchFamily="34" charset="-122"/>
                <a:cs typeface="Arial" pitchFamily="34" charset="-120"/>
              </a:rPr>
              <a:t>✅  Keleluasaan bermitra dengan swasta tanpa birokrasi kaku APBD</a:t>
            </a:r>
            <a:endParaRPr lang="en-US" sz="920" dirty="0"/>
          </a:p>
          <a:p>
            <a:pPr indent="0" marL="0">
              <a:lnSpc>
                <a:spcPts val="1300"/>
              </a:lnSpc>
              <a:buNone/>
            </a:pPr>
            <a:endParaRPr lang="en-US" sz="920" dirty="0"/>
          </a:p>
          <a:p>
            <a:pPr indent="0" marL="0">
              <a:lnSpc>
                <a:spcPts val="1300"/>
              </a:lnSpc>
              <a:buNone/>
            </a:pPr>
            <a:r>
              <a:rPr lang="en-US" sz="920" dirty="0">
                <a:solidFill>
                  <a:srgbClr val="0F172A"/>
                </a:solidFill>
                <a:latin typeface="Arial" pitchFamily="34" charset="0"/>
                <a:ea typeface="Arial" pitchFamily="34" charset="-122"/>
                <a:cs typeface="Arial" pitchFamily="34" charset="-120"/>
              </a:rPr>
              <a:t>✅  Mengelola dan memutar pendapatan fungsional jasa secara mandiri</a:t>
            </a:r>
            <a:endParaRPr lang="en-US" sz="920" dirty="0"/>
          </a:p>
          <a:p>
            <a:pPr indent="0" marL="0">
              <a:lnSpc>
                <a:spcPts val="1300"/>
              </a:lnSpc>
              <a:buNone/>
            </a:pPr>
            <a:endParaRPr lang="en-US" sz="920" dirty="0"/>
          </a:p>
          <a:p>
            <a:pPr indent="0" marL="0">
              <a:lnSpc>
                <a:spcPts val="1300"/>
              </a:lnSpc>
              <a:buNone/>
            </a:pPr>
            <a:r>
              <a:rPr lang="en-US" sz="920" dirty="0">
                <a:solidFill>
                  <a:srgbClr val="0F172A"/>
                </a:solidFill>
                <a:latin typeface="Arial" pitchFamily="34" charset="0"/>
                <a:ea typeface="Arial" pitchFamily="34" charset="-122"/>
                <a:cs typeface="Arial" pitchFamily="34" charset="-120"/>
              </a:rPr>
              <a:t>✅  Rekrutmen tenaga ahli &amp; instruktur profesional sesuai kebutuhan pasar</a:t>
            </a:r>
            <a:endParaRPr lang="en-US" sz="920" dirty="0"/>
          </a:p>
        </p:txBody>
      </p:sp>
      <p:sp>
        <p:nvSpPr>
          <p:cNvPr id="19" name="Shape 17"/>
          <p:cNvSpPr/>
          <p:nvPr/>
        </p:nvSpPr>
        <p:spPr>
          <a:xfrm>
            <a:off x="4343400" y="1325880"/>
            <a:ext cx="3474720" cy="4023360"/>
          </a:xfrm>
          <a:prstGeom prst="roundRect">
            <a:avLst>
              <a:gd name="adj" fmla="val 2105"/>
            </a:avLst>
          </a:prstGeom>
          <a:solidFill>
            <a:srgbClr val="FFFFFF"/>
          </a:solidFill>
          <a:ln w="12700">
            <a:solidFill>
              <a:srgbClr val="CBD5E1"/>
            </a:solidFill>
            <a:prstDash val="solid"/>
          </a:ln>
        </p:spPr>
      </p:sp>
      <p:sp>
        <p:nvSpPr>
          <p:cNvPr id="20" name="Shape 18"/>
          <p:cNvSpPr/>
          <p:nvPr/>
        </p:nvSpPr>
        <p:spPr>
          <a:xfrm>
            <a:off x="4343400" y="1325880"/>
            <a:ext cx="73152" cy="4023360"/>
          </a:xfrm>
          <a:prstGeom prst="roundRect">
            <a:avLst>
              <a:gd name="adj" fmla="val 50000"/>
            </a:avLst>
          </a:prstGeom>
          <a:solidFill>
            <a:srgbClr val="D97706"/>
          </a:solidFill>
          <a:ln w="12700">
            <a:solidFill>
              <a:srgbClr val="D97706"/>
            </a:solidFill>
            <a:prstDash val="solid"/>
          </a:ln>
        </p:spPr>
      </p:sp>
      <p:sp>
        <p:nvSpPr>
          <p:cNvPr id="21" name="Shape 19"/>
          <p:cNvSpPr/>
          <p:nvPr/>
        </p:nvSpPr>
        <p:spPr>
          <a:xfrm>
            <a:off x="4526280" y="1508760"/>
            <a:ext cx="3108960" cy="502920"/>
          </a:xfrm>
          <a:prstGeom prst="roundRect">
            <a:avLst>
              <a:gd name="adj" fmla="val 9091"/>
            </a:avLst>
          </a:prstGeom>
          <a:solidFill>
            <a:srgbClr val="F1F5F9"/>
          </a:solidFill>
          <a:ln w="12700">
            <a:solidFill>
              <a:srgbClr val="D97706"/>
            </a:solidFill>
            <a:prstDash val="solid"/>
          </a:ln>
        </p:spPr>
      </p:sp>
      <p:sp>
        <p:nvSpPr>
          <p:cNvPr id="22" name="Text 20"/>
          <p:cNvSpPr/>
          <p:nvPr/>
        </p:nvSpPr>
        <p:spPr>
          <a:xfrm>
            <a:off x="4526280" y="1536192"/>
            <a:ext cx="3108960" cy="256032"/>
          </a:xfrm>
          <a:prstGeom prst="rect">
            <a:avLst/>
          </a:prstGeom>
          <a:noFill/>
          <a:ln/>
        </p:spPr>
        <p:txBody>
          <a:bodyPr wrap="square" rtlCol="0" anchor="ctr"/>
          <a:lstStyle/>
          <a:p>
            <a:pPr algn="ctr" indent="0" marL="0">
              <a:buNone/>
            </a:pPr>
            <a:r>
              <a:rPr lang="en-US" sz="1100" b="1" dirty="0">
                <a:solidFill>
                  <a:srgbClr val="0F172A"/>
                </a:solidFill>
                <a:latin typeface="Arial" pitchFamily="34" charset="0"/>
                <a:ea typeface="Arial" pitchFamily="34" charset="-122"/>
                <a:cs typeface="Arial" pitchFamily="34" charset="-120"/>
              </a:rPr>
              <a:t>PERPRES 106/2017</a:t>
            </a:r>
            <a:endParaRPr lang="en-US" sz="1100" dirty="0"/>
          </a:p>
        </p:txBody>
      </p:sp>
      <p:sp>
        <p:nvSpPr>
          <p:cNvPr id="23" name="Text 21"/>
          <p:cNvSpPr/>
          <p:nvPr/>
        </p:nvSpPr>
        <p:spPr>
          <a:xfrm>
            <a:off x="4526280" y="1783080"/>
            <a:ext cx="3108960" cy="201168"/>
          </a:xfrm>
          <a:prstGeom prst="rect">
            <a:avLst/>
          </a:prstGeom>
          <a:noFill/>
          <a:ln/>
        </p:spPr>
        <p:txBody>
          <a:bodyPr wrap="square" rtlCol="0" anchor="ctr"/>
          <a:lstStyle/>
          <a:p>
            <a:pPr algn="ctr" indent="0" marL="0">
              <a:buNone/>
            </a:pPr>
            <a:r>
              <a:rPr lang="en-US" sz="850" b="1" dirty="0">
                <a:solidFill>
                  <a:srgbClr val="D97706"/>
                </a:solidFill>
                <a:latin typeface="Arial" pitchFamily="34" charset="0"/>
                <a:ea typeface="Arial" pitchFamily="34" charset="-122"/>
                <a:cs typeface="Arial" pitchFamily="34" charset="-120"/>
              </a:rPr>
              <a:t>Kawasan Sains &amp; Teknologi (KST)</a:t>
            </a:r>
            <a:endParaRPr lang="en-US" sz="850" dirty="0"/>
          </a:p>
        </p:txBody>
      </p:sp>
      <p:sp>
        <p:nvSpPr>
          <p:cNvPr id="24" name="Shape 22"/>
          <p:cNvSpPr/>
          <p:nvPr/>
        </p:nvSpPr>
        <p:spPr>
          <a:xfrm>
            <a:off x="4526280" y="2148840"/>
            <a:ext cx="3108960" cy="1325880"/>
          </a:xfrm>
          <a:prstGeom prst="roundRect">
            <a:avLst>
              <a:gd name="adj" fmla="val 2759"/>
            </a:avLst>
          </a:prstGeom>
          <a:solidFill>
            <a:srgbClr val="F8FAFC"/>
          </a:solidFill>
          <a:ln w="12700">
            <a:solidFill>
              <a:srgbClr val="CBD5E1"/>
            </a:solidFill>
            <a:prstDash val="solid"/>
          </a:ln>
        </p:spPr>
      </p:sp>
      <p:sp>
        <p:nvSpPr>
          <p:cNvPr id="25" name="Text 23"/>
          <p:cNvSpPr/>
          <p:nvPr/>
        </p:nvSpPr>
        <p:spPr>
          <a:xfrm>
            <a:off x="4617720" y="2212848"/>
            <a:ext cx="2926080" cy="1188720"/>
          </a:xfrm>
          <a:prstGeom prst="rect">
            <a:avLst/>
          </a:prstGeom>
          <a:noFill/>
          <a:ln/>
        </p:spPr>
        <p:txBody>
          <a:bodyPr wrap="square" rtlCol="0" anchor="ctr"/>
          <a:lstStyle/>
          <a:p>
            <a:pPr indent="0" marL="0">
              <a:lnSpc>
                <a:spcPts val="1200"/>
              </a:lnSpc>
              <a:buNone/>
            </a:pPr>
            <a:r>
              <a:rPr lang="en-US" sz="880" i="1" dirty="0">
                <a:solidFill>
                  <a:srgbClr val="B45309"/>
                </a:solidFill>
                <a:latin typeface="Arial" pitchFamily="34" charset="0"/>
                <a:ea typeface="Arial" pitchFamily="34" charset="-122"/>
                <a:cs typeface="Arial" pitchFamily="34" charset="-120"/>
              </a:rPr>
              <a:t>"KST berfungsi sebagai wahana kerja sama riset berkelanjutan antara Pemerintah, PT, dan Industri, wajib menyediakan 4 layanan: Teknis, Teknologi, Inkubasi, &amp; Pendukung."</a:t>
            </a:r>
            <a:endParaRPr lang="en-US" sz="880" dirty="0"/>
          </a:p>
        </p:txBody>
      </p:sp>
      <p:sp>
        <p:nvSpPr>
          <p:cNvPr id="26" name="Text 24"/>
          <p:cNvSpPr/>
          <p:nvPr/>
        </p:nvSpPr>
        <p:spPr>
          <a:xfrm>
            <a:off x="4526280" y="3611880"/>
            <a:ext cx="3108960" cy="1600200"/>
          </a:xfrm>
          <a:prstGeom prst="rect">
            <a:avLst/>
          </a:prstGeom>
          <a:noFill/>
          <a:ln/>
        </p:spPr>
        <p:txBody>
          <a:bodyPr wrap="square" rtlCol="0" anchor="ctr"/>
          <a:lstStyle/>
          <a:p>
            <a:pPr indent="0" marL="0">
              <a:lnSpc>
                <a:spcPts val="1300"/>
              </a:lnSpc>
              <a:buNone/>
            </a:pPr>
            <a:r>
              <a:rPr lang="en-US" sz="920" dirty="0">
                <a:solidFill>
                  <a:srgbClr val="0F172A"/>
                </a:solidFill>
                <a:latin typeface="Arial" pitchFamily="34" charset="0"/>
                <a:ea typeface="Arial" pitchFamily="34" charset="-122"/>
                <a:cs typeface="Arial" pitchFamily="34" charset="-120"/>
              </a:rPr>
              <a:t>✅  Mandat nasional fasilitasi hilirisasi &amp; spin-off perusahaan riset</a:t>
            </a:r>
            <a:endParaRPr lang="en-US" sz="920" dirty="0"/>
          </a:p>
          <a:p>
            <a:pPr indent="0" marL="0">
              <a:lnSpc>
                <a:spcPts val="1300"/>
              </a:lnSpc>
              <a:buNone/>
            </a:pPr>
            <a:endParaRPr lang="en-US" sz="920" dirty="0"/>
          </a:p>
          <a:p>
            <a:pPr indent="0" marL="0">
              <a:lnSpc>
                <a:spcPts val="1300"/>
              </a:lnSpc>
              <a:buNone/>
            </a:pPr>
            <a:r>
              <a:rPr lang="en-US" sz="920" dirty="0">
                <a:solidFill>
                  <a:srgbClr val="0F172A"/>
                </a:solidFill>
                <a:latin typeface="Arial" pitchFamily="34" charset="0"/>
                <a:ea typeface="Arial" pitchFamily="34" charset="-122"/>
                <a:cs typeface="Arial" pitchFamily="34" charset="-120"/>
              </a:rPr>
              <a:t>✅  Kewajiban menyediakan 4 pilar layanan iptek terintegrasi</a:t>
            </a:r>
            <a:endParaRPr lang="en-US" sz="920" dirty="0"/>
          </a:p>
          <a:p>
            <a:pPr indent="0" marL="0">
              <a:lnSpc>
                <a:spcPts val="1300"/>
              </a:lnSpc>
              <a:buNone/>
            </a:pPr>
            <a:endParaRPr lang="en-US" sz="920" dirty="0"/>
          </a:p>
          <a:p>
            <a:pPr indent="0" marL="0">
              <a:lnSpc>
                <a:spcPts val="1300"/>
              </a:lnSpc>
              <a:buNone/>
            </a:pPr>
            <a:r>
              <a:rPr lang="en-US" sz="920" dirty="0">
                <a:solidFill>
                  <a:srgbClr val="0F172A"/>
                </a:solidFill>
                <a:latin typeface="Arial" pitchFamily="34" charset="0"/>
                <a:ea typeface="Arial" pitchFamily="34" charset="-122"/>
                <a:cs typeface="Arial" pitchFamily="34" charset="-120"/>
              </a:rPr>
              <a:t>✅  Landasan kolaborasi hexahelix multi-stakeholder formal</a:t>
            </a:r>
            <a:endParaRPr lang="en-US" sz="920" dirty="0"/>
          </a:p>
        </p:txBody>
      </p:sp>
      <p:sp>
        <p:nvSpPr>
          <p:cNvPr id="27" name="Shape 25"/>
          <p:cNvSpPr/>
          <p:nvPr/>
        </p:nvSpPr>
        <p:spPr>
          <a:xfrm>
            <a:off x="7955280" y="1325880"/>
            <a:ext cx="3474720" cy="4023360"/>
          </a:xfrm>
          <a:prstGeom prst="roundRect">
            <a:avLst>
              <a:gd name="adj" fmla="val 2105"/>
            </a:avLst>
          </a:prstGeom>
          <a:solidFill>
            <a:srgbClr val="FFFFFF"/>
          </a:solidFill>
          <a:ln w="12700">
            <a:solidFill>
              <a:srgbClr val="CBD5E1"/>
            </a:solidFill>
            <a:prstDash val="solid"/>
          </a:ln>
        </p:spPr>
      </p:sp>
      <p:sp>
        <p:nvSpPr>
          <p:cNvPr id="28" name="Shape 26"/>
          <p:cNvSpPr/>
          <p:nvPr/>
        </p:nvSpPr>
        <p:spPr>
          <a:xfrm>
            <a:off x="7955280" y="1325880"/>
            <a:ext cx="73152" cy="4023360"/>
          </a:xfrm>
          <a:prstGeom prst="roundRect">
            <a:avLst>
              <a:gd name="adj" fmla="val 50000"/>
            </a:avLst>
          </a:prstGeom>
          <a:solidFill>
            <a:srgbClr val="059669"/>
          </a:solidFill>
          <a:ln w="12700">
            <a:solidFill>
              <a:srgbClr val="059669"/>
            </a:solidFill>
            <a:prstDash val="solid"/>
          </a:ln>
        </p:spPr>
      </p:sp>
      <p:sp>
        <p:nvSpPr>
          <p:cNvPr id="29" name="Shape 27"/>
          <p:cNvSpPr/>
          <p:nvPr/>
        </p:nvSpPr>
        <p:spPr>
          <a:xfrm>
            <a:off x="8138160" y="1508760"/>
            <a:ext cx="3108960" cy="502920"/>
          </a:xfrm>
          <a:prstGeom prst="roundRect">
            <a:avLst>
              <a:gd name="adj" fmla="val 9091"/>
            </a:avLst>
          </a:prstGeom>
          <a:solidFill>
            <a:srgbClr val="F1F5F9"/>
          </a:solidFill>
          <a:ln w="12700">
            <a:solidFill>
              <a:srgbClr val="059669"/>
            </a:solidFill>
            <a:prstDash val="solid"/>
          </a:ln>
        </p:spPr>
      </p:sp>
      <p:sp>
        <p:nvSpPr>
          <p:cNvPr id="30" name="Text 28"/>
          <p:cNvSpPr/>
          <p:nvPr/>
        </p:nvSpPr>
        <p:spPr>
          <a:xfrm>
            <a:off x="8138160" y="1536192"/>
            <a:ext cx="3108960" cy="256032"/>
          </a:xfrm>
          <a:prstGeom prst="rect">
            <a:avLst/>
          </a:prstGeom>
          <a:noFill/>
          <a:ln/>
        </p:spPr>
        <p:txBody>
          <a:bodyPr wrap="square" rtlCol="0" anchor="ctr"/>
          <a:lstStyle/>
          <a:p>
            <a:pPr algn="ctr" indent="0" marL="0">
              <a:buNone/>
            </a:pPr>
            <a:r>
              <a:rPr lang="en-US" sz="1100" b="1" dirty="0">
                <a:solidFill>
                  <a:srgbClr val="0F172A"/>
                </a:solidFill>
                <a:latin typeface="Arial" pitchFamily="34" charset="0"/>
                <a:ea typeface="Arial" pitchFamily="34" charset="-122"/>
                <a:cs typeface="Arial" pitchFamily="34" charset="-120"/>
              </a:rPr>
              <a:t>PERWALI 15 &amp; 38/2022</a:t>
            </a:r>
            <a:endParaRPr lang="en-US" sz="1100" dirty="0"/>
          </a:p>
        </p:txBody>
      </p:sp>
      <p:sp>
        <p:nvSpPr>
          <p:cNvPr id="31" name="Text 29"/>
          <p:cNvSpPr/>
          <p:nvPr/>
        </p:nvSpPr>
        <p:spPr>
          <a:xfrm>
            <a:off x="8138160" y="1783080"/>
            <a:ext cx="3108960" cy="201168"/>
          </a:xfrm>
          <a:prstGeom prst="rect">
            <a:avLst/>
          </a:prstGeom>
          <a:noFill/>
          <a:ln/>
        </p:spPr>
        <p:txBody>
          <a:bodyPr wrap="square" rtlCol="0" anchor="ctr"/>
          <a:lstStyle/>
          <a:p>
            <a:pPr algn="ctr" indent="0" marL="0">
              <a:buNone/>
            </a:pPr>
            <a:r>
              <a:rPr lang="en-US" sz="850" b="1" dirty="0">
                <a:solidFill>
                  <a:srgbClr val="059669"/>
                </a:solidFill>
                <a:latin typeface="Arial" pitchFamily="34" charset="0"/>
                <a:ea typeface="Arial" pitchFamily="34" charset="-122"/>
                <a:cs typeface="Arial" pitchFamily="34" charset="-120"/>
              </a:rPr>
              <a:t>Struktur UPTD &amp; Pola Tata Kelola</a:t>
            </a:r>
            <a:endParaRPr lang="en-US" sz="850" dirty="0"/>
          </a:p>
        </p:txBody>
      </p:sp>
      <p:sp>
        <p:nvSpPr>
          <p:cNvPr id="32" name="Shape 30"/>
          <p:cNvSpPr/>
          <p:nvPr/>
        </p:nvSpPr>
        <p:spPr>
          <a:xfrm>
            <a:off x="8138160" y="2148840"/>
            <a:ext cx="3108960" cy="1325880"/>
          </a:xfrm>
          <a:prstGeom prst="roundRect">
            <a:avLst>
              <a:gd name="adj" fmla="val 2759"/>
            </a:avLst>
          </a:prstGeom>
          <a:solidFill>
            <a:srgbClr val="F8FAFC"/>
          </a:solidFill>
          <a:ln w="12700">
            <a:solidFill>
              <a:srgbClr val="CBD5E1"/>
            </a:solidFill>
            <a:prstDash val="solid"/>
          </a:ln>
        </p:spPr>
      </p:sp>
      <p:sp>
        <p:nvSpPr>
          <p:cNvPr id="33" name="Text 31"/>
          <p:cNvSpPr/>
          <p:nvPr/>
        </p:nvSpPr>
        <p:spPr>
          <a:xfrm>
            <a:off x="8229600" y="2212848"/>
            <a:ext cx="2926080" cy="1188720"/>
          </a:xfrm>
          <a:prstGeom prst="rect">
            <a:avLst/>
          </a:prstGeom>
          <a:noFill/>
          <a:ln/>
        </p:spPr>
        <p:txBody>
          <a:bodyPr wrap="square" rtlCol="0" anchor="ctr"/>
          <a:lstStyle/>
          <a:p>
            <a:pPr indent="0" marL="0">
              <a:lnSpc>
                <a:spcPts val="1200"/>
              </a:lnSpc>
              <a:buNone/>
            </a:pPr>
            <a:r>
              <a:rPr lang="en-US" sz="880" i="1" dirty="0">
                <a:solidFill>
                  <a:srgbClr val="B45309"/>
                </a:solidFill>
                <a:latin typeface="Arial" pitchFamily="34" charset="0"/>
                <a:ea typeface="Arial" pitchFamily="34" charset="-122"/>
                <a:cs typeface="Arial" pitchFamily="34" charset="-120"/>
              </a:rPr>
              <a:t>"Menetapkan struktur UPTD KST Solo Technopark dalam naungan BRIDA Kota Surakarta dengan pola tata kelola BLUD profesional berorientasi layanan publik."</a:t>
            </a:r>
            <a:endParaRPr lang="en-US" sz="880" dirty="0"/>
          </a:p>
        </p:txBody>
      </p:sp>
      <p:sp>
        <p:nvSpPr>
          <p:cNvPr id="34" name="Text 32"/>
          <p:cNvSpPr/>
          <p:nvPr/>
        </p:nvSpPr>
        <p:spPr>
          <a:xfrm>
            <a:off x="8138160" y="3611880"/>
            <a:ext cx="3108960" cy="1600200"/>
          </a:xfrm>
          <a:prstGeom prst="rect">
            <a:avLst/>
          </a:prstGeom>
          <a:noFill/>
          <a:ln/>
        </p:spPr>
        <p:txBody>
          <a:bodyPr wrap="square" rtlCol="0" anchor="ctr"/>
          <a:lstStyle/>
          <a:p>
            <a:pPr indent="0" marL="0">
              <a:lnSpc>
                <a:spcPts val="1300"/>
              </a:lnSpc>
              <a:buNone/>
            </a:pPr>
            <a:r>
              <a:rPr lang="en-US" sz="920" dirty="0">
                <a:solidFill>
                  <a:srgbClr val="0F172A"/>
                </a:solidFill>
                <a:latin typeface="Arial" pitchFamily="34" charset="0"/>
                <a:ea typeface="Arial" pitchFamily="34" charset="-122"/>
                <a:cs typeface="Arial" pitchFamily="34" charset="-120"/>
              </a:rPr>
              <a:t>✅  Payung hukum operasional tingkat kota yang sah dan mengikat</a:t>
            </a:r>
            <a:endParaRPr lang="en-US" sz="920" dirty="0"/>
          </a:p>
          <a:p>
            <a:pPr indent="0" marL="0">
              <a:lnSpc>
                <a:spcPts val="1300"/>
              </a:lnSpc>
              <a:buNone/>
            </a:pPr>
            <a:endParaRPr lang="en-US" sz="920" dirty="0"/>
          </a:p>
          <a:p>
            <a:pPr indent="0" marL="0">
              <a:lnSpc>
                <a:spcPts val="1300"/>
              </a:lnSpc>
              <a:buNone/>
            </a:pPr>
            <a:r>
              <a:rPr lang="en-US" sz="920" dirty="0">
                <a:solidFill>
                  <a:srgbClr val="0F172A"/>
                </a:solidFill>
                <a:latin typeface="Arial" pitchFamily="34" charset="0"/>
                <a:ea typeface="Arial" pitchFamily="34" charset="-122"/>
                <a:cs typeface="Arial" pitchFamily="34" charset="-120"/>
              </a:rPr>
              <a:t>✅  Pembagian peran teknis yang presisi antara BRIDA dan STP</a:t>
            </a:r>
            <a:endParaRPr lang="en-US" sz="920" dirty="0"/>
          </a:p>
          <a:p>
            <a:pPr indent="0" marL="0">
              <a:lnSpc>
                <a:spcPts val="1300"/>
              </a:lnSpc>
              <a:buNone/>
            </a:pPr>
            <a:endParaRPr lang="en-US" sz="920" dirty="0"/>
          </a:p>
          <a:p>
            <a:pPr indent="0" marL="0">
              <a:lnSpc>
                <a:spcPts val="1300"/>
              </a:lnSpc>
              <a:buNone/>
            </a:pPr>
            <a:r>
              <a:rPr lang="en-US" sz="920" dirty="0">
                <a:solidFill>
                  <a:srgbClr val="0F172A"/>
                </a:solidFill>
                <a:latin typeface="Arial" pitchFamily="34" charset="0"/>
                <a:ea typeface="Arial" pitchFamily="34" charset="-122"/>
                <a:cs typeface="Arial" pitchFamily="34" charset="-120"/>
              </a:rPr>
              <a:t>✅  Dasar legalitas pemanfaatan aset kawasan &amp; kerjasama industri</a:t>
            </a:r>
            <a:endParaRPr lang="en-US" sz="920" dirty="0"/>
          </a:p>
        </p:txBody>
      </p:sp>
      <p:sp>
        <p:nvSpPr>
          <p:cNvPr id="35" name="Shape 33"/>
          <p:cNvSpPr/>
          <p:nvPr/>
        </p:nvSpPr>
        <p:spPr>
          <a:xfrm>
            <a:off x="731520" y="5486400"/>
            <a:ext cx="10728655" cy="731520"/>
          </a:xfrm>
          <a:prstGeom prst="roundRect">
            <a:avLst>
              <a:gd name="adj" fmla="val 10000"/>
            </a:avLst>
          </a:prstGeom>
          <a:solidFill>
            <a:srgbClr val="F1F5F9"/>
          </a:solidFill>
          <a:ln w="12700">
            <a:solidFill>
              <a:srgbClr val="0284C7"/>
            </a:solidFill>
            <a:prstDash val="solid"/>
          </a:ln>
        </p:spPr>
      </p:sp>
      <p:sp>
        <p:nvSpPr>
          <p:cNvPr id="36" name="Text 34"/>
          <p:cNvSpPr/>
          <p:nvPr/>
        </p:nvSpPr>
        <p:spPr>
          <a:xfrm>
            <a:off x="914400" y="5486400"/>
            <a:ext cx="10362895" cy="731520"/>
          </a:xfrm>
          <a:prstGeom prst="rect">
            <a:avLst/>
          </a:prstGeom>
          <a:noFill/>
          <a:ln/>
        </p:spPr>
        <p:txBody>
          <a:bodyPr wrap="square" rtlCol="0" anchor="ctr"/>
          <a:lstStyle/>
          <a:p>
            <a:pPr algn="ctr" indent="0" marL="0">
              <a:buNone/>
            </a:pPr>
            <a:r>
              <a:rPr lang="en-US" sz="1050" b="1" dirty="0">
                <a:solidFill>
                  <a:srgbClr val="0F172A"/>
                </a:solidFill>
                <a:latin typeface="Arial" pitchFamily="34" charset="0"/>
                <a:ea typeface="Arial" pitchFamily="34" charset="-122"/>
                <a:cs typeface="Arial" pitchFamily="34" charset="-120"/>
              </a:rPr>
              <a:t>KESIMPULAN YURIDIS: Solo Technopark telah memiliki legitimasi hukum lengkap dari tingkat nasional (Perpres &amp; Permendagri) hingga regulasi kepala daerah (Perwali) untuk bermanuver cepat, profesional, dan akuntabel.</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84C7"/>
          </a:solidFill>
          <a:ln/>
        </p:spPr>
      </p:sp>
      <p:sp>
        <p:nvSpPr>
          <p:cNvPr id="3" name="Shape 1"/>
          <p:cNvSpPr/>
          <p:nvPr/>
        </p:nvSpPr>
        <p:spPr>
          <a:xfrm>
            <a:off x="9144000" y="0"/>
            <a:ext cx="3047695" cy="73152"/>
          </a:xfrm>
          <a:prstGeom prst="rect">
            <a:avLst/>
          </a:prstGeom>
          <a:solidFill>
            <a:srgbClr val="D97706"/>
          </a:solidFill>
          <a:ln/>
        </p:spPr>
      </p:sp>
      <p:sp>
        <p:nvSpPr>
          <p:cNvPr id="4" name="Shape 2"/>
          <p:cNvSpPr/>
          <p:nvPr/>
        </p:nvSpPr>
        <p:spPr>
          <a:xfrm>
            <a:off x="731520" y="256032"/>
            <a:ext cx="3291840" cy="237744"/>
          </a:xfrm>
          <a:prstGeom prst="roundRect">
            <a:avLst>
              <a:gd name="adj" fmla="val 19231"/>
            </a:avLst>
          </a:prstGeom>
          <a:solidFill>
            <a:srgbClr val="E0F2FE"/>
          </a:solidFill>
          <a:ln w="12700">
            <a:solidFill>
              <a:srgbClr val="0284C7"/>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0369A1"/>
                </a:solidFill>
                <a:latin typeface="Arial" pitchFamily="34" charset="0"/>
                <a:ea typeface="Arial" pitchFamily="34" charset="-122"/>
                <a:cs typeface="Arial" pitchFamily="34" charset="-120"/>
              </a:rPr>
              <a:t>MANDAT LAYANAN PERPRES 106/2017</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0F172A"/>
                </a:solidFill>
                <a:latin typeface="Arial" pitchFamily="34" charset="0"/>
                <a:ea typeface="Arial" pitchFamily="34" charset="-122"/>
                <a:cs typeface="Arial" pitchFamily="34" charset="-120"/>
              </a:rPr>
              <a:t>EMPAT PILAR LAYANAN TERINTEGRASI: MEMENUHI MANDAT KST NASIONAL</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334155"/>
                </a:solidFill>
                <a:latin typeface="Arial" pitchFamily="34" charset="0"/>
                <a:ea typeface="Arial" pitchFamily="34" charset="-122"/>
                <a:cs typeface="Arial" pitchFamily="34" charset="-120"/>
              </a:rPr>
              <a:t>Portofolio Layanan Terintegrasi yang Menjawab Kebutuhan Industri Spesialis &amp; Masyarakat Kota Surakarta</a:t>
            </a:r>
            <a:endParaRPr lang="en-US" sz="1000" dirty="0"/>
          </a:p>
        </p:txBody>
      </p:sp>
      <p:sp>
        <p:nvSpPr>
          <p:cNvPr id="8" name="Shape 6"/>
          <p:cNvSpPr/>
          <p:nvPr/>
        </p:nvSpPr>
        <p:spPr>
          <a:xfrm>
            <a:off x="731520" y="6419088"/>
            <a:ext cx="10728655" cy="18288"/>
          </a:xfrm>
          <a:prstGeom prst="rect">
            <a:avLst/>
          </a:prstGeom>
          <a:solidFill>
            <a:srgbClr val="CBD5E1"/>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334155"/>
                </a:solidFill>
                <a:latin typeface="Arial" pitchFamily="34" charset="0"/>
                <a:ea typeface="Arial" pitchFamily="34" charset="-122"/>
                <a:cs typeface="Arial" pitchFamily="34" charset="-120"/>
              </a:rPr>
              <a:t>UPTD KST SOLO TECHNOPARK  |  BRIDA KOTA SURAKARTA  •  Bahan Paparan Resmi Walikota (Edisi V7 Light)</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0369A1"/>
                </a:solidFill>
                <a:latin typeface="Arial" pitchFamily="34" charset="0"/>
                <a:ea typeface="Arial" pitchFamily="34" charset="-122"/>
                <a:cs typeface="Arial" pitchFamily="34" charset="-120"/>
              </a:rPr>
              <a:t>Slide 04 / 12</a:t>
            </a:r>
            <a:endParaRPr lang="en-US" sz="900" dirty="0"/>
          </a:p>
        </p:txBody>
      </p:sp>
      <p:sp>
        <p:nvSpPr>
          <p:cNvPr id="11" name="Shape 9"/>
          <p:cNvSpPr/>
          <p:nvPr/>
        </p:nvSpPr>
        <p:spPr>
          <a:xfrm>
            <a:off x="731520" y="1325880"/>
            <a:ext cx="5257800" cy="2148840"/>
          </a:xfrm>
          <a:prstGeom prst="roundRect">
            <a:avLst>
              <a:gd name="adj" fmla="val 3404"/>
            </a:avLst>
          </a:prstGeom>
          <a:solidFill>
            <a:srgbClr val="FFFFFF"/>
          </a:solidFill>
          <a:ln w="12700">
            <a:solidFill>
              <a:srgbClr val="CBD5E1"/>
            </a:solidFill>
            <a:prstDash val="solid"/>
          </a:ln>
        </p:spPr>
      </p:sp>
      <p:sp>
        <p:nvSpPr>
          <p:cNvPr id="12" name="Shape 10"/>
          <p:cNvSpPr/>
          <p:nvPr/>
        </p:nvSpPr>
        <p:spPr>
          <a:xfrm>
            <a:off x="731520" y="1325880"/>
            <a:ext cx="73152" cy="2148840"/>
          </a:xfrm>
          <a:prstGeom prst="roundRect">
            <a:avLst>
              <a:gd name="adj" fmla="val 50000"/>
            </a:avLst>
          </a:prstGeom>
          <a:solidFill>
            <a:srgbClr val="0284C7"/>
          </a:solidFill>
          <a:ln w="12700">
            <a:solidFill>
              <a:srgbClr val="0284C7"/>
            </a:solidFill>
            <a:prstDash val="solid"/>
          </a:ln>
        </p:spPr>
      </p:sp>
      <p:sp>
        <p:nvSpPr>
          <p:cNvPr id="13" name="Shape 11"/>
          <p:cNvSpPr/>
          <p:nvPr/>
        </p:nvSpPr>
        <p:spPr>
          <a:xfrm>
            <a:off x="868680" y="1435608"/>
            <a:ext cx="4983480" cy="384048"/>
          </a:xfrm>
          <a:prstGeom prst="roundRect">
            <a:avLst>
              <a:gd name="adj" fmla="val 11905"/>
            </a:avLst>
          </a:prstGeom>
          <a:solidFill>
            <a:srgbClr val="F1F5F9"/>
          </a:solidFill>
          <a:ln w="12700">
            <a:solidFill>
              <a:srgbClr val="0284C7"/>
            </a:solidFill>
            <a:prstDash val="solid"/>
          </a:ln>
        </p:spPr>
      </p:sp>
      <p:sp>
        <p:nvSpPr>
          <p:cNvPr id="14" name="Text 12"/>
          <p:cNvSpPr/>
          <p:nvPr/>
        </p:nvSpPr>
        <p:spPr>
          <a:xfrm>
            <a:off x="960120" y="1435608"/>
            <a:ext cx="4846320" cy="384048"/>
          </a:xfrm>
          <a:prstGeom prst="rect">
            <a:avLst/>
          </a:prstGeom>
          <a:noFill/>
          <a:ln/>
        </p:spPr>
        <p:txBody>
          <a:bodyPr wrap="square" rtlCol="0" anchor="ctr"/>
          <a:lstStyle/>
          <a:p>
            <a:pPr indent="0" marL="0">
              <a:buNone/>
            </a:pPr>
            <a:r>
              <a:rPr lang="en-US" sz="980" b="1" dirty="0">
                <a:solidFill>
                  <a:srgbClr val="0F172A"/>
                </a:solidFill>
                <a:latin typeface="Arial" pitchFamily="34" charset="0"/>
                <a:ea typeface="Arial" pitchFamily="34" charset="-122"/>
                <a:cs typeface="Arial" pitchFamily="34" charset="-120"/>
              </a:rPr>
              <a:t>🔧  PILAR 1: LAYANAN TEKNIS (DIKLAT VOKASI INDUSTRI)</a:t>
            </a:r>
            <a:endParaRPr lang="en-US" sz="980" dirty="0"/>
          </a:p>
        </p:txBody>
      </p:sp>
      <p:sp>
        <p:nvSpPr>
          <p:cNvPr id="15" name="Text 13"/>
          <p:cNvSpPr/>
          <p:nvPr/>
        </p:nvSpPr>
        <p:spPr>
          <a:xfrm>
            <a:off x="960120" y="1874520"/>
            <a:ext cx="2423160" cy="1508760"/>
          </a:xfrm>
          <a:prstGeom prst="rect">
            <a:avLst/>
          </a:prstGeom>
          <a:noFill/>
          <a:ln/>
        </p:spPr>
        <p:txBody>
          <a:bodyPr wrap="square" rtlCol="0" anchor="ctr"/>
          <a:lstStyle/>
          <a:p>
            <a:pPr indent="0" marL="0">
              <a:lnSpc>
                <a:spcPts val="1300"/>
              </a:lnSpc>
              <a:buNone/>
            </a:pPr>
            <a:r>
              <a:rPr lang="en-US" sz="880" dirty="0">
                <a:solidFill>
                  <a:srgbClr val="334155"/>
                </a:solidFill>
                <a:latin typeface="Arial" pitchFamily="34" charset="0"/>
                <a:ea typeface="Arial" pitchFamily="34" charset="-122"/>
                <a:cs typeface="Arial" pitchFamily="34" charset="-120"/>
              </a:rPr>
              <a:t>• Mekanik, Otomasi &amp; Desain Manufaktur Presisi</a:t>
            </a:r>
            <a:endParaRPr lang="en-US" sz="880" dirty="0"/>
          </a:p>
          <a:p>
            <a:pPr indent="0" marL="0">
              <a:lnSpc>
                <a:spcPts val="1300"/>
              </a:lnSpc>
              <a:buNone/>
            </a:pPr>
            <a:endParaRPr lang="en-US" sz="880" dirty="0"/>
          </a:p>
          <a:p>
            <a:pPr indent="0" marL="0">
              <a:lnSpc>
                <a:spcPts val="1300"/>
              </a:lnSpc>
              <a:buNone/>
            </a:pPr>
            <a:r>
              <a:rPr lang="en-US" sz="880" dirty="0">
                <a:solidFill>
                  <a:srgbClr val="334155"/>
                </a:solidFill>
                <a:latin typeface="Arial" pitchFamily="34" charset="0"/>
                <a:ea typeface="Arial" pitchFamily="34" charset="-122"/>
                <a:cs typeface="Arial" pitchFamily="34" charset="-120"/>
              </a:rPr>
              <a:t>• Welding Intensif (Pengelasan Konstruksi &amp; Pipa)</a:t>
            </a:r>
            <a:endParaRPr lang="en-US" sz="880" dirty="0"/>
          </a:p>
          <a:p>
            <a:pPr indent="0" marL="0">
              <a:lnSpc>
                <a:spcPts val="1300"/>
              </a:lnSpc>
              <a:buNone/>
            </a:pPr>
            <a:endParaRPr lang="en-US" sz="880" dirty="0"/>
          </a:p>
          <a:p>
            <a:pPr indent="0" marL="0">
              <a:lnSpc>
                <a:spcPts val="1300"/>
              </a:lnSpc>
              <a:buNone/>
            </a:pPr>
            <a:r>
              <a:rPr lang="en-US" sz="880" dirty="0">
                <a:solidFill>
                  <a:srgbClr val="334155"/>
                </a:solidFill>
                <a:latin typeface="Arial" pitchFamily="34" charset="0"/>
                <a:ea typeface="Arial" pitchFamily="34" charset="-122"/>
                <a:cs typeface="Arial" pitchFamily="34" charset="-120"/>
              </a:rPr>
              <a:t>• OGSCI: Oil, Gas, Coal, Shipbuilding &amp; Infra Training</a:t>
            </a:r>
            <a:endParaRPr lang="en-US" sz="880" dirty="0"/>
          </a:p>
        </p:txBody>
      </p:sp>
      <p:sp>
        <p:nvSpPr>
          <p:cNvPr id="16" name="Text 14"/>
          <p:cNvSpPr/>
          <p:nvPr/>
        </p:nvSpPr>
        <p:spPr>
          <a:xfrm>
            <a:off x="3429000" y="1874520"/>
            <a:ext cx="2423160" cy="1508760"/>
          </a:xfrm>
          <a:prstGeom prst="rect">
            <a:avLst/>
          </a:prstGeom>
          <a:noFill/>
          <a:ln/>
        </p:spPr>
        <p:txBody>
          <a:bodyPr wrap="square" rtlCol="0" anchor="ctr"/>
          <a:lstStyle/>
          <a:p>
            <a:pPr indent="0" marL="0">
              <a:lnSpc>
                <a:spcPts val="1300"/>
              </a:lnSpc>
              <a:buNone/>
            </a:pPr>
            <a:r>
              <a:rPr lang="en-US" sz="880" dirty="0">
                <a:solidFill>
                  <a:srgbClr val="334155"/>
                </a:solidFill>
                <a:latin typeface="Arial" pitchFamily="34" charset="0"/>
                <a:ea typeface="Arial" pitchFamily="34" charset="-122"/>
                <a:cs typeface="Arial" pitchFamily="34" charset="-120"/>
              </a:rPr>
              <a:t>• Underwater Wet Welding (Keahlian Langka Nasional)</a:t>
            </a:r>
            <a:endParaRPr lang="en-US" sz="880" dirty="0"/>
          </a:p>
          <a:p>
            <a:pPr indent="0" marL="0">
              <a:lnSpc>
                <a:spcPts val="1300"/>
              </a:lnSpc>
              <a:buNone/>
            </a:pPr>
            <a:endParaRPr lang="en-US" sz="880" dirty="0"/>
          </a:p>
          <a:p>
            <a:pPr indent="0" marL="0">
              <a:lnSpc>
                <a:spcPts val="1300"/>
              </a:lnSpc>
              <a:buNone/>
            </a:pPr>
            <a:r>
              <a:rPr lang="en-US" sz="880" dirty="0">
                <a:solidFill>
                  <a:srgbClr val="334155"/>
                </a:solidFill>
                <a:latin typeface="Arial" pitchFamily="34" charset="0"/>
                <a:ea typeface="Arial" pitchFamily="34" charset="-122"/>
                <a:cs typeface="Arial" pitchFamily="34" charset="-120"/>
              </a:rPr>
              <a:t>• Teknologi Kendaraan Listrik (EV Conversion Lab)</a:t>
            </a:r>
            <a:endParaRPr lang="en-US" sz="880" dirty="0"/>
          </a:p>
          <a:p>
            <a:pPr indent="0" marL="0">
              <a:lnSpc>
                <a:spcPts val="1300"/>
              </a:lnSpc>
              <a:buNone/>
            </a:pPr>
            <a:endParaRPr lang="en-US" sz="880" dirty="0"/>
          </a:p>
          <a:p>
            <a:pPr indent="0" marL="0">
              <a:lnSpc>
                <a:spcPts val="1300"/>
              </a:lnSpc>
              <a:buNone/>
            </a:pPr>
            <a:r>
              <a:rPr lang="en-US" sz="880" dirty="0">
                <a:solidFill>
                  <a:srgbClr val="334155"/>
                </a:solidFill>
                <a:latin typeface="Arial" pitchFamily="34" charset="0"/>
                <a:ea typeface="Arial" pitchFamily="34" charset="-122"/>
                <a:cs typeface="Arial" pitchFamily="34" charset="-120"/>
              </a:rPr>
              <a:t>• Cyber Security &amp; Artificial Intelligence Practitioner</a:t>
            </a:r>
            <a:endParaRPr lang="en-US" sz="880" dirty="0"/>
          </a:p>
        </p:txBody>
      </p:sp>
      <p:sp>
        <p:nvSpPr>
          <p:cNvPr id="17" name="Shape 15"/>
          <p:cNvSpPr/>
          <p:nvPr/>
        </p:nvSpPr>
        <p:spPr>
          <a:xfrm>
            <a:off x="6172200" y="1325880"/>
            <a:ext cx="5257800" cy="2148840"/>
          </a:xfrm>
          <a:prstGeom prst="roundRect">
            <a:avLst>
              <a:gd name="adj" fmla="val 3404"/>
            </a:avLst>
          </a:prstGeom>
          <a:solidFill>
            <a:srgbClr val="FFFFFF"/>
          </a:solidFill>
          <a:ln w="12700">
            <a:solidFill>
              <a:srgbClr val="CBD5E1"/>
            </a:solidFill>
            <a:prstDash val="solid"/>
          </a:ln>
        </p:spPr>
      </p:sp>
      <p:sp>
        <p:nvSpPr>
          <p:cNvPr id="18" name="Shape 16"/>
          <p:cNvSpPr/>
          <p:nvPr/>
        </p:nvSpPr>
        <p:spPr>
          <a:xfrm>
            <a:off x="6172200" y="1325880"/>
            <a:ext cx="73152" cy="2148840"/>
          </a:xfrm>
          <a:prstGeom prst="roundRect">
            <a:avLst>
              <a:gd name="adj" fmla="val 50000"/>
            </a:avLst>
          </a:prstGeom>
          <a:solidFill>
            <a:srgbClr val="D97706"/>
          </a:solidFill>
          <a:ln w="12700">
            <a:solidFill>
              <a:srgbClr val="D97706"/>
            </a:solidFill>
            <a:prstDash val="solid"/>
          </a:ln>
        </p:spPr>
      </p:sp>
      <p:sp>
        <p:nvSpPr>
          <p:cNvPr id="19" name="Shape 17"/>
          <p:cNvSpPr/>
          <p:nvPr/>
        </p:nvSpPr>
        <p:spPr>
          <a:xfrm>
            <a:off x="6309360" y="1435608"/>
            <a:ext cx="4983480" cy="384048"/>
          </a:xfrm>
          <a:prstGeom prst="roundRect">
            <a:avLst>
              <a:gd name="adj" fmla="val 11905"/>
            </a:avLst>
          </a:prstGeom>
          <a:solidFill>
            <a:srgbClr val="F1F5F9"/>
          </a:solidFill>
          <a:ln w="12700">
            <a:solidFill>
              <a:srgbClr val="D97706"/>
            </a:solidFill>
            <a:prstDash val="solid"/>
          </a:ln>
        </p:spPr>
      </p:sp>
      <p:sp>
        <p:nvSpPr>
          <p:cNvPr id="20" name="Text 18"/>
          <p:cNvSpPr/>
          <p:nvPr/>
        </p:nvSpPr>
        <p:spPr>
          <a:xfrm>
            <a:off x="6400800" y="1435608"/>
            <a:ext cx="4846320" cy="384048"/>
          </a:xfrm>
          <a:prstGeom prst="rect">
            <a:avLst/>
          </a:prstGeom>
          <a:noFill/>
          <a:ln/>
        </p:spPr>
        <p:txBody>
          <a:bodyPr wrap="square" rtlCol="0" anchor="ctr"/>
          <a:lstStyle/>
          <a:p>
            <a:pPr indent="0" marL="0">
              <a:buNone/>
            </a:pPr>
            <a:r>
              <a:rPr lang="en-US" sz="980" b="1" dirty="0">
                <a:solidFill>
                  <a:srgbClr val="0F172A"/>
                </a:solidFill>
                <a:latin typeface="Arial" pitchFamily="34" charset="0"/>
                <a:ea typeface="Arial" pitchFamily="34" charset="-122"/>
                <a:cs typeface="Arial" pitchFamily="34" charset="-120"/>
              </a:rPr>
              <a:t>⚙️  PILAR 2: PENGEMBANGAN TEKNOLOGI (REKAYASA MANUFAKTUR)</a:t>
            </a:r>
            <a:endParaRPr lang="en-US" sz="980" dirty="0"/>
          </a:p>
        </p:txBody>
      </p:sp>
      <p:sp>
        <p:nvSpPr>
          <p:cNvPr id="21" name="Text 19"/>
          <p:cNvSpPr/>
          <p:nvPr/>
        </p:nvSpPr>
        <p:spPr>
          <a:xfrm>
            <a:off x="6400800" y="1874520"/>
            <a:ext cx="2423160" cy="1508760"/>
          </a:xfrm>
          <a:prstGeom prst="rect">
            <a:avLst/>
          </a:prstGeom>
          <a:noFill/>
          <a:ln/>
        </p:spPr>
        <p:txBody>
          <a:bodyPr wrap="square" rtlCol="0" anchor="ctr"/>
          <a:lstStyle/>
          <a:p>
            <a:pPr indent="0" marL="0">
              <a:lnSpc>
                <a:spcPts val="1300"/>
              </a:lnSpc>
              <a:buNone/>
            </a:pPr>
            <a:r>
              <a:rPr lang="en-US" sz="880" dirty="0">
                <a:solidFill>
                  <a:srgbClr val="334155"/>
                </a:solidFill>
                <a:latin typeface="Arial" pitchFamily="34" charset="0"/>
                <a:ea typeface="Arial" pitchFamily="34" charset="-122"/>
                <a:cs typeface="Arial" pitchFamily="34" charset="-120"/>
              </a:rPr>
              <a:t>• Jasa Layanan Rekayasa Industri &amp; Permesinan Presisi</a:t>
            </a:r>
            <a:endParaRPr lang="en-US" sz="880" dirty="0"/>
          </a:p>
          <a:p>
            <a:pPr indent="0" marL="0">
              <a:lnSpc>
                <a:spcPts val="1300"/>
              </a:lnSpc>
              <a:buNone/>
            </a:pPr>
            <a:endParaRPr lang="en-US" sz="880" dirty="0"/>
          </a:p>
          <a:p>
            <a:pPr indent="0" marL="0">
              <a:lnSpc>
                <a:spcPts val="1300"/>
              </a:lnSpc>
              <a:buNone/>
            </a:pPr>
            <a:r>
              <a:rPr lang="en-US" sz="880" dirty="0">
                <a:solidFill>
                  <a:srgbClr val="334155"/>
                </a:solidFill>
                <a:latin typeface="Arial" pitchFamily="34" charset="0"/>
                <a:ea typeface="Arial" pitchFamily="34" charset="-122"/>
                <a:cs typeface="Arial" pitchFamily="34" charset="-120"/>
              </a:rPr>
              <a:t>• Produksi Komponen Presisi (Precision Parts Industri)</a:t>
            </a:r>
            <a:endParaRPr lang="en-US" sz="880" dirty="0"/>
          </a:p>
          <a:p>
            <a:pPr indent="0" marL="0">
              <a:lnSpc>
                <a:spcPts val="1300"/>
              </a:lnSpc>
              <a:buNone/>
            </a:pPr>
            <a:endParaRPr lang="en-US" sz="880" dirty="0"/>
          </a:p>
          <a:p>
            <a:pPr indent="0" marL="0">
              <a:lnSpc>
                <a:spcPts val="1300"/>
              </a:lnSpc>
              <a:buNone/>
            </a:pPr>
            <a:r>
              <a:rPr lang="en-US" sz="880" dirty="0">
                <a:solidFill>
                  <a:srgbClr val="334155"/>
                </a:solidFill>
                <a:latin typeface="Arial" pitchFamily="34" charset="0"/>
                <a:ea typeface="Arial" pitchFamily="34" charset="-122"/>
                <a:cs typeface="Arial" pitchFamily="34" charset="-120"/>
              </a:rPr>
              <a:t>• Pembuatan &amp; Uji Prototipe IKM/UKM Kota Surakarta</a:t>
            </a:r>
            <a:endParaRPr lang="en-US" sz="880" dirty="0"/>
          </a:p>
        </p:txBody>
      </p:sp>
      <p:sp>
        <p:nvSpPr>
          <p:cNvPr id="22" name="Text 20"/>
          <p:cNvSpPr/>
          <p:nvPr/>
        </p:nvSpPr>
        <p:spPr>
          <a:xfrm>
            <a:off x="8869680" y="1874520"/>
            <a:ext cx="2423160" cy="1508760"/>
          </a:xfrm>
          <a:prstGeom prst="rect">
            <a:avLst/>
          </a:prstGeom>
          <a:noFill/>
          <a:ln/>
        </p:spPr>
        <p:txBody>
          <a:bodyPr wrap="square" rtlCol="0" anchor="ctr"/>
          <a:lstStyle/>
          <a:p>
            <a:pPr indent="0" marL="0">
              <a:lnSpc>
                <a:spcPts val="1300"/>
              </a:lnSpc>
              <a:buNone/>
            </a:pPr>
            <a:r>
              <a:rPr lang="en-US" sz="880" dirty="0">
                <a:solidFill>
                  <a:srgbClr val="334155"/>
                </a:solidFill>
                <a:latin typeface="Arial" pitchFamily="34" charset="0"/>
                <a:ea typeface="Arial" pitchFamily="34" charset="-122"/>
                <a:cs typeface="Arial" pitchFamily="34" charset="-120"/>
              </a:rPr>
              <a:t>• Non-Destructive Testing: Uji Penetrant Testing (NDT)</a:t>
            </a:r>
            <a:endParaRPr lang="en-US" sz="880" dirty="0"/>
          </a:p>
          <a:p>
            <a:pPr indent="0" marL="0">
              <a:lnSpc>
                <a:spcPts val="1300"/>
              </a:lnSpc>
              <a:buNone/>
            </a:pPr>
            <a:endParaRPr lang="en-US" sz="880" dirty="0"/>
          </a:p>
          <a:p>
            <a:pPr indent="0" marL="0">
              <a:lnSpc>
                <a:spcPts val="1300"/>
              </a:lnSpc>
              <a:buNone/>
            </a:pPr>
            <a:r>
              <a:rPr lang="en-US" sz="880" dirty="0">
                <a:solidFill>
                  <a:srgbClr val="334155"/>
                </a:solidFill>
                <a:latin typeface="Arial" pitchFamily="34" charset="0"/>
                <a:ea typeface="Arial" pitchFamily="34" charset="-122"/>
                <a:cs typeface="Arial" pitchFamily="34" charset="-120"/>
              </a:rPr>
              <a:t>• Konsultasi Laboratorium Terpadu &amp; Data Center</a:t>
            </a:r>
            <a:endParaRPr lang="en-US" sz="880" dirty="0"/>
          </a:p>
          <a:p>
            <a:pPr indent="0" marL="0">
              <a:lnSpc>
                <a:spcPts val="1300"/>
              </a:lnSpc>
              <a:buNone/>
            </a:pPr>
            <a:endParaRPr lang="en-US" sz="880" dirty="0"/>
          </a:p>
          <a:p>
            <a:pPr indent="0" marL="0">
              <a:lnSpc>
                <a:spcPts val="1300"/>
              </a:lnSpc>
              <a:buNone/>
            </a:pPr>
            <a:r>
              <a:rPr lang="en-US" sz="880" dirty="0">
                <a:solidFill>
                  <a:srgbClr val="334155"/>
                </a:solidFill>
                <a:latin typeface="Arial" pitchFamily="34" charset="0"/>
                <a:ea typeface="Arial" pitchFamily="34" charset="-122"/>
                <a:cs typeface="Arial" pitchFamily="34" charset="-120"/>
              </a:rPr>
              <a:t>• Standarisasi Mutu &amp; Sertifikasi TKDN / SNI Produk</a:t>
            </a:r>
            <a:endParaRPr lang="en-US" sz="880" dirty="0"/>
          </a:p>
        </p:txBody>
      </p:sp>
      <p:sp>
        <p:nvSpPr>
          <p:cNvPr id="23" name="Shape 21"/>
          <p:cNvSpPr/>
          <p:nvPr/>
        </p:nvSpPr>
        <p:spPr>
          <a:xfrm>
            <a:off x="731520" y="3611880"/>
            <a:ext cx="5257800" cy="2148840"/>
          </a:xfrm>
          <a:prstGeom prst="roundRect">
            <a:avLst>
              <a:gd name="adj" fmla="val 3404"/>
            </a:avLst>
          </a:prstGeom>
          <a:solidFill>
            <a:srgbClr val="FFFFFF"/>
          </a:solidFill>
          <a:ln w="12700">
            <a:solidFill>
              <a:srgbClr val="CBD5E1"/>
            </a:solidFill>
            <a:prstDash val="solid"/>
          </a:ln>
        </p:spPr>
      </p:sp>
      <p:sp>
        <p:nvSpPr>
          <p:cNvPr id="24" name="Shape 22"/>
          <p:cNvSpPr/>
          <p:nvPr/>
        </p:nvSpPr>
        <p:spPr>
          <a:xfrm>
            <a:off x="731520" y="3611880"/>
            <a:ext cx="73152" cy="2148840"/>
          </a:xfrm>
          <a:prstGeom prst="roundRect">
            <a:avLst>
              <a:gd name="adj" fmla="val 50000"/>
            </a:avLst>
          </a:prstGeom>
          <a:solidFill>
            <a:srgbClr val="059669"/>
          </a:solidFill>
          <a:ln w="12700">
            <a:solidFill>
              <a:srgbClr val="059669"/>
            </a:solidFill>
            <a:prstDash val="solid"/>
          </a:ln>
        </p:spPr>
      </p:sp>
      <p:sp>
        <p:nvSpPr>
          <p:cNvPr id="25" name="Shape 23"/>
          <p:cNvSpPr/>
          <p:nvPr/>
        </p:nvSpPr>
        <p:spPr>
          <a:xfrm>
            <a:off x="868680" y="3721608"/>
            <a:ext cx="4983480" cy="384048"/>
          </a:xfrm>
          <a:prstGeom prst="roundRect">
            <a:avLst>
              <a:gd name="adj" fmla="val 11905"/>
            </a:avLst>
          </a:prstGeom>
          <a:solidFill>
            <a:srgbClr val="F1F5F9"/>
          </a:solidFill>
          <a:ln w="12700">
            <a:solidFill>
              <a:srgbClr val="059669"/>
            </a:solidFill>
            <a:prstDash val="solid"/>
          </a:ln>
        </p:spPr>
      </p:sp>
      <p:sp>
        <p:nvSpPr>
          <p:cNvPr id="26" name="Text 24"/>
          <p:cNvSpPr/>
          <p:nvPr/>
        </p:nvSpPr>
        <p:spPr>
          <a:xfrm>
            <a:off x="960120" y="3721608"/>
            <a:ext cx="4846320" cy="384048"/>
          </a:xfrm>
          <a:prstGeom prst="rect">
            <a:avLst/>
          </a:prstGeom>
          <a:noFill/>
          <a:ln/>
        </p:spPr>
        <p:txBody>
          <a:bodyPr wrap="square" rtlCol="0" anchor="ctr"/>
          <a:lstStyle/>
          <a:p>
            <a:pPr indent="0" marL="0">
              <a:buNone/>
            </a:pPr>
            <a:r>
              <a:rPr lang="en-US" sz="980" b="1" dirty="0">
                <a:solidFill>
                  <a:srgbClr val="0F172A"/>
                </a:solidFill>
                <a:latin typeface="Arial" pitchFamily="34" charset="0"/>
                <a:ea typeface="Arial" pitchFamily="34" charset="-122"/>
                <a:cs typeface="Arial" pitchFamily="34" charset="-120"/>
              </a:rPr>
              <a:t>🚀  PILAR 3: LAYANAN INKUBASI (HILIRISASI KE PASAR)</a:t>
            </a:r>
            <a:endParaRPr lang="en-US" sz="980" dirty="0"/>
          </a:p>
        </p:txBody>
      </p:sp>
      <p:sp>
        <p:nvSpPr>
          <p:cNvPr id="27" name="Text 25"/>
          <p:cNvSpPr/>
          <p:nvPr/>
        </p:nvSpPr>
        <p:spPr>
          <a:xfrm>
            <a:off x="960120" y="4160520"/>
            <a:ext cx="2423160" cy="1508760"/>
          </a:xfrm>
          <a:prstGeom prst="rect">
            <a:avLst/>
          </a:prstGeom>
          <a:noFill/>
          <a:ln/>
        </p:spPr>
        <p:txBody>
          <a:bodyPr wrap="square" rtlCol="0" anchor="ctr"/>
          <a:lstStyle/>
          <a:p>
            <a:pPr indent="0" marL="0">
              <a:lnSpc>
                <a:spcPts val="1300"/>
              </a:lnSpc>
              <a:buNone/>
            </a:pPr>
            <a:r>
              <a:rPr lang="en-US" sz="880" dirty="0">
                <a:solidFill>
                  <a:srgbClr val="334155"/>
                </a:solidFill>
                <a:latin typeface="Arial" pitchFamily="34" charset="0"/>
                <a:ea typeface="Arial" pitchFamily="34" charset="-122"/>
                <a:cs typeface="Arial" pitchFamily="34" charset="-120"/>
              </a:rPr>
              <a:t>• Pra-Inkubasi &amp; Inkubasi Bisnis Startup Berbasis Riset</a:t>
            </a:r>
            <a:endParaRPr lang="en-US" sz="880" dirty="0"/>
          </a:p>
          <a:p>
            <a:pPr indent="0" marL="0">
              <a:lnSpc>
                <a:spcPts val="1300"/>
              </a:lnSpc>
              <a:buNone/>
            </a:pPr>
            <a:endParaRPr lang="en-US" sz="880" dirty="0"/>
          </a:p>
          <a:p>
            <a:pPr indent="0" marL="0">
              <a:lnSpc>
                <a:spcPts val="1300"/>
              </a:lnSpc>
              <a:buNone/>
            </a:pPr>
            <a:r>
              <a:rPr lang="en-US" sz="880" dirty="0">
                <a:solidFill>
                  <a:srgbClr val="334155"/>
                </a:solidFill>
                <a:latin typeface="Arial" pitchFamily="34" charset="0"/>
                <a:ea typeface="Arial" pitchFamily="34" charset="-122"/>
                <a:cs typeface="Arial" pitchFamily="34" charset="-120"/>
              </a:rPr>
              <a:t>• Fasilitasi HKI, Paten Produk, &amp; Hak Cipta Inovator</a:t>
            </a:r>
            <a:endParaRPr lang="en-US" sz="880" dirty="0"/>
          </a:p>
          <a:p>
            <a:pPr indent="0" marL="0">
              <a:lnSpc>
                <a:spcPts val="1300"/>
              </a:lnSpc>
              <a:buNone/>
            </a:pPr>
            <a:endParaRPr lang="en-US" sz="880" dirty="0"/>
          </a:p>
          <a:p>
            <a:pPr indent="0" marL="0">
              <a:lnSpc>
                <a:spcPts val="1300"/>
              </a:lnSpc>
              <a:buNone/>
            </a:pPr>
            <a:r>
              <a:rPr lang="en-US" sz="880" dirty="0">
                <a:solidFill>
                  <a:srgbClr val="334155"/>
                </a:solidFill>
                <a:latin typeface="Arial" pitchFamily="34" charset="0"/>
                <a:ea typeface="Arial" pitchFamily="34" charset="-122"/>
                <a:cs typeface="Arial" pitchFamily="34" charset="-120"/>
              </a:rPr>
              <a:t>• Hilirisasi Riset Perguruan Tinggi ke Pasar Industri</a:t>
            </a:r>
            <a:endParaRPr lang="en-US" sz="880" dirty="0"/>
          </a:p>
        </p:txBody>
      </p:sp>
      <p:sp>
        <p:nvSpPr>
          <p:cNvPr id="28" name="Text 26"/>
          <p:cNvSpPr/>
          <p:nvPr/>
        </p:nvSpPr>
        <p:spPr>
          <a:xfrm>
            <a:off x="3429000" y="4160520"/>
            <a:ext cx="2423160" cy="1508760"/>
          </a:xfrm>
          <a:prstGeom prst="rect">
            <a:avLst/>
          </a:prstGeom>
          <a:noFill/>
          <a:ln/>
        </p:spPr>
        <p:txBody>
          <a:bodyPr wrap="square" rtlCol="0" anchor="ctr"/>
          <a:lstStyle/>
          <a:p>
            <a:pPr indent="0" marL="0">
              <a:lnSpc>
                <a:spcPts val="1300"/>
              </a:lnSpc>
              <a:buNone/>
            </a:pPr>
            <a:r>
              <a:rPr lang="en-US" sz="880" dirty="0">
                <a:solidFill>
                  <a:srgbClr val="334155"/>
                </a:solidFill>
                <a:latin typeface="Arial" pitchFamily="34" charset="0"/>
                <a:ea typeface="Arial" pitchFamily="34" charset="-122"/>
                <a:cs typeface="Arial" pitchFamily="34" charset="-120"/>
              </a:rPr>
              <a:t>• National Cyber Security Hub &amp; AI Experience Center</a:t>
            </a:r>
            <a:endParaRPr lang="en-US" sz="880" dirty="0"/>
          </a:p>
          <a:p>
            <a:pPr indent="0" marL="0">
              <a:lnSpc>
                <a:spcPts val="1300"/>
              </a:lnSpc>
              <a:buNone/>
            </a:pPr>
            <a:endParaRPr lang="en-US" sz="880" dirty="0"/>
          </a:p>
          <a:p>
            <a:pPr indent="0" marL="0">
              <a:lnSpc>
                <a:spcPts val="1300"/>
              </a:lnSpc>
              <a:buNone/>
            </a:pPr>
            <a:r>
              <a:rPr lang="en-US" sz="880" dirty="0">
                <a:solidFill>
                  <a:srgbClr val="334155"/>
                </a:solidFill>
                <a:latin typeface="Arial" pitchFamily="34" charset="0"/>
                <a:ea typeface="Arial" pitchFamily="34" charset="-122"/>
                <a:cs typeface="Arial" pitchFamily="34" charset="-120"/>
              </a:rPr>
              <a:t>• Digital Technopark, Gaming Hub, &amp; GoTo UMKM Center</a:t>
            </a:r>
            <a:endParaRPr lang="en-US" sz="880" dirty="0"/>
          </a:p>
          <a:p>
            <a:pPr indent="0" marL="0">
              <a:lnSpc>
                <a:spcPts val="1300"/>
              </a:lnSpc>
              <a:buNone/>
            </a:pPr>
            <a:endParaRPr lang="en-US" sz="880" dirty="0"/>
          </a:p>
          <a:p>
            <a:pPr indent="0" marL="0">
              <a:lnSpc>
                <a:spcPts val="1300"/>
              </a:lnSpc>
              <a:buNone/>
            </a:pPr>
            <a:r>
              <a:rPr lang="en-US" sz="880" dirty="0">
                <a:solidFill>
                  <a:srgbClr val="334155"/>
                </a:solidFill>
                <a:latin typeface="Arial" pitchFamily="34" charset="0"/>
                <a:ea typeface="Arial" pitchFamily="34" charset="-122"/>
                <a:cs typeface="Arial" pitchFamily="34" charset="-120"/>
              </a:rPr>
              <a:t>• Co-Working Space, Virtual Office &amp; Akses Permodalan</a:t>
            </a:r>
            <a:endParaRPr lang="en-US" sz="880" dirty="0"/>
          </a:p>
        </p:txBody>
      </p:sp>
      <p:sp>
        <p:nvSpPr>
          <p:cNvPr id="29" name="Shape 27"/>
          <p:cNvSpPr/>
          <p:nvPr/>
        </p:nvSpPr>
        <p:spPr>
          <a:xfrm>
            <a:off x="6172200" y="3611880"/>
            <a:ext cx="5257800" cy="2148840"/>
          </a:xfrm>
          <a:prstGeom prst="roundRect">
            <a:avLst>
              <a:gd name="adj" fmla="val 3404"/>
            </a:avLst>
          </a:prstGeom>
          <a:solidFill>
            <a:srgbClr val="FFFFFF"/>
          </a:solidFill>
          <a:ln w="12700">
            <a:solidFill>
              <a:srgbClr val="CBD5E1"/>
            </a:solidFill>
            <a:prstDash val="solid"/>
          </a:ln>
        </p:spPr>
      </p:sp>
      <p:sp>
        <p:nvSpPr>
          <p:cNvPr id="30" name="Shape 28"/>
          <p:cNvSpPr/>
          <p:nvPr/>
        </p:nvSpPr>
        <p:spPr>
          <a:xfrm>
            <a:off x="6172200" y="3611880"/>
            <a:ext cx="73152" cy="2148840"/>
          </a:xfrm>
          <a:prstGeom prst="roundRect">
            <a:avLst>
              <a:gd name="adj" fmla="val 50000"/>
            </a:avLst>
          </a:prstGeom>
          <a:solidFill>
            <a:srgbClr val="0369A1"/>
          </a:solidFill>
          <a:ln w="12700">
            <a:solidFill>
              <a:srgbClr val="0369A1"/>
            </a:solidFill>
            <a:prstDash val="solid"/>
          </a:ln>
        </p:spPr>
      </p:sp>
      <p:sp>
        <p:nvSpPr>
          <p:cNvPr id="31" name="Shape 29"/>
          <p:cNvSpPr/>
          <p:nvPr/>
        </p:nvSpPr>
        <p:spPr>
          <a:xfrm>
            <a:off x="6309360" y="3721608"/>
            <a:ext cx="4983480" cy="384048"/>
          </a:xfrm>
          <a:prstGeom prst="roundRect">
            <a:avLst>
              <a:gd name="adj" fmla="val 11905"/>
            </a:avLst>
          </a:prstGeom>
          <a:solidFill>
            <a:srgbClr val="F1F5F9"/>
          </a:solidFill>
          <a:ln w="12700">
            <a:solidFill>
              <a:srgbClr val="0369A1"/>
            </a:solidFill>
            <a:prstDash val="solid"/>
          </a:ln>
        </p:spPr>
      </p:sp>
      <p:sp>
        <p:nvSpPr>
          <p:cNvPr id="32" name="Text 30"/>
          <p:cNvSpPr/>
          <p:nvPr/>
        </p:nvSpPr>
        <p:spPr>
          <a:xfrm>
            <a:off x="6400800" y="3721608"/>
            <a:ext cx="4846320" cy="384048"/>
          </a:xfrm>
          <a:prstGeom prst="rect">
            <a:avLst/>
          </a:prstGeom>
          <a:noFill/>
          <a:ln/>
        </p:spPr>
        <p:txBody>
          <a:bodyPr wrap="square" rtlCol="0" anchor="ctr"/>
          <a:lstStyle/>
          <a:p>
            <a:pPr indent="0" marL="0">
              <a:buNone/>
            </a:pPr>
            <a:r>
              <a:rPr lang="en-US" sz="980" b="1" dirty="0">
                <a:solidFill>
                  <a:srgbClr val="0F172A"/>
                </a:solidFill>
                <a:latin typeface="Arial" pitchFamily="34" charset="0"/>
                <a:ea typeface="Arial" pitchFamily="34" charset="-122"/>
                <a:cs typeface="Arial" pitchFamily="34" charset="-120"/>
              </a:rPr>
              <a:t>🎓  PILAR 4: LAYANAN PENDUKUNG (COMMUNITY &amp; EDUCATION)</a:t>
            </a:r>
            <a:endParaRPr lang="en-US" sz="980" dirty="0"/>
          </a:p>
        </p:txBody>
      </p:sp>
      <p:sp>
        <p:nvSpPr>
          <p:cNvPr id="33" name="Text 31"/>
          <p:cNvSpPr/>
          <p:nvPr/>
        </p:nvSpPr>
        <p:spPr>
          <a:xfrm>
            <a:off x="6400800" y="4160520"/>
            <a:ext cx="2423160" cy="1508760"/>
          </a:xfrm>
          <a:prstGeom prst="rect">
            <a:avLst/>
          </a:prstGeom>
          <a:noFill/>
          <a:ln/>
        </p:spPr>
        <p:txBody>
          <a:bodyPr wrap="square" rtlCol="0" anchor="ctr"/>
          <a:lstStyle/>
          <a:p>
            <a:pPr indent="0" marL="0">
              <a:lnSpc>
                <a:spcPts val="1300"/>
              </a:lnSpc>
              <a:buNone/>
            </a:pPr>
            <a:r>
              <a:rPr lang="en-US" sz="880" dirty="0">
                <a:solidFill>
                  <a:srgbClr val="334155"/>
                </a:solidFill>
                <a:latin typeface="Arial" pitchFamily="34" charset="0"/>
                <a:ea typeface="Arial" pitchFamily="34" charset="-122"/>
                <a:cs typeface="Arial" pitchFamily="34" charset="-120"/>
              </a:rPr>
              <a:t>• Prakerin Kerja Industri Siswa SMK Se-Solo Raya</a:t>
            </a:r>
            <a:endParaRPr lang="en-US" sz="880" dirty="0"/>
          </a:p>
          <a:p>
            <a:pPr indent="0" marL="0">
              <a:lnSpc>
                <a:spcPts val="1300"/>
              </a:lnSpc>
              <a:buNone/>
            </a:pPr>
            <a:endParaRPr lang="en-US" sz="880" dirty="0"/>
          </a:p>
          <a:p>
            <a:pPr indent="0" marL="0">
              <a:lnSpc>
                <a:spcPts val="1300"/>
              </a:lnSpc>
              <a:buNone/>
            </a:pPr>
            <a:r>
              <a:rPr lang="en-US" sz="880" dirty="0">
                <a:solidFill>
                  <a:srgbClr val="334155"/>
                </a:solidFill>
                <a:latin typeface="Arial" pitchFamily="34" charset="0"/>
                <a:ea typeface="Arial" pitchFamily="34" charset="-122"/>
                <a:cs typeface="Arial" pitchFamily="34" charset="-120"/>
              </a:rPr>
              <a:t>• Tempat Uji Kompetensi (TUK Mandiri) &amp; Sertifikasi JFT</a:t>
            </a:r>
            <a:endParaRPr lang="en-US" sz="880" dirty="0"/>
          </a:p>
          <a:p>
            <a:pPr indent="0" marL="0">
              <a:lnSpc>
                <a:spcPts val="1300"/>
              </a:lnSpc>
              <a:buNone/>
            </a:pPr>
            <a:endParaRPr lang="en-US" sz="880" dirty="0"/>
          </a:p>
          <a:p>
            <a:pPr indent="0" marL="0">
              <a:lnSpc>
                <a:spcPts val="1300"/>
              </a:lnSpc>
              <a:buNone/>
            </a:pPr>
            <a:r>
              <a:rPr lang="en-US" sz="880" dirty="0">
                <a:solidFill>
                  <a:srgbClr val="334155"/>
                </a:solidFill>
                <a:latin typeface="Arial" pitchFamily="34" charset="0"/>
                <a:ea typeface="Arial" pitchFamily="34" charset="-122"/>
                <a:cs typeface="Arial" pitchFamily="34" charset="-120"/>
              </a:rPr>
              <a:t>• Solo Science Center (Pusat Edukasi IPTEK &amp; Wisata Sains)</a:t>
            </a:r>
            <a:endParaRPr lang="en-US" sz="880" dirty="0"/>
          </a:p>
        </p:txBody>
      </p:sp>
      <p:sp>
        <p:nvSpPr>
          <p:cNvPr id="34" name="Text 32"/>
          <p:cNvSpPr/>
          <p:nvPr/>
        </p:nvSpPr>
        <p:spPr>
          <a:xfrm>
            <a:off x="8869680" y="4160520"/>
            <a:ext cx="2423160" cy="1508760"/>
          </a:xfrm>
          <a:prstGeom prst="rect">
            <a:avLst/>
          </a:prstGeom>
          <a:noFill/>
          <a:ln/>
        </p:spPr>
        <p:txBody>
          <a:bodyPr wrap="square" rtlCol="0" anchor="ctr"/>
          <a:lstStyle/>
          <a:p>
            <a:pPr indent="0" marL="0">
              <a:lnSpc>
                <a:spcPts val="1300"/>
              </a:lnSpc>
              <a:buNone/>
            </a:pPr>
            <a:r>
              <a:rPr lang="en-US" sz="880" dirty="0">
                <a:solidFill>
                  <a:srgbClr val="334155"/>
                </a:solidFill>
                <a:latin typeface="Arial" pitchFamily="34" charset="0"/>
                <a:ea typeface="Arial" pitchFamily="34" charset="-122"/>
                <a:cs typeface="Arial" pitchFamily="34" charset="-120"/>
              </a:rPr>
              <a:t>• Pemanfaatan Sarana Kawasan, Gedung Expo &amp; MICE</a:t>
            </a:r>
            <a:endParaRPr lang="en-US" sz="880" dirty="0"/>
          </a:p>
          <a:p>
            <a:pPr indent="0" marL="0">
              <a:lnSpc>
                <a:spcPts val="1300"/>
              </a:lnSpc>
              <a:buNone/>
            </a:pPr>
            <a:endParaRPr lang="en-US" sz="880" dirty="0"/>
          </a:p>
          <a:p>
            <a:pPr indent="0" marL="0">
              <a:lnSpc>
                <a:spcPts val="1300"/>
              </a:lnSpc>
              <a:buNone/>
            </a:pPr>
            <a:r>
              <a:rPr lang="en-US" sz="880" dirty="0">
                <a:solidFill>
                  <a:srgbClr val="334155"/>
                </a:solidFill>
                <a:latin typeface="Arial" pitchFamily="34" charset="0"/>
                <a:ea typeface="Arial" pitchFamily="34" charset="-122"/>
                <a:cs typeface="Arial" pitchFamily="34" charset="-120"/>
              </a:rPr>
              <a:t>• Kemitraan Komunitas Kreatif &amp; Kunjungan Industri</a:t>
            </a:r>
            <a:endParaRPr lang="en-US" sz="880" dirty="0"/>
          </a:p>
          <a:p>
            <a:pPr indent="0" marL="0">
              <a:lnSpc>
                <a:spcPts val="1300"/>
              </a:lnSpc>
              <a:buNone/>
            </a:pPr>
            <a:endParaRPr lang="en-US" sz="880" dirty="0"/>
          </a:p>
          <a:p>
            <a:pPr indent="0" marL="0">
              <a:lnSpc>
                <a:spcPts val="1300"/>
              </a:lnSpc>
              <a:buNone/>
            </a:pPr>
            <a:r>
              <a:rPr lang="en-US" sz="880" dirty="0">
                <a:solidFill>
                  <a:srgbClr val="334155"/>
                </a:solidFill>
                <a:latin typeface="Arial" pitchFamily="34" charset="0"/>
                <a:ea typeface="Arial" pitchFamily="34" charset="-122"/>
                <a:cs typeface="Arial" pitchFamily="34" charset="-120"/>
              </a:rPr>
              <a:t>• Pusat Kolaborasi Multipihak Pemkot Surakarta</a:t>
            </a:r>
            <a:endParaRPr lang="en-US" sz="880" dirty="0"/>
          </a:p>
        </p:txBody>
      </p:sp>
      <p:sp>
        <p:nvSpPr>
          <p:cNvPr id="35" name="Shape 33"/>
          <p:cNvSpPr/>
          <p:nvPr/>
        </p:nvSpPr>
        <p:spPr>
          <a:xfrm>
            <a:off x="731520" y="5925312"/>
            <a:ext cx="10728655" cy="411480"/>
          </a:xfrm>
          <a:prstGeom prst="roundRect">
            <a:avLst>
              <a:gd name="adj" fmla="val 17778"/>
            </a:avLst>
          </a:prstGeom>
          <a:solidFill>
            <a:srgbClr val="F1F5F9"/>
          </a:solidFill>
          <a:ln w="12700">
            <a:solidFill>
              <a:srgbClr val="CBD5E1"/>
            </a:solidFill>
            <a:prstDash val="solid"/>
          </a:ln>
        </p:spPr>
      </p:sp>
      <p:sp>
        <p:nvSpPr>
          <p:cNvPr id="36" name="Text 34"/>
          <p:cNvSpPr/>
          <p:nvPr/>
        </p:nvSpPr>
        <p:spPr>
          <a:xfrm>
            <a:off x="914400" y="5925312"/>
            <a:ext cx="10362895" cy="411480"/>
          </a:xfrm>
          <a:prstGeom prst="rect">
            <a:avLst/>
          </a:prstGeom>
          <a:noFill/>
          <a:ln/>
        </p:spPr>
        <p:txBody>
          <a:bodyPr wrap="square" rtlCol="0" anchor="ctr"/>
          <a:lstStyle/>
          <a:p>
            <a:pPr algn="ctr" indent="0" marL="0">
              <a:buNone/>
            </a:pPr>
            <a:r>
              <a:rPr lang="en-US" sz="950" b="1" i="1" dirty="0">
                <a:solidFill>
                  <a:srgbClr val="D97706"/>
                </a:solidFill>
                <a:latin typeface="Arial" pitchFamily="34" charset="0"/>
                <a:ea typeface="Arial" pitchFamily="34" charset="-122"/>
                <a:cs typeface="Arial" pitchFamily="34" charset="-120"/>
              </a:rPr>
              <a:t>"BLUD menggeser paradigma: Dari sekadar pengelolaan kawasan fisik menjadi penyedia solusi teknologi yang responsif terhadap kebutuhan industri dan masyarakat."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84C7"/>
          </a:solidFill>
          <a:ln/>
        </p:spPr>
      </p:sp>
      <p:sp>
        <p:nvSpPr>
          <p:cNvPr id="3" name="Shape 1"/>
          <p:cNvSpPr/>
          <p:nvPr/>
        </p:nvSpPr>
        <p:spPr>
          <a:xfrm>
            <a:off x="9144000" y="0"/>
            <a:ext cx="3047695" cy="73152"/>
          </a:xfrm>
          <a:prstGeom prst="rect">
            <a:avLst/>
          </a:prstGeom>
          <a:solidFill>
            <a:srgbClr val="D97706"/>
          </a:solidFill>
          <a:ln/>
        </p:spPr>
      </p:sp>
      <p:sp>
        <p:nvSpPr>
          <p:cNvPr id="4" name="Shape 2"/>
          <p:cNvSpPr/>
          <p:nvPr/>
        </p:nvSpPr>
        <p:spPr>
          <a:xfrm>
            <a:off x="731520" y="256032"/>
            <a:ext cx="3291840" cy="237744"/>
          </a:xfrm>
          <a:prstGeom prst="roundRect">
            <a:avLst>
              <a:gd name="adj" fmla="val 19231"/>
            </a:avLst>
          </a:prstGeom>
          <a:solidFill>
            <a:srgbClr val="E0F2FE"/>
          </a:solidFill>
          <a:ln w="12700">
            <a:solidFill>
              <a:srgbClr val="0284C7"/>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0369A1"/>
                </a:solidFill>
                <a:latin typeface="Arial" pitchFamily="34" charset="0"/>
                <a:ea typeface="Arial" pitchFamily="34" charset="-122"/>
                <a:cs typeface="Arial" pitchFamily="34" charset="-120"/>
              </a:rPr>
              <a:t>MEKANISME HILIRISASI INOVASI</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0F172A"/>
                </a:solidFill>
                <a:latin typeface="Arial" pitchFamily="34" charset="0"/>
                <a:ea typeface="Arial" pitchFamily="34" charset="-122"/>
                <a:cs typeface="Arial" pitchFamily="34" charset="-120"/>
              </a:rPr>
              <a:t>PIPELINE HILIRISASI RISET: DARI LABORATORIUM MENUJU PASAR NYATA</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334155"/>
                </a:solidFill>
                <a:latin typeface="Arial" pitchFamily="34" charset="0"/>
                <a:ea typeface="Arial" pitchFamily="34" charset="-122"/>
                <a:cs typeface="Arial" pitchFamily="34" charset="-120"/>
              </a:rPr>
              <a:t>Solo Technopark sebagai Jembatan: Menghubungkan Riset Kampus Menuju Produk Bernilai Ekonomi bagi Industri</a:t>
            </a:r>
            <a:endParaRPr lang="en-US" sz="1000" dirty="0"/>
          </a:p>
        </p:txBody>
      </p:sp>
      <p:sp>
        <p:nvSpPr>
          <p:cNvPr id="8" name="Shape 6"/>
          <p:cNvSpPr/>
          <p:nvPr/>
        </p:nvSpPr>
        <p:spPr>
          <a:xfrm>
            <a:off x="731520" y="6419088"/>
            <a:ext cx="10728655" cy="18288"/>
          </a:xfrm>
          <a:prstGeom prst="rect">
            <a:avLst/>
          </a:prstGeom>
          <a:solidFill>
            <a:srgbClr val="CBD5E1"/>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334155"/>
                </a:solidFill>
                <a:latin typeface="Arial" pitchFamily="34" charset="0"/>
                <a:ea typeface="Arial" pitchFamily="34" charset="-122"/>
                <a:cs typeface="Arial" pitchFamily="34" charset="-120"/>
              </a:rPr>
              <a:t>UPTD KST SOLO TECHNOPARK  |  BRIDA KOTA SURAKARTA  •  Bahan Paparan Resmi Walikota (Edisi V7 Light)</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0369A1"/>
                </a:solidFill>
                <a:latin typeface="Arial" pitchFamily="34" charset="0"/>
                <a:ea typeface="Arial" pitchFamily="34" charset="-122"/>
                <a:cs typeface="Arial" pitchFamily="34" charset="-120"/>
              </a:rPr>
              <a:t>Slide 05 / 12</a:t>
            </a:r>
            <a:endParaRPr lang="en-US" sz="900" dirty="0"/>
          </a:p>
        </p:txBody>
      </p:sp>
      <p:sp>
        <p:nvSpPr>
          <p:cNvPr id="11" name="Shape 9"/>
          <p:cNvSpPr/>
          <p:nvPr/>
        </p:nvSpPr>
        <p:spPr>
          <a:xfrm>
            <a:off x="731520" y="1325880"/>
            <a:ext cx="1965960" cy="1920240"/>
          </a:xfrm>
          <a:prstGeom prst="roundRect">
            <a:avLst>
              <a:gd name="adj" fmla="val 3810"/>
            </a:avLst>
          </a:prstGeom>
          <a:solidFill>
            <a:srgbClr val="FFFFFF"/>
          </a:solidFill>
          <a:ln w="12700">
            <a:solidFill>
              <a:srgbClr val="CBD5E1"/>
            </a:solidFill>
            <a:prstDash val="solid"/>
          </a:ln>
        </p:spPr>
      </p:sp>
      <p:sp>
        <p:nvSpPr>
          <p:cNvPr id="12" name="Shape 10"/>
          <p:cNvSpPr/>
          <p:nvPr/>
        </p:nvSpPr>
        <p:spPr>
          <a:xfrm>
            <a:off x="731520" y="1325880"/>
            <a:ext cx="73152" cy="1920240"/>
          </a:xfrm>
          <a:prstGeom prst="roundRect">
            <a:avLst>
              <a:gd name="adj" fmla="val 50000"/>
            </a:avLst>
          </a:prstGeom>
          <a:solidFill>
            <a:srgbClr val="0284C7"/>
          </a:solidFill>
          <a:ln w="12700">
            <a:solidFill>
              <a:srgbClr val="0284C7"/>
            </a:solidFill>
            <a:prstDash val="solid"/>
          </a:ln>
        </p:spPr>
      </p:sp>
      <p:sp>
        <p:nvSpPr>
          <p:cNvPr id="13" name="Shape 11"/>
          <p:cNvSpPr/>
          <p:nvPr/>
        </p:nvSpPr>
        <p:spPr>
          <a:xfrm>
            <a:off x="822960" y="1417320"/>
            <a:ext cx="1783080" cy="411480"/>
          </a:xfrm>
          <a:prstGeom prst="roundRect">
            <a:avLst>
              <a:gd name="adj" fmla="val 8889"/>
            </a:avLst>
          </a:prstGeom>
          <a:solidFill>
            <a:srgbClr val="F1F5F9"/>
          </a:solidFill>
          <a:ln w="12700">
            <a:solidFill>
              <a:srgbClr val="0284C7"/>
            </a:solidFill>
            <a:prstDash val="solid"/>
          </a:ln>
        </p:spPr>
      </p:sp>
      <p:sp>
        <p:nvSpPr>
          <p:cNvPr id="14" name="Text 12"/>
          <p:cNvSpPr/>
          <p:nvPr/>
        </p:nvSpPr>
        <p:spPr>
          <a:xfrm>
            <a:off x="841248" y="1444752"/>
            <a:ext cx="822960" cy="347472"/>
          </a:xfrm>
          <a:prstGeom prst="rect">
            <a:avLst/>
          </a:prstGeom>
          <a:noFill/>
          <a:ln/>
        </p:spPr>
        <p:txBody>
          <a:bodyPr wrap="square" rtlCol="0" anchor="ctr"/>
          <a:lstStyle/>
          <a:p>
            <a:pPr indent="0" marL="0">
              <a:buNone/>
            </a:pPr>
            <a:r>
              <a:rPr lang="en-US" sz="900" b="1" dirty="0">
                <a:solidFill>
                  <a:srgbClr val="0284C7"/>
                </a:solidFill>
                <a:latin typeface="Arial" pitchFamily="34" charset="0"/>
                <a:ea typeface="Arial" pitchFamily="34" charset="-122"/>
                <a:cs typeface="Arial" pitchFamily="34" charset="-120"/>
              </a:rPr>
              <a:t>TAHAP 01</a:t>
            </a:r>
            <a:endParaRPr lang="en-US" sz="900" dirty="0"/>
          </a:p>
        </p:txBody>
      </p:sp>
      <p:sp>
        <p:nvSpPr>
          <p:cNvPr id="15" name="Text 13"/>
          <p:cNvSpPr/>
          <p:nvPr/>
        </p:nvSpPr>
        <p:spPr>
          <a:xfrm>
            <a:off x="1600200" y="1444752"/>
            <a:ext cx="960120" cy="347472"/>
          </a:xfrm>
          <a:prstGeom prst="rect">
            <a:avLst/>
          </a:prstGeom>
          <a:noFill/>
          <a:ln/>
        </p:spPr>
        <p:txBody>
          <a:bodyPr wrap="square" rtlCol="0" anchor="ctr"/>
          <a:lstStyle/>
          <a:p>
            <a:pPr algn="r" indent="0" marL="0">
              <a:buNone/>
            </a:pPr>
            <a:r>
              <a:rPr lang="en-US" sz="750" b="1" dirty="0">
                <a:solidFill>
                  <a:srgbClr val="334155"/>
                </a:solidFill>
                <a:latin typeface="Arial" pitchFamily="34" charset="0"/>
                <a:ea typeface="Arial" pitchFamily="34" charset="-122"/>
                <a:cs typeface="Arial" pitchFamily="34" charset="-120"/>
              </a:rPr>
              <a:t>Kampus &amp; Peneliti</a:t>
            </a:r>
            <a:endParaRPr lang="en-US" sz="750" dirty="0"/>
          </a:p>
        </p:txBody>
      </p:sp>
      <p:sp>
        <p:nvSpPr>
          <p:cNvPr id="16" name="Text 14"/>
          <p:cNvSpPr/>
          <p:nvPr/>
        </p:nvSpPr>
        <p:spPr>
          <a:xfrm>
            <a:off x="841248" y="1901952"/>
            <a:ext cx="1746504" cy="365760"/>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RISET &amp; INVENSI</a:t>
            </a:r>
            <a:endParaRPr lang="en-US" sz="1000" dirty="0"/>
          </a:p>
        </p:txBody>
      </p:sp>
      <p:sp>
        <p:nvSpPr>
          <p:cNvPr id="17" name="Text 15"/>
          <p:cNvSpPr/>
          <p:nvPr/>
        </p:nvSpPr>
        <p:spPr>
          <a:xfrm>
            <a:off x="841248" y="2286000"/>
            <a:ext cx="1746504" cy="868680"/>
          </a:xfrm>
          <a:prstGeom prst="rect">
            <a:avLst/>
          </a:prstGeom>
          <a:noFill/>
          <a:ln/>
        </p:spPr>
        <p:txBody>
          <a:bodyPr wrap="square" rtlCol="0" anchor="ctr"/>
          <a:lstStyle/>
          <a:p>
            <a:pPr indent="0" marL="0">
              <a:lnSpc>
                <a:spcPts val="1100"/>
              </a:lnSpc>
              <a:buNone/>
            </a:pPr>
            <a:r>
              <a:rPr lang="en-US" sz="820" dirty="0">
                <a:solidFill>
                  <a:srgbClr val="334155"/>
                </a:solidFill>
                <a:latin typeface="Arial" pitchFamily="34" charset="0"/>
                <a:ea typeface="Arial" pitchFamily="34" charset="-122"/>
                <a:cs typeface="Arial" pitchFamily="34" charset="-120"/>
              </a:rPr>
              <a:t>Invensi UNS, UMS, ISI, Poltek Solo Raya. Riset dosen &amp; mahasiswa.</a:t>
            </a:r>
            <a:endParaRPr lang="en-US" sz="820" dirty="0"/>
          </a:p>
        </p:txBody>
      </p:sp>
      <p:sp>
        <p:nvSpPr>
          <p:cNvPr id="18" name="Shape 16"/>
          <p:cNvSpPr/>
          <p:nvPr/>
        </p:nvSpPr>
        <p:spPr>
          <a:xfrm>
            <a:off x="2743200" y="2148840"/>
            <a:ext cx="164592" cy="256032"/>
          </a:xfrm>
          <a:prstGeom prst="rightArrow">
            <a:avLst/>
          </a:prstGeom>
          <a:solidFill>
            <a:srgbClr val="0284C7"/>
          </a:solidFill>
          <a:ln w="12700">
            <a:solidFill>
              <a:srgbClr val="0284C7"/>
            </a:solidFill>
            <a:prstDash val="solid"/>
          </a:ln>
        </p:spPr>
      </p:sp>
      <p:sp>
        <p:nvSpPr>
          <p:cNvPr id="19" name="Shape 17"/>
          <p:cNvSpPr/>
          <p:nvPr/>
        </p:nvSpPr>
        <p:spPr>
          <a:xfrm>
            <a:off x="2935224" y="1325880"/>
            <a:ext cx="1965960" cy="1920240"/>
          </a:xfrm>
          <a:prstGeom prst="roundRect">
            <a:avLst>
              <a:gd name="adj" fmla="val 3810"/>
            </a:avLst>
          </a:prstGeom>
          <a:solidFill>
            <a:srgbClr val="FFFFFF"/>
          </a:solidFill>
          <a:ln w="12700">
            <a:solidFill>
              <a:srgbClr val="CBD5E1"/>
            </a:solidFill>
            <a:prstDash val="solid"/>
          </a:ln>
        </p:spPr>
      </p:sp>
      <p:sp>
        <p:nvSpPr>
          <p:cNvPr id="20" name="Shape 18"/>
          <p:cNvSpPr/>
          <p:nvPr/>
        </p:nvSpPr>
        <p:spPr>
          <a:xfrm>
            <a:off x="2935224" y="1325880"/>
            <a:ext cx="73152" cy="1920240"/>
          </a:xfrm>
          <a:prstGeom prst="roundRect">
            <a:avLst>
              <a:gd name="adj" fmla="val 50000"/>
            </a:avLst>
          </a:prstGeom>
          <a:solidFill>
            <a:srgbClr val="0369A1"/>
          </a:solidFill>
          <a:ln w="12700">
            <a:solidFill>
              <a:srgbClr val="0369A1"/>
            </a:solidFill>
            <a:prstDash val="solid"/>
          </a:ln>
        </p:spPr>
      </p:sp>
      <p:sp>
        <p:nvSpPr>
          <p:cNvPr id="21" name="Shape 19"/>
          <p:cNvSpPr/>
          <p:nvPr/>
        </p:nvSpPr>
        <p:spPr>
          <a:xfrm>
            <a:off x="3026664" y="1417320"/>
            <a:ext cx="1783080" cy="411480"/>
          </a:xfrm>
          <a:prstGeom prst="roundRect">
            <a:avLst>
              <a:gd name="adj" fmla="val 8889"/>
            </a:avLst>
          </a:prstGeom>
          <a:solidFill>
            <a:srgbClr val="F1F5F9"/>
          </a:solidFill>
          <a:ln w="12700">
            <a:solidFill>
              <a:srgbClr val="0369A1"/>
            </a:solidFill>
            <a:prstDash val="solid"/>
          </a:ln>
        </p:spPr>
      </p:sp>
      <p:sp>
        <p:nvSpPr>
          <p:cNvPr id="22" name="Text 20"/>
          <p:cNvSpPr/>
          <p:nvPr/>
        </p:nvSpPr>
        <p:spPr>
          <a:xfrm>
            <a:off x="3044952" y="1444752"/>
            <a:ext cx="822960" cy="347472"/>
          </a:xfrm>
          <a:prstGeom prst="rect">
            <a:avLst/>
          </a:prstGeom>
          <a:noFill/>
          <a:ln/>
        </p:spPr>
        <p:txBody>
          <a:bodyPr wrap="square" rtlCol="0" anchor="ctr"/>
          <a:lstStyle/>
          <a:p>
            <a:pPr indent="0" marL="0">
              <a:buNone/>
            </a:pPr>
            <a:r>
              <a:rPr lang="en-US" sz="900" b="1" dirty="0">
                <a:solidFill>
                  <a:srgbClr val="0369A1"/>
                </a:solidFill>
                <a:latin typeface="Arial" pitchFamily="34" charset="0"/>
                <a:ea typeface="Arial" pitchFamily="34" charset="-122"/>
                <a:cs typeface="Arial" pitchFamily="34" charset="-120"/>
              </a:rPr>
              <a:t>TAHAP 02</a:t>
            </a:r>
            <a:endParaRPr lang="en-US" sz="900" dirty="0"/>
          </a:p>
        </p:txBody>
      </p:sp>
      <p:sp>
        <p:nvSpPr>
          <p:cNvPr id="23" name="Text 21"/>
          <p:cNvSpPr/>
          <p:nvPr/>
        </p:nvSpPr>
        <p:spPr>
          <a:xfrm>
            <a:off x="3803904" y="1444752"/>
            <a:ext cx="960120" cy="347472"/>
          </a:xfrm>
          <a:prstGeom prst="rect">
            <a:avLst/>
          </a:prstGeom>
          <a:noFill/>
          <a:ln/>
        </p:spPr>
        <p:txBody>
          <a:bodyPr wrap="square" rtlCol="0" anchor="ctr"/>
          <a:lstStyle/>
          <a:p>
            <a:pPr algn="r" indent="0" marL="0">
              <a:buNone/>
            </a:pPr>
            <a:r>
              <a:rPr lang="en-US" sz="750" b="1" dirty="0">
                <a:solidFill>
                  <a:srgbClr val="334155"/>
                </a:solidFill>
                <a:latin typeface="Arial" pitchFamily="34" charset="0"/>
                <a:ea typeface="Arial" pitchFamily="34" charset="-122"/>
                <a:cs typeface="Arial" pitchFamily="34" charset="-120"/>
              </a:rPr>
              <a:t>STP &amp; BRIDA</a:t>
            </a:r>
            <a:endParaRPr lang="en-US" sz="750" dirty="0"/>
          </a:p>
        </p:txBody>
      </p:sp>
      <p:sp>
        <p:nvSpPr>
          <p:cNvPr id="24" name="Text 22"/>
          <p:cNvSpPr/>
          <p:nvPr/>
        </p:nvSpPr>
        <p:spPr>
          <a:xfrm>
            <a:off x="3044952" y="1901952"/>
            <a:ext cx="1746504" cy="365760"/>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SELEKSI &amp; KURASI</a:t>
            </a:r>
            <a:endParaRPr lang="en-US" sz="1000" dirty="0"/>
          </a:p>
        </p:txBody>
      </p:sp>
      <p:sp>
        <p:nvSpPr>
          <p:cNvPr id="25" name="Text 23"/>
          <p:cNvSpPr/>
          <p:nvPr/>
        </p:nvSpPr>
        <p:spPr>
          <a:xfrm>
            <a:off x="3044952" y="2286000"/>
            <a:ext cx="1746504" cy="868680"/>
          </a:xfrm>
          <a:prstGeom prst="rect">
            <a:avLst/>
          </a:prstGeom>
          <a:noFill/>
          <a:ln/>
        </p:spPr>
        <p:txBody>
          <a:bodyPr wrap="square" rtlCol="0" anchor="ctr"/>
          <a:lstStyle/>
          <a:p>
            <a:pPr indent="0" marL="0">
              <a:lnSpc>
                <a:spcPts val="1100"/>
              </a:lnSpc>
              <a:buNone/>
            </a:pPr>
            <a:r>
              <a:rPr lang="en-US" sz="820" dirty="0">
                <a:solidFill>
                  <a:srgbClr val="334155"/>
                </a:solidFill>
                <a:latin typeface="Arial" pitchFamily="34" charset="0"/>
                <a:ea typeface="Arial" pitchFamily="34" charset="-122"/>
                <a:cs typeface="Arial" pitchFamily="34" charset="-120"/>
              </a:rPr>
              <a:t>Kurasi komersial &amp; relevansi kebutuhan industri serta problem kota Solo.</a:t>
            </a:r>
            <a:endParaRPr lang="en-US" sz="820" dirty="0"/>
          </a:p>
        </p:txBody>
      </p:sp>
      <p:sp>
        <p:nvSpPr>
          <p:cNvPr id="26" name="Shape 24"/>
          <p:cNvSpPr/>
          <p:nvPr/>
        </p:nvSpPr>
        <p:spPr>
          <a:xfrm>
            <a:off x="4946904" y="2148840"/>
            <a:ext cx="164592" cy="256032"/>
          </a:xfrm>
          <a:prstGeom prst="rightArrow">
            <a:avLst/>
          </a:prstGeom>
          <a:solidFill>
            <a:srgbClr val="0369A1"/>
          </a:solidFill>
          <a:ln w="12700">
            <a:solidFill>
              <a:srgbClr val="0369A1"/>
            </a:solidFill>
            <a:prstDash val="solid"/>
          </a:ln>
        </p:spPr>
      </p:sp>
      <p:sp>
        <p:nvSpPr>
          <p:cNvPr id="27" name="Shape 25"/>
          <p:cNvSpPr/>
          <p:nvPr/>
        </p:nvSpPr>
        <p:spPr>
          <a:xfrm>
            <a:off x="5138928" y="1325880"/>
            <a:ext cx="1965960" cy="1920240"/>
          </a:xfrm>
          <a:prstGeom prst="roundRect">
            <a:avLst>
              <a:gd name="adj" fmla="val 3810"/>
            </a:avLst>
          </a:prstGeom>
          <a:solidFill>
            <a:srgbClr val="FFFFFF"/>
          </a:solidFill>
          <a:ln w="12700">
            <a:solidFill>
              <a:srgbClr val="CBD5E1"/>
            </a:solidFill>
            <a:prstDash val="solid"/>
          </a:ln>
        </p:spPr>
      </p:sp>
      <p:sp>
        <p:nvSpPr>
          <p:cNvPr id="28" name="Shape 26"/>
          <p:cNvSpPr/>
          <p:nvPr/>
        </p:nvSpPr>
        <p:spPr>
          <a:xfrm>
            <a:off x="5138928" y="1325880"/>
            <a:ext cx="73152" cy="1920240"/>
          </a:xfrm>
          <a:prstGeom prst="roundRect">
            <a:avLst>
              <a:gd name="adj" fmla="val 50000"/>
            </a:avLst>
          </a:prstGeom>
          <a:solidFill>
            <a:srgbClr val="D97706"/>
          </a:solidFill>
          <a:ln w="12700">
            <a:solidFill>
              <a:srgbClr val="D97706"/>
            </a:solidFill>
            <a:prstDash val="solid"/>
          </a:ln>
        </p:spPr>
      </p:sp>
      <p:sp>
        <p:nvSpPr>
          <p:cNvPr id="29" name="Shape 27"/>
          <p:cNvSpPr/>
          <p:nvPr/>
        </p:nvSpPr>
        <p:spPr>
          <a:xfrm>
            <a:off x="5230368" y="1417320"/>
            <a:ext cx="1783080" cy="411480"/>
          </a:xfrm>
          <a:prstGeom prst="roundRect">
            <a:avLst>
              <a:gd name="adj" fmla="val 8889"/>
            </a:avLst>
          </a:prstGeom>
          <a:solidFill>
            <a:srgbClr val="F1F5F9"/>
          </a:solidFill>
          <a:ln w="12700">
            <a:solidFill>
              <a:srgbClr val="D97706"/>
            </a:solidFill>
            <a:prstDash val="solid"/>
          </a:ln>
        </p:spPr>
      </p:sp>
      <p:sp>
        <p:nvSpPr>
          <p:cNvPr id="30" name="Text 28"/>
          <p:cNvSpPr/>
          <p:nvPr/>
        </p:nvSpPr>
        <p:spPr>
          <a:xfrm>
            <a:off x="5248656" y="1444752"/>
            <a:ext cx="822960" cy="347472"/>
          </a:xfrm>
          <a:prstGeom prst="rect">
            <a:avLst/>
          </a:prstGeom>
          <a:noFill/>
          <a:ln/>
        </p:spPr>
        <p:txBody>
          <a:bodyPr wrap="square" rtlCol="0" anchor="ctr"/>
          <a:lstStyle/>
          <a:p>
            <a:pPr indent="0" marL="0">
              <a:buNone/>
            </a:pPr>
            <a:r>
              <a:rPr lang="en-US" sz="900" b="1" dirty="0">
                <a:solidFill>
                  <a:srgbClr val="D97706"/>
                </a:solidFill>
                <a:latin typeface="Arial" pitchFamily="34" charset="0"/>
                <a:ea typeface="Arial" pitchFamily="34" charset="-122"/>
                <a:cs typeface="Arial" pitchFamily="34" charset="-120"/>
              </a:rPr>
              <a:t>TAHAP 03</a:t>
            </a:r>
            <a:endParaRPr lang="en-US" sz="900" dirty="0"/>
          </a:p>
        </p:txBody>
      </p:sp>
      <p:sp>
        <p:nvSpPr>
          <p:cNvPr id="31" name="Text 29"/>
          <p:cNvSpPr/>
          <p:nvPr/>
        </p:nvSpPr>
        <p:spPr>
          <a:xfrm>
            <a:off x="6007608" y="1444752"/>
            <a:ext cx="960120" cy="347472"/>
          </a:xfrm>
          <a:prstGeom prst="rect">
            <a:avLst/>
          </a:prstGeom>
          <a:noFill/>
          <a:ln/>
        </p:spPr>
        <p:txBody>
          <a:bodyPr wrap="square" rtlCol="0" anchor="ctr"/>
          <a:lstStyle/>
          <a:p>
            <a:pPr algn="r" indent="0" marL="0">
              <a:buNone/>
            </a:pPr>
            <a:r>
              <a:rPr lang="en-US" sz="750" b="1" dirty="0">
                <a:solidFill>
                  <a:srgbClr val="334155"/>
                </a:solidFill>
                <a:latin typeface="Arial" pitchFamily="34" charset="0"/>
                <a:ea typeface="Arial" pitchFamily="34" charset="-122"/>
                <a:cs typeface="Arial" pitchFamily="34" charset="-120"/>
              </a:rPr>
              <a:t>Lab Presisi STP</a:t>
            </a:r>
            <a:endParaRPr lang="en-US" sz="750" dirty="0"/>
          </a:p>
        </p:txBody>
      </p:sp>
      <p:sp>
        <p:nvSpPr>
          <p:cNvPr id="32" name="Text 30"/>
          <p:cNvSpPr/>
          <p:nvPr/>
        </p:nvSpPr>
        <p:spPr>
          <a:xfrm>
            <a:off x="5248656" y="1901952"/>
            <a:ext cx="1746504" cy="365760"/>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PROTOTYPING</a:t>
            </a:r>
            <a:endParaRPr lang="en-US" sz="1000" dirty="0"/>
          </a:p>
        </p:txBody>
      </p:sp>
      <p:sp>
        <p:nvSpPr>
          <p:cNvPr id="33" name="Text 31"/>
          <p:cNvSpPr/>
          <p:nvPr/>
        </p:nvSpPr>
        <p:spPr>
          <a:xfrm>
            <a:off x="5248656" y="2286000"/>
            <a:ext cx="1746504" cy="868680"/>
          </a:xfrm>
          <a:prstGeom prst="rect">
            <a:avLst/>
          </a:prstGeom>
          <a:noFill/>
          <a:ln/>
        </p:spPr>
        <p:txBody>
          <a:bodyPr wrap="square" rtlCol="0" anchor="ctr"/>
          <a:lstStyle/>
          <a:p>
            <a:pPr indent="0" marL="0">
              <a:lnSpc>
                <a:spcPts val="1100"/>
              </a:lnSpc>
              <a:buNone/>
            </a:pPr>
            <a:r>
              <a:rPr lang="en-US" sz="820" dirty="0">
                <a:solidFill>
                  <a:srgbClr val="334155"/>
                </a:solidFill>
                <a:latin typeface="Arial" pitchFamily="34" charset="0"/>
                <a:ea typeface="Arial" pitchFamily="34" charset="-122"/>
                <a:cs typeface="Arial" pitchFamily="34" charset="-120"/>
              </a:rPr>
              <a:t>Uji teknis, penetrant testing, validasi mutu produk &amp; SNI/TKDN.</a:t>
            </a:r>
            <a:endParaRPr lang="en-US" sz="820" dirty="0"/>
          </a:p>
        </p:txBody>
      </p:sp>
      <p:sp>
        <p:nvSpPr>
          <p:cNvPr id="34" name="Shape 32"/>
          <p:cNvSpPr/>
          <p:nvPr/>
        </p:nvSpPr>
        <p:spPr>
          <a:xfrm>
            <a:off x="7150608" y="2148840"/>
            <a:ext cx="164592" cy="256032"/>
          </a:xfrm>
          <a:prstGeom prst="rightArrow">
            <a:avLst/>
          </a:prstGeom>
          <a:solidFill>
            <a:srgbClr val="D97706"/>
          </a:solidFill>
          <a:ln w="12700">
            <a:solidFill>
              <a:srgbClr val="D97706"/>
            </a:solidFill>
            <a:prstDash val="solid"/>
          </a:ln>
        </p:spPr>
      </p:sp>
      <p:sp>
        <p:nvSpPr>
          <p:cNvPr id="35" name="Shape 33"/>
          <p:cNvSpPr/>
          <p:nvPr/>
        </p:nvSpPr>
        <p:spPr>
          <a:xfrm>
            <a:off x="7342632" y="1325880"/>
            <a:ext cx="1965960" cy="1920240"/>
          </a:xfrm>
          <a:prstGeom prst="roundRect">
            <a:avLst>
              <a:gd name="adj" fmla="val 3810"/>
            </a:avLst>
          </a:prstGeom>
          <a:solidFill>
            <a:srgbClr val="FFFFFF"/>
          </a:solidFill>
          <a:ln w="12700">
            <a:solidFill>
              <a:srgbClr val="CBD5E1"/>
            </a:solidFill>
            <a:prstDash val="solid"/>
          </a:ln>
        </p:spPr>
      </p:sp>
      <p:sp>
        <p:nvSpPr>
          <p:cNvPr id="36" name="Shape 34"/>
          <p:cNvSpPr/>
          <p:nvPr/>
        </p:nvSpPr>
        <p:spPr>
          <a:xfrm>
            <a:off x="7342632" y="1325880"/>
            <a:ext cx="73152" cy="1920240"/>
          </a:xfrm>
          <a:prstGeom prst="roundRect">
            <a:avLst>
              <a:gd name="adj" fmla="val 50000"/>
            </a:avLst>
          </a:prstGeom>
          <a:solidFill>
            <a:srgbClr val="059669"/>
          </a:solidFill>
          <a:ln w="12700">
            <a:solidFill>
              <a:srgbClr val="059669"/>
            </a:solidFill>
            <a:prstDash val="solid"/>
          </a:ln>
        </p:spPr>
      </p:sp>
      <p:sp>
        <p:nvSpPr>
          <p:cNvPr id="37" name="Shape 35"/>
          <p:cNvSpPr/>
          <p:nvPr/>
        </p:nvSpPr>
        <p:spPr>
          <a:xfrm>
            <a:off x="7434072" y="1417320"/>
            <a:ext cx="1783080" cy="411480"/>
          </a:xfrm>
          <a:prstGeom prst="roundRect">
            <a:avLst>
              <a:gd name="adj" fmla="val 8889"/>
            </a:avLst>
          </a:prstGeom>
          <a:solidFill>
            <a:srgbClr val="F1F5F9"/>
          </a:solidFill>
          <a:ln w="12700">
            <a:solidFill>
              <a:srgbClr val="059669"/>
            </a:solidFill>
            <a:prstDash val="solid"/>
          </a:ln>
        </p:spPr>
      </p:sp>
      <p:sp>
        <p:nvSpPr>
          <p:cNvPr id="38" name="Text 36"/>
          <p:cNvSpPr/>
          <p:nvPr/>
        </p:nvSpPr>
        <p:spPr>
          <a:xfrm>
            <a:off x="7452360" y="1444752"/>
            <a:ext cx="822960" cy="347472"/>
          </a:xfrm>
          <a:prstGeom prst="rect">
            <a:avLst/>
          </a:prstGeom>
          <a:noFill/>
          <a:ln/>
        </p:spPr>
        <p:txBody>
          <a:bodyPr wrap="square" rtlCol="0" anchor="ctr"/>
          <a:lstStyle/>
          <a:p>
            <a:pPr indent="0" marL="0">
              <a:buNone/>
            </a:pPr>
            <a:r>
              <a:rPr lang="en-US" sz="900" b="1" dirty="0">
                <a:solidFill>
                  <a:srgbClr val="059669"/>
                </a:solidFill>
                <a:latin typeface="Arial" pitchFamily="34" charset="0"/>
                <a:ea typeface="Arial" pitchFamily="34" charset="-122"/>
                <a:cs typeface="Arial" pitchFamily="34" charset="-120"/>
              </a:rPr>
              <a:t>TAHAP 04</a:t>
            </a:r>
            <a:endParaRPr lang="en-US" sz="900" dirty="0"/>
          </a:p>
        </p:txBody>
      </p:sp>
      <p:sp>
        <p:nvSpPr>
          <p:cNvPr id="39" name="Text 37"/>
          <p:cNvSpPr/>
          <p:nvPr/>
        </p:nvSpPr>
        <p:spPr>
          <a:xfrm>
            <a:off x="8211312" y="1444752"/>
            <a:ext cx="960120" cy="347472"/>
          </a:xfrm>
          <a:prstGeom prst="rect">
            <a:avLst/>
          </a:prstGeom>
          <a:noFill/>
          <a:ln/>
        </p:spPr>
        <p:txBody>
          <a:bodyPr wrap="square" rtlCol="0" anchor="ctr"/>
          <a:lstStyle/>
          <a:p>
            <a:pPr algn="r" indent="0" marL="0">
              <a:buNone/>
            </a:pPr>
            <a:r>
              <a:rPr lang="en-US" sz="750" b="1" dirty="0">
                <a:solidFill>
                  <a:srgbClr val="334155"/>
                </a:solidFill>
                <a:latin typeface="Arial" pitchFamily="34" charset="0"/>
                <a:ea typeface="Arial" pitchFamily="34" charset="-122"/>
                <a:cs typeface="Arial" pitchFamily="34" charset="-120"/>
              </a:rPr>
              <a:t>Inkubator STP</a:t>
            </a:r>
            <a:endParaRPr lang="en-US" sz="750" dirty="0"/>
          </a:p>
        </p:txBody>
      </p:sp>
      <p:sp>
        <p:nvSpPr>
          <p:cNvPr id="40" name="Text 38"/>
          <p:cNvSpPr/>
          <p:nvPr/>
        </p:nvSpPr>
        <p:spPr>
          <a:xfrm>
            <a:off x="7452360" y="1901952"/>
            <a:ext cx="1746504" cy="365760"/>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INKUBASI BISNIS</a:t>
            </a:r>
            <a:endParaRPr lang="en-US" sz="1000" dirty="0"/>
          </a:p>
        </p:txBody>
      </p:sp>
      <p:sp>
        <p:nvSpPr>
          <p:cNvPr id="41" name="Text 39"/>
          <p:cNvSpPr/>
          <p:nvPr/>
        </p:nvSpPr>
        <p:spPr>
          <a:xfrm>
            <a:off x="7452360" y="2286000"/>
            <a:ext cx="1746504" cy="868680"/>
          </a:xfrm>
          <a:prstGeom prst="rect">
            <a:avLst/>
          </a:prstGeom>
          <a:noFill/>
          <a:ln/>
        </p:spPr>
        <p:txBody>
          <a:bodyPr wrap="square" rtlCol="0" anchor="ctr"/>
          <a:lstStyle/>
          <a:p>
            <a:pPr indent="0" marL="0">
              <a:lnSpc>
                <a:spcPts val="1100"/>
              </a:lnSpc>
              <a:buNone/>
            </a:pPr>
            <a:r>
              <a:rPr lang="en-US" sz="820" dirty="0">
                <a:solidFill>
                  <a:srgbClr val="334155"/>
                </a:solidFill>
                <a:latin typeface="Arial" pitchFamily="34" charset="0"/>
                <a:ea typeface="Arial" pitchFamily="34" charset="-122"/>
                <a:cs typeface="Arial" pitchFamily="34" charset="-120"/>
              </a:rPr>
              <a:t>Penyusunan business model, proteksi HKI/Paten, akses modal &amp; offtaker.</a:t>
            </a:r>
            <a:endParaRPr lang="en-US" sz="820" dirty="0"/>
          </a:p>
        </p:txBody>
      </p:sp>
      <p:sp>
        <p:nvSpPr>
          <p:cNvPr id="42" name="Shape 40"/>
          <p:cNvSpPr/>
          <p:nvPr/>
        </p:nvSpPr>
        <p:spPr>
          <a:xfrm>
            <a:off x="9354312" y="2148840"/>
            <a:ext cx="164592" cy="256032"/>
          </a:xfrm>
          <a:prstGeom prst="rightArrow">
            <a:avLst/>
          </a:prstGeom>
          <a:solidFill>
            <a:srgbClr val="059669"/>
          </a:solidFill>
          <a:ln w="12700">
            <a:solidFill>
              <a:srgbClr val="059669"/>
            </a:solidFill>
            <a:prstDash val="solid"/>
          </a:ln>
        </p:spPr>
      </p:sp>
      <p:sp>
        <p:nvSpPr>
          <p:cNvPr id="43" name="Shape 41"/>
          <p:cNvSpPr/>
          <p:nvPr/>
        </p:nvSpPr>
        <p:spPr>
          <a:xfrm>
            <a:off x="9546336" y="1325880"/>
            <a:ext cx="1965960" cy="1920240"/>
          </a:xfrm>
          <a:prstGeom prst="roundRect">
            <a:avLst>
              <a:gd name="adj" fmla="val 3810"/>
            </a:avLst>
          </a:prstGeom>
          <a:solidFill>
            <a:srgbClr val="FFFFFF"/>
          </a:solidFill>
          <a:ln w="12700">
            <a:solidFill>
              <a:srgbClr val="CBD5E1"/>
            </a:solidFill>
            <a:prstDash val="solid"/>
          </a:ln>
        </p:spPr>
      </p:sp>
      <p:sp>
        <p:nvSpPr>
          <p:cNvPr id="44" name="Shape 42"/>
          <p:cNvSpPr/>
          <p:nvPr/>
        </p:nvSpPr>
        <p:spPr>
          <a:xfrm>
            <a:off x="9546336" y="1325880"/>
            <a:ext cx="73152" cy="1920240"/>
          </a:xfrm>
          <a:prstGeom prst="roundRect">
            <a:avLst>
              <a:gd name="adj" fmla="val 50000"/>
            </a:avLst>
          </a:prstGeom>
          <a:solidFill>
            <a:srgbClr val="D97706"/>
          </a:solidFill>
          <a:ln w="12700">
            <a:solidFill>
              <a:srgbClr val="D97706"/>
            </a:solidFill>
            <a:prstDash val="solid"/>
          </a:ln>
        </p:spPr>
      </p:sp>
      <p:sp>
        <p:nvSpPr>
          <p:cNvPr id="45" name="Shape 43"/>
          <p:cNvSpPr/>
          <p:nvPr/>
        </p:nvSpPr>
        <p:spPr>
          <a:xfrm>
            <a:off x="9637776" y="1417320"/>
            <a:ext cx="1783080" cy="411480"/>
          </a:xfrm>
          <a:prstGeom prst="roundRect">
            <a:avLst>
              <a:gd name="adj" fmla="val 8889"/>
            </a:avLst>
          </a:prstGeom>
          <a:solidFill>
            <a:srgbClr val="F1F5F9"/>
          </a:solidFill>
          <a:ln w="12700">
            <a:solidFill>
              <a:srgbClr val="D97706"/>
            </a:solidFill>
            <a:prstDash val="solid"/>
          </a:ln>
        </p:spPr>
      </p:sp>
      <p:sp>
        <p:nvSpPr>
          <p:cNvPr id="46" name="Text 44"/>
          <p:cNvSpPr/>
          <p:nvPr/>
        </p:nvSpPr>
        <p:spPr>
          <a:xfrm>
            <a:off x="9656064" y="1444752"/>
            <a:ext cx="822960" cy="347472"/>
          </a:xfrm>
          <a:prstGeom prst="rect">
            <a:avLst/>
          </a:prstGeom>
          <a:noFill/>
          <a:ln/>
        </p:spPr>
        <p:txBody>
          <a:bodyPr wrap="square" rtlCol="0" anchor="ctr"/>
          <a:lstStyle/>
          <a:p>
            <a:pPr indent="0" marL="0">
              <a:buNone/>
            </a:pPr>
            <a:r>
              <a:rPr lang="en-US" sz="900" b="1" dirty="0">
                <a:solidFill>
                  <a:srgbClr val="D97706"/>
                </a:solidFill>
                <a:latin typeface="Arial" pitchFamily="34" charset="0"/>
                <a:ea typeface="Arial" pitchFamily="34" charset="-122"/>
                <a:cs typeface="Arial" pitchFamily="34" charset="-120"/>
              </a:rPr>
              <a:t>TAHAP 05</a:t>
            </a:r>
            <a:endParaRPr lang="en-US" sz="900" dirty="0"/>
          </a:p>
        </p:txBody>
      </p:sp>
      <p:sp>
        <p:nvSpPr>
          <p:cNvPr id="47" name="Text 45"/>
          <p:cNvSpPr/>
          <p:nvPr/>
        </p:nvSpPr>
        <p:spPr>
          <a:xfrm>
            <a:off x="10415016" y="1444752"/>
            <a:ext cx="960120" cy="347472"/>
          </a:xfrm>
          <a:prstGeom prst="rect">
            <a:avLst/>
          </a:prstGeom>
          <a:noFill/>
          <a:ln/>
        </p:spPr>
        <p:txBody>
          <a:bodyPr wrap="square" rtlCol="0" anchor="ctr"/>
          <a:lstStyle/>
          <a:p>
            <a:pPr algn="r" indent="0" marL="0">
              <a:buNone/>
            </a:pPr>
            <a:r>
              <a:rPr lang="en-US" sz="750" b="1" dirty="0">
                <a:solidFill>
                  <a:srgbClr val="334155"/>
                </a:solidFill>
                <a:latin typeface="Arial" pitchFamily="34" charset="0"/>
                <a:ea typeface="Arial" pitchFamily="34" charset="-122"/>
                <a:cs typeface="Arial" pitchFamily="34" charset="-120"/>
              </a:rPr>
              <a:t>Pasar &amp; Industri</a:t>
            </a:r>
            <a:endParaRPr lang="en-US" sz="750" dirty="0"/>
          </a:p>
        </p:txBody>
      </p:sp>
      <p:sp>
        <p:nvSpPr>
          <p:cNvPr id="48" name="Text 46"/>
          <p:cNvSpPr/>
          <p:nvPr/>
        </p:nvSpPr>
        <p:spPr>
          <a:xfrm>
            <a:off x="9656064" y="1901952"/>
            <a:ext cx="1746504" cy="365760"/>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KOMERSIALISASI</a:t>
            </a:r>
            <a:endParaRPr lang="en-US" sz="1000" dirty="0"/>
          </a:p>
        </p:txBody>
      </p:sp>
      <p:sp>
        <p:nvSpPr>
          <p:cNvPr id="49" name="Text 47"/>
          <p:cNvSpPr/>
          <p:nvPr/>
        </p:nvSpPr>
        <p:spPr>
          <a:xfrm>
            <a:off x="9656064" y="2286000"/>
            <a:ext cx="1746504" cy="868680"/>
          </a:xfrm>
          <a:prstGeom prst="rect">
            <a:avLst/>
          </a:prstGeom>
          <a:noFill/>
          <a:ln/>
        </p:spPr>
        <p:txBody>
          <a:bodyPr wrap="square" rtlCol="0" anchor="ctr"/>
          <a:lstStyle/>
          <a:p>
            <a:pPr indent="0" marL="0">
              <a:lnSpc>
                <a:spcPts val="1100"/>
              </a:lnSpc>
              <a:buNone/>
            </a:pPr>
            <a:r>
              <a:rPr lang="en-US" sz="820" dirty="0">
                <a:solidFill>
                  <a:srgbClr val="334155"/>
                </a:solidFill>
                <a:latin typeface="Arial" pitchFamily="34" charset="0"/>
                <a:ea typeface="Arial" pitchFamily="34" charset="-122"/>
                <a:cs typeface="Arial" pitchFamily="34" charset="-120"/>
              </a:rPr>
              <a:t>Penetrasi e-Katalog Lokal OPD, captive market pemda &amp; industri nasional.</a:t>
            </a:r>
            <a:endParaRPr lang="en-US" sz="820" dirty="0"/>
          </a:p>
        </p:txBody>
      </p:sp>
      <p:sp>
        <p:nvSpPr>
          <p:cNvPr id="50" name="Shape 48"/>
          <p:cNvSpPr/>
          <p:nvPr/>
        </p:nvSpPr>
        <p:spPr>
          <a:xfrm>
            <a:off x="731520" y="3429000"/>
            <a:ext cx="6217920" cy="2788920"/>
          </a:xfrm>
          <a:prstGeom prst="roundRect">
            <a:avLst>
              <a:gd name="adj" fmla="val 2623"/>
            </a:avLst>
          </a:prstGeom>
          <a:solidFill>
            <a:srgbClr val="FFFFFF"/>
          </a:solidFill>
          <a:ln w="12700">
            <a:solidFill>
              <a:srgbClr val="CBD5E1"/>
            </a:solidFill>
            <a:prstDash val="solid"/>
          </a:ln>
        </p:spPr>
      </p:sp>
      <p:sp>
        <p:nvSpPr>
          <p:cNvPr id="51" name="Text 49"/>
          <p:cNvSpPr/>
          <p:nvPr/>
        </p:nvSpPr>
        <p:spPr>
          <a:xfrm>
            <a:off x="914400" y="3547872"/>
            <a:ext cx="5852160" cy="256032"/>
          </a:xfrm>
          <a:prstGeom prst="rect">
            <a:avLst/>
          </a:prstGeom>
          <a:noFill/>
          <a:ln/>
        </p:spPr>
        <p:txBody>
          <a:bodyPr wrap="square" rtlCol="0" anchor="ctr"/>
          <a:lstStyle/>
          <a:p>
            <a:pPr indent="0" marL="0">
              <a:buNone/>
            </a:pPr>
            <a:r>
              <a:rPr lang="en-US" sz="950" b="1" dirty="0">
                <a:solidFill>
                  <a:srgbClr val="0369A1"/>
                </a:solidFill>
                <a:latin typeface="Arial" pitchFamily="34" charset="0"/>
                <a:ea typeface="Arial" pitchFamily="34" charset="-122"/>
                <a:cs typeface="Arial" pitchFamily="34" charset="-120"/>
              </a:rPr>
              <a:t>CONTOH TEKNOLOGI YANG DIHILIRKAN &amp; DIINKUBASI DI STP (DATA RIIL)</a:t>
            </a:r>
            <a:endParaRPr lang="en-US" sz="9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14400" y="3858768"/>
          <a:ext cx="5852160" cy="2240280"/>
        </p:xfrm>
        <a:graphic>
          <a:graphicData uri="http://schemas.openxmlformats.org/drawingml/2006/table">
            <a:tbl>
              <a:tblPr/>
              <a:tblGrid>
                <a:gridCol w="1645920"/>
                <a:gridCol w="2926080"/>
                <a:gridCol w="1280160"/>
              </a:tblGrid>
              <a:tr h="347472">
                <a:tc>
                  <a:txBody>
                    <a:bodyPr/>
                    <a:lstStyle/>
                    <a:p>
                      <a:pPr indent="0" marL="0">
                        <a:buNone/>
                      </a:pPr>
                      <a:r>
                        <a:rPr lang="en-US" sz="880" b="1" dirty="0">
                          <a:solidFill>
                            <a:srgbClr val="FFFFFF"/>
                          </a:solidFill>
                          <a:latin typeface="Arial" pitchFamily="34" charset="0"/>
                          <a:ea typeface="Arial" pitchFamily="34" charset="-122"/>
                          <a:cs typeface="Arial" pitchFamily="34" charset="-120"/>
                        </a:rPr>
                        <a:t>KLASTER TEKNOLOGI</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2942"/>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CONTOH PRODUK INOVASI</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2942"/>
                    </a:solidFill>
                  </a:tcPr>
                </a:tc>
                <a:tc>
                  <a:txBody>
                    <a:bodyPr/>
                    <a:lstStyle/>
                    <a:p>
                      <a:pPr algn="ctr" indent="0" marL="0">
                        <a:buNone/>
                      </a:pPr>
                      <a:r>
                        <a:rPr lang="en-US" sz="880" b="1" dirty="0">
                          <a:solidFill>
                            <a:srgbClr val="FFFFFF"/>
                          </a:solidFill>
                          <a:latin typeface="Arial" pitchFamily="34" charset="0"/>
                          <a:ea typeface="Arial" pitchFamily="34" charset="-122"/>
                          <a:cs typeface="Arial" pitchFamily="34" charset="-120"/>
                        </a:rPr>
                        <a:t>STATUS TAHAPAN</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2942"/>
                    </a:solidFill>
                  </a:tcPr>
                </a:tc>
              </a:tr>
              <a:tr h="374904">
                <a:tc>
                  <a:txBody>
                    <a:bodyPr/>
                    <a:lstStyle/>
                    <a:p>
                      <a:pPr indent="0" marL="0">
                        <a:buNone/>
                      </a:pPr>
                      <a:r>
                        <a:rPr lang="en-US" sz="880" dirty="0">
                          <a:solidFill>
                            <a:srgbClr val="334155"/>
                          </a:solidFill>
                          <a:latin typeface="Arial" pitchFamily="34" charset="0"/>
                          <a:ea typeface="Arial" pitchFamily="34" charset="-122"/>
                          <a:cs typeface="Arial" pitchFamily="34" charset="-120"/>
                        </a:rPr>
                        <a:t>Smart Agriculture IoT</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880" b="1" dirty="0">
                          <a:solidFill>
                            <a:srgbClr val="0F172A"/>
                          </a:solidFill>
                          <a:latin typeface="Arial" pitchFamily="34" charset="0"/>
                          <a:ea typeface="Arial" pitchFamily="34" charset="-122"/>
                          <a:cs typeface="Arial" pitchFamily="34" charset="-120"/>
                        </a:rPr>
                        <a:t>Mesin Sortasi Biji Kopi Otomatis</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880" dirty="0">
                          <a:solidFill>
                            <a:srgbClr val="0369A1"/>
                          </a:solidFill>
                          <a:latin typeface="Arial" pitchFamily="34" charset="0"/>
                          <a:ea typeface="Arial" pitchFamily="34" charset="-122"/>
                          <a:cs typeface="Arial" pitchFamily="34" charset="-120"/>
                        </a:rPr>
                        <a:t>Prototype Validasi</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r h="374904">
                <a:tc>
                  <a:txBody>
                    <a:bodyPr/>
                    <a:lstStyle/>
                    <a:p>
                      <a:pPr indent="0" marL="0">
                        <a:buNone/>
                      </a:pPr>
                      <a:r>
                        <a:rPr lang="en-US" sz="880" dirty="0">
                          <a:solidFill>
                            <a:srgbClr val="334155"/>
                          </a:solidFill>
                          <a:latin typeface="Arial" pitchFamily="34" charset="0"/>
                          <a:ea typeface="Arial" pitchFamily="34" charset="-122"/>
                          <a:cs typeface="Arial" pitchFamily="34" charset="-120"/>
                        </a:rPr>
                        <a:t>Smart Agriculture IoT</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880" b="1" dirty="0">
                          <a:solidFill>
                            <a:srgbClr val="0F172A"/>
                          </a:solidFill>
                          <a:latin typeface="Arial" pitchFamily="34" charset="0"/>
                          <a:ea typeface="Arial" pitchFamily="34" charset="-122"/>
                          <a:cs typeface="Arial" pitchFamily="34" charset="-120"/>
                        </a:rPr>
                        <a:t>Teknologi Pertanian Presisi IoT &amp; AI</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880" dirty="0">
                          <a:solidFill>
                            <a:srgbClr val="0369A1"/>
                          </a:solidFill>
                          <a:latin typeface="Arial" pitchFamily="34" charset="0"/>
                          <a:ea typeface="Arial" pitchFamily="34" charset="-122"/>
                          <a:cs typeface="Arial" pitchFamily="34" charset="-120"/>
                        </a:rPr>
                        <a:t>Uji Lapangan</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r h="374904">
                <a:tc>
                  <a:txBody>
                    <a:bodyPr/>
                    <a:lstStyle/>
                    <a:p>
                      <a:pPr indent="0" marL="0">
                        <a:buNone/>
                      </a:pPr>
                      <a:r>
                        <a:rPr lang="en-US" sz="880" dirty="0">
                          <a:solidFill>
                            <a:srgbClr val="334155"/>
                          </a:solidFill>
                          <a:latin typeface="Arial" pitchFamily="34" charset="0"/>
                          <a:ea typeface="Arial" pitchFamily="34" charset="-122"/>
                          <a:cs typeface="Arial" pitchFamily="34" charset="-120"/>
                        </a:rPr>
                        <a:t>Smart Agriculture IoT</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880" b="1" dirty="0">
                          <a:solidFill>
                            <a:srgbClr val="0F172A"/>
                          </a:solidFill>
                          <a:latin typeface="Arial" pitchFamily="34" charset="0"/>
                          <a:ea typeface="Arial" pitchFamily="34" charset="-122"/>
                          <a:cs typeface="Arial" pitchFamily="34" charset="-120"/>
                        </a:rPr>
                        <a:t>Mesin Tetas Telur Pintar Mandiri</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880" b="1" dirty="0">
                          <a:solidFill>
                            <a:srgbClr val="059669"/>
                          </a:solidFill>
                          <a:latin typeface="Arial" pitchFamily="34" charset="0"/>
                          <a:ea typeface="Arial" pitchFamily="34" charset="-122"/>
                          <a:cs typeface="Arial" pitchFamily="34" charset="-120"/>
                        </a:rPr>
                        <a:t>Siap e-Katalog</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r h="374904">
                <a:tc>
                  <a:txBody>
                    <a:bodyPr/>
                    <a:lstStyle/>
                    <a:p>
                      <a:pPr indent="0" marL="0">
                        <a:buNone/>
                      </a:pPr>
                      <a:r>
                        <a:rPr lang="en-US" sz="880" dirty="0">
                          <a:solidFill>
                            <a:srgbClr val="334155"/>
                          </a:solidFill>
                          <a:latin typeface="Arial" pitchFamily="34" charset="0"/>
                          <a:ea typeface="Arial" pitchFamily="34" charset="-122"/>
                          <a:cs typeface="Arial" pitchFamily="34" charset="-120"/>
                        </a:rPr>
                        <a:t>Deep Tech Mobility</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880" b="1" dirty="0">
                          <a:solidFill>
                            <a:srgbClr val="0F172A"/>
                          </a:solidFill>
                          <a:latin typeface="Arial" pitchFamily="34" charset="0"/>
                          <a:ea typeface="Arial" pitchFamily="34" charset="-122"/>
                          <a:cs typeface="Arial" pitchFamily="34" charset="-120"/>
                        </a:rPr>
                        <a:t>Autonomous Vehicle Elektrik Kampus</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880" dirty="0">
                          <a:solidFill>
                            <a:srgbClr val="D97706"/>
                          </a:solidFill>
                          <a:latin typeface="Arial" pitchFamily="34" charset="0"/>
                          <a:ea typeface="Arial" pitchFamily="34" charset="-122"/>
                          <a:cs typeface="Arial" pitchFamily="34" charset="-120"/>
                        </a:rPr>
                        <a:t>R&amp;D Bersama</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r h="374904">
                <a:tc>
                  <a:txBody>
                    <a:bodyPr/>
                    <a:lstStyle/>
                    <a:p>
                      <a:pPr indent="0" marL="0">
                        <a:buNone/>
                      </a:pPr>
                      <a:r>
                        <a:rPr lang="en-US" sz="880" dirty="0">
                          <a:solidFill>
                            <a:srgbClr val="334155"/>
                          </a:solidFill>
                          <a:latin typeface="Arial" pitchFamily="34" charset="0"/>
                          <a:ea typeface="Arial" pitchFamily="34" charset="-122"/>
                          <a:cs typeface="Arial" pitchFamily="34" charset="-120"/>
                        </a:rPr>
                        <a:t>GovTech &amp; Pelatihan</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880" b="1" dirty="0">
                          <a:solidFill>
                            <a:srgbClr val="0F172A"/>
                          </a:solidFill>
                          <a:latin typeface="Arial" pitchFamily="34" charset="0"/>
                          <a:ea typeface="Arial" pitchFamily="34" charset="-122"/>
                          <a:cs typeface="Arial" pitchFamily="34" charset="-120"/>
                        </a:rPr>
                        <a:t>VR Pelatihan Industri &amp; Chatbot AI OPD</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880" b="1" dirty="0">
                          <a:solidFill>
                            <a:srgbClr val="059669"/>
                          </a:solidFill>
                          <a:latin typeface="Arial" pitchFamily="34" charset="0"/>
                          <a:ea typeface="Arial" pitchFamily="34" charset="-122"/>
                          <a:cs typeface="Arial" pitchFamily="34" charset="-120"/>
                        </a:rPr>
                        <a:t>Komersial Aktif</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bl>
          </a:graphicData>
        </a:graphic>
      </p:graphicFrame>
      <p:sp>
        <p:nvSpPr>
          <p:cNvPr id="53" name="Shape 50"/>
          <p:cNvSpPr/>
          <p:nvPr/>
        </p:nvSpPr>
        <p:spPr>
          <a:xfrm>
            <a:off x="7132320" y="3429000"/>
            <a:ext cx="4327855" cy="2788920"/>
          </a:xfrm>
          <a:prstGeom prst="roundRect">
            <a:avLst>
              <a:gd name="adj" fmla="val 2623"/>
            </a:avLst>
          </a:prstGeom>
          <a:solidFill>
            <a:srgbClr val="FFFFFF"/>
          </a:solidFill>
          <a:ln w="12700">
            <a:solidFill>
              <a:srgbClr val="0284C7"/>
            </a:solidFill>
            <a:prstDash val="solid"/>
          </a:ln>
        </p:spPr>
      </p:sp>
      <p:sp>
        <p:nvSpPr>
          <p:cNvPr id="54" name="Text 51"/>
          <p:cNvSpPr/>
          <p:nvPr/>
        </p:nvSpPr>
        <p:spPr>
          <a:xfrm>
            <a:off x="7315200" y="3547872"/>
            <a:ext cx="3962095" cy="256032"/>
          </a:xfrm>
          <a:prstGeom prst="rect">
            <a:avLst/>
          </a:prstGeom>
          <a:noFill/>
          <a:ln/>
        </p:spPr>
        <p:txBody>
          <a:bodyPr wrap="square" rtlCol="0" anchor="ctr"/>
          <a:lstStyle/>
          <a:p>
            <a:pPr indent="0" marL="0">
              <a:buNone/>
            </a:pPr>
            <a:r>
              <a:rPr lang="en-US" sz="950" b="1" dirty="0">
                <a:solidFill>
                  <a:srgbClr val="D97706"/>
                </a:solidFill>
                <a:latin typeface="Arial" pitchFamily="34" charset="0"/>
                <a:ea typeface="Arial" pitchFamily="34" charset="-122"/>
                <a:cs typeface="Arial" pitchFamily="34" charset="-120"/>
              </a:rPr>
              <a:t>EKOSISTEM FASILITAS PENDUKUNG AKTIF</a:t>
            </a:r>
            <a:endParaRPr lang="en-US" sz="950" dirty="0"/>
          </a:p>
        </p:txBody>
      </p:sp>
      <p:sp>
        <p:nvSpPr>
          <p:cNvPr id="55" name="Text 52"/>
          <p:cNvSpPr/>
          <p:nvPr/>
        </p:nvSpPr>
        <p:spPr>
          <a:xfrm>
            <a:off x="7315200" y="3886200"/>
            <a:ext cx="3962095" cy="201168"/>
          </a:xfrm>
          <a:prstGeom prst="rect">
            <a:avLst/>
          </a:prstGeom>
          <a:noFill/>
          <a:ln/>
        </p:spPr>
        <p:txBody>
          <a:bodyPr wrap="square" rtlCol="0" anchor="ctr"/>
          <a:lstStyle/>
          <a:p>
            <a:pPr indent="0" marL="0">
              <a:buNone/>
            </a:pPr>
            <a:r>
              <a:rPr lang="en-US" sz="900" b="1" dirty="0">
                <a:solidFill>
                  <a:srgbClr val="0F172A"/>
                </a:solidFill>
                <a:latin typeface="Arial" pitchFamily="34" charset="0"/>
                <a:ea typeface="Arial" pitchFamily="34" charset="-122"/>
                <a:cs typeface="Arial" pitchFamily="34" charset="-120"/>
              </a:rPr>
              <a:t>🛡️  National Cyber Security Hub</a:t>
            </a:r>
            <a:endParaRPr lang="en-US" sz="900" dirty="0"/>
          </a:p>
        </p:txBody>
      </p:sp>
      <p:sp>
        <p:nvSpPr>
          <p:cNvPr id="56" name="Text 53"/>
          <p:cNvSpPr/>
          <p:nvPr/>
        </p:nvSpPr>
        <p:spPr>
          <a:xfrm>
            <a:off x="7680960" y="4069080"/>
            <a:ext cx="3596335" cy="219456"/>
          </a:xfrm>
          <a:prstGeom prst="rect">
            <a:avLst/>
          </a:prstGeom>
          <a:noFill/>
          <a:ln/>
        </p:spPr>
        <p:txBody>
          <a:bodyPr wrap="square" rtlCol="0" anchor="ctr"/>
          <a:lstStyle/>
          <a:p>
            <a:pPr indent="0" marL="0">
              <a:buNone/>
            </a:pPr>
            <a:r>
              <a:rPr lang="en-US" sz="800" dirty="0">
                <a:solidFill>
                  <a:srgbClr val="334155"/>
                </a:solidFill>
                <a:latin typeface="Arial" pitchFamily="34" charset="0"/>
                <a:ea typeface="Arial" pitchFamily="34" charset="-122"/>
                <a:cs typeface="Arial" pitchFamily="34" charset="-120"/>
              </a:rPr>
              <a:t>Pusat ketahanan digital &amp; talenta siber nasional</a:t>
            </a:r>
            <a:endParaRPr lang="en-US" sz="800" dirty="0"/>
          </a:p>
        </p:txBody>
      </p:sp>
      <p:sp>
        <p:nvSpPr>
          <p:cNvPr id="57" name="Text 54"/>
          <p:cNvSpPr/>
          <p:nvPr/>
        </p:nvSpPr>
        <p:spPr>
          <a:xfrm>
            <a:off x="7315200" y="4334256"/>
            <a:ext cx="3962095" cy="201168"/>
          </a:xfrm>
          <a:prstGeom prst="rect">
            <a:avLst/>
          </a:prstGeom>
          <a:noFill/>
          <a:ln/>
        </p:spPr>
        <p:txBody>
          <a:bodyPr wrap="square" rtlCol="0" anchor="ctr"/>
          <a:lstStyle/>
          <a:p>
            <a:pPr indent="0" marL="0">
              <a:buNone/>
            </a:pPr>
            <a:r>
              <a:rPr lang="en-US" sz="900" b="1" dirty="0">
                <a:solidFill>
                  <a:srgbClr val="0F172A"/>
                </a:solidFill>
                <a:latin typeface="Arial" pitchFamily="34" charset="0"/>
                <a:ea typeface="Arial" pitchFamily="34" charset="-122"/>
                <a:cs typeface="Arial" pitchFamily="34" charset="-120"/>
              </a:rPr>
              <a:t>🎮  Gaming Hub &amp; Digital Studio</a:t>
            </a:r>
            <a:endParaRPr lang="en-US" sz="900" dirty="0"/>
          </a:p>
        </p:txBody>
      </p:sp>
      <p:sp>
        <p:nvSpPr>
          <p:cNvPr id="58" name="Text 55"/>
          <p:cNvSpPr/>
          <p:nvPr/>
        </p:nvSpPr>
        <p:spPr>
          <a:xfrm>
            <a:off x="7680960" y="4517136"/>
            <a:ext cx="3596335" cy="219456"/>
          </a:xfrm>
          <a:prstGeom prst="rect">
            <a:avLst/>
          </a:prstGeom>
          <a:noFill/>
          <a:ln/>
        </p:spPr>
        <p:txBody>
          <a:bodyPr wrap="square" rtlCol="0" anchor="ctr"/>
          <a:lstStyle/>
          <a:p>
            <a:pPr indent="0" marL="0">
              <a:buNone/>
            </a:pPr>
            <a:r>
              <a:rPr lang="en-US" sz="800" dirty="0">
                <a:solidFill>
                  <a:srgbClr val="334155"/>
                </a:solidFill>
                <a:latin typeface="Arial" pitchFamily="34" charset="0"/>
                <a:ea typeface="Arial" pitchFamily="34" charset="-122"/>
                <a:cs typeface="Arial" pitchFamily="34" charset="-120"/>
              </a:rPr>
              <a:t>Pengembangan game &amp; konten kreatif esport</a:t>
            </a:r>
            <a:endParaRPr lang="en-US" sz="800" dirty="0"/>
          </a:p>
        </p:txBody>
      </p:sp>
      <p:sp>
        <p:nvSpPr>
          <p:cNvPr id="59" name="Text 56"/>
          <p:cNvSpPr/>
          <p:nvPr/>
        </p:nvSpPr>
        <p:spPr>
          <a:xfrm>
            <a:off x="7315200" y="4782312"/>
            <a:ext cx="3962095" cy="201168"/>
          </a:xfrm>
          <a:prstGeom prst="rect">
            <a:avLst/>
          </a:prstGeom>
          <a:noFill/>
          <a:ln/>
        </p:spPr>
        <p:txBody>
          <a:bodyPr wrap="square" rtlCol="0" anchor="ctr"/>
          <a:lstStyle/>
          <a:p>
            <a:pPr indent="0" marL="0">
              <a:buNone/>
            </a:pPr>
            <a:r>
              <a:rPr lang="en-US" sz="900" b="1" dirty="0">
                <a:solidFill>
                  <a:srgbClr val="0F172A"/>
                </a:solidFill>
                <a:latin typeface="Arial" pitchFamily="34" charset="0"/>
                <a:ea typeface="Arial" pitchFamily="34" charset="-122"/>
                <a:cs typeface="Arial" pitchFamily="34" charset="-120"/>
              </a:rPr>
              <a:t>🤖  AI Experience Center</a:t>
            </a:r>
            <a:endParaRPr lang="en-US" sz="900" dirty="0"/>
          </a:p>
        </p:txBody>
      </p:sp>
      <p:sp>
        <p:nvSpPr>
          <p:cNvPr id="60" name="Text 57"/>
          <p:cNvSpPr/>
          <p:nvPr/>
        </p:nvSpPr>
        <p:spPr>
          <a:xfrm>
            <a:off x="7680960" y="4965192"/>
            <a:ext cx="3596335" cy="219456"/>
          </a:xfrm>
          <a:prstGeom prst="rect">
            <a:avLst/>
          </a:prstGeom>
          <a:noFill/>
          <a:ln/>
        </p:spPr>
        <p:txBody>
          <a:bodyPr wrap="square" rtlCol="0" anchor="ctr"/>
          <a:lstStyle/>
          <a:p>
            <a:pPr indent="0" marL="0">
              <a:buNone/>
            </a:pPr>
            <a:r>
              <a:rPr lang="en-US" sz="800" dirty="0">
                <a:solidFill>
                  <a:srgbClr val="334155"/>
                </a:solidFill>
                <a:latin typeface="Arial" pitchFamily="34" charset="0"/>
                <a:ea typeface="Arial" pitchFamily="34" charset="-122"/>
                <a:cs typeface="Arial" pitchFamily="34" charset="-120"/>
              </a:rPr>
              <a:t>Laboratorium kecerdasan buatan terapan industri</a:t>
            </a:r>
            <a:endParaRPr lang="en-US" sz="800" dirty="0"/>
          </a:p>
        </p:txBody>
      </p:sp>
      <p:sp>
        <p:nvSpPr>
          <p:cNvPr id="61" name="Text 58"/>
          <p:cNvSpPr/>
          <p:nvPr/>
        </p:nvSpPr>
        <p:spPr>
          <a:xfrm>
            <a:off x="7315200" y="5230368"/>
            <a:ext cx="3962095" cy="201168"/>
          </a:xfrm>
          <a:prstGeom prst="rect">
            <a:avLst/>
          </a:prstGeom>
          <a:noFill/>
          <a:ln/>
        </p:spPr>
        <p:txBody>
          <a:bodyPr wrap="square" rtlCol="0" anchor="ctr"/>
          <a:lstStyle/>
          <a:p>
            <a:pPr indent="0" marL="0">
              <a:buNone/>
            </a:pPr>
            <a:r>
              <a:rPr lang="en-US" sz="900" b="1" dirty="0">
                <a:solidFill>
                  <a:srgbClr val="0F172A"/>
                </a:solidFill>
                <a:latin typeface="Arial" pitchFamily="34" charset="0"/>
                <a:ea typeface="Arial" pitchFamily="34" charset="-122"/>
                <a:cs typeface="Arial" pitchFamily="34" charset="-120"/>
              </a:rPr>
              <a:t>🛒  GoTo UMKM Center</a:t>
            </a:r>
            <a:endParaRPr lang="en-US" sz="900" dirty="0"/>
          </a:p>
        </p:txBody>
      </p:sp>
      <p:sp>
        <p:nvSpPr>
          <p:cNvPr id="62" name="Text 59"/>
          <p:cNvSpPr/>
          <p:nvPr/>
        </p:nvSpPr>
        <p:spPr>
          <a:xfrm>
            <a:off x="7680960" y="5413248"/>
            <a:ext cx="3596335" cy="219456"/>
          </a:xfrm>
          <a:prstGeom prst="rect">
            <a:avLst/>
          </a:prstGeom>
          <a:noFill/>
          <a:ln/>
        </p:spPr>
        <p:txBody>
          <a:bodyPr wrap="square" rtlCol="0" anchor="ctr"/>
          <a:lstStyle/>
          <a:p>
            <a:pPr indent="0" marL="0">
              <a:buNone/>
            </a:pPr>
            <a:r>
              <a:rPr lang="en-US" sz="800" dirty="0">
                <a:solidFill>
                  <a:srgbClr val="334155"/>
                </a:solidFill>
                <a:latin typeface="Arial" pitchFamily="34" charset="0"/>
                <a:ea typeface="Arial" pitchFamily="34" charset="-122"/>
                <a:cs typeface="Arial" pitchFamily="34" charset="-120"/>
              </a:rPr>
              <a:t>Akselerasi digitalisasi &amp; onboarding pedagang lokal</a:t>
            </a:r>
            <a:endParaRPr lang="en-US" sz="800" dirty="0"/>
          </a:p>
        </p:txBody>
      </p:sp>
      <p:sp>
        <p:nvSpPr>
          <p:cNvPr id="63" name="Text 60"/>
          <p:cNvSpPr/>
          <p:nvPr/>
        </p:nvSpPr>
        <p:spPr>
          <a:xfrm>
            <a:off x="7315200" y="5678424"/>
            <a:ext cx="3962095" cy="201168"/>
          </a:xfrm>
          <a:prstGeom prst="rect">
            <a:avLst/>
          </a:prstGeom>
          <a:noFill/>
          <a:ln/>
        </p:spPr>
        <p:txBody>
          <a:bodyPr wrap="square" rtlCol="0" anchor="ctr"/>
          <a:lstStyle/>
          <a:p>
            <a:pPr indent="0" marL="0">
              <a:buNone/>
            </a:pPr>
            <a:r>
              <a:rPr lang="en-US" sz="900" b="1" dirty="0">
                <a:solidFill>
                  <a:srgbClr val="0F172A"/>
                </a:solidFill>
                <a:latin typeface="Arial" pitchFamily="34" charset="0"/>
                <a:ea typeface="Arial" pitchFamily="34" charset="-122"/>
                <a:cs typeface="Arial" pitchFamily="34" charset="-120"/>
              </a:rPr>
              <a:t>🔬  Laboratorium Rekayasa Presisi</a:t>
            </a:r>
            <a:endParaRPr lang="en-US" sz="900" dirty="0"/>
          </a:p>
        </p:txBody>
      </p:sp>
      <p:sp>
        <p:nvSpPr>
          <p:cNvPr id="64" name="Text 61"/>
          <p:cNvSpPr/>
          <p:nvPr/>
        </p:nvSpPr>
        <p:spPr>
          <a:xfrm>
            <a:off x="7680960" y="5861304"/>
            <a:ext cx="3596335" cy="219456"/>
          </a:xfrm>
          <a:prstGeom prst="rect">
            <a:avLst/>
          </a:prstGeom>
          <a:noFill/>
          <a:ln/>
        </p:spPr>
        <p:txBody>
          <a:bodyPr wrap="square" rtlCol="0" anchor="ctr"/>
          <a:lstStyle/>
          <a:p>
            <a:pPr indent="0" marL="0">
              <a:buNone/>
            </a:pPr>
            <a:r>
              <a:rPr lang="en-US" sz="800" dirty="0">
                <a:solidFill>
                  <a:srgbClr val="334155"/>
                </a:solidFill>
                <a:latin typeface="Arial" pitchFamily="34" charset="0"/>
                <a:ea typeface="Arial" pitchFamily="34" charset="-122"/>
                <a:cs typeface="Arial" pitchFamily="34" charset="-120"/>
              </a:rPr>
              <a:t>Fasilitas fabrikasi mesin &amp; pengujian NDT industri</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84C7"/>
          </a:solidFill>
          <a:ln/>
        </p:spPr>
      </p:sp>
      <p:sp>
        <p:nvSpPr>
          <p:cNvPr id="3" name="Shape 1"/>
          <p:cNvSpPr/>
          <p:nvPr/>
        </p:nvSpPr>
        <p:spPr>
          <a:xfrm>
            <a:off x="9144000" y="0"/>
            <a:ext cx="3047695" cy="73152"/>
          </a:xfrm>
          <a:prstGeom prst="rect">
            <a:avLst/>
          </a:prstGeom>
          <a:solidFill>
            <a:srgbClr val="D97706"/>
          </a:solidFill>
          <a:ln/>
        </p:spPr>
      </p:sp>
      <p:sp>
        <p:nvSpPr>
          <p:cNvPr id="4" name="Shape 2"/>
          <p:cNvSpPr/>
          <p:nvPr/>
        </p:nvSpPr>
        <p:spPr>
          <a:xfrm>
            <a:off x="731520" y="256032"/>
            <a:ext cx="3291840" cy="237744"/>
          </a:xfrm>
          <a:prstGeom prst="roundRect">
            <a:avLst>
              <a:gd name="adj" fmla="val 19231"/>
            </a:avLst>
          </a:prstGeom>
          <a:solidFill>
            <a:srgbClr val="E0F2FE"/>
          </a:solidFill>
          <a:ln w="12700">
            <a:solidFill>
              <a:srgbClr val="0284C7"/>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0369A1"/>
                </a:solidFill>
                <a:latin typeface="Arial" pitchFamily="34" charset="0"/>
                <a:ea typeface="Arial" pitchFamily="34" charset="-122"/>
                <a:cs typeface="Arial" pitchFamily="34" charset="-120"/>
              </a:rPr>
              <a:t>JEJARING KEMITRAAN STRATEGIS</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0F172A"/>
                </a:solidFill>
                <a:latin typeface="Arial" pitchFamily="34" charset="0"/>
                <a:ea typeface="Arial" pitchFamily="34" charset="-122"/>
                <a:cs typeface="Arial" pitchFamily="34" charset="-120"/>
              </a:rPr>
              <a:t>EKOSISTEM HEXAHELIX: 95+ MITRA STRATEGIS TANPA BEBAN APBD</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334155"/>
                </a:solidFill>
                <a:latin typeface="Arial" pitchFamily="34" charset="0"/>
                <a:ea typeface="Arial" pitchFamily="34" charset="-122"/>
                <a:cs typeface="Arial" pitchFamily="34" charset="-120"/>
              </a:rPr>
              <a:t>Kepercayaan Korporasi Global &amp; Nasional yang Menanamkan Investasi Langsung di Jantung Kota Surakarta</a:t>
            </a:r>
            <a:endParaRPr lang="en-US" sz="1000" dirty="0"/>
          </a:p>
        </p:txBody>
      </p:sp>
      <p:sp>
        <p:nvSpPr>
          <p:cNvPr id="8" name="Shape 6"/>
          <p:cNvSpPr/>
          <p:nvPr/>
        </p:nvSpPr>
        <p:spPr>
          <a:xfrm>
            <a:off x="731520" y="6419088"/>
            <a:ext cx="10728655" cy="18288"/>
          </a:xfrm>
          <a:prstGeom prst="rect">
            <a:avLst/>
          </a:prstGeom>
          <a:solidFill>
            <a:srgbClr val="CBD5E1"/>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334155"/>
                </a:solidFill>
                <a:latin typeface="Arial" pitchFamily="34" charset="0"/>
                <a:ea typeface="Arial" pitchFamily="34" charset="-122"/>
                <a:cs typeface="Arial" pitchFamily="34" charset="-120"/>
              </a:rPr>
              <a:t>UPTD KST SOLO TECHNOPARK  |  BRIDA KOTA SURAKARTA  •  Bahan Paparan Resmi Walikota (Edisi V7 Light)</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0369A1"/>
                </a:solidFill>
                <a:latin typeface="Arial" pitchFamily="34" charset="0"/>
                <a:ea typeface="Arial" pitchFamily="34" charset="-122"/>
                <a:cs typeface="Arial" pitchFamily="34" charset="-120"/>
              </a:rPr>
              <a:t>Slide 06 / 12</a:t>
            </a:r>
            <a:endParaRPr lang="en-US" sz="900" dirty="0"/>
          </a:p>
        </p:txBody>
      </p:sp>
      <p:sp>
        <p:nvSpPr>
          <p:cNvPr id="11" name="Shape 9"/>
          <p:cNvSpPr/>
          <p:nvPr/>
        </p:nvSpPr>
        <p:spPr>
          <a:xfrm>
            <a:off x="731520" y="1325880"/>
            <a:ext cx="4206240" cy="4892040"/>
          </a:xfrm>
          <a:prstGeom prst="roundRect">
            <a:avLst>
              <a:gd name="adj" fmla="val 1739"/>
            </a:avLst>
          </a:prstGeom>
          <a:solidFill>
            <a:srgbClr val="FFFFFF"/>
          </a:solidFill>
          <a:ln w="12700">
            <a:solidFill>
              <a:srgbClr val="CBD5E1"/>
            </a:solidFill>
            <a:prstDash val="solid"/>
          </a:ln>
        </p:spPr>
      </p:sp>
      <p:sp>
        <p:nvSpPr>
          <p:cNvPr id="12" name="Shape 10"/>
          <p:cNvSpPr/>
          <p:nvPr/>
        </p:nvSpPr>
        <p:spPr>
          <a:xfrm>
            <a:off x="731520" y="1325880"/>
            <a:ext cx="73152" cy="4892040"/>
          </a:xfrm>
          <a:prstGeom prst="roundRect">
            <a:avLst>
              <a:gd name="adj" fmla="val 50000"/>
            </a:avLst>
          </a:prstGeom>
          <a:solidFill>
            <a:srgbClr val="0284C7"/>
          </a:solidFill>
          <a:ln w="12700">
            <a:solidFill>
              <a:srgbClr val="0284C7"/>
            </a:solidFill>
            <a:prstDash val="solid"/>
          </a:ln>
        </p:spPr>
      </p:sp>
      <p:sp>
        <p:nvSpPr>
          <p:cNvPr id="13" name="Text 11"/>
          <p:cNvSpPr/>
          <p:nvPr/>
        </p:nvSpPr>
        <p:spPr>
          <a:xfrm>
            <a:off x="914400" y="1463040"/>
            <a:ext cx="3840480" cy="274320"/>
          </a:xfrm>
          <a:prstGeom prst="rect">
            <a:avLst/>
          </a:prstGeom>
          <a:noFill/>
          <a:ln/>
        </p:spPr>
        <p:txBody>
          <a:bodyPr wrap="square" rtlCol="0" anchor="ctr"/>
          <a:lstStyle/>
          <a:p>
            <a:pPr indent="0" marL="0">
              <a:buNone/>
            </a:pPr>
            <a:r>
              <a:rPr lang="en-US" sz="1050" b="1" dirty="0">
                <a:solidFill>
                  <a:srgbClr val="0369A1"/>
                </a:solidFill>
                <a:latin typeface="Arial" pitchFamily="34" charset="0"/>
                <a:ea typeface="Arial" pitchFamily="34" charset="-122"/>
                <a:cs typeface="Arial" pitchFamily="34" charset="-120"/>
              </a:rPr>
              <a:t>KOMPOSISI 6 AKTOR HEXAHELIX (95+ MITRA)</a:t>
            </a:r>
            <a:endParaRPr lang="en-US" sz="1050" dirty="0"/>
          </a:p>
        </p:txBody>
      </p:sp>
      <p:graphicFrame>
        <p:nvGraphicFramePr>
          <p:cNvPr id="14" name="Chart 0" descr=""/>
          <p:cNvGraphicFramePr/>
          <p:nvPr/>
        </p:nvGraphicFramePr>
        <p:xfrm>
          <a:off x="1371600" y="1783080"/>
          <a:ext cx="2926080" cy="1965960"/>
        </p:xfrm>
        <a:graphic xmlns:a="http://schemas.openxmlformats.org/drawingml/2006/main">
          <a:graphicData uri="http://schemas.openxmlformats.org/drawingml/2006/chart">
            <c:chart xmlns:c="http://schemas.openxmlformats.org/drawingml/2006/chart" r:id="rId1"/>
          </a:graphicData>
        </a:graphic>
      </p:graphicFrame>
      <p:sp>
        <p:nvSpPr>
          <p:cNvPr id="15" name="Shape 12"/>
          <p:cNvSpPr/>
          <p:nvPr/>
        </p:nvSpPr>
        <p:spPr>
          <a:xfrm>
            <a:off x="914400" y="3904488"/>
            <a:ext cx="109728" cy="109728"/>
          </a:xfrm>
          <a:prstGeom prst="ellipse">
            <a:avLst/>
          </a:prstGeom>
          <a:solidFill>
            <a:srgbClr val="0284C7"/>
          </a:solidFill>
          <a:ln w="12700">
            <a:solidFill>
              <a:srgbClr val="0284C7"/>
            </a:solidFill>
            <a:prstDash val="solid"/>
          </a:ln>
        </p:spPr>
      </p:sp>
      <p:sp>
        <p:nvSpPr>
          <p:cNvPr id="16" name="Text 13"/>
          <p:cNvSpPr/>
          <p:nvPr/>
        </p:nvSpPr>
        <p:spPr>
          <a:xfrm>
            <a:off x="1078992" y="3858768"/>
            <a:ext cx="1325880" cy="228600"/>
          </a:xfrm>
          <a:prstGeom prst="rect">
            <a:avLst/>
          </a:prstGeom>
          <a:noFill/>
          <a:ln/>
        </p:spPr>
        <p:txBody>
          <a:bodyPr wrap="square" rtlCol="0" anchor="ctr"/>
          <a:lstStyle/>
          <a:p>
            <a:pPr indent="0" marL="0">
              <a:buNone/>
            </a:pPr>
            <a:r>
              <a:rPr lang="en-US" sz="780" dirty="0">
                <a:solidFill>
                  <a:srgbClr val="334155"/>
                </a:solidFill>
                <a:latin typeface="Arial" pitchFamily="34" charset="0"/>
                <a:ea typeface="Arial" pitchFamily="34" charset="-122"/>
                <a:cs typeface="Arial" pitchFamily="34" charset="-120"/>
              </a:rPr>
              <a:t>Industri &amp; Bisnis: </a:t>
            </a:r>
            <a:endParaRPr lang="en-US" sz="780" dirty="0"/>
          </a:p>
        </p:txBody>
      </p:sp>
      <p:sp>
        <p:nvSpPr>
          <p:cNvPr id="17" name="Text 14"/>
          <p:cNvSpPr/>
          <p:nvPr/>
        </p:nvSpPr>
        <p:spPr>
          <a:xfrm>
            <a:off x="2240280" y="3858768"/>
            <a:ext cx="594360" cy="228600"/>
          </a:xfrm>
          <a:prstGeom prst="rect">
            <a:avLst/>
          </a:prstGeom>
          <a:noFill/>
          <a:ln/>
        </p:spPr>
        <p:txBody>
          <a:bodyPr wrap="square" rtlCol="0" anchor="ctr"/>
          <a:lstStyle/>
          <a:p>
            <a:pPr algn="r" indent="0" marL="0">
              <a:buNone/>
            </a:pPr>
            <a:r>
              <a:rPr lang="en-US" sz="780" b="1" dirty="0">
                <a:solidFill>
                  <a:srgbClr val="0F172A"/>
                </a:solidFill>
                <a:latin typeface="Arial" pitchFamily="34" charset="0"/>
                <a:ea typeface="Arial" pitchFamily="34" charset="-122"/>
                <a:cs typeface="Arial" pitchFamily="34" charset="-120"/>
              </a:rPr>
              <a:t>37% (35)</a:t>
            </a:r>
            <a:endParaRPr lang="en-US" sz="780" dirty="0"/>
          </a:p>
        </p:txBody>
      </p:sp>
      <p:sp>
        <p:nvSpPr>
          <p:cNvPr id="18" name="Shape 15"/>
          <p:cNvSpPr/>
          <p:nvPr/>
        </p:nvSpPr>
        <p:spPr>
          <a:xfrm>
            <a:off x="914400" y="4197096"/>
            <a:ext cx="109728" cy="109728"/>
          </a:xfrm>
          <a:prstGeom prst="ellipse">
            <a:avLst/>
          </a:prstGeom>
          <a:solidFill>
            <a:srgbClr val="0369A1"/>
          </a:solidFill>
          <a:ln w="12700">
            <a:solidFill>
              <a:srgbClr val="0369A1"/>
            </a:solidFill>
            <a:prstDash val="solid"/>
          </a:ln>
        </p:spPr>
      </p:sp>
      <p:sp>
        <p:nvSpPr>
          <p:cNvPr id="19" name="Text 16"/>
          <p:cNvSpPr/>
          <p:nvPr/>
        </p:nvSpPr>
        <p:spPr>
          <a:xfrm>
            <a:off x="1078992" y="4151376"/>
            <a:ext cx="1325880" cy="228600"/>
          </a:xfrm>
          <a:prstGeom prst="rect">
            <a:avLst/>
          </a:prstGeom>
          <a:noFill/>
          <a:ln/>
        </p:spPr>
        <p:txBody>
          <a:bodyPr wrap="square" rtlCol="0" anchor="ctr"/>
          <a:lstStyle/>
          <a:p>
            <a:pPr indent="0" marL="0">
              <a:buNone/>
            </a:pPr>
            <a:r>
              <a:rPr lang="en-US" sz="780" dirty="0">
                <a:solidFill>
                  <a:srgbClr val="334155"/>
                </a:solidFill>
                <a:latin typeface="Arial" pitchFamily="34" charset="0"/>
                <a:ea typeface="Arial" pitchFamily="34" charset="-122"/>
                <a:cs typeface="Arial" pitchFamily="34" charset="-120"/>
              </a:rPr>
              <a:t>Akademisi / Kampus: </a:t>
            </a:r>
            <a:endParaRPr lang="en-US" sz="780" dirty="0"/>
          </a:p>
        </p:txBody>
      </p:sp>
      <p:sp>
        <p:nvSpPr>
          <p:cNvPr id="20" name="Text 17"/>
          <p:cNvSpPr/>
          <p:nvPr/>
        </p:nvSpPr>
        <p:spPr>
          <a:xfrm>
            <a:off x="2240280" y="4151376"/>
            <a:ext cx="594360" cy="228600"/>
          </a:xfrm>
          <a:prstGeom prst="rect">
            <a:avLst/>
          </a:prstGeom>
          <a:noFill/>
          <a:ln/>
        </p:spPr>
        <p:txBody>
          <a:bodyPr wrap="square" rtlCol="0" anchor="ctr"/>
          <a:lstStyle/>
          <a:p>
            <a:pPr algn="r" indent="0" marL="0">
              <a:buNone/>
            </a:pPr>
            <a:r>
              <a:rPr lang="en-US" sz="780" b="1" dirty="0">
                <a:solidFill>
                  <a:srgbClr val="0F172A"/>
                </a:solidFill>
                <a:latin typeface="Arial" pitchFamily="34" charset="0"/>
                <a:ea typeface="Arial" pitchFamily="34" charset="-122"/>
                <a:cs typeface="Arial" pitchFamily="34" charset="-120"/>
              </a:rPr>
              <a:t>21% (20)</a:t>
            </a:r>
            <a:endParaRPr lang="en-US" sz="780" dirty="0"/>
          </a:p>
        </p:txBody>
      </p:sp>
      <p:sp>
        <p:nvSpPr>
          <p:cNvPr id="21" name="Shape 18"/>
          <p:cNvSpPr/>
          <p:nvPr/>
        </p:nvSpPr>
        <p:spPr>
          <a:xfrm>
            <a:off x="914400" y="4489704"/>
            <a:ext cx="109728" cy="109728"/>
          </a:xfrm>
          <a:prstGeom prst="ellipse">
            <a:avLst/>
          </a:prstGeom>
          <a:solidFill>
            <a:srgbClr val="059669"/>
          </a:solidFill>
          <a:ln w="12700">
            <a:solidFill>
              <a:srgbClr val="059669"/>
            </a:solidFill>
            <a:prstDash val="solid"/>
          </a:ln>
        </p:spPr>
      </p:sp>
      <p:sp>
        <p:nvSpPr>
          <p:cNvPr id="22" name="Text 19"/>
          <p:cNvSpPr/>
          <p:nvPr/>
        </p:nvSpPr>
        <p:spPr>
          <a:xfrm>
            <a:off x="1078992" y="4443984"/>
            <a:ext cx="1325880" cy="228600"/>
          </a:xfrm>
          <a:prstGeom prst="rect">
            <a:avLst/>
          </a:prstGeom>
          <a:noFill/>
          <a:ln/>
        </p:spPr>
        <p:txBody>
          <a:bodyPr wrap="square" rtlCol="0" anchor="ctr"/>
          <a:lstStyle/>
          <a:p>
            <a:pPr indent="0" marL="0">
              <a:buNone/>
            </a:pPr>
            <a:r>
              <a:rPr lang="en-US" sz="780" dirty="0">
                <a:solidFill>
                  <a:srgbClr val="334155"/>
                </a:solidFill>
                <a:latin typeface="Arial" pitchFamily="34" charset="0"/>
                <a:ea typeface="Arial" pitchFamily="34" charset="-122"/>
                <a:cs typeface="Arial" pitchFamily="34" charset="-120"/>
              </a:rPr>
              <a:t>Komunitas &amp; UMKM: </a:t>
            </a:r>
            <a:endParaRPr lang="en-US" sz="780" dirty="0"/>
          </a:p>
        </p:txBody>
      </p:sp>
      <p:sp>
        <p:nvSpPr>
          <p:cNvPr id="23" name="Text 20"/>
          <p:cNvSpPr/>
          <p:nvPr/>
        </p:nvSpPr>
        <p:spPr>
          <a:xfrm>
            <a:off x="2240280" y="4443984"/>
            <a:ext cx="594360" cy="228600"/>
          </a:xfrm>
          <a:prstGeom prst="rect">
            <a:avLst/>
          </a:prstGeom>
          <a:noFill/>
          <a:ln/>
        </p:spPr>
        <p:txBody>
          <a:bodyPr wrap="square" rtlCol="0" anchor="ctr"/>
          <a:lstStyle/>
          <a:p>
            <a:pPr algn="r" indent="0" marL="0">
              <a:buNone/>
            </a:pPr>
            <a:r>
              <a:rPr lang="en-US" sz="780" b="1" dirty="0">
                <a:solidFill>
                  <a:srgbClr val="0F172A"/>
                </a:solidFill>
                <a:latin typeface="Arial" pitchFamily="34" charset="0"/>
                <a:ea typeface="Arial" pitchFamily="34" charset="-122"/>
                <a:cs typeface="Arial" pitchFamily="34" charset="-120"/>
              </a:rPr>
              <a:t>16% (15)</a:t>
            </a:r>
            <a:endParaRPr lang="en-US" sz="780" dirty="0"/>
          </a:p>
        </p:txBody>
      </p:sp>
      <p:sp>
        <p:nvSpPr>
          <p:cNvPr id="24" name="Shape 21"/>
          <p:cNvSpPr/>
          <p:nvPr/>
        </p:nvSpPr>
        <p:spPr>
          <a:xfrm>
            <a:off x="2880360" y="3904488"/>
            <a:ext cx="109728" cy="109728"/>
          </a:xfrm>
          <a:prstGeom prst="ellipse">
            <a:avLst/>
          </a:prstGeom>
          <a:solidFill>
            <a:srgbClr val="D97706"/>
          </a:solidFill>
          <a:ln w="12700">
            <a:solidFill>
              <a:srgbClr val="D97706"/>
            </a:solidFill>
            <a:prstDash val="solid"/>
          </a:ln>
        </p:spPr>
      </p:sp>
      <p:sp>
        <p:nvSpPr>
          <p:cNvPr id="25" name="Text 22"/>
          <p:cNvSpPr/>
          <p:nvPr/>
        </p:nvSpPr>
        <p:spPr>
          <a:xfrm>
            <a:off x="3044952" y="3858768"/>
            <a:ext cx="1325880" cy="228600"/>
          </a:xfrm>
          <a:prstGeom prst="rect">
            <a:avLst/>
          </a:prstGeom>
          <a:noFill/>
          <a:ln/>
        </p:spPr>
        <p:txBody>
          <a:bodyPr wrap="square" rtlCol="0" anchor="ctr"/>
          <a:lstStyle/>
          <a:p>
            <a:pPr indent="0" marL="0">
              <a:buNone/>
            </a:pPr>
            <a:r>
              <a:rPr lang="en-US" sz="780" dirty="0">
                <a:solidFill>
                  <a:srgbClr val="334155"/>
                </a:solidFill>
                <a:latin typeface="Arial" pitchFamily="34" charset="0"/>
                <a:ea typeface="Arial" pitchFamily="34" charset="-122"/>
                <a:cs typeface="Arial" pitchFamily="34" charset="-120"/>
              </a:rPr>
              <a:t>Pemerintah / BUMN: </a:t>
            </a:r>
            <a:endParaRPr lang="en-US" sz="780" dirty="0"/>
          </a:p>
        </p:txBody>
      </p:sp>
      <p:sp>
        <p:nvSpPr>
          <p:cNvPr id="26" name="Text 23"/>
          <p:cNvSpPr/>
          <p:nvPr/>
        </p:nvSpPr>
        <p:spPr>
          <a:xfrm>
            <a:off x="4206240" y="3858768"/>
            <a:ext cx="594360" cy="228600"/>
          </a:xfrm>
          <a:prstGeom prst="rect">
            <a:avLst/>
          </a:prstGeom>
          <a:noFill/>
          <a:ln/>
        </p:spPr>
        <p:txBody>
          <a:bodyPr wrap="square" rtlCol="0" anchor="ctr"/>
          <a:lstStyle/>
          <a:p>
            <a:pPr algn="r" indent="0" marL="0">
              <a:buNone/>
            </a:pPr>
            <a:r>
              <a:rPr lang="en-US" sz="780" b="1" dirty="0">
                <a:solidFill>
                  <a:srgbClr val="0F172A"/>
                </a:solidFill>
                <a:latin typeface="Arial" pitchFamily="34" charset="0"/>
                <a:ea typeface="Arial" pitchFamily="34" charset="-122"/>
                <a:cs typeface="Arial" pitchFamily="34" charset="-120"/>
              </a:rPr>
              <a:t>13% (12)</a:t>
            </a:r>
            <a:endParaRPr lang="en-US" sz="780" dirty="0"/>
          </a:p>
        </p:txBody>
      </p:sp>
      <p:sp>
        <p:nvSpPr>
          <p:cNvPr id="27" name="Shape 24"/>
          <p:cNvSpPr/>
          <p:nvPr/>
        </p:nvSpPr>
        <p:spPr>
          <a:xfrm>
            <a:off x="2880360" y="4197096"/>
            <a:ext cx="109728" cy="109728"/>
          </a:xfrm>
          <a:prstGeom prst="ellipse">
            <a:avLst/>
          </a:prstGeom>
          <a:solidFill>
            <a:srgbClr val="7C3AED"/>
          </a:solidFill>
          <a:ln w="12700">
            <a:solidFill>
              <a:srgbClr val="7C3AED"/>
            </a:solidFill>
            <a:prstDash val="solid"/>
          </a:ln>
        </p:spPr>
      </p:sp>
      <p:sp>
        <p:nvSpPr>
          <p:cNvPr id="28" name="Text 25"/>
          <p:cNvSpPr/>
          <p:nvPr/>
        </p:nvSpPr>
        <p:spPr>
          <a:xfrm>
            <a:off x="3044952" y="4151376"/>
            <a:ext cx="1325880" cy="228600"/>
          </a:xfrm>
          <a:prstGeom prst="rect">
            <a:avLst/>
          </a:prstGeom>
          <a:noFill/>
          <a:ln/>
        </p:spPr>
        <p:txBody>
          <a:bodyPr wrap="square" rtlCol="0" anchor="ctr"/>
          <a:lstStyle/>
          <a:p>
            <a:pPr indent="0" marL="0">
              <a:buNone/>
            </a:pPr>
            <a:r>
              <a:rPr lang="en-US" sz="780" dirty="0">
                <a:solidFill>
                  <a:srgbClr val="334155"/>
                </a:solidFill>
                <a:latin typeface="Arial" pitchFamily="34" charset="0"/>
                <a:ea typeface="Arial" pitchFamily="34" charset="-122"/>
                <a:cs typeface="Arial" pitchFamily="34" charset="-120"/>
              </a:rPr>
              <a:t>Media Massa: </a:t>
            </a:r>
            <a:endParaRPr lang="en-US" sz="780" dirty="0"/>
          </a:p>
        </p:txBody>
      </p:sp>
      <p:sp>
        <p:nvSpPr>
          <p:cNvPr id="29" name="Text 26"/>
          <p:cNvSpPr/>
          <p:nvPr/>
        </p:nvSpPr>
        <p:spPr>
          <a:xfrm>
            <a:off x="4206240" y="4151376"/>
            <a:ext cx="594360" cy="228600"/>
          </a:xfrm>
          <a:prstGeom prst="rect">
            <a:avLst/>
          </a:prstGeom>
          <a:noFill/>
          <a:ln/>
        </p:spPr>
        <p:txBody>
          <a:bodyPr wrap="square" rtlCol="0" anchor="ctr"/>
          <a:lstStyle/>
          <a:p>
            <a:pPr algn="r" indent="0" marL="0">
              <a:buNone/>
            </a:pPr>
            <a:r>
              <a:rPr lang="en-US" sz="780" b="1" dirty="0">
                <a:solidFill>
                  <a:srgbClr val="0F172A"/>
                </a:solidFill>
                <a:latin typeface="Arial" pitchFamily="34" charset="0"/>
                <a:ea typeface="Arial" pitchFamily="34" charset="-122"/>
                <a:cs typeface="Arial" pitchFamily="34" charset="-120"/>
              </a:rPr>
              <a:t>8% (8)</a:t>
            </a:r>
            <a:endParaRPr lang="en-US" sz="780" dirty="0"/>
          </a:p>
        </p:txBody>
      </p:sp>
      <p:sp>
        <p:nvSpPr>
          <p:cNvPr id="30" name="Shape 27"/>
          <p:cNvSpPr/>
          <p:nvPr/>
        </p:nvSpPr>
        <p:spPr>
          <a:xfrm>
            <a:off x="2880360" y="4489704"/>
            <a:ext cx="109728" cy="109728"/>
          </a:xfrm>
          <a:prstGeom prst="ellipse">
            <a:avLst/>
          </a:prstGeom>
          <a:solidFill>
            <a:srgbClr val="DB2777"/>
          </a:solidFill>
          <a:ln w="12700">
            <a:solidFill>
              <a:srgbClr val="DB2777"/>
            </a:solidFill>
            <a:prstDash val="solid"/>
          </a:ln>
        </p:spPr>
      </p:sp>
      <p:sp>
        <p:nvSpPr>
          <p:cNvPr id="31" name="Text 28"/>
          <p:cNvSpPr/>
          <p:nvPr/>
        </p:nvSpPr>
        <p:spPr>
          <a:xfrm>
            <a:off x="3044952" y="4443984"/>
            <a:ext cx="1325880" cy="228600"/>
          </a:xfrm>
          <a:prstGeom prst="rect">
            <a:avLst/>
          </a:prstGeom>
          <a:noFill/>
          <a:ln/>
        </p:spPr>
        <p:txBody>
          <a:bodyPr wrap="square" rtlCol="0" anchor="ctr"/>
          <a:lstStyle/>
          <a:p>
            <a:pPr indent="0" marL="0">
              <a:buNone/>
            </a:pPr>
            <a:r>
              <a:rPr lang="en-US" sz="780" dirty="0">
                <a:solidFill>
                  <a:srgbClr val="334155"/>
                </a:solidFill>
                <a:latin typeface="Arial" pitchFamily="34" charset="0"/>
                <a:ea typeface="Arial" pitchFamily="34" charset="-122"/>
                <a:cs typeface="Arial" pitchFamily="34" charset="-120"/>
              </a:rPr>
              <a:t>Lembaga Global: </a:t>
            </a:r>
            <a:endParaRPr lang="en-US" sz="780" dirty="0"/>
          </a:p>
        </p:txBody>
      </p:sp>
      <p:sp>
        <p:nvSpPr>
          <p:cNvPr id="32" name="Text 29"/>
          <p:cNvSpPr/>
          <p:nvPr/>
        </p:nvSpPr>
        <p:spPr>
          <a:xfrm>
            <a:off x="4206240" y="4443984"/>
            <a:ext cx="594360" cy="228600"/>
          </a:xfrm>
          <a:prstGeom prst="rect">
            <a:avLst/>
          </a:prstGeom>
          <a:noFill/>
          <a:ln/>
        </p:spPr>
        <p:txBody>
          <a:bodyPr wrap="square" rtlCol="0" anchor="ctr"/>
          <a:lstStyle/>
          <a:p>
            <a:pPr algn="r" indent="0" marL="0">
              <a:buNone/>
            </a:pPr>
            <a:r>
              <a:rPr lang="en-US" sz="780" b="1" dirty="0">
                <a:solidFill>
                  <a:srgbClr val="0F172A"/>
                </a:solidFill>
                <a:latin typeface="Arial" pitchFamily="34" charset="0"/>
                <a:ea typeface="Arial" pitchFamily="34" charset="-122"/>
                <a:cs typeface="Arial" pitchFamily="34" charset="-120"/>
              </a:rPr>
              <a:t>5% (5)</a:t>
            </a:r>
            <a:endParaRPr lang="en-US" sz="780" dirty="0"/>
          </a:p>
        </p:txBody>
      </p:sp>
      <p:sp>
        <p:nvSpPr>
          <p:cNvPr id="33" name="Shape 30"/>
          <p:cNvSpPr/>
          <p:nvPr/>
        </p:nvSpPr>
        <p:spPr>
          <a:xfrm>
            <a:off x="914400" y="4846320"/>
            <a:ext cx="3840480" cy="1234440"/>
          </a:xfrm>
          <a:prstGeom prst="roundRect">
            <a:avLst>
              <a:gd name="adj" fmla="val 2963"/>
            </a:avLst>
          </a:prstGeom>
          <a:solidFill>
            <a:srgbClr val="F1F5F9"/>
          </a:solidFill>
          <a:ln w="12700">
            <a:solidFill>
              <a:srgbClr val="CBD5E1"/>
            </a:solidFill>
            <a:prstDash val="solid"/>
          </a:ln>
        </p:spPr>
      </p:sp>
      <p:sp>
        <p:nvSpPr>
          <p:cNvPr id="34" name="Text 31"/>
          <p:cNvSpPr/>
          <p:nvPr/>
        </p:nvSpPr>
        <p:spPr>
          <a:xfrm>
            <a:off x="1005840" y="4919472"/>
            <a:ext cx="3657600" cy="201168"/>
          </a:xfrm>
          <a:prstGeom prst="rect">
            <a:avLst/>
          </a:prstGeom>
          <a:noFill/>
          <a:ln/>
        </p:spPr>
        <p:txBody>
          <a:bodyPr wrap="square" rtlCol="0" anchor="ctr"/>
          <a:lstStyle/>
          <a:p>
            <a:pPr indent="0" marL="0">
              <a:buNone/>
            </a:pPr>
            <a:r>
              <a:rPr lang="en-US" sz="920" b="1" dirty="0">
                <a:solidFill>
                  <a:srgbClr val="D97706"/>
                </a:solidFill>
                <a:latin typeface="Arial" pitchFamily="34" charset="0"/>
                <a:ea typeface="Arial" pitchFamily="34" charset="-122"/>
                <a:cs typeface="Arial" pitchFamily="34" charset="-120"/>
              </a:rPr>
              <a:t>TOTAL: 95+ MITRA STRATEGIS AKTIF</a:t>
            </a:r>
            <a:endParaRPr lang="en-US" sz="920" dirty="0"/>
          </a:p>
        </p:txBody>
      </p:sp>
      <p:sp>
        <p:nvSpPr>
          <p:cNvPr id="35" name="Text 32"/>
          <p:cNvSpPr/>
          <p:nvPr/>
        </p:nvSpPr>
        <p:spPr>
          <a:xfrm>
            <a:off x="1005840" y="5138928"/>
            <a:ext cx="3657600" cy="868680"/>
          </a:xfrm>
          <a:prstGeom prst="rect">
            <a:avLst/>
          </a:prstGeom>
          <a:noFill/>
          <a:ln/>
        </p:spPr>
        <p:txBody>
          <a:bodyPr wrap="square" rtlCol="0" anchor="ctr"/>
          <a:lstStyle/>
          <a:p>
            <a:pPr indent="0" marL="0">
              <a:lnSpc>
                <a:spcPts val="1100"/>
              </a:lnSpc>
              <a:buNone/>
            </a:pPr>
            <a:r>
              <a:rPr lang="en-US" sz="820" dirty="0">
                <a:solidFill>
                  <a:srgbClr val="0F172A"/>
                </a:solidFill>
                <a:latin typeface="Arial" pitchFamily="34" charset="0"/>
                <a:ea typeface="Arial" pitchFamily="34" charset="-122"/>
                <a:cs typeface="Arial" pitchFamily="34" charset="-120"/>
              </a:rPr>
              <a:t>• 100% Investasi Swasta &amp; PPP (0% Beban APBD)</a:t>
            </a:r>
            <a:endParaRPr lang="en-US" sz="820" dirty="0"/>
          </a:p>
          <a:p>
            <a:pPr indent="0" marL="0">
              <a:lnSpc>
                <a:spcPts val="1100"/>
              </a:lnSpc>
              <a:buNone/>
            </a:pPr>
            <a:r>
              <a:rPr lang="en-US" sz="820" dirty="0">
                <a:solidFill>
                  <a:srgbClr val="0F172A"/>
                </a:solidFill>
                <a:latin typeface="Arial" pitchFamily="34" charset="0"/>
                <a:ea typeface="Arial" pitchFamily="34" charset="-122"/>
                <a:cs typeface="Arial" pitchFamily="34" charset="-120"/>
              </a:rPr>
              <a:t>• Akses fasilitas 5G, Cyber Security, AI, &amp; Migas</a:t>
            </a:r>
            <a:endParaRPr lang="en-US" sz="820" dirty="0"/>
          </a:p>
          <a:p>
            <a:pPr indent="0" marL="0">
              <a:lnSpc>
                <a:spcPts val="1100"/>
              </a:lnSpc>
              <a:buNone/>
            </a:pPr>
            <a:r>
              <a:rPr lang="en-US" sz="820" dirty="0">
                <a:solidFill>
                  <a:srgbClr val="0F172A"/>
                </a:solidFill>
                <a:latin typeface="Arial" pitchFamily="34" charset="0"/>
                <a:ea typeface="Arial" pitchFamily="34" charset="-122"/>
                <a:cs typeface="Arial" pitchFamily="34" charset="-120"/>
              </a:rPr>
              <a:t>• Saluran penyerapan kerja langsung bagi warga Solo</a:t>
            </a:r>
            <a:endParaRPr lang="en-US" sz="820" dirty="0"/>
          </a:p>
        </p:txBody>
      </p:sp>
      <p:sp>
        <p:nvSpPr>
          <p:cNvPr id="36" name="Shape 33"/>
          <p:cNvSpPr/>
          <p:nvPr/>
        </p:nvSpPr>
        <p:spPr>
          <a:xfrm>
            <a:off x="5120640" y="1325880"/>
            <a:ext cx="6339535" cy="4892040"/>
          </a:xfrm>
          <a:prstGeom prst="roundRect">
            <a:avLst>
              <a:gd name="adj" fmla="val 1495"/>
            </a:avLst>
          </a:prstGeom>
          <a:solidFill>
            <a:srgbClr val="FFFFFF"/>
          </a:solidFill>
          <a:ln w="12700">
            <a:solidFill>
              <a:srgbClr val="CBD5E1"/>
            </a:solidFill>
            <a:prstDash val="solid"/>
          </a:ln>
        </p:spPr>
      </p:sp>
      <p:sp>
        <p:nvSpPr>
          <p:cNvPr id="37" name="Text 34"/>
          <p:cNvSpPr/>
          <p:nvPr/>
        </p:nvSpPr>
        <p:spPr>
          <a:xfrm>
            <a:off x="5303520" y="1463040"/>
            <a:ext cx="5943600" cy="274320"/>
          </a:xfrm>
          <a:prstGeom prst="rect">
            <a:avLst/>
          </a:prstGeom>
          <a:noFill/>
          <a:ln/>
        </p:spPr>
        <p:txBody>
          <a:bodyPr wrap="square" rtlCol="0" anchor="ctr"/>
          <a:lstStyle/>
          <a:p>
            <a:pPr indent="0" marL="0">
              <a:buNone/>
            </a:pPr>
            <a:r>
              <a:rPr lang="en-US" sz="1050" b="1" dirty="0">
                <a:solidFill>
                  <a:srgbClr val="D97706"/>
                </a:solidFill>
                <a:latin typeface="Arial" pitchFamily="34" charset="0"/>
                <a:ea typeface="Arial" pitchFamily="34" charset="-122"/>
                <a:cs typeface="Arial" pitchFamily="34" charset="-120"/>
              </a:rPr>
              <a:t>MITRA INDUSTRI KELAS DUNIA YANG AKTIF BERINVESTASI DI STP</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303520" y="1828800"/>
          <a:ext cx="5943600" cy="2926080"/>
        </p:xfrm>
        <a:graphic>
          <a:graphicData uri="http://schemas.openxmlformats.org/drawingml/2006/table">
            <a:tbl>
              <a:tblPr/>
              <a:tblGrid>
                <a:gridCol w="1645920"/>
                <a:gridCol w="1645920"/>
                <a:gridCol w="2651760"/>
              </a:tblGrid>
              <a:tr h="347472">
                <a:tc>
                  <a:txBody>
                    <a:bodyPr/>
                    <a:lstStyle/>
                    <a:p>
                      <a:pPr indent="0" marL="0">
                        <a:buNone/>
                      </a:pPr>
                      <a:r>
                        <a:rPr lang="en-US" sz="880" b="1" dirty="0">
                          <a:solidFill>
                            <a:srgbClr val="FFFFFF"/>
                          </a:solidFill>
                          <a:latin typeface="Arial" pitchFamily="34" charset="0"/>
                          <a:ea typeface="Arial" pitchFamily="34" charset="-122"/>
                          <a:cs typeface="Arial" pitchFamily="34" charset="-120"/>
                        </a:rPr>
                        <a:t>SEKTOR INDUSTRI</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2942"/>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MITRA STRATEGIS</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2942"/>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KONTRIBUSI NYATA BAGI KAWASAN STP</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2942"/>
                    </a:solidFill>
                  </a:tcPr>
                </a:tc>
              </a:tr>
              <a:tr h="402336">
                <a:tc>
                  <a:txBody>
                    <a:bodyPr/>
                    <a:lstStyle/>
                    <a:p>
                      <a:pPr indent="0" marL="0">
                        <a:buNone/>
                      </a:pPr>
                      <a:r>
                        <a:rPr lang="en-US" sz="880" dirty="0">
                          <a:solidFill>
                            <a:srgbClr val="334155"/>
                          </a:solidFill>
                          <a:latin typeface="Arial" pitchFamily="34" charset="0"/>
                          <a:ea typeface="Arial" pitchFamily="34" charset="-122"/>
                          <a:cs typeface="Arial" pitchFamily="34" charset="-120"/>
                        </a:rPr>
                        <a:t>E-Commerce &amp; Logistik</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880" b="1" dirty="0">
                          <a:solidFill>
                            <a:srgbClr val="0F172A"/>
                          </a:solidFill>
                          <a:latin typeface="Arial" pitchFamily="34" charset="0"/>
                          <a:ea typeface="Arial" pitchFamily="34" charset="-122"/>
                          <a:cs typeface="Arial" pitchFamily="34" charset="-120"/>
                        </a:rPr>
                        <a:t>Shopee Indonesia</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880" dirty="0">
                          <a:solidFill>
                            <a:srgbClr val="334155"/>
                          </a:solidFill>
                          <a:latin typeface="Arial" pitchFamily="34" charset="0"/>
                          <a:ea typeface="Arial" pitchFamily="34" charset="-122"/>
                          <a:cs typeface="Arial" pitchFamily="34" charset="-120"/>
                        </a:rPr>
                        <a:t>Infrastruktur UMKM Hub, Co-location, sewa lahan Rp 544 jt/th</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r h="402336">
                <a:tc>
                  <a:txBody>
                    <a:bodyPr/>
                    <a:lstStyle/>
                    <a:p>
                      <a:pPr indent="0" marL="0">
                        <a:buNone/>
                      </a:pPr>
                      <a:r>
                        <a:rPr lang="en-US" sz="880" dirty="0">
                          <a:solidFill>
                            <a:srgbClr val="334155"/>
                          </a:solidFill>
                          <a:latin typeface="Arial" pitchFamily="34" charset="0"/>
                          <a:ea typeface="Arial" pitchFamily="34" charset="-122"/>
                          <a:cs typeface="Arial" pitchFamily="34" charset="-120"/>
                        </a:rPr>
                        <a:t>Gaming &amp; Kreatif</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880" b="1" dirty="0">
                          <a:solidFill>
                            <a:srgbClr val="0F172A"/>
                          </a:solidFill>
                          <a:latin typeface="Arial" pitchFamily="34" charset="0"/>
                          <a:ea typeface="Arial" pitchFamily="34" charset="-122"/>
                          <a:cs typeface="Arial" pitchFamily="34" charset="-120"/>
                        </a:rPr>
                        <a:t>Garena</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880" dirty="0">
                          <a:solidFill>
                            <a:srgbClr val="334155"/>
                          </a:solidFill>
                          <a:latin typeface="Arial" pitchFamily="34" charset="0"/>
                          <a:ea typeface="Arial" pitchFamily="34" charset="-122"/>
                          <a:cs typeface="Arial" pitchFamily="34" charset="-120"/>
                        </a:rPr>
                        <a:t>Gaming studio, beasiswa talenta digital, turnamen esports</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r h="402336">
                <a:tc>
                  <a:txBody>
                    <a:bodyPr/>
                    <a:lstStyle/>
                    <a:p>
                      <a:pPr indent="0" marL="0">
                        <a:buNone/>
                      </a:pPr>
                      <a:r>
                        <a:rPr lang="en-US" sz="880" dirty="0">
                          <a:solidFill>
                            <a:srgbClr val="334155"/>
                          </a:solidFill>
                          <a:latin typeface="Arial" pitchFamily="34" charset="0"/>
                          <a:ea typeface="Arial" pitchFamily="34" charset="-122"/>
                          <a:cs typeface="Arial" pitchFamily="34" charset="-120"/>
                        </a:rPr>
                        <a:t>Perbankan &amp; Fintech</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880" b="1" dirty="0">
                          <a:solidFill>
                            <a:srgbClr val="0F172A"/>
                          </a:solidFill>
                          <a:latin typeface="Arial" pitchFamily="34" charset="0"/>
                          <a:ea typeface="Arial" pitchFamily="34" charset="-122"/>
                          <a:cs typeface="Arial" pitchFamily="34" charset="-120"/>
                        </a:rPr>
                        <a:t>Bank Mandiri</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880" dirty="0">
                          <a:solidFill>
                            <a:srgbClr val="334155"/>
                          </a:solidFill>
                          <a:latin typeface="Arial" pitchFamily="34" charset="0"/>
                          <a:ea typeface="Arial" pitchFamily="34" charset="-122"/>
                          <a:cs typeface="Arial" pitchFamily="34" charset="-120"/>
                        </a:rPr>
                        <a:t>Mandiri Innovation Hub, fasilitasi modal startup binaan</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r h="402336">
                <a:tc>
                  <a:txBody>
                    <a:bodyPr/>
                    <a:lstStyle/>
                    <a:p>
                      <a:pPr indent="0" marL="0">
                        <a:buNone/>
                      </a:pPr>
                      <a:r>
                        <a:rPr lang="en-US" sz="880" dirty="0">
                          <a:solidFill>
                            <a:srgbClr val="334155"/>
                          </a:solidFill>
                          <a:latin typeface="Arial" pitchFamily="34" charset="0"/>
                          <a:ea typeface="Arial" pitchFamily="34" charset="-122"/>
                          <a:cs typeface="Arial" pitchFamily="34" charset="-120"/>
                        </a:rPr>
                        <a:t>Telekomunikasi</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880" b="1" dirty="0">
                          <a:solidFill>
                            <a:srgbClr val="0F172A"/>
                          </a:solidFill>
                          <a:latin typeface="Arial" pitchFamily="34" charset="0"/>
                          <a:ea typeface="Arial" pitchFamily="34" charset="-122"/>
                          <a:cs typeface="Arial" pitchFamily="34" charset="-120"/>
                        </a:rPr>
                        <a:t>Indosat Ooredoo Hutchison</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880" dirty="0">
                          <a:solidFill>
                            <a:srgbClr val="334155"/>
                          </a:solidFill>
                          <a:latin typeface="Arial" pitchFamily="34" charset="0"/>
                          <a:ea typeface="Arial" pitchFamily="34" charset="-122"/>
                          <a:cs typeface="Arial" pitchFamily="34" charset="-120"/>
                        </a:rPr>
                        <a:t>Laboratorium 5G, konektivitas fiber optik terintegrasi kawasan</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r h="402336">
                <a:tc>
                  <a:txBody>
                    <a:bodyPr/>
                    <a:lstStyle/>
                    <a:p>
                      <a:pPr indent="0" marL="0">
                        <a:buNone/>
                      </a:pPr>
                      <a:r>
                        <a:rPr lang="en-US" sz="880" dirty="0">
                          <a:solidFill>
                            <a:srgbClr val="334155"/>
                          </a:solidFill>
                          <a:latin typeface="Arial" pitchFamily="34" charset="0"/>
                          <a:ea typeface="Arial" pitchFamily="34" charset="-122"/>
                          <a:cs typeface="Arial" pitchFamily="34" charset="-120"/>
                        </a:rPr>
                        <a:t>Ride-Hailing &amp; UMKM</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880" b="1" dirty="0">
                          <a:solidFill>
                            <a:srgbClr val="0F172A"/>
                          </a:solidFill>
                          <a:latin typeface="Arial" pitchFamily="34" charset="0"/>
                          <a:ea typeface="Arial" pitchFamily="34" charset="-122"/>
                          <a:cs typeface="Arial" pitchFamily="34" charset="-120"/>
                        </a:rPr>
                        <a:t>GoTo (Gojek-Tokopedia)</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880" dirty="0">
                          <a:solidFill>
                            <a:srgbClr val="334155"/>
                          </a:solidFill>
                          <a:latin typeface="Arial" pitchFamily="34" charset="0"/>
                          <a:ea typeface="Arial" pitchFamily="34" charset="-122"/>
                          <a:cs typeface="Arial" pitchFamily="34" charset="-120"/>
                        </a:rPr>
                        <a:t>GoTo UMKM Center, pelatihan onboarding merchant lokal</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r h="438912">
                <a:tc>
                  <a:txBody>
                    <a:bodyPr/>
                    <a:lstStyle/>
                    <a:p>
                      <a:pPr indent="0" marL="0">
                        <a:buNone/>
                      </a:pPr>
                      <a:r>
                        <a:rPr lang="en-US" sz="880" dirty="0">
                          <a:solidFill>
                            <a:srgbClr val="334155"/>
                          </a:solidFill>
                          <a:latin typeface="Arial" pitchFamily="34" charset="0"/>
                          <a:ea typeface="Arial" pitchFamily="34" charset="-122"/>
                          <a:cs typeface="Arial" pitchFamily="34" charset="-120"/>
                        </a:rPr>
                        <a:t>Migas &amp; Industri Berat</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880" b="1" dirty="0">
                          <a:solidFill>
                            <a:srgbClr val="D97706"/>
                          </a:solidFill>
                          <a:latin typeface="Arial" pitchFamily="34" charset="0"/>
                          <a:ea typeface="Arial" pitchFamily="34" charset="-122"/>
                          <a:cs typeface="Arial" pitchFamily="34" charset="-120"/>
                        </a:rPr>
                        <a:t>OGSCI Consortium</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880" b="1" dirty="0">
                          <a:solidFill>
                            <a:srgbClr val="D97706"/>
                          </a:solidFill>
                          <a:latin typeface="Arial" pitchFamily="34" charset="0"/>
                          <a:ea typeface="Arial" pitchFamily="34" charset="-122"/>
                          <a:cs typeface="Arial" pitchFamily="34" charset="-120"/>
                        </a:rPr>
                        <a:t>Pelatihan migas internasional: Target Rp 6,25 M (2030)</a:t>
                      </a:r>
                      <a:endParaRPr lang="en-US" sz="88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bl>
          </a:graphicData>
        </a:graphic>
      </p:graphicFrame>
      <p:sp>
        <p:nvSpPr>
          <p:cNvPr id="39" name="Shape 35"/>
          <p:cNvSpPr/>
          <p:nvPr/>
        </p:nvSpPr>
        <p:spPr>
          <a:xfrm>
            <a:off x="5303520" y="4892040"/>
            <a:ext cx="5943600" cy="1143000"/>
          </a:xfrm>
          <a:prstGeom prst="roundRect">
            <a:avLst>
              <a:gd name="adj" fmla="val 3200"/>
            </a:avLst>
          </a:prstGeom>
          <a:solidFill>
            <a:srgbClr val="ECFDF5"/>
          </a:solidFill>
          <a:ln w="19050">
            <a:solidFill>
              <a:srgbClr val="059669"/>
            </a:solidFill>
            <a:prstDash val="solid"/>
          </a:ln>
        </p:spPr>
      </p:sp>
      <p:sp>
        <p:nvSpPr>
          <p:cNvPr id="40" name="Text 36"/>
          <p:cNvSpPr/>
          <p:nvPr/>
        </p:nvSpPr>
        <p:spPr>
          <a:xfrm>
            <a:off x="5486400" y="4956048"/>
            <a:ext cx="5577840" cy="256032"/>
          </a:xfrm>
          <a:prstGeom prst="rect">
            <a:avLst/>
          </a:prstGeom>
          <a:noFill/>
          <a:ln/>
        </p:spPr>
        <p:txBody>
          <a:bodyPr wrap="square" rtlCol="0" anchor="ctr"/>
          <a:lstStyle/>
          <a:p>
            <a:pPr indent="0" marL="0">
              <a:buNone/>
            </a:pPr>
            <a:r>
              <a:rPr lang="en-US" sz="920" b="1" dirty="0">
                <a:solidFill>
                  <a:srgbClr val="047857"/>
                </a:solidFill>
                <a:latin typeface="Arial" pitchFamily="34" charset="0"/>
                <a:ea typeface="Arial" pitchFamily="34" charset="-122"/>
                <a:cs typeface="Arial" pitchFamily="34" charset="-120"/>
              </a:rPr>
              <a:t>💎  PRINSIP ZERO APBD BURDEN: SELURUH FASILITAS CANGGIH DIBANGUN OLEH SWASTA</a:t>
            </a:r>
            <a:endParaRPr lang="en-US" sz="920" dirty="0"/>
          </a:p>
        </p:txBody>
      </p:sp>
      <p:sp>
        <p:nvSpPr>
          <p:cNvPr id="41" name="Text 37"/>
          <p:cNvSpPr/>
          <p:nvPr/>
        </p:nvSpPr>
        <p:spPr>
          <a:xfrm>
            <a:off x="5486400" y="5230368"/>
            <a:ext cx="5577840" cy="713232"/>
          </a:xfrm>
          <a:prstGeom prst="rect">
            <a:avLst/>
          </a:prstGeom>
          <a:noFill/>
          <a:ln/>
        </p:spPr>
        <p:txBody>
          <a:bodyPr wrap="square" rtlCol="0" anchor="ctr"/>
          <a:lstStyle/>
          <a:p>
            <a:pPr indent="0" marL="0">
              <a:lnSpc>
                <a:spcPts val="1200"/>
              </a:lnSpc>
              <a:buNone/>
            </a:pPr>
            <a:r>
              <a:rPr lang="en-US" sz="850" dirty="0">
                <a:solidFill>
                  <a:srgbClr val="334155"/>
                </a:solidFill>
                <a:latin typeface="Arial" pitchFamily="34" charset="0"/>
                <a:ea typeface="Arial" pitchFamily="34" charset="-122"/>
                <a:cs typeface="Arial" pitchFamily="34" charset="-120"/>
              </a:rPr>
              <a:t>Laboratorium AI, Studio Gaming, 5G Experience, hingga Cyber Security Hub tidak dibangun dengan membebani belanja modal APBD Kota Surakarta. Semuanya hadir melalui kemitraan murni Public-Private Partnership (PPP).</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84C7"/>
          </a:solidFill>
          <a:ln/>
        </p:spPr>
      </p:sp>
      <p:sp>
        <p:nvSpPr>
          <p:cNvPr id="3" name="Shape 1"/>
          <p:cNvSpPr/>
          <p:nvPr/>
        </p:nvSpPr>
        <p:spPr>
          <a:xfrm>
            <a:off x="9144000" y="0"/>
            <a:ext cx="3047695" cy="73152"/>
          </a:xfrm>
          <a:prstGeom prst="rect">
            <a:avLst/>
          </a:prstGeom>
          <a:solidFill>
            <a:srgbClr val="D97706"/>
          </a:solidFill>
          <a:ln/>
        </p:spPr>
      </p:sp>
      <p:sp>
        <p:nvSpPr>
          <p:cNvPr id="4" name="Shape 2"/>
          <p:cNvSpPr/>
          <p:nvPr/>
        </p:nvSpPr>
        <p:spPr>
          <a:xfrm>
            <a:off x="731520" y="256032"/>
            <a:ext cx="3291840" cy="237744"/>
          </a:xfrm>
          <a:prstGeom prst="roundRect">
            <a:avLst>
              <a:gd name="adj" fmla="val 19231"/>
            </a:avLst>
          </a:prstGeom>
          <a:solidFill>
            <a:srgbClr val="E0F2FE"/>
          </a:solidFill>
          <a:ln w="12700">
            <a:solidFill>
              <a:srgbClr val="0284C7"/>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0369A1"/>
                </a:solidFill>
                <a:latin typeface="Arial" pitchFamily="34" charset="0"/>
                <a:ea typeface="Arial" pitchFamily="34" charset="-122"/>
                <a:cs typeface="Arial" pitchFamily="34" charset="-120"/>
              </a:rPr>
              <a:t>REFLEKSI STRATEGIS &amp; SOLUSI KONKRET</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0F172A"/>
                </a:solidFill>
                <a:latin typeface="Arial" pitchFamily="34" charset="0"/>
                <a:ea typeface="Arial" pitchFamily="34" charset="-122"/>
                <a:cs typeface="Arial" pitchFamily="34" charset="-120"/>
              </a:rPr>
              <a:t>DIAGNOSA &amp; 5 GAP UTAMA BESERTA SOLUSI TEROBOSANNYA</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334155"/>
                </a:solidFill>
                <a:latin typeface="Arial" pitchFamily="34" charset="0"/>
                <a:ea typeface="Arial" pitchFamily="34" charset="-122"/>
                <a:cs typeface="Arial" pitchFamily="34" charset="-120"/>
              </a:rPr>
              <a:t>Kajian Kritis Berdasarkan Dokumen Strategi STP 2026: Gap Riil, Risiko, dan Solusi Kebijakan Kepala Daerah</a:t>
            </a:r>
            <a:endParaRPr lang="en-US" sz="1000" dirty="0"/>
          </a:p>
        </p:txBody>
      </p:sp>
      <p:sp>
        <p:nvSpPr>
          <p:cNvPr id="8" name="Shape 6"/>
          <p:cNvSpPr/>
          <p:nvPr/>
        </p:nvSpPr>
        <p:spPr>
          <a:xfrm>
            <a:off x="731520" y="6419088"/>
            <a:ext cx="10728655" cy="18288"/>
          </a:xfrm>
          <a:prstGeom prst="rect">
            <a:avLst/>
          </a:prstGeom>
          <a:solidFill>
            <a:srgbClr val="CBD5E1"/>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334155"/>
                </a:solidFill>
                <a:latin typeface="Arial" pitchFamily="34" charset="0"/>
                <a:ea typeface="Arial" pitchFamily="34" charset="-122"/>
                <a:cs typeface="Arial" pitchFamily="34" charset="-120"/>
              </a:rPr>
              <a:t>UPTD KST SOLO TECHNOPARK  |  BRIDA KOTA SURAKARTA  •  Bahan Paparan Resmi Walikota (Edisi V7 Light)</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0369A1"/>
                </a:solidFill>
                <a:latin typeface="Arial" pitchFamily="34" charset="0"/>
                <a:ea typeface="Arial" pitchFamily="34" charset="-122"/>
                <a:cs typeface="Arial" pitchFamily="34" charset="-120"/>
              </a:rPr>
              <a:t>Slide 07 / 12</a:t>
            </a:r>
            <a:endParaRPr lang="en-US" sz="900" dirty="0"/>
          </a:p>
        </p:txBody>
      </p:sp>
      <p:sp>
        <p:nvSpPr>
          <p:cNvPr id="11" name="Shape 9"/>
          <p:cNvSpPr/>
          <p:nvPr/>
        </p:nvSpPr>
        <p:spPr>
          <a:xfrm>
            <a:off x="731520" y="1325880"/>
            <a:ext cx="4389120" cy="731520"/>
          </a:xfrm>
          <a:prstGeom prst="roundRect">
            <a:avLst>
              <a:gd name="adj" fmla="val 5000"/>
            </a:avLst>
          </a:prstGeom>
          <a:solidFill>
            <a:srgbClr val="FFFFFF"/>
          </a:solidFill>
          <a:ln w="10160">
            <a:solidFill>
              <a:srgbClr val="CBD5E1"/>
            </a:solidFill>
            <a:prstDash val="solid"/>
          </a:ln>
        </p:spPr>
      </p:sp>
      <p:sp>
        <p:nvSpPr>
          <p:cNvPr id="12" name="Shape 10"/>
          <p:cNvSpPr/>
          <p:nvPr/>
        </p:nvSpPr>
        <p:spPr>
          <a:xfrm>
            <a:off x="841248" y="1417320"/>
            <a:ext cx="685800" cy="219456"/>
          </a:xfrm>
          <a:prstGeom prst="roundRect">
            <a:avLst>
              <a:gd name="adj" fmla="val 12500"/>
            </a:avLst>
          </a:prstGeom>
          <a:solidFill>
            <a:srgbClr val="FEE2E2"/>
          </a:solidFill>
          <a:ln w="10160">
            <a:solidFill>
              <a:srgbClr val="DC2626"/>
            </a:solidFill>
            <a:prstDash val="solid"/>
          </a:ln>
        </p:spPr>
      </p:sp>
      <p:sp>
        <p:nvSpPr>
          <p:cNvPr id="13" name="Text 11"/>
          <p:cNvSpPr/>
          <p:nvPr/>
        </p:nvSpPr>
        <p:spPr>
          <a:xfrm>
            <a:off x="841248" y="1417320"/>
            <a:ext cx="685800" cy="219456"/>
          </a:xfrm>
          <a:prstGeom prst="rect">
            <a:avLst/>
          </a:prstGeom>
          <a:noFill/>
          <a:ln/>
        </p:spPr>
        <p:txBody>
          <a:bodyPr wrap="square" rtlCol="0" anchor="ctr"/>
          <a:lstStyle/>
          <a:p>
            <a:pPr algn="ctr" indent="0" marL="0">
              <a:buNone/>
            </a:pPr>
            <a:r>
              <a:rPr lang="en-US" sz="750" b="1" dirty="0">
                <a:solidFill>
                  <a:srgbClr val="DC2626"/>
                </a:solidFill>
                <a:latin typeface="Arial" pitchFamily="34" charset="0"/>
                <a:ea typeface="Arial" pitchFamily="34" charset="-122"/>
                <a:cs typeface="Arial" pitchFamily="34" charset="-120"/>
              </a:rPr>
              <a:t>GAP 01</a:t>
            </a:r>
            <a:endParaRPr lang="en-US" sz="750" dirty="0"/>
          </a:p>
        </p:txBody>
      </p:sp>
      <p:sp>
        <p:nvSpPr>
          <p:cNvPr id="14" name="Text 12"/>
          <p:cNvSpPr/>
          <p:nvPr/>
        </p:nvSpPr>
        <p:spPr>
          <a:xfrm>
            <a:off x="1600200" y="1399032"/>
            <a:ext cx="3429000" cy="237744"/>
          </a:xfrm>
          <a:prstGeom prst="rect">
            <a:avLst/>
          </a:prstGeom>
          <a:noFill/>
          <a:ln/>
        </p:spPr>
        <p:txBody>
          <a:bodyPr wrap="square" rtlCol="0" anchor="ctr"/>
          <a:lstStyle/>
          <a:p>
            <a:pPr indent="0" marL="0">
              <a:buNone/>
            </a:pPr>
            <a:r>
              <a:rPr lang="en-US" sz="880" b="1" dirty="0">
                <a:solidFill>
                  <a:srgbClr val="0F172A"/>
                </a:solidFill>
                <a:latin typeface="Arial" pitchFamily="34" charset="0"/>
                <a:ea typeface="Arial" pitchFamily="34" charset="-122"/>
                <a:cs typeface="Arial" pitchFamily="34" charset="-120"/>
              </a:rPr>
              <a:t>Jenis Pelatihan Masih Terbatas</a:t>
            </a:r>
            <a:endParaRPr lang="en-US" sz="880" dirty="0"/>
          </a:p>
        </p:txBody>
      </p:sp>
      <p:sp>
        <p:nvSpPr>
          <p:cNvPr id="15" name="Text 13"/>
          <p:cNvSpPr/>
          <p:nvPr/>
        </p:nvSpPr>
        <p:spPr>
          <a:xfrm>
            <a:off x="841248" y="1673352"/>
            <a:ext cx="4187952" cy="347472"/>
          </a:xfrm>
          <a:prstGeom prst="rect">
            <a:avLst/>
          </a:prstGeom>
          <a:noFill/>
          <a:ln/>
        </p:spPr>
        <p:txBody>
          <a:bodyPr wrap="square" rtlCol="0" anchor="ctr"/>
          <a:lstStyle/>
          <a:p>
            <a:pPr indent="0" marL="0">
              <a:lnSpc>
                <a:spcPts val="1000"/>
              </a:lnSpc>
              <a:buNone/>
            </a:pPr>
            <a:r>
              <a:rPr lang="en-US" sz="760" dirty="0">
                <a:solidFill>
                  <a:srgbClr val="334155"/>
                </a:solidFill>
                <a:latin typeface="Arial" pitchFamily="34" charset="0"/>
                <a:ea typeface="Arial" pitchFamily="34" charset="-122"/>
                <a:cs typeface="Arial" pitchFamily="34" charset="-120"/>
              </a:rPr>
              <a:t>Akar Masalah: Keterbatasan instruktur ahli internal &amp; sarana diklat berbasis industri masa depan.</a:t>
            </a:r>
            <a:endParaRPr lang="en-US" sz="760" dirty="0"/>
          </a:p>
        </p:txBody>
      </p:sp>
      <p:sp>
        <p:nvSpPr>
          <p:cNvPr id="16" name="Shape 14"/>
          <p:cNvSpPr/>
          <p:nvPr/>
        </p:nvSpPr>
        <p:spPr>
          <a:xfrm>
            <a:off x="5193792" y="1554480"/>
            <a:ext cx="310896" cy="256032"/>
          </a:xfrm>
          <a:prstGeom prst="rightArrow">
            <a:avLst/>
          </a:prstGeom>
          <a:solidFill>
            <a:srgbClr val="0284C7"/>
          </a:solidFill>
          <a:ln w="12700">
            <a:solidFill>
              <a:srgbClr val="0284C7"/>
            </a:solidFill>
            <a:prstDash val="solid"/>
          </a:ln>
        </p:spPr>
      </p:sp>
      <p:sp>
        <p:nvSpPr>
          <p:cNvPr id="17" name="Shape 15"/>
          <p:cNvSpPr/>
          <p:nvPr/>
        </p:nvSpPr>
        <p:spPr>
          <a:xfrm>
            <a:off x="5577840" y="1325880"/>
            <a:ext cx="5882335" cy="731520"/>
          </a:xfrm>
          <a:prstGeom prst="roundRect">
            <a:avLst>
              <a:gd name="adj" fmla="val 5000"/>
            </a:avLst>
          </a:prstGeom>
          <a:solidFill>
            <a:srgbClr val="F1F5F9"/>
          </a:solidFill>
          <a:ln w="10160">
            <a:solidFill>
              <a:srgbClr val="0284C7"/>
            </a:solidFill>
            <a:prstDash val="solid"/>
          </a:ln>
        </p:spPr>
      </p:sp>
      <p:sp>
        <p:nvSpPr>
          <p:cNvPr id="18" name="Text 16"/>
          <p:cNvSpPr/>
          <p:nvPr/>
        </p:nvSpPr>
        <p:spPr>
          <a:xfrm>
            <a:off x="5715000" y="1399032"/>
            <a:ext cx="5623560" cy="237744"/>
          </a:xfrm>
          <a:prstGeom prst="rect">
            <a:avLst/>
          </a:prstGeom>
          <a:noFill/>
          <a:ln/>
        </p:spPr>
        <p:txBody>
          <a:bodyPr wrap="square" rtlCol="0" anchor="ctr"/>
          <a:lstStyle/>
          <a:p>
            <a:pPr indent="0" marL="0">
              <a:buNone/>
            </a:pPr>
            <a:r>
              <a:rPr lang="en-US" sz="880" b="1" dirty="0">
                <a:solidFill>
                  <a:srgbClr val="0284C7"/>
                </a:solidFill>
                <a:latin typeface="Arial" pitchFamily="34" charset="0"/>
                <a:ea typeface="Arial" pitchFamily="34" charset="-122"/>
                <a:cs typeface="Arial" pitchFamily="34" charset="-120"/>
              </a:rPr>
              <a:t>✔  Gandeng Korporasi Global (OGSCI, Kemenperin) Buka Kelas Spesialis</a:t>
            </a:r>
            <a:endParaRPr lang="en-US" sz="880" dirty="0"/>
          </a:p>
        </p:txBody>
      </p:sp>
      <p:sp>
        <p:nvSpPr>
          <p:cNvPr id="19" name="Text 17"/>
          <p:cNvSpPr/>
          <p:nvPr/>
        </p:nvSpPr>
        <p:spPr>
          <a:xfrm>
            <a:off x="5715000" y="1673352"/>
            <a:ext cx="5623560" cy="347472"/>
          </a:xfrm>
          <a:prstGeom prst="rect">
            <a:avLst/>
          </a:prstGeom>
          <a:noFill/>
          <a:ln/>
        </p:spPr>
        <p:txBody>
          <a:bodyPr wrap="square" rtlCol="0" anchor="ctr"/>
          <a:lstStyle/>
          <a:p>
            <a:pPr indent="0" marL="0">
              <a:lnSpc>
                <a:spcPts val="1000"/>
              </a:lnSpc>
              <a:buNone/>
            </a:pPr>
            <a:r>
              <a:rPr lang="en-US" sz="780" dirty="0">
                <a:solidFill>
                  <a:srgbClr val="0F172A"/>
                </a:solidFill>
                <a:latin typeface="Arial" pitchFamily="34" charset="0"/>
                <a:ea typeface="Arial" pitchFamily="34" charset="-122"/>
                <a:cs typeface="Arial" pitchFamily="34" charset="-120"/>
              </a:rPr>
              <a:t>Welder Bawah Air, AI Engineer, Teknisi Baterai EV, &amp; Drone Operator.</a:t>
            </a:r>
            <a:endParaRPr lang="en-US" sz="780" dirty="0"/>
          </a:p>
        </p:txBody>
      </p:sp>
      <p:sp>
        <p:nvSpPr>
          <p:cNvPr id="20" name="Shape 18"/>
          <p:cNvSpPr/>
          <p:nvPr/>
        </p:nvSpPr>
        <p:spPr>
          <a:xfrm>
            <a:off x="731520" y="2130552"/>
            <a:ext cx="4389120" cy="731520"/>
          </a:xfrm>
          <a:prstGeom prst="roundRect">
            <a:avLst>
              <a:gd name="adj" fmla="val 5000"/>
            </a:avLst>
          </a:prstGeom>
          <a:solidFill>
            <a:srgbClr val="FFFFFF"/>
          </a:solidFill>
          <a:ln w="10160">
            <a:solidFill>
              <a:srgbClr val="CBD5E1"/>
            </a:solidFill>
            <a:prstDash val="solid"/>
          </a:ln>
        </p:spPr>
      </p:sp>
      <p:sp>
        <p:nvSpPr>
          <p:cNvPr id="21" name="Shape 19"/>
          <p:cNvSpPr/>
          <p:nvPr/>
        </p:nvSpPr>
        <p:spPr>
          <a:xfrm>
            <a:off x="841248" y="2221992"/>
            <a:ext cx="685800" cy="219456"/>
          </a:xfrm>
          <a:prstGeom prst="roundRect">
            <a:avLst>
              <a:gd name="adj" fmla="val 12500"/>
            </a:avLst>
          </a:prstGeom>
          <a:solidFill>
            <a:srgbClr val="FEE2E2"/>
          </a:solidFill>
          <a:ln w="10160">
            <a:solidFill>
              <a:srgbClr val="DC2626"/>
            </a:solidFill>
            <a:prstDash val="solid"/>
          </a:ln>
        </p:spPr>
      </p:sp>
      <p:sp>
        <p:nvSpPr>
          <p:cNvPr id="22" name="Text 20"/>
          <p:cNvSpPr/>
          <p:nvPr/>
        </p:nvSpPr>
        <p:spPr>
          <a:xfrm>
            <a:off x="841248" y="2221992"/>
            <a:ext cx="685800" cy="219456"/>
          </a:xfrm>
          <a:prstGeom prst="rect">
            <a:avLst/>
          </a:prstGeom>
          <a:noFill/>
          <a:ln/>
        </p:spPr>
        <p:txBody>
          <a:bodyPr wrap="square" rtlCol="0" anchor="ctr"/>
          <a:lstStyle/>
          <a:p>
            <a:pPr algn="ctr" indent="0" marL="0">
              <a:buNone/>
            </a:pPr>
            <a:r>
              <a:rPr lang="en-US" sz="750" b="1" dirty="0">
                <a:solidFill>
                  <a:srgbClr val="DC2626"/>
                </a:solidFill>
                <a:latin typeface="Arial" pitchFamily="34" charset="0"/>
                <a:ea typeface="Arial" pitchFamily="34" charset="-122"/>
                <a:cs typeface="Arial" pitchFamily="34" charset="-120"/>
              </a:rPr>
              <a:t>GAP 02</a:t>
            </a:r>
            <a:endParaRPr lang="en-US" sz="750" dirty="0"/>
          </a:p>
        </p:txBody>
      </p:sp>
      <p:sp>
        <p:nvSpPr>
          <p:cNvPr id="23" name="Text 21"/>
          <p:cNvSpPr/>
          <p:nvPr/>
        </p:nvSpPr>
        <p:spPr>
          <a:xfrm>
            <a:off x="1600200" y="2203704"/>
            <a:ext cx="3429000" cy="237744"/>
          </a:xfrm>
          <a:prstGeom prst="rect">
            <a:avLst/>
          </a:prstGeom>
          <a:noFill/>
          <a:ln/>
        </p:spPr>
        <p:txBody>
          <a:bodyPr wrap="square" rtlCol="0" anchor="ctr"/>
          <a:lstStyle/>
          <a:p>
            <a:pPr indent="0" marL="0">
              <a:buNone/>
            </a:pPr>
            <a:r>
              <a:rPr lang="en-US" sz="880" b="1" dirty="0">
                <a:solidFill>
                  <a:srgbClr val="0F172A"/>
                </a:solidFill>
                <a:latin typeface="Arial" pitchFamily="34" charset="0"/>
                <a:ea typeface="Arial" pitchFamily="34" charset="-122"/>
                <a:cs typeface="Arial" pitchFamily="34" charset="-120"/>
              </a:rPr>
              <a:t>R&amp;D Belum Mengarah Hilirisasi</a:t>
            </a:r>
            <a:endParaRPr lang="en-US" sz="880" dirty="0"/>
          </a:p>
        </p:txBody>
      </p:sp>
      <p:sp>
        <p:nvSpPr>
          <p:cNvPr id="24" name="Text 22"/>
          <p:cNvSpPr/>
          <p:nvPr/>
        </p:nvSpPr>
        <p:spPr>
          <a:xfrm>
            <a:off x="841248" y="2478024"/>
            <a:ext cx="4187952" cy="347472"/>
          </a:xfrm>
          <a:prstGeom prst="rect">
            <a:avLst/>
          </a:prstGeom>
          <a:noFill/>
          <a:ln/>
        </p:spPr>
        <p:txBody>
          <a:bodyPr wrap="square" rtlCol="0" anchor="ctr"/>
          <a:lstStyle/>
          <a:p>
            <a:pPr indent="0" marL="0">
              <a:lnSpc>
                <a:spcPts val="1000"/>
              </a:lnSpc>
              <a:buNone/>
            </a:pPr>
            <a:r>
              <a:rPr lang="en-US" sz="760" dirty="0">
                <a:solidFill>
                  <a:srgbClr val="334155"/>
                </a:solidFill>
                <a:latin typeface="Arial" pitchFamily="34" charset="0"/>
                <a:ea typeface="Arial" pitchFamily="34" charset="-122"/>
                <a:cs typeface="Arial" pitchFamily="34" charset="-120"/>
              </a:rPr>
              <a:t>Akar Masalah: Riset kampus berjalan terisolasi, kurang terpetakan, dan belum berorientasi pasar.</a:t>
            </a:r>
            <a:endParaRPr lang="en-US" sz="760" dirty="0"/>
          </a:p>
        </p:txBody>
      </p:sp>
      <p:sp>
        <p:nvSpPr>
          <p:cNvPr id="25" name="Shape 23"/>
          <p:cNvSpPr/>
          <p:nvPr/>
        </p:nvSpPr>
        <p:spPr>
          <a:xfrm>
            <a:off x="5193792" y="2359152"/>
            <a:ext cx="310896" cy="256032"/>
          </a:xfrm>
          <a:prstGeom prst="rightArrow">
            <a:avLst/>
          </a:prstGeom>
          <a:solidFill>
            <a:srgbClr val="0284C7"/>
          </a:solidFill>
          <a:ln w="12700">
            <a:solidFill>
              <a:srgbClr val="0284C7"/>
            </a:solidFill>
            <a:prstDash val="solid"/>
          </a:ln>
        </p:spPr>
      </p:sp>
      <p:sp>
        <p:nvSpPr>
          <p:cNvPr id="26" name="Shape 24"/>
          <p:cNvSpPr/>
          <p:nvPr/>
        </p:nvSpPr>
        <p:spPr>
          <a:xfrm>
            <a:off x="5577840" y="2130552"/>
            <a:ext cx="5882335" cy="731520"/>
          </a:xfrm>
          <a:prstGeom prst="roundRect">
            <a:avLst>
              <a:gd name="adj" fmla="val 5000"/>
            </a:avLst>
          </a:prstGeom>
          <a:solidFill>
            <a:srgbClr val="F1F5F9"/>
          </a:solidFill>
          <a:ln w="10160">
            <a:solidFill>
              <a:srgbClr val="0369A1"/>
            </a:solidFill>
            <a:prstDash val="solid"/>
          </a:ln>
        </p:spPr>
      </p:sp>
      <p:sp>
        <p:nvSpPr>
          <p:cNvPr id="27" name="Text 25"/>
          <p:cNvSpPr/>
          <p:nvPr/>
        </p:nvSpPr>
        <p:spPr>
          <a:xfrm>
            <a:off x="5715000" y="2203704"/>
            <a:ext cx="5623560" cy="237744"/>
          </a:xfrm>
          <a:prstGeom prst="rect">
            <a:avLst/>
          </a:prstGeom>
          <a:noFill/>
          <a:ln/>
        </p:spPr>
        <p:txBody>
          <a:bodyPr wrap="square" rtlCol="0" anchor="ctr"/>
          <a:lstStyle/>
          <a:p>
            <a:pPr indent="0" marL="0">
              <a:buNone/>
            </a:pPr>
            <a:r>
              <a:rPr lang="en-US" sz="880" b="1" dirty="0">
                <a:solidFill>
                  <a:srgbClr val="0369A1"/>
                </a:solidFill>
                <a:latin typeface="Arial" pitchFamily="34" charset="0"/>
                <a:ea typeface="Arial" pitchFamily="34" charset="-122"/>
                <a:cs typeface="Arial" pitchFamily="34" charset="-120"/>
              </a:rPr>
              <a:t>✔  Bentuk Technology Transfer Office (TTO) &amp; Kurasi Riset Terapan Kampus</a:t>
            </a:r>
            <a:endParaRPr lang="en-US" sz="880" dirty="0"/>
          </a:p>
        </p:txBody>
      </p:sp>
      <p:sp>
        <p:nvSpPr>
          <p:cNvPr id="28" name="Text 26"/>
          <p:cNvSpPr/>
          <p:nvPr/>
        </p:nvSpPr>
        <p:spPr>
          <a:xfrm>
            <a:off x="5715000" y="2478024"/>
            <a:ext cx="5623560" cy="347472"/>
          </a:xfrm>
          <a:prstGeom prst="rect">
            <a:avLst/>
          </a:prstGeom>
          <a:noFill/>
          <a:ln/>
        </p:spPr>
        <p:txBody>
          <a:bodyPr wrap="square" rtlCol="0" anchor="ctr"/>
          <a:lstStyle/>
          <a:p>
            <a:pPr indent="0" marL="0">
              <a:lnSpc>
                <a:spcPts val="1000"/>
              </a:lnSpc>
              <a:buNone/>
            </a:pPr>
            <a:r>
              <a:rPr lang="en-US" sz="780" dirty="0">
                <a:solidFill>
                  <a:srgbClr val="0F172A"/>
                </a:solidFill>
                <a:latin typeface="Arial" pitchFamily="34" charset="0"/>
                <a:ea typeface="Arial" pitchFamily="34" charset="-122"/>
                <a:cs typeface="Arial" pitchFamily="34" charset="-120"/>
              </a:rPr>
              <a:t>Konsorsium 5 Perguruan Tinggi Solo Raya (UNS, UMS, ISI, dll.) berbasis problem kota.</a:t>
            </a:r>
            <a:endParaRPr lang="en-US" sz="780" dirty="0"/>
          </a:p>
        </p:txBody>
      </p:sp>
      <p:sp>
        <p:nvSpPr>
          <p:cNvPr id="29" name="Shape 27"/>
          <p:cNvSpPr/>
          <p:nvPr/>
        </p:nvSpPr>
        <p:spPr>
          <a:xfrm>
            <a:off x="731520" y="2935224"/>
            <a:ext cx="4389120" cy="731520"/>
          </a:xfrm>
          <a:prstGeom prst="roundRect">
            <a:avLst>
              <a:gd name="adj" fmla="val 5000"/>
            </a:avLst>
          </a:prstGeom>
          <a:solidFill>
            <a:srgbClr val="FFFFFF"/>
          </a:solidFill>
          <a:ln w="10160">
            <a:solidFill>
              <a:srgbClr val="CBD5E1"/>
            </a:solidFill>
            <a:prstDash val="solid"/>
          </a:ln>
        </p:spPr>
      </p:sp>
      <p:sp>
        <p:nvSpPr>
          <p:cNvPr id="30" name="Shape 28"/>
          <p:cNvSpPr/>
          <p:nvPr/>
        </p:nvSpPr>
        <p:spPr>
          <a:xfrm>
            <a:off x="841248" y="3026664"/>
            <a:ext cx="685800" cy="219456"/>
          </a:xfrm>
          <a:prstGeom prst="roundRect">
            <a:avLst>
              <a:gd name="adj" fmla="val 12500"/>
            </a:avLst>
          </a:prstGeom>
          <a:solidFill>
            <a:srgbClr val="FEE2E2"/>
          </a:solidFill>
          <a:ln w="10160">
            <a:solidFill>
              <a:srgbClr val="DC2626"/>
            </a:solidFill>
            <a:prstDash val="solid"/>
          </a:ln>
        </p:spPr>
      </p:sp>
      <p:sp>
        <p:nvSpPr>
          <p:cNvPr id="31" name="Text 29"/>
          <p:cNvSpPr/>
          <p:nvPr/>
        </p:nvSpPr>
        <p:spPr>
          <a:xfrm>
            <a:off x="841248" y="3026664"/>
            <a:ext cx="685800" cy="219456"/>
          </a:xfrm>
          <a:prstGeom prst="rect">
            <a:avLst/>
          </a:prstGeom>
          <a:noFill/>
          <a:ln/>
        </p:spPr>
        <p:txBody>
          <a:bodyPr wrap="square" rtlCol="0" anchor="ctr"/>
          <a:lstStyle/>
          <a:p>
            <a:pPr algn="ctr" indent="0" marL="0">
              <a:buNone/>
            </a:pPr>
            <a:r>
              <a:rPr lang="en-US" sz="750" b="1" dirty="0">
                <a:solidFill>
                  <a:srgbClr val="DC2626"/>
                </a:solidFill>
                <a:latin typeface="Arial" pitchFamily="34" charset="0"/>
                <a:ea typeface="Arial" pitchFamily="34" charset="-122"/>
                <a:cs typeface="Arial" pitchFamily="34" charset="-120"/>
              </a:rPr>
              <a:t>GAP 03</a:t>
            </a:r>
            <a:endParaRPr lang="en-US" sz="750" dirty="0"/>
          </a:p>
        </p:txBody>
      </p:sp>
      <p:sp>
        <p:nvSpPr>
          <p:cNvPr id="32" name="Text 30"/>
          <p:cNvSpPr/>
          <p:nvPr/>
        </p:nvSpPr>
        <p:spPr>
          <a:xfrm>
            <a:off x="1600200" y="3008376"/>
            <a:ext cx="3429000" cy="237744"/>
          </a:xfrm>
          <a:prstGeom prst="rect">
            <a:avLst/>
          </a:prstGeom>
          <a:noFill/>
          <a:ln/>
        </p:spPr>
        <p:txBody>
          <a:bodyPr wrap="square" rtlCol="0" anchor="ctr"/>
          <a:lstStyle/>
          <a:p>
            <a:pPr indent="0" marL="0">
              <a:buNone/>
            </a:pPr>
            <a:r>
              <a:rPr lang="en-US" sz="880" b="1" dirty="0">
                <a:solidFill>
                  <a:srgbClr val="0F172A"/>
                </a:solidFill>
                <a:latin typeface="Arial" pitchFamily="34" charset="0"/>
                <a:ea typeface="Arial" pitchFamily="34" charset="-122"/>
                <a:cs typeface="Arial" pitchFamily="34" charset="-120"/>
              </a:rPr>
              <a:t>Investasi Kawasan Terbatas</a:t>
            </a:r>
            <a:endParaRPr lang="en-US" sz="880" dirty="0"/>
          </a:p>
        </p:txBody>
      </p:sp>
      <p:sp>
        <p:nvSpPr>
          <p:cNvPr id="33" name="Text 31"/>
          <p:cNvSpPr/>
          <p:nvPr/>
        </p:nvSpPr>
        <p:spPr>
          <a:xfrm>
            <a:off x="841248" y="3282696"/>
            <a:ext cx="4187952" cy="347472"/>
          </a:xfrm>
          <a:prstGeom prst="rect">
            <a:avLst/>
          </a:prstGeom>
          <a:noFill/>
          <a:ln/>
        </p:spPr>
        <p:txBody>
          <a:bodyPr wrap="square" rtlCol="0" anchor="ctr"/>
          <a:lstStyle/>
          <a:p>
            <a:pPr indent="0" marL="0">
              <a:lnSpc>
                <a:spcPts val="1000"/>
              </a:lnSpc>
              <a:buNone/>
            </a:pPr>
            <a:r>
              <a:rPr lang="en-US" sz="760" dirty="0">
                <a:solidFill>
                  <a:srgbClr val="334155"/>
                </a:solidFill>
                <a:latin typeface="Arial" pitchFamily="34" charset="0"/>
                <a:ea typeface="Arial" pitchFamily="34" charset="-122"/>
                <a:cs typeface="Arial" pitchFamily="34" charset="-120"/>
              </a:rPr>
              <a:t>Akar Masalah: Lahan kosong belum optimal dikerjasamakan; promosi investor belum sistematis.</a:t>
            </a:r>
            <a:endParaRPr lang="en-US" sz="760" dirty="0"/>
          </a:p>
        </p:txBody>
      </p:sp>
      <p:sp>
        <p:nvSpPr>
          <p:cNvPr id="34" name="Shape 32"/>
          <p:cNvSpPr/>
          <p:nvPr/>
        </p:nvSpPr>
        <p:spPr>
          <a:xfrm>
            <a:off x="5193792" y="3163824"/>
            <a:ext cx="310896" cy="256032"/>
          </a:xfrm>
          <a:prstGeom prst="rightArrow">
            <a:avLst/>
          </a:prstGeom>
          <a:solidFill>
            <a:srgbClr val="0284C7"/>
          </a:solidFill>
          <a:ln w="12700">
            <a:solidFill>
              <a:srgbClr val="0284C7"/>
            </a:solidFill>
            <a:prstDash val="solid"/>
          </a:ln>
        </p:spPr>
      </p:sp>
      <p:sp>
        <p:nvSpPr>
          <p:cNvPr id="35" name="Shape 33"/>
          <p:cNvSpPr/>
          <p:nvPr/>
        </p:nvSpPr>
        <p:spPr>
          <a:xfrm>
            <a:off x="5577840" y="2935224"/>
            <a:ext cx="5882335" cy="731520"/>
          </a:xfrm>
          <a:prstGeom prst="roundRect">
            <a:avLst>
              <a:gd name="adj" fmla="val 5000"/>
            </a:avLst>
          </a:prstGeom>
          <a:solidFill>
            <a:srgbClr val="F1F5F9"/>
          </a:solidFill>
          <a:ln w="10160">
            <a:solidFill>
              <a:srgbClr val="0369A1"/>
            </a:solidFill>
            <a:prstDash val="solid"/>
          </a:ln>
        </p:spPr>
      </p:sp>
      <p:sp>
        <p:nvSpPr>
          <p:cNvPr id="36" name="Text 34"/>
          <p:cNvSpPr/>
          <p:nvPr/>
        </p:nvSpPr>
        <p:spPr>
          <a:xfrm>
            <a:off x="5715000" y="3008376"/>
            <a:ext cx="5623560" cy="237744"/>
          </a:xfrm>
          <a:prstGeom prst="rect">
            <a:avLst/>
          </a:prstGeom>
          <a:noFill/>
          <a:ln/>
        </p:spPr>
        <p:txBody>
          <a:bodyPr wrap="square" rtlCol="0" anchor="ctr"/>
          <a:lstStyle/>
          <a:p>
            <a:pPr indent="0" marL="0">
              <a:buNone/>
            </a:pPr>
            <a:r>
              <a:rPr lang="en-US" sz="880" b="1" dirty="0">
                <a:solidFill>
                  <a:srgbClr val="0369A1"/>
                </a:solidFill>
                <a:latin typeface="Arial" pitchFamily="34" charset="0"/>
                <a:ea typeface="Arial" pitchFamily="34" charset="-122"/>
                <a:cs typeface="Arial" pitchFamily="34" charset="-120"/>
              </a:rPr>
              <a:t>✔  Zonasi Investasi Teknologi Terpadu &amp; Long-Term Revenue Sharing</a:t>
            </a:r>
            <a:endParaRPr lang="en-US" sz="880" dirty="0"/>
          </a:p>
        </p:txBody>
      </p:sp>
      <p:sp>
        <p:nvSpPr>
          <p:cNvPr id="37" name="Text 35"/>
          <p:cNvSpPr/>
          <p:nvPr/>
        </p:nvSpPr>
        <p:spPr>
          <a:xfrm>
            <a:off x="5715000" y="3282696"/>
            <a:ext cx="5623560" cy="347472"/>
          </a:xfrm>
          <a:prstGeom prst="rect">
            <a:avLst/>
          </a:prstGeom>
          <a:noFill/>
          <a:ln/>
        </p:spPr>
        <p:txBody>
          <a:bodyPr wrap="square" rtlCol="0" anchor="ctr"/>
          <a:lstStyle/>
          <a:p>
            <a:pPr indent="0" marL="0">
              <a:lnSpc>
                <a:spcPts val="1000"/>
              </a:lnSpc>
              <a:buNone/>
            </a:pPr>
            <a:r>
              <a:rPr lang="en-US" sz="780" dirty="0">
                <a:solidFill>
                  <a:srgbClr val="0F172A"/>
                </a:solidFill>
                <a:latin typeface="Arial" pitchFamily="34" charset="0"/>
                <a:ea typeface="Arial" pitchFamily="34" charset="-122"/>
                <a:cs typeface="Arial" pitchFamily="34" charset="-120"/>
              </a:rPr>
              <a:t>Skema kemitraan 10–25 tahun bagi korporasi teknologi global tanpa beban belanja APBD.</a:t>
            </a:r>
            <a:endParaRPr lang="en-US" sz="780" dirty="0"/>
          </a:p>
        </p:txBody>
      </p:sp>
      <p:sp>
        <p:nvSpPr>
          <p:cNvPr id="38" name="Shape 36"/>
          <p:cNvSpPr/>
          <p:nvPr/>
        </p:nvSpPr>
        <p:spPr>
          <a:xfrm>
            <a:off x="731520" y="3739896"/>
            <a:ext cx="4389120" cy="731520"/>
          </a:xfrm>
          <a:prstGeom prst="roundRect">
            <a:avLst>
              <a:gd name="adj" fmla="val 5000"/>
            </a:avLst>
          </a:prstGeom>
          <a:solidFill>
            <a:srgbClr val="FFFFFF"/>
          </a:solidFill>
          <a:ln w="10160">
            <a:solidFill>
              <a:srgbClr val="CBD5E1"/>
            </a:solidFill>
            <a:prstDash val="solid"/>
          </a:ln>
        </p:spPr>
      </p:sp>
      <p:sp>
        <p:nvSpPr>
          <p:cNvPr id="39" name="Shape 37"/>
          <p:cNvSpPr/>
          <p:nvPr/>
        </p:nvSpPr>
        <p:spPr>
          <a:xfrm>
            <a:off x="841248" y="3831336"/>
            <a:ext cx="685800" cy="219456"/>
          </a:xfrm>
          <a:prstGeom prst="roundRect">
            <a:avLst>
              <a:gd name="adj" fmla="val 12500"/>
            </a:avLst>
          </a:prstGeom>
          <a:solidFill>
            <a:srgbClr val="FEE2E2"/>
          </a:solidFill>
          <a:ln w="10160">
            <a:solidFill>
              <a:srgbClr val="DC2626"/>
            </a:solidFill>
            <a:prstDash val="solid"/>
          </a:ln>
        </p:spPr>
      </p:sp>
      <p:sp>
        <p:nvSpPr>
          <p:cNvPr id="40" name="Text 38"/>
          <p:cNvSpPr/>
          <p:nvPr/>
        </p:nvSpPr>
        <p:spPr>
          <a:xfrm>
            <a:off x="841248" y="3831336"/>
            <a:ext cx="685800" cy="219456"/>
          </a:xfrm>
          <a:prstGeom prst="rect">
            <a:avLst/>
          </a:prstGeom>
          <a:noFill/>
          <a:ln/>
        </p:spPr>
        <p:txBody>
          <a:bodyPr wrap="square" rtlCol="0" anchor="ctr"/>
          <a:lstStyle/>
          <a:p>
            <a:pPr algn="ctr" indent="0" marL="0">
              <a:buNone/>
            </a:pPr>
            <a:r>
              <a:rPr lang="en-US" sz="750" b="1" dirty="0">
                <a:solidFill>
                  <a:srgbClr val="DC2626"/>
                </a:solidFill>
                <a:latin typeface="Arial" pitchFamily="34" charset="0"/>
                <a:ea typeface="Arial" pitchFamily="34" charset="-122"/>
                <a:cs typeface="Arial" pitchFamily="34" charset="-120"/>
              </a:rPr>
              <a:t>GAP 04</a:t>
            </a:r>
            <a:endParaRPr lang="en-US" sz="750" dirty="0"/>
          </a:p>
        </p:txBody>
      </p:sp>
      <p:sp>
        <p:nvSpPr>
          <p:cNvPr id="41" name="Text 39"/>
          <p:cNvSpPr/>
          <p:nvPr/>
        </p:nvSpPr>
        <p:spPr>
          <a:xfrm>
            <a:off x="1600200" y="3813048"/>
            <a:ext cx="3429000" cy="237744"/>
          </a:xfrm>
          <a:prstGeom prst="rect">
            <a:avLst/>
          </a:prstGeom>
          <a:noFill/>
          <a:ln/>
        </p:spPr>
        <p:txBody>
          <a:bodyPr wrap="square" rtlCol="0" anchor="ctr"/>
          <a:lstStyle/>
          <a:p>
            <a:pPr indent="0" marL="0">
              <a:buNone/>
            </a:pPr>
            <a:r>
              <a:rPr lang="en-US" sz="880" b="1" dirty="0">
                <a:solidFill>
                  <a:srgbClr val="0F172A"/>
                </a:solidFill>
                <a:latin typeface="Arial" pitchFamily="34" charset="0"/>
                <a:ea typeface="Arial" pitchFamily="34" charset="-122"/>
                <a:cs typeface="Arial" pitchFamily="34" charset="-120"/>
              </a:rPr>
              <a:t>Kemandirian Finansial Rendah</a:t>
            </a:r>
            <a:endParaRPr lang="en-US" sz="880" dirty="0"/>
          </a:p>
        </p:txBody>
      </p:sp>
      <p:sp>
        <p:nvSpPr>
          <p:cNvPr id="42" name="Text 40"/>
          <p:cNvSpPr/>
          <p:nvPr/>
        </p:nvSpPr>
        <p:spPr>
          <a:xfrm>
            <a:off x="841248" y="4087368"/>
            <a:ext cx="4187952" cy="347472"/>
          </a:xfrm>
          <a:prstGeom prst="rect">
            <a:avLst/>
          </a:prstGeom>
          <a:noFill/>
          <a:ln/>
        </p:spPr>
        <p:txBody>
          <a:bodyPr wrap="square" rtlCol="0" anchor="ctr"/>
          <a:lstStyle/>
          <a:p>
            <a:pPr indent="0" marL="0">
              <a:lnSpc>
                <a:spcPts val="1000"/>
              </a:lnSpc>
              <a:buNone/>
            </a:pPr>
            <a:r>
              <a:rPr lang="en-US" sz="760" dirty="0">
                <a:solidFill>
                  <a:srgbClr val="334155"/>
                </a:solidFill>
                <a:latin typeface="Arial" pitchFamily="34" charset="0"/>
                <a:ea typeface="Arial" pitchFamily="34" charset="-122"/>
                <a:cs typeface="Arial" pitchFamily="34" charset="-120"/>
              </a:rPr>
              <a:t>Akar Masalah: Pendapatan masih bertumpu sewa lahan; hardware lab belum optimal menghasilkan jasa.</a:t>
            </a:r>
            <a:endParaRPr lang="en-US" sz="760" dirty="0"/>
          </a:p>
        </p:txBody>
      </p:sp>
      <p:sp>
        <p:nvSpPr>
          <p:cNvPr id="43" name="Shape 41"/>
          <p:cNvSpPr/>
          <p:nvPr/>
        </p:nvSpPr>
        <p:spPr>
          <a:xfrm>
            <a:off x="5193792" y="3968496"/>
            <a:ext cx="310896" cy="256032"/>
          </a:xfrm>
          <a:prstGeom prst="rightArrow">
            <a:avLst/>
          </a:prstGeom>
          <a:solidFill>
            <a:srgbClr val="0284C7"/>
          </a:solidFill>
          <a:ln w="12700">
            <a:solidFill>
              <a:srgbClr val="0284C7"/>
            </a:solidFill>
            <a:prstDash val="solid"/>
          </a:ln>
        </p:spPr>
      </p:sp>
      <p:sp>
        <p:nvSpPr>
          <p:cNvPr id="44" name="Shape 42"/>
          <p:cNvSpPr/>
          <p:nvPr/>
        </p:nvSpPr>
        <p:spPr>
          <a:xfrm>
            <a:off x="5577840" y="3739896"/>
            <a:ext cx="5882335" cy="731520"/>
          </a:xfrm>
          <a:prstGeom prst="roundRect">
            <a:avLst>
              <a:gd name="adj" fmla="val 5000"/>
            </a:avLst>
          </a:prstGeom>
          <a:solidFill>
            <a:srgbClr val="F1F5F9"/>
          </a:solidFill>
          <a:ln w="10160">
            <a:solidFill>
              <a:srgbClr val="059669"/>
            </a:solidFill>
            <a:prstDash val="solid"/>
          </a:ln>
        </p:spPr>
      </p:sp>
      <p:sp>
        <p:nvSpPr>
          <p:cNvPr id="45" name="Text 43"/>
          <p:cNvSpPr/>
          <p:nvPr/>
        </p:nvSpPr>
        <p:spPr>
          <a:xfrm>
            <a:off x="5715000" y="3813048"/>
            <a:ext cx="5623560" cy="237744"/>
          </a:xfrm>
          <a:prstGeom prst="rect">
            <a:avLst/>
          </a:prstGeom>
          <a:noFill/>
          <a:ln/>
        </p:spPr>
        <p:txBody>
          <a:bodyPr wrap="square" rtlCol="0" anchor="ctr"/>
          <a:lstStyle/>
          <a:p>
            <a:pPr indent="0" marL="0">
              <a:buNone/>
            </a:pPr>
            <a:r>
              <a:rPr lang="en-US" sz="880" b="1" dirty="0">
                <a:solidFill>
                  <a:srgbClr val="059669"/>
                </a:solidFill>
                <a:latin typeface="Arial" pitchFamily="34" charset="0"/>
                <a:ea typeface="Arial" pitchFamily="34" charset="-122"/>
                <a:cs typeface="Arial" pitchFamily="34" charset="-120"/>
              </a:rPr>
              <a:t>✔  Diversifikasi 6 Revenue Stream Mandiri &amp; Optimalisasi Aset Industri</a:t>
            </a:r>
            <a:endParaRPr lang="en-US" sz="880" dirty="0"/>
          </a:p>
        </p:txBody>
      </p:sp>
      <p:sp>
        <p:nvSpPr>
          <p:cNvPr id="46" name="Text 44"/>
          <p:cNvSpPr/>
          <p:nvPr/>
        </p:nvSpPr>
        <p:spPr>
          <a:xfrm>
            <a:off x="5715000" y="4087368"/>
            <a:ext cx="5623560" cy="347472"/>
          </a:xfrm>
          <a:prstGeom prst="rect">
            <a:avLst/>
          </a:prstGeom>
          <a:noFill/>
          <a:ln/>
        </p:spPr>
        <p:txBody>
          <a:bodyPr wrap="square" rtlCol="0" anchor="ctr"/>
          <a:lstStyle/>
          <a:p>
            <a:pPr indent="0" marL="0">
              <a:lnSpc>
                <a:spcPts val="1000"/>
              </a:lnSpc>
              <a:buNone/>
            </a:pPr>
            <a:r>
              <a:rPr lang="en-US" sz="780" dirty="0">
                <a:solidFill>
                  <a:srgbClr val="0F172A"/>
                </a:solidFill>
                <a:latin typeface="Arial" pitchFamily="34" charset="0"/>
                <a:ea typeface="Arial" pitchFamily="34" charset="-122"/>
                <a:cs typeface="Arial" pitchFamily="34" charset="-120"/>
              </a:rPr>
              <a:t>Uji NDT penetrant, TUK/JFT mandiri, rekayasa manufaktur, co-working, &amp; startup binaan.</a:t>
            </a:r>
            <a:endParaRPr lang="en-US" sz="780" dirty="0"/>
          </a:p>
        </p:txBody>
      </p:sp>
      <p:sp>
        <p:nvSpPr>
          <p:cNvPr id="47" name="Shape 45"/>
          <p:cNvSpPr/>
          <p:nvPr/>
        </p:nvSpPr>
        <p:spPr>
          <a:xfrm>
            <a:off x="731520" y="4544568"/>
            <a:ext cx="4389120" cy="731520"/>
          </a:xfrm>
          <a:prstGeom prst="roundRect">
            <a:avLst>
              <a:gd name="adj" fmla="val 5000"/>
            </a:avLst>
          </a:prstGeom>
          <a:solidFill>
            <a:srgbClr val="FFFFFF"/>
          </a:solidFill>
          <a:ln w="15240">
            <a:solidFill>
              <a:srgbClr val="D97706"/>
            </a:solidFill>
            <a:prstDash val="solid"/>
          </a:ln>
        </p:spPr>
      </p:sp>
      <p:sp>
        <p:nvSpPr>
          <p:cNvPr id="48" name="Shape 46"/>
          <p:cNvSpPr/>
          <p:nvPr/>
        </p:nvSpPr>
        <p:spPr>
          <a:xfrm>
            <a:off x="841248" y="4636008"/>
            <a:ext cx="685800" cy="219456"/>
          </a:xfrm>
          <a:prstGeom prst="roundRect">
            <a:avLst>
              <a:gd name="adj" fmla="val 12500"/>
            </a:avLst>
          </a:prstGeom>
          <a:solidFill>
            <a:srgbClr val="FEF3C7"/>
          </a:solidFill>
          <a:ln w="10160">
            <a:solidFill>
              <a:srgbClr val="D97706"/>
            </a:solidFill>
            <a:prstDash val="solid"/>
          </a:ln>
        </p:spPr>
      </p:sp>
      <p:sp>
        <p:nvSpPr>
          <p:cNvPr id="49" name="Text 47"/>
          <p:cNvSpPr/>
          <p:nvPr/>
        </p:nvSpPr>
        <p:spPr>
          <a:xfrm>
            <a:off x="841248" y="4636008"/>
            <a:ext cx="685800" cy="219456"/>
          </a:xfrm>
          <a:prstGeom prst="rect">
            <a:avLst/>
          </a:prstGeom>
          <a:noFill/>
          <a:ln/>
        </p:spPr>
        <p:txBody>
          <a:bodyPr wrap="square" rtlCol="0" anchor="ctr"/>
          <a:lstStyle/>
          <a:p>
            <a:pPr algn="ctr" indent="0" marL="0">
              <a:buNone/>
            </a:pPr>
            <a:r>
              <a:rPr lang="en-US" sz="750" b="1" dirty="0">
                <a:solidFill>
                  <a:srgbClr val="B45309"/>
                </a:solidFill>
                <a:latin typeface="Arial" pitchFamily="34" charset="0"/>
                <a:ea typeface="Arial" pitchFamily="34" charset="-122"/>
                <a:cs typeface="Arial" pitchFamily="34" charset="-120"/>
              </a:rPr>
              <a:t>GAP 05</a:t>
            </a:r>
            <a:endParaRPr lang="en-US" sz="750" dirty="0"/>
          </a:p>
        </p:txBody>
      </p:sp>
      <p:sp>
        <p:nvSpPr>
          <p:cNvPr id="50" name="Text 48"/>
          <p:cNvSpPr/>
          <p:nvPr/>
        </p:nvSpPr>
        <p:spPr>
          <a:xfrm>
            <a:off x="1600200" y="4617720"/>
            <a:ext cx="3429000" cy="237744"/>
          </a:xfrm>
          <a:prstGeom prst="rect">
            <a:avLst/>
          </a:prstGeom>
          <a:noFill/>
          <a:ln/>
        </p:spPr>
        <p:txBody>
          <a:bodyPr wrap="square" rtlCol="0" anchor="ctr"/>
          <a:lstStyle/>
          <a:p>
            <a:pPr indent="0" marL="0">
              <a:buNone/>
            </a:pPr>
            <a:r>
              <a:rPr lang="en-US" sz="880" b="1" dirty="0">
                <a:solidFill>
                  <a:srgbClr val="0F172A"/>
                </a:solidFill>
                <a:latin typeface="Arial" pitchFamily="34" charset="0"/>
                <a:ea typeface="Arial" pitchFamily="34" charset="-122"/>
                <a:cs typeface="Arial" pitchFamily="34" charset="-120"/>
              </a:rPr>
              <a:t>Promosi &amp; Penyerapan Rendah</a:t>
            </a:r>
            <a:endParaRPr lang="en-US" sz="880" dirty="0"/>
          </a:p>
        </p:txBody>
      </p:sp>
      <p:sp>
        <p:nvSpPr>
          <p:cNvPr id="51" name="Text 49"/>
          <p:cNvSpPr/>
          <p:nvPr/>
        </p:nvSpPr>
        <p:spPr>
          <a:xfrm>
            <a:off x="841248" y="4892040"/>
            <a:ext cx="4187952" cy="347472"/>
          </a:xfrm>
          <a:prstGeom prst="rect">
            <a:avLst/>
          </a:prstGeom>
          <a:noFill/>
          <a:ln/>
        </p:spPr>
        <p:txBody>
          <a:bodyPr wrap="square" rtlCol="0" anchor="ctr"/>
          <a:lstStyle/>
          <a:p>
            <a:pPr indent="0" marL="0">
              <a:lnSpc>
                <a:spcPts val="1000"/>
              </a:lnSpc>
              <a:buNone/>
            </a:pPr>
            <a:r>
              <a:rPr lang="en-US" sz="760" dirty="0">
                <a:solidFill>
                  <a:srgbClr val="334155"/>
                </a:solidFill>
                <a:latin typeface="Arial" pitchFamily="34" charset="0"/>
                <a:ea typeface="Arial" pitchFamily="34" charset="-122"/>
                <a:cs typeface="Arial" pitchFamily="34" charset="-120"/>
              </a:rPr>
              <a:t>Akar Masalah: Networking kurang ter-maintenance; belum ada regulasi penyerapan inovasi lokal.</a:t>
            </a:r>
            <a:endParaRPr lang="en-US" sz="760" dirty="0"/>
          </a:p>
        </p:txBody>
      </p:sp>
      <p:sp>
        <p:nvSpPr>
          <p:cNvPr id="52" name="Shape 50"/>
          <p:cNvSpPr/>
          <p:nvPr/>
        </p:nvSpPr>
        <p:spPr>
          <a:xfrm>
            <a:off x="5193792" y="4773168"/>
            <a:ext cx="310896" cy="256032"/>
          </a:xfrm>
          <a:prstGeom prst="rightArrow">
            <a:avLst/>
          </a:prstGeom>
          <a:solidFill>
            <a:srgbClr val="D97706"/>
          </a:solidFill>
          <a:ln w="12700">
            <a:solidFill>
              <a:srgbClr val="D97706"/>
            </a:solidFill>
            <a:prstDash val="solid"/>
          </a:ln>
        </p:spPr>
      </p:sp>
      <p:sp>
        <p:nvSpPr>
          <p:cNvPr id="53" name="Shape 51"/>
          <p:cNvSpPr/>
          <p:nvPr/>
        </p:nvSpPr>
        <p:spPr>
          <a:xfrm>
            <a:off x="5577840" y="4544568"/>
            <a:ext cx="5882335" cy="731520"/>
          </a:xfrm>
          <a:prstGeom prst="roundRect">
            <a:avLst>
              <a:gd name="adj" fmla="val 5000"/>
            </a:avLst>
          </a:prstGeom>
          <a:solidFill>
            <a:srgbClr val="FEF3C7"/>
          </a:solidFill>
          <a:ln w="19050">
            <a:solidFill>
              <a:srgbClr val="D97706"/>
            </a:solidFill>
            <a:prstDash val="solid"/>
          </a:ln>
        </p:spPr>
      </p:sp>
      <p:sp>
        <p:nvSpPr>
          <p:cNvPr id="54" name="Text 52"/>
          <p:cNvSpPr/>
          <p:nvPr/>
        </p:nvSpPr>
        <p:spPr>
          <a:xfrm>
            <a:off x="5715000" y="4617720"/>
            <a:ext cx="5623560" cy="237744"/>
          </a:xfrm>
          <a:prstGeom prst="rect">
            <a:avLst/>
          </a:prstGeom>
          <a:noFill/>
          <a:ln/>
        </p:spPr>
        <p:txBody>
          <a:bodyPr wrap="square" rtlCol="0" anchor="ctr"/>
          <a:lstStyle/>
          <a:p>
            <a:pPr indent="0" marL="0">
              <a:buNone/>
            </a:pPr>
            <a:r>
              <a:rPr lang="en-US" sz="880" b="1" dirty="0">
                <a:solidFill>
                  <a:srgbClr val="D97706"/>
                </a:solidFill>
                <a:latin typeface="Arial" pitchFamily="34" charset="0"/>
                <a:ea typeface="Arial" pitchFamily="34" charset="-122"/>
                <a:cs typeface="Arial" pitchFamily="34" charset="-120"/>
              </a:rPr>
              <a:t>✔  Penerbitan Instruksi Walikota untuk e-Katalog Lokal Afirmatif</a:t>
            </a:r>
            <a:endParaRPr lang="en-US" sz="880" dirty="0"/>
          </a:p>
        </p:txBody>
      </p:sp>
      <p:sp>
        <p:nvSpPr>
          <p:cNvPr id="55" name="Text 53"/>
          <p:cNvSpPr/>
          <p:nvPr/>
        </p:nvSpPr>
        <p:spPr>
          <a:xfrm>
            <a:off x="5715000" y="4892040"/>
            <a:ext cx="5623560" cy="347472"/>
          </a:xfrm>
          <a:prstGeom prst="rect">
            <a:avLst/>
          </a:prstGeom>
          <a:noFill/>
          <a:ln/>
        </p:spPr>
        <p:txBody>
          <a:bodyPr wrap="square" rtlCol="0" anchor="ctr"/>
          <a:lstStyle/>
          <a:p>
            <a:pPr indent="0" marL="0">
              <a:lnSpc>
                <a:spcPts val="1000"/>
              </a:lnSpc>
              <a:buNone/>
            </a:pPr>
            <a:r>
              <a:rPr lang="en-US" sz="780" dirty="0">
                <a:solidFill>
                  <a:srgbClr val="0F172A"/>
                </a:solidFill>
                <a:latin typeface="Arial" pitchFamily="34" charset="0"/>
                <a:ea typeface="Arial" pitchFamily="34" charset="-122"/>
                <a:cs typeface="Arial" pitchFamily="34" charset="-120"/>
              </a:rPr>
              <a:t>Wajibkan OPD Pemkot menyerap produk/layanan tenant binaan STP (Target: Rp 2,25 Miliar).</a:t>
            </a:r>
            <a:endParaRPr lang="en-US" sz="780" dirty="0"/>
          </a:p>
        </p:txBody>
      </p:sp>
      <p:sp>
        <p:nvSpPr>
          <p:cNvPr id="56" name="Shape 54"/>
          <p:cNvSpPr/>
          <p:nvPr/>
        </p:nvSpPr>
        <p:spPr>
          <a:xfrm>
            <a:off x="731520" y="5440680"/>
            <a:ext cx="10728655" cy="822960"/>
          </a:xfrm>
          <a:prstGeom prst="roundRect">
            <a:avLst>
              <a:gd name="adj" fmla="val 8889"/>
            </a:avLst>
          </a:prstGeom>
          <a:solidFill>
            <a:srgbClr val="FFFBEB"/>
          </a:solidFill>
          <a:ln w="19050">
            <a:solidFill>
              <a:srgbClr val="D97706"/>
            </a:solidFill>
            <a:prstDash val="solid"/>
          </a:ln>
        </p:spPr>
      </p:sp>
      <p:sp>
        <p:nvSpPr>
          <p:cNvPr id="57" name="Text 55"/>
          <p:cNvSpPr/>
          <p:nvPr/>
        </p:nvSpPr>
        <p:spPr>
          <a:xfrm>
            <a:off x="914400" y="5522976"/>
            <a:ext cx="10362895" cy="256032"/>
          </a:xfrm>
          <a:prstGeom prst="rect">
            <a:avLst/>
          </a:prstGeom>
          <a:noFill/>
          <a:ln/>
        </p:spPr>
        <p:txBody>
          <a:bodyPr wrap="square" rtlCol="0" anchor="ctr"/>
          <a:lstStyle/>
          <a:p>
            <a:pPr indent="0" marL="0">
              <a:buNone/>
            </a:pPr>
            <a:r>
              <a:rPr lang="en-US" sz="1000" b="1" dirty="0">
                <a:solidFill>
                  <a:srgbClr val="B45309"/>
                </a:solidFill>
                <a:latin typeface="Arial" pitchFamily="34" charset="0"/>
                <a:ea typeface="Arial" pitchFamily="34" charset="-122"/>
                <a:cs typeface="Arial" pitchFamily="34" charset="-120"/>
              </a:rPr>
              <a:t>⭐ PRIORITAS UTAMA #5: INSTRUKSI WALIKOTA e-KATALOG LOKAL AFIRMATIF (QUICK WIN 30 HARI)</a:t>
            </a:r>
            <a:endParaRPr lang="en-US" sz="1000" dirty="0"/>
          </a:p>
        </p:txBody>
      </p:sp>
      <p:sp>
        <p:nvSpPr>
          <p:cNvPr id="58" name="Text 56"/>
          <p:cNvSpPr/>
          <p:nvPr/>
        </p:nvSpPr>
        <p:spPr>
          <a:xfrm>
            <a:off x="914400" y="5797296"/>
            <a:ext cx="10362895" cy="402336"/>
          </a:xfrm>
          <a:prstGeom prst="rect">
            <a:avLst/>
          </a:prstGeom>
          <a:noFill/>
          <a:ln/>
        </p:spPr>
        <p:txBody>
          <a:bodyPr wrap="square" rtlCol="0" anchor="ctr"/>
          <a:lstStyle/>
          <a:p>
            <a:pPr indent="0" marL="0">
              <a:lnSpc>
                <a:spcPts val="1200"/>
              </a:lnSpc>
              <a:buNone/>
            </a:pPr>
            <a:r>
              <a:rPr lang="en-US" sz="880" dirty="0">
                <a:solidFill>
                  <a:srgbClr val="78350F"/>
                </a:solidFill>
                <a:latin typeface="Arial" pitchFamily="34" charset="0"/>
                <a:ea typeface="Arial" pitchFamily="34" charset="-122"/>
                <a:cs typeface="Arial" pitchFamily="34" charset="-120"/>
              </a:rPr>
              <a:t>Target: Membuka captive market Rp 2,25 Miliar serapan belanja OPD Pemkot Surakarta di 2030 bagi 80+ produk tenant dan startup binaan STP tanpa perlu alokasi pagu belanja baru di APBD. Hanya butuh 1 lembar Instruksi Walikota.</a:t>
            </a:r>
            <a:endParaRPr lang="en-US" sz="8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84C7"/>
          </a:solidFill>
          <a:ln/>
        </p:spPr>
      </p:sp>
      <p:sp>
        <p:nvSpPr>
          <p:cNvPr id="3" name="Shape 1"/>
          <p:cNvSpPr/>
          <p:nvPr/>
        </p:nvSpPr>
        <p:spPr>
          <a:xfrm>
            <a:off x="9144000" y="0"/>
            <a:ext cx="3047695" cy="73152"/>
          </a:xfrm>
          <a:prstGeom prst="rect">
            <a:avLst/>
          </a:prstGeom>
          <a:solidFill>
            <a:srgbClr val="D97706"/>
          </a:solidFill>
          <a:ln/>
        </p:spPr>
      </p:sp>
      <p:sp>
        <p:nvSpPr>
          <p:cNvPr id="4" name="Shape 2"/>
          <p:cNvSpPr/>
          <p:nvPr/>
        </p:nvSpPr>
        <p:spPr>
          <a:xfrm>
            <a:off x="731520" y="256032"/>
            <a:ext cx="3291840" cy="237744"/>
          </a:xfrm>
          <a:prstGeom prst="roundRect">
            <a:avLst>
              <a:gd name="adj" fmla="val 19231"/>
            </a:avLst>
          </a:prstGeom>
          <a:solidFill>
            <a:srgbClr val="E0F2FE"/>
          </a:solidFill>
          <a:ln w="12700">
            <a:solidFill>
              <a:srgbClr val="0284C7"/>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0369A1"/>
                </a:solidFill>
                <a:latin typeface="Arial" pitchFamily="34" charset="0"/>
                <a:ea typeface="Arial" pitchFamily="34" charset="-122"/>
                <a:cs typeface="Arial" pitchFamily="34" charset="-120"/>
              </a:rPr>
              <a:t>PETA JALAN STRATEGIS KELEMBAGAAN</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0F172A"/>
                </a:solidFill>
                <a:latin typeface="Arial" pitchFamily="34" charset="0"/>
                <a:ea typeface="Arial" pitchFamily="34" charset="-122"/>
                <a:cs typeface="Arial" pitchFamily="34" charset="-120"/>
              </a:rPr>
              <a:t>ROADMAP 3 FASE TRANSFORMASI: DARI CENTRE MENUJU HOLDING INOVASI DAERAH</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334155"/>
                </a:solidFill>
                <a:latin typeface="Arial" pitchFamily="34" charset="0"/>
                <a:ea typeface="Arial" pitchFamily="34" charset="-122"/>
                <a:cs typeface="Arial" pitchFamily="34" charset="-120"/>
              </a:rPr>
              <a:t>Milestone Terukur dan Bertahap Menuju Kemandirian Finansial Penuh Tanpa Subsidi Belanja APBD 2030</a:t>
            </a:r>
            <a:endParaRPr lang="en-US" sz="1000" dirty="0"/>
          </a:p>
        </p:txBody>
      </p:sp>
      <p:sp>
        <p:nvSpPr>
          <p:cNvPr id="8" name="Shape 6"/>
          <p:cNvSpPr/>
          <p:nvPr/>
        </p:nvSpPr>
        <p:spPr>
          <a:xfrm>
            <a:off x="731520" y="6419088"/>
            <a:ext cx="10728655" cy="18288"/>
          </a:xfrm>
          <a:prstGeom prst="rect">
            <a:avLst/>
          </a:prstGeom>
          <a:solidFill>
            <a:srgbClr val="CBD5E1"/>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334155"/>
                </a:solidFill>
                <a:latin typeface="Arial" pitchFamily="34" charset="0"/>
                <a:ea typeface="Arial" pitchFamily="34" charset="-122"/>
                <a:cs typeface="Arial" pitchFamily="34" charset="-120"/>
              </a:rPr>
              <a:t>UPTD KST SOLO TECHNOPARK  |  BRIDA KOTA SURAKARTA  •  Bahan Paparan Resmi Walikota (Edisi V7 Light)</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0369A1"/>
                </a:solidFill>
                <a:latin typeface="Arial" pitchFamily="34" charset="0"/>
                <a:ea typeface="Arial" pitchFamily="34" charset="-122"/>
                <a:cs typeface="Arial" pitchFamily="34" charset="-120"/>
              </a:rPr>
              <a:t>Slide 08 / 12</a:t>
            </a:r>
            <a:endParaRPr lang="en-US" sz="900" dirty="0"/>
          </a:p>
        </p:txBody>
      </p:sp>
      <p:sp>
        <p:nvSpPr>
          <p:cNvPr id="11" name="Shape 9"/>
          <p:cNvSpPr/>
          <p:nvPr/>
        </p:nvSpPr>
        <p:spPr>
          <a:xfrm>
            <a:off x="731520" y="1325880"/>
            <a:ext cx="3337560" cy="3566160"/>
          </a:xfrm>
          <a:prstGeom prst="roundRect">
            <a:avLst>
              <a:gd name="adj" fmla="val 2192"/>
            </a:avLst>
          </a:prstGeom>
          <a:solidFill>
            <a:srgbClr val="FFFFFF"/>
          </a:solidFill>
          <a:ln w="12700">
            <a:solidFill>
              <a:srgbClr val="CBD5E1"/>
            </a:solidFill>
            <a:prstDash val="solid"/>
          </a:ln>
        </p:spPr>
      </p:sp>
      <p:sp>
        <p:nvSpPr>
          <p:cNvPr id="12" name="Shape 10"/>
          <p:cNvSpPr/>
          <p:nvPr/>
        </p:nvSpPr>
        <p:spPr>
          <a:xfrm>
            <a:off x="731520" y="1325880"/>
            <a:ext cx="73152" cy="3566160"/>
          </a:xfrm>
          <a:prstGeom prst="roundRect">
            <a:avLst>
              <a:gd name="adj" fmla="val 50000"/>
            </a:avLst>
          </a:prstGeom>
          <a:solidFill>
            <a:srgbClr val="0284C7"/>
          </a:solidFill>
          <a:ln w="12700">
            <a:solidFill>
              <a:srgbClr val="0284C7"/>
            </a:solidFill>
            <a:prstDash val="solid"/>
          </a:ln>
        </p:spPr>
      </p:sp>
      <p:sp>
        <p:nvSpPr>
          <p:cNvPr id="13" name="Shape 11"/>
          <p:cNvSpPr/>
          <p:nvPr/>
        </p:nvSpPr>
        <p:spPr>
          <a:xfrm>
            <a:off x="868680" y="1463040"/>
            <a:ext cx="3063240" cy="594360"/>
          </a:xfrm>
          <a:prstGeom prst="roundRect">
            <a:avLst>
              <a:gd name="adj" fmla="val 7692"/>
            </a:avLst>
          </a:prstGeom>
          <a:solidFill>
            <a:srgbClr val="F1F5F9"/>
          </a:solidFill>
          <a:ln w="12700">
            <a:solidFill>
              <a:srgbClr val="0284C7"/>
            </a:solidFill>
            <a:prstDash val="solid"/>
          </a:ln>
        </p:spPr>
      </p:sp>
      <p:sp>
        <p:nvSpPr>
          <p:cNvPr id="14" name="Text 12"/>
          <p:cNvSpPr/>
          <p:nvPr/>
        </p:nvSpPr>
        <p:spPr>
          <a:xfrm>
            <a:off x="914400" y="1508760"/>
            <a:ext cx="2971800" cy="228600"/>
          </a:xfrm>
          <a:prstGeom prst="rect">
            <a:avLst/>
          </a:prstGeom>
          <a:noFill/>
          <a:ln/>
        </p:spPr>
        <p:txBody>
          <a:bodyPr wrap="square" rtlCol="0" anchor="ctr"/>
          <a:lstStyle/>
          <a:p>
            <a:pPr algn="ctr" indent="0" marL="0">
              <a:buNone/>
            </a:pPr>
            <a:r>
              <a:rPr lang="en-US" sz="950" b="1" dirty="0">
                <a:solidFill>
                  <a:srgbClr val="0284C7"/>
                </a:solidFill>
                <a:latin typeface="Arial" pitchFamily="34" charset="0"/>
                <a:ea typeface="Arial" pitchFamily="34" charset="-122"/>
                <a:cs typeface="Arial" pitchFamily="34" charset="-120"/>
              </a:rPr>
              <a:t>FASE 1 (2026–2027)</a:t>
            </a:r>
            <a:endParaRPr lang="en-US" sz="950" dirty="0"/>
          </a:p>
        </p:txBody>
      </p:sp>
      <p:sp>
        <p:nvSpPr>
          <p:cNvPr id="15" name="Text 13"/>
          <p:cNvSpPr/>
          <p:nvPr/>
        </p:nvSpPr>
        <p:spPr>
          <a:xfrm>
            <a:off x="914400" y="1737360"/>
            <a:ext cx="2971800" cy="274320"/>
          </a:xfrm>
          <a:prstGeom prst="rect">
            <a:avLst/>
          </a:prstGeom>
          <a:noFill/>
          <a:ln/>
        </p:spPr>
        <p:txBody>
          <a:bodyPr wrap="square" rtlCol="0" anchor="ctr"/>
          <a:lstStyle/>
          <a:p>
            <a:pPr algn="ctr" indent="0" marL="0">
              <a:buNone/>
            </a:pPr>
            <a:r>
              <a:rPr lang="en-US" sz="850" b="1" dirty="0">
                <a:solidFill>
                  <a:srgbClr val="0F172A"/>
                </a:solidFill>
                <a:latin typeface="Arial" pitchFamily="34" charset="0"/>
                <a:ea typeface="Arial" pitchFamily="34" charset="-122"/>
                <a:cs typeface="Arial" pitchFamily="34" charset="-120"/>
              </a:rPr>
              <a:t>CENTRE OF INNOVATION &amp; CONNECTIVITY</a:t>
            </a:r>
            <a:endParaRPr lang="en-US" sz="850" dirty="0"/>
          </a:p>
        </p:txBody>
      </p:sp>
      <p:sp>
        <p:nvSpPr>
          <p:cNvPr id="16" name="Shape 14"/>
          <p:cNvSpPr/>
          <p:nvPr/>
        </p:nvSpPr>
        <p:spPr>
          <a:xfrm>
            <a:off x="914400" y="2148840"/>
            <a:ext cx="2971800" cy="365760"/>
          </a:xfrm>
          <a:prstGeom prst="roundRect">
            <a:avLst>
              <a:gd name="adj" fmla="val 10000"/>
            </a:avLst>
          </a:prstGeom>
          <a:solidFill>
            <a:srgbClr val="F8FAFC"/>
          </a:solidFill>
          <a:ln w="12700">
            <a:solidFill>
              <a:srgbClr val="CBD5E1"/>
            </a:solidFill>
            <a:prstDash val="solid"/>
          </a:ln>
        </p:spPr>
      </p:sp>
      <p:sp>
        <p:nvSpPr>
          <p:cNvPr id="17" name="Text 15"/>
          <p:cNvSpPr/>
          <p:nvPr/>
        </p:nvSpPr>
        <p:spPr>
          <a:xfrm>
            <a:off x="914400" y="2148840"/>
            <a:ext cx="2971800" cy="365760"/>
          </a:xfrm>
          <a:prstGeom prst="rect">
            <a:avLst/>
          </a:prstGeom>
          <a:noFill/>
          <a:ln/>
        </p:spPr>
        <p:txBody>
          <a:bodyPr wrap="square" rtlCol="0" anchor="ctr"/>
          <a:lstStyle/>
          <a:p>
            <a:pPr algn="ctr" indent="0" marL="0">
              <a:buNone/>
            </a:pPr>
            <a:r>
              <a:rPr lang="en-US" sz="950" b="1" dirty="0">
                <a:solidFill>
                  <a:srgbClr val="D97706"/>
                </a:solidFill>
                <a:latin typeface="Arial" pitchFamily="34" charset="0"/>
                <a:ea typeface="Arial" pitchFamily="34" charset="-122"/>
                <a:cs typeface="Arial" pitchFamily="34" charset="-120"/>
              </a:rPr>
              <a:t>Target: Rp 7,50 M ➔ Rp 12,53 M (+67%)</a:t>
            </a:r>
            <a:endParaRPr lang="en-US" sz="950" dirty="0"/>
          </a:p>
        </p:txBody>
      </p:sp>
      <p:sp>
        <p:nvSpPr>
          <p:cNvPr id="18" name="Text 16"/>
          <p:cNvSpPr/>
          <p:nvPr/>
        </p:nvSpPr>
        <p:spPr>
          <a:xfrm>
            <a:off x="914400" y="2606040"/>
            <a:ext cx="2971800" cy="2148840"/>
          </a:xfrm>
          <a:prstGeom prst="rect">
            <a:avLst/>
          </a:prstGeom>
          <a:noFill/>
          <a:ln/>
        </p:spPr>
        <p:txBody>
          <a:bodyPr wrap="square" rtlCol="0" anchor="ctr"/>
          <a:lstStyle/>
          <a:p>
            <a:pPr indent="0" marL="0">
              <a:lnSpc>
                <a:spcPts val="1200"/>
              </a:lnSpc>
              <a:buNone/>
            </a:pPr>
            <a:r>
              <a:rPr lang="en-US" sz="900" dirty="0">
                <a:solidFill>
                  <a:srgbClr val="334155"/>
                </a:solidFill>
                <a:latin typeface="Arial" pitchFamily="34" charset="0"/>
                <a:ea typeface="Arial" pitchFamily="34" charset="-122"/>
                <a:cs typeface="Arial" pitchFamily="34" charset="-120"/>
              </a:rPr>
              <a:t>•  Pondasi tata kelola kelembagaan BLUD akuntabel</a:t>
            </a:r>
            <a:endParaRPr lang="en-US" sz="900" dirty="0"/>
          </a:p>
          <a:p>
            <a:pPr indent="0" marL="0">
              <a:lnSpc>
                <a:spcPts val="1200"/>
              </a:lnSpc>
              <a:buNone/>
            </a:pPr>
            <a:endParaRPr lang="en-US" sz="900" dirty="0"/>
          </a:p>
          <a:p>
            <a:pPr indent="0" marL="0">
              <a:lnSpc>
                <a:spcPts val="1200"/>
              </a:lnSpc>
              <a:buNone/>
            </a:pPr>
            <a:r>
              <a:rPr lang="en-US" sz="900" dirty="0">
                <a:solidFill>
                  <a:srgbClr val="334155"/>
                </a:solidFill>
                <a:latin typeface="Arial" pitchFamily="34" charset="0"/>
                <a:ea typeface="Arial" pitchFamily="34" charset="-122"/>
                <a:cs typeface="Arial" pitchFamily="34" charset="-120"/>
              </a:rPr>
              <a:t>•  Akreditasi laboratorium industri &amp; standarisasi uji</a:t>
            </a:r>
            <a:endParaRPr lang="en-US" sz="900" dirty="0"/>
          </a:p>
          <a:p>
            <a:pPr indent="0" marL="0">
              <a:lnSpc>
                <a:spcPts val="1200"/>
              </a:lnSpc>
              <a:buNone/>
            </a:pPr>
            <a:endParaRPr lang="en-US" sz="900" dirty="0"/>
          </a:p>
          <a:p>
            <a:pPr indent="0" marL="0">
              <a:lnSpc>
                <a:spcPts val="1200"/>
              </a:lnSpc>
              <a:buNone/>
            </a:pPr>
            <a:r>
              <a:rPr lang="en-US" sz="900" dirty="0">
                <a:solidFill>
                  <a:srgbClr val="334155"/>
                </a:solidFill>
                <a:latin typeface="Arial" pitchFamily="34" charset="0"/>
                <a:ea typeface="Arial" pitchFamily="34" charset="-122"/>
                <a:cs typeface="Arial" pitchFamily="34" charset="-120"/>
              </a:rPr>
              <a:t>•  Sertifikasi mutu diklat vokasi &amp; kemitraan OGSCI</a:t>
            </a:r>
            <a:endParaRPr lang="en-US" sz="900" dirty="0"/>
          </a:p>
          <a:p>
            <a:pPr indent="0" marL="0">
              <a:lnSpc>
                <a:spcPts val="1200"/>
              </a:lnSpc>
              <a:buNone/>
            </a:pPr>
            <a:endParaRPr lang="en-US" sz="900" dirty="0"/>
          </a:p>
          <a:p>
            <a:pPr indent="0" marL="0">
              <a:lnSpc>
                <a:spcPts val="1200"/>
              </a:lnSpc>
              <a:buNone/>
            </a:pPr>
            <a:r>
              <a:rPr lang="en-US" sz="900" dirty="0">
                <a:solidFill>
                  <a:srgbClr val="334155"/>
                </a:solidFill>
                <a:latin typeface="Arial" pitchFamily="34" charset="0"/>
                <a:ea typeface="Arial" pitchFamily="34" charset="-122"/>
                <a:cs typeface="Arial" pitchFamily="34" charset="-120"/>
              </a:rPr>
              <a:t>•  Pembentukan Konsorsium Riset 5 Kampus Solo Raya</a:t>
            </a:r>
            <a:endParaRPr lang="en-US" sz="900" dirty="0"/>
          </a:p>
          <a:p>
            <a:pPr indent="0" marL="0">
              <a:lnSpc>
                <a:spcPts val="1200"/>
              </a:lnSpc>
              <a:buNone/>
            </a:pPr>
            <a:endParaRPr lang="en-US" sz="900" dirty="0"/>
          </a:p>
          <a:p>
            <a:pPr indent="0" marL="0">
              <a:lnSpc>
                <a:spcPts val="1200"/>
              </a:lnSpc>
              <a:buNone/>
            </a:pPr>
            <a:r>
              <a:rPr lang="en-US" sz="900" dirty="0">
                <a:solidFill>
                  <a:srgbClr val="334155"/>
                </a:solidFill>
                <a:latin typeface="Arial" pitchFamily="34" charset="0"/>
                <a:ea typeface="Arial" pitchFamily="34" charset="-122"/>
                <a:cs typeface="Arial" pitchFamily="34" charset="-120"/>
              </a:rPr>
              <a:t>•  Aktivasi TUK Mandiri &amp; program SMK GoGlobal</a:t>
            </a:r>
            <a:endParaRPr lang="en-US" sz="900" dirty="0"/>
          </a:p>
        </p:txBody>
      </p:sp>
      <p:sp>
        <p:nvSpPr>
          <p:cNvPr id="19" name="Shape 17"/>
          <p:cNvSpPr/>
          <p:nvPr/>
        </p:nvSpPr>
        <p:spPr>
          <a:xfrm>
            <a:off x="4142232" y="1609344"/>
            <a:ext cx="210312" cy="292608"/>
          </a:xfrm>
          <a:prstGeom prst="rightArrow">
            <a:avLst/>
          </a:prstGeom>
          <a:solidFill>
            <a:srgbClr val="D97706"/>
          </a:solidFill>
          <a:ln w="12700">
            <a:solidFill>
              <a:srgbClr val="D97706"/>
            </a:solidFill>
            <a:prstDash val="solid"/>
          </a:ln>
        </p:spPr>
      </p:sp>
      <p:sp>
        <p:nvSpPr>
          <p:cNvPr id="20" name="Shape 18"/>
          <p:cNvSpPr/>
          <p:nvPr/>
        </p:nvSpPr>
        <p:spPr>
          <a:xfrm>
            <a:off x="4425696" y="1325880"/>
            <a:ext cx="3337560" cy="3566160"/>
          </a:xfrm>
          <a:prstGeom prst="roundRect">
            <a:avLst>
              <a:gd name="adj" fmla="val 2192"/>
            </a:avLst>
          </a:prstGeom>
          <a:solidFill>
            <a:srgbClr val="FFFFFF"/>
          </a:solidFill>
          <a:ln w="12700">
            <a:solidFill>
              <a:srgbClr val="CBD5E1"/>
            </a:solidFill>
            <a:prstDash val="solid"/>
          </a:ln>
        </p:spPr>
      </p:sp>
      <p:sp>
        <p:nvSpPr>
          <p:cNvPr id="21" name="Shape 19"/>
          <p:cNvSpPr/>
          <p:nvPr/>
        </p:nvSpPr>
        <p:spPr>
          <a:xfrm>
            <a:off x="4425696" y="1325880"/>
            <a:ext cx="73152" cy="3566160"/>
          </a:xfrm>
          <a:prstGeom prst="roundRect">
            <a:avLst>
              <a:gd name="adj" fmla="val 50000"/>
            </a:avLst>
          </a:prstGeom>
          <a:solidFill>
            <a:srgbClr val="D97706"/>
          </a:solidFill>
          <a:ln w="12700">
            <a:solidFill>
              <a:srgbClr val="D97706"/>
            </a:solidFill>
            <a:prstDash val="solid"/>
          </a:ln>
        </p:spPr>
      </p:sp>
      <p:sp>
        <p:nvSpPr>
          <p:cNvPr id="22" name="Shape 20"/>
          <p:cNvSpPr/>
          <p:nvPr/>
        </p:nvSpPr>
        <p:spPr>
          <a:xfrm>
            <a:off x="4562856" y="1463040"/>
            <a:ext cx="3063240" cy="594360"/>
          </a:xfrm>
          <a:prstGeom prst="roundRect">
            <a:avLst>
              <a:gd name="adj" fmla="val 7692"/>
            </a:avLst>
          </a:prstGeom>
          <a:solidFill>
            <a:srgbClr val="F1F5F9"/>
          </a:solidFill>
          <a:ln w="12700">
            <a:solidFill>
              <a:srgbClr val="D97706"/>
            </a:solidFill>
            <a:prstDash val="solid"/>
          </a:ln>
        </p:spPr>
      </p:sp>
      <p:sp>
        <p:nvSpPr>
          <p:cNvPr id="23" name="Text 21"/>
          <p:cNvSpPr/>
          <p:nvPr/>
        </p:nvSpPr>
        <p:spPr>
          <a:xfrm>
            <a:off x="4608576" y="1508760"/>
            <a:ext cx="2971800" cy="228600"/>
          </a:xfrm>
          <a:prstGeom prst="rect">
            <a:avLst/>
          </a:prstGeom>
          <a:noFill/>
          <a:ln/>
        </p:spPr>
        <p:txBody>
          <a:bodyPr wrap="square" rtlCol="0" anchor="ctr"/>
          <a:lstStyle/>
          <a:p>
            <a:pPr algn="ctr" indent="0" marL="0">
              <a:buNone/>
            </a:pPr>
            <a:r>
              <a:rPr lang="en-US" sz="950" b="1" dirty="0">
                <a:solidFill>
                  <a:srgbClr val="D97706"/>
                </a:solidFill>
                <a:latin typeface="Arial" pitchFamily="34" charset="0"/>
                <a:ea typeface="Arial" pitchFamily="34" charset="-122"/>
                <a:cs typeface="Arial" pitchFamily="34" charset="-120"/>
              </a:rPr>
              <a:t>FASE 2 (2028–2029)</a:t>
            </a:r>
            <a:endParaRPr lang="en-US" sz="950" dirty="0"/>
          </a:p>
        </p:txBody>
      </p:sp>
      <p:sp>
        <p:nvSpPr>
          <p:cNvPr id="24" name="Text 22"/>
          <p:cNvSpPr/>
          <p:nvPr/>
        </p:nvSpPr>
        <p:spPr>
          <a:xfrm>
            <a:off x="4608576" y="1737360"/>
            <a:ext cx="2971800" cy="274320"/>
          </a:xfrm>
          <a:prstGeom prst="rect">
            <a:avLst/>
          </a:prstGeom>
          <a:noFill/>
          <a:ln/>
        </p:spPr>
        <p:txBody>
          <a:bodyPr wrap="square" rtlCol="0" anchor="ctr"/>
          <a:lstStyle/>
          <a:p>
            <a:pPr algn="ctr" indent="0" marL="0">
              <a:buNone/>
            </a:pPr>
            <a:r>
              <a:rPr lang="en-US" sz="850" b="1" dirty="0">
                <a:solidFill>
                  <a:srgbClr val="0F172A"/>
                </a:solidFill>
                <a:latin typeface="Arial" pitchFamily="34" charset="0"/>
                <a:ea typeface="Arial" pitchFamily="34" charset="-122"/>
                <a:cs typeface="Arial" pitchFamily="34" charset="-120"/>
              </a:rPr>
              <a:t>ENTREPRENEUR TECHNOPARK (SBU MANDIRI)</a:t>
            </a:r>
            <a:endParaRPr lang="en-US" sz="850" dirty="0"/>
          </a:p>
        </p:txBody>
      </p:sp>
      <p:sp>
        <p:nvSpPr>
          <p:cNvPr id="25" name="Shape 23"/>
          <p:cNvSpPr/>
          <p:nvPr/>
        </p:nvSpPr>
        <p:spPr>
          <a:xfrm>
            <a:off x="4608576" y="2148840"/>
            <a:ext cx="2971800" cy="365760"/>
          </a:xfrm>
          <a:prstGeom prst="roundRect">
            <a:avLst>
              <a:gd name="adj" fmla="val 10000"/>
            </a:avLst>
          </a:prstGeom>
          <a:solidFill>
            <a:srgbClr val="F8FAFC"/>
          </a:solidFill>
          <a:ln w="12700">
            <a:solidFill>
              <a:srgbClr val="CBD5E1"/>
            </a:solidFill>
            <a:prstDash val="solid"/>
          </a:ln>
        </p:spPr>
      </p:sp>
      <p:sp>
        <p:nvSpPr>
          <p:cNvPr id="26" name="Text 24"/>
          <p:cNvSpPr/>
          <p:nvPr/>
        </p:nvSpPr>
        <p:spPr>
          <a:xfrm>
            <a:off x="4608576" y="2148840"/>
            <a:ext cx="2971800" cy="365760"/>
          </a:xfrm>
          <a:prstGeom prst="rect">
            <a:avLst/>
          </a:prstGeom>
          <a:noFill/>
          <a:ln/>
        </p:spPr>
        <p:txBody>
          <a:bodyPr wrap="square" rtlCol="0" anchor="ctr"/>
          <a:lstStyle/>
          <a:p>
            <a:pPr algn="ctr" indent="0" marL="0">
              <a:buNone/>
            </a:pPr>
            <a:r>
              <a:rPr lang="en-US" sz="950" b="1" dirty="0">
                <a:solidFill>
                  <a:srgbClr val="D97706"/>
                </a:solidFill>
                <a:latin typeface="Arial" pitchFamily="34" charset="0"/>
                <a:ea typeface="Arial" pitchFamily="34" charset="-122"/>
                <a:cs typeface="Arial" pitchFamily="34" charset="-120"/>
              </a:rPr>
              <a:t>Target: Rp 12,53 M ➔ Rp 20,62 M (+65%)</a:t>
            </a:r>
            <a:endParaRPr lang="en-US" sz="950" dirty="0"/>
          </a:p>
        </p:txBody>
      </p:sp>
      <p:sp>
        <p:nvSpPr>
          <p:cNvPr id="27" name="Text 25"/>
          <p:cNvSpPr/>
          <p:nvPr/>
        </p:nvSpPr>
        <p:spPr>
          <a:xfrm>
            <a:off x="4608576" y="2606040"/>
            <a:ext cx="2971800" cy="2148840"/>
          </a:xfrm>
          <a:prstGeom prst="rect">
            <a:avLst/>
          </a:prstGeom>
          <a:noFill/>
          <a:ln/>
        </p:spPr>
        <p:txBody>
          <a:bodyPr wrap="square" rtlCol="0" anchor="ctr"/>
          <a:lstStyle/>
          <a:p>
            <a:pPr indent="0" marL="0">
              <a:lnSpc>
                <a:spcPts val="1200"/>
              </a:lnSpc>
              <a:buNone/>
            </a:pPr>
            <a:r>
              <a:rPr lang="en-US" sz="900" dirty="0">
                <a:solidFill>
                  <a:srgbClr val="334155"/>
                </a:solidFill>
                <a:latin typeface="Arial" pitchFamily="34" charset="0"/>
                <a:ea typeface="Arial" pitchFamily="34" charset="-122"/>
                <a:cs typeface="Arial" pitchFamily="34" charset="-120"/>
              </a:rPr>
              <a:t>•  Pembentukan Strategic Business Unit (SBU) profesional</a:t>
            </a:r>
            <a:endParaRPr lang="en-US" sz="900" dirty="0"/>
          </a:p>
          <a:p>
            <a:pPr indent="0" marL="0">
              <a:lnSpc>
                <a:spcPts val="1200"/>
              </a:lnSpc>
              <a:buNone/>
            </a:pPr>
            <a:endParaRPr lang="en-US" sz="900" dirty="0"/>
          </a:p>
          <a:p>
            <a:pPr indent="0" marL="0">
              <a:lnSpc>
                <a:spcPts val="1200"/>
              </a:lnSpc>
              <a:buNone/>
            </a:pPr>
            <a:r>
              <a:rPr lang="en-US" sz="900" dirty="0">
                <a:solidFill>
                  <a:srgbClr val="334155"/>
                </a:solidFill>
                <a:latin typeface="Arial" pitchFamily="34" charset="0"/>
                <a:ea typeface="Arial" pitchFamily="34" charset="-122"/>
                <a:cs typeface="Arial" pitchFamily="34" charset="-120"/>
              </a:rPr>
              <a:t>•  Hilirisasi 15–20 produk inovasi komersial ber-TKDN</a:t>
            </a:r>
            <a:endParaRPr lang="en-US" sz="900" dirty="0"/>
          </a:p>
          <a:p>
            <a:pPr indent="0" marL="0">
              <a:lnSpc>
                <a:spcPts val="1200"/>
              </a:lnSpc>
              <a:buNone/>
            </a:pPr>
            <a:endParaRPr lang="en-US" sz="900" dirty="0"/>
          </a:p>
          <a:p>
            <a:pPr indent="0" marL="0">
              <a:lnSpc>
                <a:spcPts val="1200"/>
              </a:lnSpc>
              <a:buNone/>
            </a:pPr>
            <a:r>
              <a:rPr lang="en-US" sz="900" dirty="0">
                <a:solidFill>
                  <a:srgbClr val="334155"/>
                </a:solidFill>
                <a:latin typeface="Arial" pitchFamily="34" charset="0"/>
                <a:ea typeface="Arial" pitchFamily="34" charset="-122"/>
                <a:cs typeface="Arial" pitchFamily="34" charset="-120"/>
              </a:rPr>
              <a:t>•  Strategi corporate marketing &amp; penetrasi pasar nasional</a:t>
            </a:r>
            <a:endParaRPr lang="en-US" sz="900" dirty="0"/>
          </a:p>
          <a:p>
            <a:pPr indent="0" marL="0">
              <a:lnSpc>
                <a:spcPts val="1200"/>
              </a:lnSpc>
              <a:buNone/>
            </a:pPr>
            <a:endParaRPr lang="en-US" sz="900" dirty="0"/>
          </a:p>
          <a:p>
            <a:pPr indent="0" marL="0">
              <a:lnSpc>
                <a:spcPts val="1200"/>
              </a:lnSpc>
              <a:buNone/>
            </a:pPr>
            <a:r>
              <a:rPr lang="en-US" sz="900" dirty="0">
                <a:solidFill>
                  <a:srgbClr val="334155"/>
                </a:solidFill>
                <a:latin typeface="Arial" pitchFamily="34" charset="0"/>
                <a:ea typeface="Arial" pitchFamily="34" charset="-122"/>
                <a:cs typeface="Arial" pitchFamily="34" charset="-120"/>
              </a:rPr>
              <a:t>•  Ekspansi revenue OGSCI Migas mencapai Rp 5,5 Miliar</a:t>
            </a:r>
            <a:endParaRPr lang="en-US" sz="900" dirty="0"/>
          </a:p>
          <a:p>
            <a:pPr indent="0" marL="0">
              <a:lnSpc>
                <a:spcPts val="1200"/>
              </a:lnSpc>
              <a:buNone/>
            </a:pPr>
            <a:endParaRPr lang="en-US" sz="900" dirty="0"/>
          </a:p>
          <a:p>
            <a:pPr indent="0" marL="0">
              <a:lnSpc>
                <a:spcPts val="1200"/>
              </a:lnSpc>
              <a:buNone/>
            </a:pPr>
            <a:r>
              <a:rPr lang="en-US" sz="900" dirty="0">
                <a:solidFill>
                  <a:srgbClr val="334155"/>
                </a:solidFill>
                <a:latin typeface="Arial" pitchFamily="34" charset="0"/>
                <a:ea typeface="Arial" pitchFamily="34" charset="-122"/>
                <a:cs typeface="Arial" pitchFamily="34" charset="-120"/>
              </a:rPr>
              <a:t>•  Operasionalisasi Co-Working &amp; Virtual Office penuh</a:t>
            </a:r>
            <a:endParaRPr lang="en-US" sz="900" dirty="0"/>
          </a:p>
        </p:txBody>
      </p:sp>
      <p:sp>
        <p:nvSpPr>
          <p:cNvPr id="28" name="Shape 26"/>
          <p:cNvSpPr/>
          <p:nvPr/>
        </p:nvSpPr>
        <p:spPr>
          <a:xfrm>
            <a:off x="7836408" y="1609344"/>
            <a:ext cx="210312" cy="292608"/>
          </a:xfrm>
          <a:prstGeom prst="rightArrow">
            <a:avLst/>
          </a:prstGeom>
          <a:solidFill>
            <a:srgbClr val="D97706"/>
          </a:solidFill>
          <a:ln w="12700">
            <a:solidFill>
              <a:srgbClr val="D97706"/>
            </a:solidFill>
            <a:prstDash val="solid"/>
          </a:ln>
        </p:spPr>
      </p:sp>
      <p:sp>
        <p:nvSpPr>
          <p:cNvPr id="29" name="Shape 27"/>
          <p:cNvSpPr/>
          <p:nvPr/>
        </p:nvSpPr>
        <p:spPr>
          <a:xfrm>
            <a:off x="8119872" y="1325880"/>
            <a:ext cx="3337560" cy="3566160"/>
          </a:xfrm>
          <a:prstGeom prst="roundRect">
            <a:avLst>
              <a:gd name="adj" fmla="val 2192"/>
            </a:avLst>
          </a:prstGeom>
          <a:solidFill>
            <a:srgbClr val="FFFFFF"/>
          </a:solidFill>
          <a:ln w="12700">
            <a:solidFill>
              <a:srgbClr val="CBD5E1"/>
            </a:solidFill>
            <a:prstDash val="solid"/>
          </a:ln>
        </p:spPr>
      </p:sp>
      <p:sp>
        <p:nvSpPr>
          <p:cNvPr id="30" name="Shape 28"/>
          <p:cNvSpPr/>
          <p:nvPr/>
        </p:nvSpPr>
        <p:spPr>
          <a:xfrm>
            <a:off x="8119872" y="1325880"/>
            <a:ext cx="73152" cy="3566160"/>
          </a:xfrm>
          <a:prstGeom prst="roundRect">
            <a:avLst>
              <a:gd name="adj" fmla="val 50000"/>
            </a:avLst>
          </a:prstGeom>
          <a:solidFill>
            <a:srgbClr val="059669"/>
          </a:solidFill>
          <a:ln w="12700">
            <a:solidFill>
              <a:srgbClr val="059669"/>
            </a:solidFill>
            <a:prstDash val="solid"/>
          </a:ln>
        </p:spPr>
      </p:sp>
      <p:sp>
        <p:nvSpPr>
          <p:cNvPr id="31" name="Shape 29"/>
          <p:cNvSpPr/>
          <p:nvPr/>
        </p:nvSpPr>
        <p:spPr>
          <a:xfrm>
            <a:off x="8257032" y="1463040"/>
            <a:ext cx="3063240" cy="594360"/>
          </a:xfrm>
          <a:prstGeom prst="roundRect">
            <a:avLst>
              <a:gd name="adj" fmla="val 7692"/>
            </a:avLst>
          </a:prstGeom>
          <a:solidFill>
            <a:srgbClr val="F1F5F9"/>
          </a:solidFill>
          <a:ln w="12700">
            <a:solidFill>
              <a:srgbClr val="059669"/>
            </a:solidFill>
            <a:prstDash val="solid"/>
          </a:ln>
        </p:spPr>
      </p:sp>
      <p:sp>
        <p:nvSpPr>
          <p:cNvPr id="32" name="Text 30"/>
          <p:cNvSpPr/>
          <p:nvPr/>
        </p:nvSpPr>
        <p:spPr>
          <a:xfrm>
            <a:off x="8302752" y="1508760"/>
            <a:ext cx="2971800" cy="228600"/>
          </a:xfrm>
          <a:prstGeom prst="rect">
            <a:avLst/>
          </a:prstGeom>
          <a:noFill/>
          <a:ln/>
        </p:spPr>
        <p:txBody>
          <a:bodyPr wrap="square" rtlCol="0" anchor="ctr"/>
          <a:lstStyle/>
          <a:p>
            <a:pPr algn="ctr" indent="0" marL="0">
              <a:buNone/>
            </a:pPr>
            <a:r>
              <a:rPr lang="en-US" sz="950" b="1" dirty="0">
                <a:solidFill>
                  <a:srgbClr val="059669"/>
                </a:solidFill>
                <a:latin typeface="Arial" pitchFamily="34" charset="0"/>
                <a:ea typeface="Arial" pitchFamily="34" charset="-122"/>
                <a:cs typeface="Arial" pitchFamily="34" charset="-120"/>
              </a:rPr>
              <a:t>FASE 3 (2029–2030)</a:t>
            </a:r>
            <a:endParaRPr lang="en-US" sz="950" dirty="0"/>
          </a:p>
        </p:txBody>
      </p:sp>
      <p:sp>
        <p:nvSpPr>
          <p:cNvPr id="33" name="Text 31"/>
          <p:cNvSpPr/>
          <p:nvPr/>
        </p:nvSpPr>
        <p:spPr>
          <a:xfrm>
            <a:off x="8302752" y="1737360"/>
            <a:ext cx="2971800" cy="274320"/>
          </a:xfrm>
          <a:prstGeom prst="rect">
            <a:avLst/>
          </a:prstGeom>
          <a:noFill/>
          <a:ln/>
        </p:spPr>
        <p:txBody>
          <a:bodyPr wrap="square" rtlCol="0" anchor="ctr"/>
          <a:lstStyle/>
          <a:p>
            <a:pPr algn="ctr" indent="0" marL="0">
              <a:buNone/>
            </a:pPr>
            <a:r>
              <a:rPr lang="en-US" sz="850" b="1" dirty="0">
                <a:solidFill>
                  <a:srgbClr val="0F172A"/>
                </a:solidFill>
                <a:latin typeface="Arial" pitchFamily="34" charset="0"/>
                <a:ea typeface="Arial" pitchFamily="34" charset="-122"/>
                <a:cs typeface="Arial" pitchFamily="34" charset="-120"/>
              </a:rPr>
              <a:t>GLOBAL MARKET POSITIONING &amp; HOLDING</a:t>
            </a:r>
            <a:endParaRPr lang="en-US" sz="850" dirty="0"/>
          </a:p>
        </p:txBody>
      </p:sp>
      <p:sp>
        <p:nvSpPr>
          <p:cNvPr id="34" name="Shape 32"/>
          <p:cNvSpPr/>
          <p:nvPr/>
        </p:nvSpPr>
        <p:spPr>
          <a:xfrm>
            <a:off x="8302752" y="2148840"/>
            <a:ext cx="2971800" cy="365760"/>
          </a:xfrm>
          <a:prstGeom prst="roundRect">
            <a:avLst>
              <a:gd name="adj" fmla="val 10000"/>
            </a:avLst>
          </a:prstGeom>
          <a:solidFill>
            <a:srgbClr val="F8FAFC"/>
          </a:solidFill>
          <a:ln w="12700">
            <a:solidFill>
              <a:srgbClr val="CBD5E1"/>
            </a:solidFill>
            <a:prstDash val="solid"/>
          </a:ln>
        </p:spPr>
      </p:sp>
      <p:sp>
        <p:nvSpPr>
          <p:cNvPr id="35" name="Text 33"/>
          <p:cNvSpPr/>
          <p:nvPr/>
        </p:nvSpPr>
        <p:spPr>
          <a:xfrm>
            <a:off x="8302752" y="2148840"/>
            <a:ext cx="2971800" cy="365760"/>
          </a:xfrm>
          <a:prstGeom prst="rect">
            <a:avLst/>
          </a:prstGeom>
          <a:noFill/>
          <a:ln/>
        </p:spPr>
        <p:txBody>
          <a:bodyPr wrap="square" rtlCol="0" anchor="ctr"/>
          <a:lstStyle/>
          <a:p>
            <a:pPr algn="ctr" indent="0" marL="0">
              <a:buNone/>
            </a:pPr>
            <a:r>
              <a:rPr lang="en-US" sz="950" b="1" dirty="0">
                <a:solidFill>
                  <a:srgbClr val="D97706"/>
                </a:solidFill>
                <a:latin typeface="Arial" pitchFamily="34" charset="0"/>
                <a:ea typeface="Arial" pitchFamily="34" charset="-122"/>
                <a:cs typeface="Arial" pitchFamily="34" charset="-120"/>
              </a:rPr>
              <a:t>Target: Rp 20,62 M ➔ Rp 23,47 M (MANDIRI)</a:t>
            </a:r>
            <a:endParaRPr lang="en-US" sz="950" dirty="0"/>
          </a:p>
        </p:txBody>
      </p:sp>
      <p:sp>
        <p:nvSpPr>
          <p:cNvPr id="36" name="Text 34"/>
          <p:cNvSpPr/>
          <p:nvPr/>
        </p:nvSpPr>
        <p:spPr>
          <a:xfrm>
            <a:off x="8302752" y="2606040"/>
            <a:ext cx="2971800" cy="2148840"/>
          </a:xfrm>
          <a:prstGeom prst="rect">
            <a:avLst/>
          </a:prstGeom>
          <a:noFill/>
          <a:ln/>
        </p:spPr>
        <p:txBody>
          <a:bodyPr wrap="square" rtlCol="0" anchor="ctr"/>
          <a:lstStyle/>
          <a:p>
            <a:pPr indent="0" marL="0">
              <a:lnSpc>
                <a:spcPts val="1200"/>
              </a:lnSpc>
              <a:buNone/>
            </a:pPr>
            <a:r>
              <a:rPr lang="en-US" sz="900" dirty="0">
                <a:solidFill>
                  <a:srgbClr val="334155"/>
                </a:solidFill>
                <a:latin typeface="Arial" pitchFamily="34" charset="0"/>
                <a:ea typeface="Arial" pitchFamily="34" charset="-122"/>
                <a:cs typeface="Arial" pitchFamily="34" charset="-120"/>
              </a:rPr>
              <a:t>•  Kemandirian finansial penuh: 0% subsidi belanja APBD</a:t>
            </a:r>
            <a:endParaRPr lang="en-US" sz="900" dirty="0"/>
          </a:p>
          <a:p>
            <a:pPr indent="0" marL="0">
              <a:lnSpc>
                <a:spcPts val="1200"/>
              </a:lnSpc>
              <a:buNone/>
            </a:pPr>
            <a:endParaRPr lang="en-US" sz="900" dirty="0"/>
          </a:p>
          <a:p>
            <a:pPr indent="0" marL="0">
              <a:lnSpc>
                <a:spcPts val="1200"/>
              </a:lnSpc>
              <a:buNone/>
            </a:pPr>
            <a:r>
              <a:rPr lang="en-US" sz="900" dirty="0">
                <a:solidFill>
                  <a:srgbClr val="334155"/>
                </a:solidFill>
                <a:latin typeface="Arial" pitchFamily="34" charset="0"/>
                <a:ea typeface="Arial" pitchFamily="34" charset="-122"/>
                <a:cs typeface="Arial" pitchFamily="34" charset="-120"/>
              </a:rPr>
              <a:t>•  Operasional holding company inovasi daerah pertama</a:t>
            </a:r>
            <a:endParaRPr lang="en-US" sz="900" dirty="0"/>
          </a:p>
          <a:p>
            <a:pPr indent="0" marL="0">
              <a:lnSpc>
                <a:spcPts val="1200"/>
              </a:lnSpc>
              <a:buNone/>
            </a:pPr>
            <a:endParaRPr lang="en-US" sz="900" dirty="0"/>
          </a:p>
          <a:p>
            <a:pPr indent="0" marL="0">
              <a:lnSpc>
                <a:spcPts val="1200"/>
              </a:lnSpc>
              <a:buNone/>
            </a:pPr>
            <a:r>
              <a:rPr lang="en-US" sz="900" dirty="0">
                <a:solidFill>
                  <a:srgbClr val="334155"/>
                </a:solidFill>
                <a:latin typeface="Arial" pitchFamily="34" charset="0"/>
                <a:ea typeface="Arial" pitchFamily="34" charset="-122"/>
                <a:cs typeface="Arial" pitchFamily="34" charset="-120"/>
              </a:rPr>
              <a:t>•  Pusat pengembangan Indonesia Digital Technopark</a:t>
            </a:r>
            <a:endParaRPr lang="en-US" sz="900" dirty="0"/>
          </a:p>
          <a:p>
            <a:pPr indent="0" marL="0">
              <a:lnSpc>
                <a:spcPts val="1200"/>
              </a:lnSpc>
              <a:buNone/>
            </a:pPr>
            <a:endParaRPr lang="en-US" sz="900" dirty="0"/>
          </a:p>
          <a:p>
            <a:pPr indent="0" marL="0">
              <a:lnSpc>
                <a:spcPts val="1200"/>
              </a:lnSpc>
              <a:buNone/>
            </a:pPr>
            <a:r>
              <a:rPr lang="en-US" sz="900" dirty="0">
                <a:solidFill>
                  <a:srgbClr val="334155"/>
                </a:solidFill>
                <a:latin typeface="Arial" pitchFamily="34" charset="0"/>
                <a:ea typeface="Arial" pitchFamily="34" charset="-122"/>
                <a:cs typeface="Arial" pitchFamily="34" charset="-120"/>
              </a:rPr>
              <a:t>•  Realisasi target pendapatan mandiri Rp 23,47 Miliar</a:t>
            </a:r>
            <a:endParaRPr lang="en-US" sz="900" dirty="0"/>
          </a:p>
          <a:p>
            <a:pPr indent="0" marL="0">
              <a:lnSpc>
                <a:spcPts val="1200"/>
              </a:lnSpc>
              <a:buNone/>
            </a:pPr>
            <a:endParaRPr lang="en-US" sz="900" dirty="0"/>
          </a:p>
          <a:p>
            <a:pPr indent="0" marL="0">
              <a:lnSpc>
                <a:spcPts val="1200"/>
              </a:lnSpc>
              <a:buNone/>
            </a:pPr>
            <a:r>
              <a:rPr lang="en-US" sz="900" dirty="0">
                <a:solidFill>
                  <a:srgbClr val="334155"/>
                </a:solidFill>
                <a:latin typeface="Arial" pitchFamily="34" charset="0"/>
                <a:ea typeface="Arial" pitchFamily="34" charset="-122"/>
                <a:cs typeface="Arial" pitchFamily="34" charset="-120"/>
              </a:rPr>
              <a:t>•  Ekspansi jejaring kemitraan dan penempatan global</a:t>
            </a:r>
            <a:endParaRPr lang="en-US" sz="900" dirty="0"/>
          </a:p>
        </p:txBody>
      </p:sp>
      <p:sp>
        <p:nvSpPr>
          <p:cNvPr id="37" name="Shape 35"/>
          <p:cNvSpPr/>
          <p:nvPr/>
        </p:nvSpPr>
        <p:spPr>
          <a:xfrm>
            <a:off x="731520" y="5029200"/>
            <a:ext cx="10728655" cy="1234440"/>
          </a:xfrm>
          <a:prstGeom prst="roundRect">
            <a:avLst>
              <a:gd name="adj" fmla="val 5926"/>
            </a:avLst>
          </a:prstGeom>
          <a:solidFill>
            <a:srgbClr val="F1F5F9"/>
          </a:solidFill>
          <a:ln w="12700">
            <a:solidFill>
              <a:srgbClr val="0284C7"/>
            </a:solidFill>
            <a:prstDash val="solid"/>
          </a:ln>
        </p:spPr>
      </p:sp>
      <p:sp>
        <p:nvSpPr>
          <p:cNvPr id="38" name="Text 36"/>
          <p:cNvSpPr/>
          <p:nvPr/>
        </p:nvSpPr>
        <p:spPr>
          <a:xfrm>
            <a:off x="914400" y="5120640"/>
            <a:ext cx="10362895" cy="228600"/>
          </a:xfrm>
          <a:prstGeom prst="rect">
            <a:avLst/>
          </a:prstGeom>
          <a:noFill/>
          <a:ln/>
        </p:spPr>
        <p:txBody>
          <a:bodyPr wrap="square" rtlCol="0" anchor="ctr"/>
          <a:lstStyle/>
          <a:p>
            <a:pPr indent="0" marL="0">
              <a:buNone/>
            </a:pPr>
            <a:r>
              <a:rPr lang="en-US" sz="950" b="1" dirty="0">
                <a:solidFill>
                  <a:srgbClr val="0369A1"/>
                </a:solidFill>
                <a:latin typeface="Arial" pitchFamily="34" charset="0"/>
                <a:ea typeface="Arial" pitchFamily="34" charset="-122"/>
                <a:cs typeface="Arial" pitchFamily="34" charset="-120"/>
              </a:rPr>
              <a:t>RINGKASAN TARGET TAHUNAN MENUJU KEMANDIRIAN 2030 (AUDIT FINANSIAL RIIL):</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14400" y="5413248"/>
          <a:ext cx="10362895" cy="713232"/>
        </p:xfrm>
        <a:graphic>
          <a:graphicData uri="http://schemas.openxmlformats.org/drawingml/2006/table">
            <a:tbl>
              <a:tblPr/>
              <a:tblGrid>
                <a:gridCol w="2072030"/>
                <a:gridCol w="2072030"/>
                <a:gridCol w="2072030"/>
                <a:gridCol w="2072030"/>
                <a:gridCol w="2074774"/>
              </a:tblGrid>
              <a:tr h="320040">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TAHUN 2026 (Baseline)</a:t>
                      </a:r>
                      <a:endParaRPr lang="en-US" sz="95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2942"/>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TAHUN 2027 (+67,0%)</a:t>
                      </a:r>
                      <a:endParaRPr lang="en-US" sz="95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2942"/>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TAHUN 2028 (+28,5%)</a:t>
                      </a:r>
                      <a:endParaRPr lang="en-US" sz="95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2942"/>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TAHUN 2029 (+28,0%)</a:t>
                      </a:r>
                      <a:endParaRPr lang="en-US" sz="95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2942"/>
                    </a:solidFill>
                  </a:tcPr>
                </a:tc>
                <a:tc>
                  <a:txBody>
                    <a:bodyPr/>
                    <a:lstStyle/>
                    <a:p>
                      <a:pPr algn="ctr" indent="0" marL="0">
                        <a:buNone/>
                      </a:pPr>
                      <a:r>
                        <a:rPr lang="en-US" sz="950" b="1" dirty="0">
                          <a:solidFill>
                            <a:srgbClr val="FDE68A"/>
                          </a:solidFill>
                          <a:latin typeface="Arial" pitchFamily="34" charset="0"/>
                          <a:ea typeface="Arial" pitchFamily="34" charset="-122"/>
                          <a:cs typeface="Arial" pitchFamily="34" charset="-120"/>
                        </a:rPr>
                        <a:t>TAHUN 2030 (MANDIRI)</a:t>
                      </a:r>
                      <a:endParaRPr lang="en-US" sz="95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2942"/>
                    </a:solidFill>
                  </a:tcPr>
                </a:tc>
              </a:tr>
              <a:tr h="393192">
                <a:tc>
                  <a:txBody>
                    <a:bodyPr/>
                    <a:lstStyle/>
                    <a:p>
                      <a:pPr algn="ctr" indent="0" marL="0">
                        <a:buNone/>
                      </a:pPr>
                      <a:r>
                        <a:rPr lang="en-US" sz="950" dirty="0">
                          <a:solidFill>
                            <a:srgbClr val="0F172A"/>
                          </a:solidFill>
                          <a:latin typeface="Arial" pitchFamily="34" charset="0"/>
                          <a:ea typeface="Arial" pitchFamily="34" charset="-122"/>
                          <a:cs typeface="Arial" pitchFamily="34" charset="-120"/>
                        </a:rPr>
                        <a:t>Rp 7.503.392.698</a:t>
                      </a:r>
                      <a:endParaRPr lang="en-US" sz="95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369A1"/>
                          </a:solidFill>
                          <a:latin typeface="Arial" pitchFamily="34" charset="0"/>
                          <a:ea typeface="Arial" pitchFamily="34" charset="-122"/>
                          <a:cs typeface="Arial" pitchFamily="34" charset="-120"/>
                        </a:rPr>
                        <a:t>Rp 12.532.185.031</a:t>
                      </a:r>
                      <a:endParaRPr lang="en-US" sz="95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369A1"/>
                          </a:solidFill>
                          <a:latin typeface="Arial" pitchFamily="34" charset="0"/>
                          <a:ea typeface="Arial" pitchFamily="34" charset="-122"/>
                          <a:cs typeface="Arial" pitchFamily="34" charset="-120"/>
                        </a:rPr>
                        <a:t>Rp 16.100.658.831</a:t>
                      </a:r>
                      <a:endParaRPr lang="en-US" sz="95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369A1"/>
                          </a:solidFill>
                          <a:latin typeface="Arial" pitchFamily="34" charset="0"/>
                          <a:ea typeface="Arial" pitchFamily="34" charset="-122"/>
                          <a:cs typeface="Arial" pitchFamily="34" charset="-120"/>
                        </a:rPr>
                        <a:t>Rp 20.615.658.831</a:t>
                      </a:r>
                      <a:endParaRPr lang="en-US" sz="95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D97706"/>
                          </a:solidFill>
                          <a:latin typeface="Arial" pitchFamily="34" charset="0"/>
                          <a:ea typeface="Arial" pitchFamily="34" charset="-122"/>
                          <a:cs typeface="Arial" pitchFamily="34" charset="-120"/>
                        </a:rPr>
                        <a:t>Rp 23.468.158.831</a:t>
                      </a:r>
                      <a:endParaRPr lang="en-US" sz="95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84C7"/>
          </a:solidFill>
          <a:ln/>
        </p:spPr>
      </p:sp>
      <p:sp>
        <p:nvSpPr>
          <p:cNvPr id="3" name="Shape 1"/>
          <p:cNvSpPr/>
          <p:nvPr/>
        </p:nvSpPr>
        <p:spPr>
          <a:xfrm>
            <a:off x="9144000" y="0"/>
            <a:ext cx="3047695" cy="73152"/>
          </a:xfrm>
          <a:prstGeom prst="rect">
            <a:avLst/>
          </a:prstGeom>
          <a:solidFill>
            <a:srgbClr val="D97706"/>
          </a:solidFill>
          <a:ln/>
        </p:spPr>
      </p:sp>
      <p:sp>
        <p:nvSpPr>
          <p:cNvPr id="4" name="Shape 2"/>
          <p:cNvSpPr/>
          <p:nvPr/>
        </p:nvSpPr>
        <p:spPr>
          <a:xfrm>
            <a:off x="731520" y="256032"/>
            <a:ext cx="3291840" cy="237744"/>
          </a:xfrm>
          <a:prstGeom prst="roundRect">
            <a:avLst>
              <a:gd name="adj" fmla="val 19231"/>
            </a:avLst>
          </a:prstGeom>
          <a:solidFill>
            <a:srgbClr val="E0F2FE"/>
          </a:solidFill>
          <a:ln w="12700">
            <a:solidFill>
              <a:srgbClr val="0284C7"/>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0369A1"/>
                </a:solidFill>
                <a:latin typeface="Arial" pitchFamily="34" charset="0"/>
                <a:ea typeface="Arial" pitchFamily="34" charset="-122"/>
                <a:cs typeface="Arial" pitchFamily="34" charset="-120"/>
              </a:rPr>
              <a:t>PROYEKSI KEUANGAN BLUD 2026–2030</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0F172A"/>
                </a:solidFill>
                <a:latin typeface="Arial" pitchFamily="34" charset="0"/>
                <a:ea typeface="Arial" pitchFamily="34" charset="-122"/>
                <a:cs typeface="Arial" pitchFamily="34" charset="-120"/>
              </a:rPr>
              <a:t>RE-SETTING TARGET FINANSIAL: LOMPATAN KEMANDIRIAN BLUD +212,8%</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334155"/>
                </a:solidFill>
                <a:latin typeface="Arial" pitchFamily="34" charset="0"/>
                <a:ea typeface="Arial" pitchFamily="34" charset="-122"/>
                <a:cs typeface="Arial" pitchFamily="34" charset="-120"/>
              </a:rPr>
              <a:t>Proyeksi Pendapatan Mandiri Riil dari Rp 7,50 Miliar (2026) menuju Rp 23,47 Miliar (2030) — Tanpa Subsidi APBD</a:t>
            </a:r>
            <a:endParaRPr lang="en-US" sz="1000" dirty="0"/>
          </a:p>
        </p:txBody>
      </p:sp>
      <p:sp>
        <p:nvSpPr>
          <p:cNvPr id="8" name="Shape 6"/>
          <p:cNvSpPr/>
          <p:nvPr/>
        </p:nvSpPr>
        <p:spPr>
          <a:xfrm>
            <a:off x="731520" y="6419088"/>
            <a:ext cx="10728655" cy="18288"/>
          </a:xfrm>
          <a:prstGeom prst="rect">
            <a:avLst/>
          </a:prstGeom>
          <a:solidFill>
            <a:srgbClr val="CBD5E1"/>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334155"/>
                </a:solidFill>
                <a:latin typeface="Arial" pitchFamily="34" charset="0"/>
                <a:ea typeface="Arial" pitchFamily="34" charset="-122"/>
                <a:cs typeface="Arial" pitchFamily="34" charset="-120"/>
              </a:rPr>
              <a:t>UPTD KST SOLO TECHNOPARK  |  BRIDA KOTA SURAKARTA  •  Bahan Paparan Resmi Walikota (Edisi V7 Light)</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0369A1"/>
                </a:solidFill>
                <a:latin typeface="Arial" pitchFamily="34" charset="0"/>
                <a:ea typeface="Arial" pitchFamily="34" charset="-122"/>
                <a:cs typeface="Arial" pitchFamily="34" charset="-120"/>
              </a:rPr>
              <a:t>Slide 09 / 12</a:t>
            </a:r>
            <a:endParaRPr lang="en-US" sz="900" dirty="0"/>
          </a:p>
        </p:txBody>
      </p:sp>
      <p:sp>
        <p:nvSpPr>
          <p:cNvPr id="11" name="Shape 9"/>
          <p:cNvSpPr/>
          <p:nvPr/>
        </p:nvSpPr>
        <p:spPr>
          <a:xfrm>
            <a:off x="731520" y="1325880"/>
            <a:ext cx="6217920" cy="4892040"/>
          </a:xfrm>
          <a:prstGeom prst="roundRect">
            <a:avLst>
              <a:gd name="adj" fmla="val 1495"/>
            </a:avLst>
          </a:prstGeom>
          <a:solidFill>
            <a:srgbClr val="FFFFFF"/>
          </a:solidFill>
          <a:ln w="12700">
            <a:solidFill>
              <a:srgbClr val="CBD5E1"/>
            </a:solidFill>
            <a:prstDash val="solid"/>
          </a:ln>
        </p:spPr>
      </p:sp>
      <p:sp>
        <p:nvSpPr>
          <p:cNvPr id="12" name="Shape 10"/>
          <p:cNvSpPr/>
          <p:nvPr/>
        </p:nvSpPr>
        <p:spPr>
          <a:xfrm>
            <a:off x="731520" y="1325880"/>
            <a:ext cx="73152" cy="4892040"/>
          </a:xfrm>
          <a:prstGeom prst="roundRect">
            <a:avLst>
              <a:gd name="adj" fmla="val 50000"/>
            </a:avLst>
          </a:prstGeom>
          <a:solidFill>
            <a:srgbClr val="0284C7"/>
          </a:solidFill>
          <a:ln w="12700">
            <a:solidFill>
              <a:srgbClr val="0284C7"/>
            </a:solidFill>
            <a:prstDash val="solid"/>
          </a:ln>
        </p:spPr>
      </p:sp>
      <p:sp>
        <p:nvSpPr>
          <p:cNvPr id="13" name="Text 11"/>
          <p:cNvSpPr/>
          <p:nvPr/>
        </p:nvSpPr>
        <p:spPr>
          <a:xfrm>
            <a:off x="914400" y="1463040"/>
            <a:ext cx="5852160" cy="256032"/>
          </a:xfrm>
          <a:prstGeom prst="rect">
            <a:avLst/>
          </a:prstGeom>
          <a:noFill/>
          <a:ln/>
        </p:spPr>
        <p:txBody>
          <a:bodyPr wrap="square" rtlCol="0" anchor="ctr"/>
          <a:lstStyle/>
          <a:p>
            <a:pPr indent="0" marL="0">
              <a:buNone/>
            </a:pPr>
            <a:r>
              <a:rPr lang="en-US" sz="1000" b="1" dirty="0">
                <a:solidFill>
                  <a:srgbClr val="0369A1"/>
                </a:solidFill>
                <a:latin typeface="Arial" pitchFamily="34" charset="0"/>
                <a:ea typeface="Arial" pitchFamily="34" charset="-122"/>
                <a:cs typeface="Arial" pitchFamily="34" charset="-120"/>
              </a:rPr>
              <a:t>TREN PERTUMBUHAN PENDAPATAN BLUD 2026–2030 (dalam Rp Miliar)</a:t>
            </a:r>
            <a:endParaRPr lang="en-US" sz="1000" dirty="0"/>
          </a:p>
        </p:txBody>
      </p:sp>
      <p:graphicFrame>
        <p:nvGraphicFramePr>
          <p:cNvPr id="14" name="Chart 0" descr=""/>
          <p:cNvGraphicFramePr/>
          <p:nvPr/>
        </p:nvGraphicFramePr>
        <p:xfrm>
          <a:off x="868680" y="1783080"/>
          <a:ext cx="5897880" cy="2834640"/>
        </p:xfrm>
        <a:graphic xmlns:a="http://schemas.openxmlformats.org/drawingml/2006/main">
          <a:graphicData uri="http://schemas.openxmlformats.org/drawingml/2006/chart">
            <c:chart xmlns:c="http://schemas.openxmlformats.org/drawingml/2006/chart" r:id="rId1"/>
          </a:graphicData>
        </a:graphic>
      </p:graphicFrame>
      <p:sp>
        <p:nvSpPr>
          <p:cNvPr id="15" name="Shape 12"/>
          <p:cNvSpPr/>
          <p:nvPr/>
        </p:nvSpPr>
        <p:spPr>
          <a:xfrm>
            <a:off x="914400" y="4709160"/>
            <a:ext cx="5852160" cy="1371600"/>
          </a:xfrm>
          <a:prstGeom prst="roundRect">
            <a:avLst>
              <a:gd name="adj" fmla="val 2667"/>
            </a:avLst>
          </a:prstGeom>
          <a:solidFill>
            <a:srgbClr val="F1F5F9"/>
          </a:solidFill>
          <a:ln w="12700">
            <a:solidFill>
              <a:srgbClr val="D97706"/>
            </a:solidFill>
            <a:prstDash val="solid"/>
          </a:ln>
        </p:spPr>
      </p:sp>
      <p:sp>
        <p:nvSpPr>
          <p:cNvPr id="16" name="Text 13"/>
          <p:cNvSpPr/>
          <p:nvPr/>
        </p:nvSpPr>
        <p:spPr>
          <a:xfrm>
            <a:off x="1051560" y="4800600"/>
            <a:ext cx="5577840" cy="228600"/>
          </a:xfrm>
          <a:prstGeom prst="rect">
            <a:avLst/>
          </a:prstGeom>
          <a:noFill/>
          <a:ln/>
        </p:spPr>
        <p:txBody>
          <a:bodyPr wrap="square" rtlCol="0" anchor="ctr"/>
          <a:lstStyle/>
          <a:p>
            <a:pPr indent="0" marL="0">
              <a:buNone/>
            </a:pPr>
            <a:r>
              <a:rPr lang="en-US" sz="1050" b="1" dirty="0">
                <a:solidFill>
                  <a:srgbClr val="D97706"/>
                </a:solidFill>
                <a:latin typeface="Arial" pitchFamily="34" charset="0"/>
                <a:ea typeface="Arial" pitchFamily="34" charset="-122"/>
                <a:cs typeface="Arial" pitchFamily="34" charset="-120"/>
              </a:rPr>
              <a:t>LOMPATAN FINANSIAL: +212,8% (3,1× LIPAT DALAM 4 TAHUN)</a:t>
            </a:r>
            <a:endParaRPr lang="en-US" sz="1050" dirty="0"/>
          </a:p>
        </p:txBody>
      </p:sp>
      <p:sp>
        <p:nvSpPr>
          <p:cNvPr id="17" name="Text 14"/>
          <p:cNvSpPr/>
          <p:nvPr/>
        </p:nvSpPr>
        <p:spPr>
          <a:xfrm>
            <a:off x="1051560" y="5074920"/>
            <a:ext cx="5577840" cy="914400"/>
          </a:xfrm>
          <a:prstGeom prst="rect">
            <a:avLst/>
          </a:prstGeom>
          <a:noFill/>
          <a:ln/>
        </p:spPr>
        <p:txBody>
          <a:bodyPr wrap="square" rtlCol="0" anchor="ctr"/>
          <a:lstStyle/>
          <a:p>
            <a:pPr indent="0" marL="0">
              <a:lnSpc>
                <a:spcPts val="1200"/>
              </a:lnSpc>
              <a:buNone/>
            </a:pPr>
            <a:r>
              <a:rPr lang="en-US" sz="850" dirty="0">
                <a:solidFill>
                  <a:srgbClr val="0F172A"/>
                </a:solidFill>
                <a:latin typeface="Arial" pitchFamily="34" charset="0"/>
                <a:ea typeface="Arial" pitchFamily="34" charset="-122"/>
                <a:cs typeface="Arial" pitchFamily="34" charset="-120"/>
              </a:rPr>
              <a:t>• Mandiri Total Tanpa APBD di 2030: Biaya operasional UPTD STP tertutup 100% dari jasa layanan mandiri.</a:t>
            </a:r>
            <a:endParaRPr lang="en-US" sz="850" dirty="0"/>
          </a:p>
          <a:p>
            <a:pPr indent="0" marL="0">
              <a:lnSpc>
                <a:spcPts val="1200"/>
              </a:lnSpc>
              <a:buNone/>
            </a:pPr>
            <a:r>
              <a:rPr lang="en-US" sz="850" dirty="0">
                <a:solidFill>
                  <a:srgbClr val="0F172A"/>
                </a:solidFill>
                <a:latin typeface="Arial" pitchFamily="34" charset="0"/>
                <a:ea typeface="Arial" pitchFamily="34" charset="-122"/>
                <a:cs typeface="Arial" pitchFamily="34" charset="-120"/>
              </a:rPr>
              <a:t>• Titik Impas (BEP) di Tahun 2028: Tercapai di angka Rp 16,10 Miliar seiring beroperasinya SBU manufaktur.</a:t>
            </a:r>
            <a:endParaRPr lang="en-US" sz="850" dirty="0"/>
          </a:p>
          <a:p>
            <a:pPr indent="0" marL="0">
              <a:lnSpc>
                <a:spcPts val="1200"/>
              </a:lnSpc>
              <a:buNone/>
            </a:pPr>
            <a:r>
              <a:rPr lang="en-US" sz="850" dirty="0">
                <a:solidFill>
                  <a:srgbClr val="0F172A"/>
                </a:solidFill>
                <a:latin typeface="Arial" pitchFamily="34" charset="0"/>
                <a:ea typeface="Arial" pitchFamily="34" charset="-122"/>
                <a:cs typeface="Arial" pitchFamily="34" charset="-120"/>
              </a:rPr>
              <a:t>• Kualitas Pendapatan Berkelanjutan: 88% pendapatan disumbang oleh riset, vokasi industri, &amp; startup binaan.</a:t>
            </a:r>
            <a:endParaRPr lang="en-US" sz="850" dirty="0"/>
          </a:p>
        </p:txBody>
      </p:sp>
      <p:sp>
        <p:nvSpPr>
          <p:cNvPr id="18" name="Shape 15"/>
          <p:cNvSpPr/>
          <p:nvPr/>
        </p:nvSpPr>
        <p:spPr>
          <a:xfrm>
            <a:off x="7132320" y="1325880"/>
            <a:ext cx="4327855" cy="4892040"/>
          </a:xfrm>
          <a:prstGeom prst="roundRect">
            <a:avLst>
              <a:gd name="adj" fmla="val 1690"/>
            </a:avLst>
          </a:prstGeom>
          <a:solidFill>
            <a:srgbClr val="FFFFFF"/>
          </a:solidFill>
          <a:ln w="12700">
            <a:solidFill>
              <a:srgbClr val="CBD5E1"/>
            </a:solidFill>
            <a:prstDash val="solid"/>
          </a:ln>
        </p:spPr>
      </p:sp>
      <p:sp>
        <p:nvSpPr>
          <p:cNvPr id="19" name="Shape 16"/>
          <p:cNvSpPr/>
          <p:nvPr/>
        </p:nvSpPr>
        <p:spPr>
          <a:xfrm>
            <a:off x="7132320" y="1325880"/>
            <a:ext cx="73152" cy="4892040"/>
          </a:xfrm>
          <a:prstGeom prst="roundRect">
            <a:avLst>
              <a:gd name="adj" fmla="val 50000"/>
            </a:avLst>
          </a:prstGeom>
          <a:solidFill>
            <a:srgbClr val="D97706"/>
          </a:solidFill>
          <a:ln w="12700">
            <a:solidFill>
              <a:srgbClr val="D97706"/>
            </a:solidFill>
            <a:prstDash val="solid"/>
          </a:ln>
        </p:spPr>
      </p:sp>
      <p:sp>
        <p:nvSpPr>
          <p:cNvPr id="20" name="Text 17"/>
          <p:cNvSpPr/>
          <p:nvPr/>
        </p:nvSpPr>
        <p:spPr>
          <a:xfrm>
            <a:off x="7315200" y="1463040"/>
            <a:ext cx="3962095" cy="256032"/>
          </a:xfrm>
          <a:prstGeom prst="rect">
            <a:avLst/>
          </a:prstGeom>
          <a:noFill/>
          <a:ln/>
        </p:spPr>
        <p:txBody>
          <a:bodyPr wrap="square" rtlCol="0" anchor="ctr"/>
          <a:lstStyle/>
          <a:p>
            <a:pPr indent="0" marL="0">
              <a:buNone/>
            </a:pPr>
            <a:r>
              <a:rPr lang="en-US" sz="1000" b="1" dirty="0">
                <a:solidFill>
                  <a:srgbClr val="D97706"/>
                </a:solidFill>
                <a:latin typeface="Arial" pitchFamily="34" charset="0"/>
                <a:ea typeface="Arial" pitchFamily="34" charset="-122"/>
                <a:cs typeface="Arial" pitchFamily="34" charset="-120"/>
              </a:rPr>
              <a:t>STRUKTUR REVENUE STREAM 2030 (Rp 23,47 M)</a:t>
            </a:r>
            <a:endParaRPr lang="en-US" sz="1000" dirty="0"/>
          </a:p>
        </p:txBody>
      </p:sp>
      <p:graphicFrame>
        <p:nvGraphicFramePr>
          <p:cNvPr id="21" name="Chart 1" descr=""/>
          <p:cNvGraphicFramePr/>
          <p:nvPr/>
        </p:nvGraphicFramePr>
        <p:xfrm>
          <a:off x="7772400" y="1783080"/>
          <a:ext cx="3017520" cy="1874520"/>
        </p:xfrm>
        <a:graphic xmlns:a="http://schemas.openxmlformats.org/drawingml/2006/main">
          <a:graphicData uri="http://schemas.openxmlformats.org/drawingml/2006/chart">
            <c:chart xmlns:c="http://schemas.openxmlformats.org/drawingml/2006/chart" r:id="rId2"/>
          </a:graphicData>
        </a:graphic>
      </p:graphicFrame>
      <p:sp>
        <p:nvSpPr>
          <p:cNvPr id="22" name="Shape 18"/>
          <p:cNvSpPr/>
          <p:nvPr/>
        </p:nvSpPr>
        <p:spPr>
          <a:xfrm>
            <a:off x="7315200" y="3767328"/>
            <a:ext cx="91440" cy="91440"/>
          </a:xfrm>
          <a:prstGeom prst="ellipse">
            <a:avLst/>
          </a:prstGeom>
          <a:solidFill>
            <a:srgbClr val="0284C7"/>
          </a:solidFill>
          <a:ln w="12700">
            <a:solidFill>
              <a:srgbClr val="0284C7"/>
            </a:solidFill>
            <a:prstDash val="solid"/>
          </a:ln>
        </p:spPr>
      </p:sp>
      <p:sp>
        <p:nvSpPr>
          <p:cNvPr id="23" name="Text 19"/>
          <p:cNvSpPr/>
          <p:nvPr/>
        </p:nvSpPr>
        <p:spPr>
          <a:xfrm>
            <a:off x="7443216" y="3730752"/>
            <a:ext cx="1234440" cy="201168"/>
          </a:xfrm>
          <a:prstGeom prst="rect">
            <a:avLst/>
          </a:prstGeom>
          <a:noFill/>
          <a:ln/>
        </p:spPr>
        <p:txBody>
          <a:bodyPr wrap="square" rtlCol="0" anchor="ctr"/>
          <a:lstStyle/>
          <a:p>
            <a:pPr indent="0" marL="0">
              <a:buNone/>
            </a:pPr>
            <a:r>
              <a:rPr lang="en-US" sz="720" dirty="0">
                <a:solidFill>
                  <a:srgbClr val="334155"/>
                </a:solidFill>
                <a:latin typeface="Arial" pitchFamily="34" charset="0"/>
                <a:ea typeface="Arial" pitchFamily="34" charset="-122"/>
                <a:cs typeface="Arial" pitchFamily="34" charset="-120"/>
              </a:rPr>
              <a:t>Program Kemitraan: </a:t>
            </a:r>
            <a:endParaRPr lang="en-US" sz="720" dirty="0"/>
          </a:p>
        </p:txBody>
      </p:sp>
      <p:sp>
        <p:nvSpPr>
          <p:cNvPr id="24" name="Text 20"/>
          <p:cNvSpPr/>
          <p:nvPr/>
        </p:nvSpPr>
        <p:spPr>
          <a:xfrm>
            <a:off x="8458200" y="3730752"/>
            <a:ext cx="868680" cy="201168"/>
          </a:xfrm>
          <a:prstGeom prst="rect">
            <a:avLst/>
          </a:prstGeom>
          <a:noFill/>
          <a:ln/>
        </p:spPr>
        <p:txBody>
          <a:bodyPr wrap="square" rtlCol="0" anchor="ctr"/>
          <a:lstStyle/>
          <a:p>
            <a:pPr algn="r" indent="0" marL="0">
              <a:buNone/>
            </a:pPr>
            <a:r>
              <a:rPr lang="en-US" sz="720" b="1" dirty="0">
                <a:solidFill>
                  <a:srgbClr val="0F172A"/>
                </a:solidFill>
                <a:latin typeface="Arial" pitchFamily="34" charset="0"/>
                <a:ea typeface="Arial" pitchFamily="34" charset="-122"/>
                <a:cs typeface="Arial" pitchFamily="34" charset="-120"/>
              </a:rPr>
              <a:t>54,6% (Rp 12,83 M)</a:t>
            </a:r>
            <a:endParaRPr lang="en-US" sz="720" dirty="0"/>
          </a:p>
        </p:txBody>
      </p:sp>
      <p:sp>
        <p:nvSpPr>
          <p:cNvPr id="25" name="Shape 21"/>
          <p:cNvSpPr/>
          <p:nvPr/>
        </p:nvSpPr>
        <p:spPr>
          <a:xfrm>
            <a:off x="7315200" y="4023360"/>
            <a:ext cx="91440" cy="91440"/>
          </a:xfrm>
          <a:prstGeom prst="ellipse">
            <a:avLst/>
          </a:prstGeom>
          <a:solidFill>
            <a:srgbClr val="0369A1"/>
          </a:solidFill>
          <a:ln w="12700">
            <a:solidFill>
              <a:srgbClr val="0369A1"/>
            </a:solidFill>
            <a:prstDash val="solid"/>
          </a:ln>
        </p:spPr>
      </p:sp>
      <p:sp>
        <p:nvSpPr>
          <p:cNvPr id="26" name="Text 22"/>
          <p:cNvSpPr/>
          <p:nvPr/>
        </p:nvSpPr>
        <p:spPr>
          <a:xfrm>
            <a:off x="7443216" y="3986784"/>
            <a:ext cx="1234440" cy="201168"/>
          </a:xfrm>
          <a:prstGeom prst="rect">
            <a:avLst/>
          </a:prstGeom>
          <a:noFill/>
          <a:ln/>
        </p:spPr>
        <p:txBody>
          <a:bodyPr wrap="square" rtlCol="0" anchor="ctr"/>
          <a:lstStyle/>
          <a:p>
            <a:pPr indent="0" marL="0">
              <a:buNone/>
            </a:pPr>
            <a:r>
              <a:rPr lang="en-US" sz="720" dirty="0">
                <a:solidFill>
                  <a:srgbClr val="334155"/>
                </a:solidFill>
                <a:latin typeface="Arial" pitchFamily="34" charset="0"/>
                <a:ea typeface="Arial" pitchFamily="34" charset="-122"/>
                <a:cs typeface="Arial" pitchFamily="34" charset="-120"/>
              </a:rPr>
              <a:t>Pelatihan &amp; Sertifikasi: </a:t>
            </a:r>
            <a:endParaRPr lang="en-US" sz="720" dirty="0"/>
          </a:p>
        </p:txBody>
      </p:sp>
      <p:sp>
        <p:nvSpPr>
          <p:cNvPr id="27" name="Text 23"/>
          <p:cNvSpPr/>
          <p:nvPr/>
        </p:nvSpPr>
        <p:spPr>
          <a:xfrm>
            <a:off x="8458200" y="3986784"/>
            <a:ext cx="868680" cy="201168"/>
          </a:xfrm>
          <a:prstGeom prst="rect">
            <a:avLst/>
          </a:prstGeom>
          <a:noFill/>
          <a:ln/>
        </p:spPr>
        <p:txBody>
          <a:bodyPr wrap="square" rtlCol="0" anchor="ctr"/>
          <a:lstStyle/>
          <a:p>
            <a:pPr algn="r" indent="0" marL="0">
              <a:buNone/>
            </a:pPr>
            <a:r>
              <a:rPr lang="en-US" sz="720" b="1" dirty="0">
                <a:solidFill>
                  <a:srgbClr val="0F172A"/>
                </a:solidFill>
                <a:latin typeface="Arial" pitchFamily="34" charset="0"/>
                <a:ea typeface="Arial" pitchFamily="34" charset="-122"/>
                <a:cs typeface="Arial" pitchFamily="34" charset="-120"/>
              </a:rPr>
              <a:t>15,7% (Rp 3,68 M)</a:t>
            </a:r>
            <a:endParaRPr lang="en-US" sz="720" dirty="0"/>
          </a:p>
        </p:txBody>
      </p:sp>
      <p:sp>
        <p:nvSpPr>
          <p:cNvPr id="28" name="Shape 24"/>
          <p:cNvSpPr/>
          <p:nvPr/>
        </p:nvSpPr>
        <p:spPr>
          <a:xfrm>
            <a:off x="7315200" y="4279392"/>
            <a:ext cx="91440" cy="91440"/>
          </a:xfrm>
          <a:prstGeom prst="ellipse">
            <a:avLst/>
          </a:prstGeom>
          <a:solidFill>
            <a:srgbClr val="059669"/>
          </a:solidFill>
          <a:ln w="12700">
            <a:solidFill>
              <a:srgbClr val="059669"/>
            </a:solidFill>
            <a:prstDash val="solid"/>
          </a:ln>
        </p:spPr>
      </p:sp>
      <p:sp>
        <p:nvSpPr>
          <p:cNvPr id="29" name="Text 25"/>
          <p:cNvSpPr/>
          <p:nvPr/>
        </p:nvSpPr>
        <p:spPr>
          <a:xfrm>
            <a:off x="7443216" y="4242816"/>
            <a:ext cx="1234440" cy="201168"/>
          </a:xfrm>
          <a:prstGeom prst="rect">
            <a:avLst/>
          </a:prstGeom>
          <a:noFill/>
          <a:ln/>
        </p:spPr>
        <p:txBody>
          <a:bodyPr wrap="square" rtlCol="0" anchor="ctr"/>
          <a:lstStyle/>
          <a:p>
            <a:pPr indent="0" marL="0">
              <a:buNone/>
            </a:pPr>
            <a:r>
              <a:rPr lang="en-US" sz="720" dirty="0">
                <a:solidFill>
                  <a:srgbClr val="334155"/>
                </a:solidFill>
                <a:latin typeface="Arial" pitchFamily="34" charset="0"/>
                <a:ea typeface="Arial" pitchFamily="34" charset="-122"/>
                <a:cs typeface="Arial" pitchFamily="34" charset="-120"/>
              </a:rPr>
              <a:t>Diklat Mandiri Spesialis: </a:t>
            </a:r>
            <a:endParaRPr lang="en-US" sz="720" dirty="0"/>
          </a:p>
        </p:txBody>
      </p:sp>
      <p:sp>
        <p:nvSpPr>
          <p:cNvPr id="30" name="Text 26"/>
          <p:cNvSpPr/>
          <p:nvPr/>
        </p:nvSpPr>
        <p:spPr>
          <a:xfrm>
            <a:off x="8458200" y="4242816"/>
            <a:ext cx="868680" cy="201168"/>
          </a:xfrm>
          <a:prstGeom prst="rect">
            <a:avLst/>
          </a:prstGeom>
          <a:noFill/>
          <a:ln/>
        </p:spPr>
        <p:txBody>
          <a:bodyPr wrap="square" rtlCol="0" anchor="ctr"/>
          <a:lstStyle/>
          <a:p>
            <a:pPr algn="r" indent="0" marL="0">
              <a:buNone/>
            </a:pPr>
            <a:r>
              <a:rPr lang="en-US" sz="720" b="1" dirty="0">
                <a:solidFill>
                  <a:srgbClr val="0F172A"/>
                </a:solidFill>
                <a:latin typeface="Arial" pitchFamily="34" charset="0"/>
                <a:ea typeface="Arial" pitchFamily="34" charset="-122"/>
                <a:cs typeface="Arial" pitchFamily="34" charset="-120"/>
              </a:rPr>
              <a:t>10,5% (Rp 2,47 M)</a:t>
            </a:r>
            <a:endParaRPr lang="en-US" sz="720" dirty="0"/>
          </a:p>
        </p:txBody>
      </p:sp>
      <p:sp>
        <p:nvSpPr>
          <p:cNvPr id="31" name="Shape 27"/>
          <p:cNvSpPr/>
          <p:nvPr/>
        </p:nvSpPr>
        <p:spPr>
          <a:xfrm>
            <a:off x="9372600" y="3767328"/>
            <a:ext cx="91440" cy="91440"/>
          </a:xfrm>
          <a:prstGeom prst="ellipse">
            <a:avLst/>
          </a:prstGeom>
          <a:solidFill>
            <a:srgbClr val="D97706"/>
          </a:solidFill>
          <a:ln w="12700">
            <a:solidFill>
              <a:srgbClr val="D97706"/>
            </a:solidFill>
            <a:prstDash val="solid"/>
          </a:ln>
        </p:spPr>
      </p:sp>
      <p:sp>
        <p:nvSpPr>
          <p:cNvPr id="32" name="Text 28"/>
          <p:cNvSpPr/>
          <p:nvPr/>
        </p:nvSpPr>
        <p:spPr>
          <a:xfrm>
            <a:off x="9500616" y="3730752"/>
            <a:ext cx="1234440" cy="201168"/>
          </a:xfrm>
          <a:prstGeom prst="rect">
            <a:avLst/>
          </a:prstGeom>
          <a:noFill/>
          <a:ln/>
        </p:spPr>
        <p:txBody>
          <a:bodyPr wrap="square" rtlCol="0" anchor="ctr"/>
          <a:lstStyle/>
          <a:p>
            <a:pPr indent="0" marL="0">
              <a:buNone/>
            </a:pPr>
            <a:r>
              <a:rPr lang="en-US" sz="720" dirty="0">
                <a:solidFill>
                  <a:srgbClr val="334155"/>
                </a:solidFill>
                <a:latin typeface="Arial" pitchFamily="34" charset="0"/>
                <a:ea typeface="Arial" pitchFamily="34" charset="-122"/>
                <a:cs typeface="Arial" pitchFamily="34" charset="-120"/>
              </a:rPr>
              <a:t>Lain-lain BLUD / MICE: </a:t>
            </a:r>
            <a:endParaRPr lang="en-US" sz="720" dirty="0"/>
          </a:p>
        </p:txBody>
      </p:sp>
      <p:sp>
        <p:nvSpPr>
          <p:cNvPr id="33" name="Text 29"/>
          <p:cNvSpPr/>
          <p:nvPr/>
        </p:nvSpPr>
        <p:spPr>
          <a:xfrm>
            <a:off x="10515600" y="3730752"/>
            <a:ext cx="868680" cy="201168"/>
          </a:xfrm>
          <a:prstGeom prst="rect">
            <a:avLst/>
          </a:prstGeom>
          <a:noFill/>
          <a:ln/>
        </p:spPr>
        <p:txBody>
          <a:bodyPr wrap="square" rtlCol="0" anchor="ctr"/>
          <a:lstStyle/>
          <a:p>
            <a:pPr algn="r" indent="0" marL="0">
              <a:buNone/>
            </a:pPr>
            <a:r>
              <a:rPr lang="en-US" sz="720" b="1" dirty="0">
                <a:solidFill>
                  <a:srgbClr val="0F172A"/>
                </a:solidFill>
                <a:latin typeface="Arial" pitchFamily="34" charset="0"/>
                <a:ea typeface="Arial" pitchFamily="34" charset="-122"/>
                <a:cs typeface="Arial" pitchFamily="34" charset="-120"/>
              </a:rPr>
              <a:t>10,4% (Rp 2,45 M)</a:t>
            </a:r>
            <a:endParaRPr lang="en-US" sz="720" dirty="0"/>
          </a:p>
        </p:txBody>
      </p:sp>
      <p:sp>
        <p:nvSpPr>
          <p:cNvPr id="34" name="Shape 30"/>
          <p:cNvSpPr/>
          <p:nvPr/>
        </p:nvSpPr>
        <p:spPr>
          <a:xfrm>
            <a:off x="9372600" y="4023360"/>
            <a:ext cx="91440" cy="91440"/>
          </a:xfrm>
          <a:prstGeom prst="ellipse">
            <a:avLst/>
          </a:prstGeom>
          <a:solidFill>
            <a:srgbClr val="7C3AED"/>
          </a:solidFill>
          <a:ln w="12700">
            <a:solidFill>
              <a:srgbClr val="7C3AED"/>
            </a:solidFill>
            <a:prstDash val="solid"/>
          </a:ln>
        </p:spPr>
      </p:sp>
      <p:sp>
        <p:nvSpPr>
          <p:cNvPr id="35" name="Text 31"/>
          <p:cNvSpPr/>
          <p:nvPr/>
        </p:nvSpPr>
        <p:spPr>
          <a:xfrm>
            <a:off x="9500616" y="3986784"/>
            <a:ext cx="1234440" cy="201168"/>
          </a:xfrm>
          <a:prstGeom prst="rect">
            <a:avLst/>
          </a:prstGeom>
          <a:noFill/>
          <a:ln/>
        </p:spPr>
        <p:txBody>
          <a:bodyPr wrap="square" rtlCol="0" anchor="ctr"/>
          <a:lstStyle/>
          <a:p>
            <a:pPr indent="0" marL="0">
              <a:buNone/>
            </a:pPr>
            <a:r>
              <a:rPr lang="en-US" sz="720" dirty="0">
                <a:solidFill>
                  <a:srgbClr val="334155"/>
                </a:solidFill>
                <a:latin typeface="Arial" pitchFamily="34" charset="0"/>
                <a:ea typeface="Arial" pitchFamily="34" charset="-122"/>
                <a:cs typeface="Arial" pitchFamily="34" charset="-120"/>
              </a:rPr>
              <a:t>Rekayasa Manufaktur: </a:t>
            </a:r>
            <a:endParaRPr lang="en-US" sz="720" dirty="0"/>
          </a:p>
        </p:txBody>
      </p:sp>
      <p:sp>
        <p:nvSpPr>
          <p:cNvPr id="36" name="Text 32"/>
          <p:cNvSpPr/>
          <p:nvPr/>
        </p:nvSpPr>
        <p:spPr>
          <a:xfrm>
            <a:off x="10515600" y="3986784"/>
            <a:ext cx="868680" cy="201168"/>
          </a:xfrm>
          <a:prstGeom prst="rect">
            <a:avLst/>
          </a:prstGeom>
          <a:noFill/>
          <a:ln/>
        </p:spPr>
        <p:txBody>
          <a:bodyPr wrap="square" rtlCol="0" anchor="ctr"/>
          <a:lstStyle/>
          <a:p>
            <a:pPr algn="r" indent="0" marL="0">
              <a:buNone/>
            </a:pPr>
            <a:r>
              <a:rPr lang="en-US" sz="720" b="1" dirty="0">
                <a:solidFill>
                  <a:srgbClr val="0F172A"/>
                </a:solidFill>
                <a:latin typeface="Arial" pitchFamily="34" charset="0"/>
                <a:ea typeface="Arial" pitchFamily="34" charset="-122"/>
                <a:cs typeface="Arial" pitchFamily="34" charset="-120"/>
              </a:rPr>
              <a:t>6,2% (Rp 1,47 M)</a:t>
            </a:r>
            <a:endParaRPr lang="en-US" sz="720" dirty="0"/>
          </a:p>
        </p:txBody>
      </p:sp>
      <p:sp>
        <p:nvSpPr>
          <p:cNvPr id="37" name="Shape 33"/>
          <p:cNvSpPr/>
          <p:nvPr/>
        </p:nvSpPr>
        <p:spPr>
          <a:xfrm>
            <a:off x="9372600" y="4279392"/>
            <a:ext cx="91440" cy="91440"/>
          </a:xfrm>
          <a:prstGeom prst="ellipse">
            <a:avLst/>
          </a:prstGeom>
          <a:solidFill>
            <a:srgbClr val="64748B"/>
          </a:solidFill>
          <a:ln w="12700">
            <a:solidFill>
              <a:srgbClr val="64748B"/>
            </a:solidFill>
            <a:prstDash val="solid"/>
          </a:ln>
        </p:spPr>
      </p:sp>
      <p:sp>
        <p:nvSpPr>
          <p:cNvPr id="38" name="Text 34"/>
          <p:cNvSpPr/>
          <p:nvPr/>
        </p:nvSpPr>
        <p:spPr>
          <a:xfrm>
            <a:off x="9500616" y="4242816"/>
            <a:ext cx="1234440" cy="201168"/>
          </a:xfrm>
          <a:prstGeom prst="rect">
            <a:avLst/>
          </a:prstGeom>
          <a:noFill/>
          <a:ln/>
        </p:spPr>
        <p:txBody>
          <a:bodyPr wrap="square" rtlCol="0" anchor="ctr"/>
          <a:lstStyle/>
          <a:p>
            <a:pPr indent="0" marL="0">
              <a:buNone/>
            </a:pPr>
            <a:r>
              <a:rPr lang="en-US" sz="720" dirty="0">
                <a:solidFill>
                  <a:srgbClr val="334155"/>
                </a:solidFill>
                <a:latin typeface="Arial" pitchFamily="34" charset="0"/>
                <a:ea typeface="Arial" pitchFamily="34" charset="-122"/>
                <a:cs typeface="Arial" pitchFamily="34" charset="-120"/>
              </a:rPr>
              <a:t>Kemitraan Lahan Eksisting: </a:t>
            </a:r>
            <a:endParaRPr lang="en-US" sz="720" dirty="0"/>
          </a:p>
        </p:txBody>
      </p:sp>
      <p:sp>
        <p:nvSpPr>
          <p:cNvPr id="39" name="Text 35"/>
          <p:cNvSpPr/>
          <p:nvPr/>
        </p:nvSpPr>
        <p:spPr>
          <a:xfrm>
            <a:off x="10515600" y="4242816"/>
            <a:ext cx="868680" cy="201168"/>
          </a:xfrm>
          <a:prstGeom prst="rect">
            <a:avLst/>
          </a:prstGeom>
          <a:noFill/>
          <a:ln/>
        </p:spPr>
        <p:txBody>
          <a:bodyPr wrap="square" rtlCol="0" anchor="ctr"/>
          <a:lstStyle/>
          <a:p>
            <a:pPr algn="r" indent="0" marL="0">
              <a:buNone/>
            </a:pPr>
            <a:r>
              <a:rPr lang="en-US" sz="720" b="1" dirty="0">
                <a:solidFill>
                  <a:srgbClr val="0F172A"/>
                </a:solidFill>
                <a:latin typeface="Arial" pitchFamily="34" charset="0"/>
                <a:ea typeface="Arial" pitchFamily="34" charset="-122"/>
                <a:cs typeface="Arial" pitchFamily="34" charset="-120"/>
              </a:rPr>
              <a:t>2,5% (Rp 0,58 M)</a:t>
            </a:r>
            <a:endParaRPr lang="en-US" sz="720" dirty="0"/>
          </a:p>
        </p:txBody>
      </p:sp>
      <p:sp>
        <p:nvSpPr>
          <p:cNvPr id="40" name="Shape 36"/>
          <p:cNvSpPr/>
          <p:nvPr/>
        </p:nvSpPr>
        <p:spPr>
          <a:xfrm>
            <a:off x="7315200" y="4553712"/>
            <a:ext cx="3962095" cy="1527048"/>
          </a:xfrm>
          <a:prstGeom prst="roundRect">
            <a:avLst>
              <a:gd name="adj" fmla="val 2395"/>
            </a:avLst>
          </a:prstGeom>
          <a:solidFill>
            <a:srgbClr val="F1F5F9"/>
          </a:solidFill>
          <a:ln w="12700">
            <a:solidFill>
              <a:srgbClr val="CBD5E1"/>
            </a:solidFill>
            <a:prstDash val="solid"/>
          </a:ln>
        </p:spPr>
      </p:sp>
      <p:sp>
        <p:nvSpPr>
          <p:cNvPr id="41" name="Text 37"/>
          <p:cNvSpPr/>
          <p:nvPr/>
        </p:nvSpPr>
        <p:spPr>
          <a:xfrm>
            <a:off x="7452360" y="4626864"/>
            <a:ext cx="3657600" cy="201168"/>
          </a:xfrm>
          <a:prstGeom prst="rect">
            <a:avLst/>
          </a:prstGeom>
          <a:noFill/>
          <a:ln/>
        </p:spPr>
        <p:txBody>
          <a:bodyPr wrap="square" rtlCol="0" anchor="ctr"/>
          <a:lstStyle/>
          <a:p>
            <a:pPr indent="0" marL="0">
              <a:buNone/>
            </a:pPr>
            <a:r>
              <a:rPr lang="en-US" sz="880" b="1" dirty="0">
                <a:solidFill>
                  <a:srgbClr val="0369A1"/>
                </a:solidFill>
                <a:latin typeface="Arial" pitchFamily="34" charset="0"/>
                <a:ea typeface="Arial" pitchFamily="34" charset="-122"/>
                <a:cs typeface="Arial" pitchFamily="34" charset="-120"/>
              </a:rPr>
              <a:t>TOP 5 KATALISATOR PENDAPATAN 2030:</a:t>
            </a:r>
            <a:endParaRPr lang="en-US" sz="880" dirty="0"/>
          </a:p>
        </p:txBody>
      </p:sp>
      <p:sp>
        <p:nvSpPr>
          <p:cNvPr id="42" name="Text 38"/>
          <p:cNvSpPr/>
          <p:nvPr/>
        </p:nvSpPr>
        <p:spPr>
          <a:xfrm>
            <a:off x="7452360" y="4864608"/>
            <a:ext cx="2103120" cy="219456"/>
          </a:xfrm>
          <a:prstGeom prst="rect">
            <a:avLst/>
          </a:prstGeom>
          <a:noFill/>
          <a:ln/>
        </p:spPr>
        <p:txBody>
          <a:bodyPr wrap="square" rtlCol="0" anchor="ctr"/>
          <a:lstStyle/>
          <a:p>
            <a:pPr indent="0" marL="0">
              <a:buNone/>
            </a:pPr>
            <a:r>
              <a:rPr lang="en-US" sz="780" dirty="0">
                <a:solidFill>
                  <a:srgbClr val="334155"/>
                </a:solidFill>
                <a:latin typeface="Arial" pitchFamily="34" charset="0"/>
                <a:ea typeface="Arial" pitchFamily="34" charset="-122"/>
                <a:cs typeface="Arial" pitchFamily="34" charset="-120"/>
              </a:rPr>
              <a:t>#1 OGSCI Program Migas</a:t>
            </a:r>
            <a:endParaRPr lang="en-US" sz="780" dirty="0"/>
          </a:p>
        </p:txBody>
      </p:sp>
      <p:sp>
        <p:nvSpPr>
          <p:cNvPr id="43" name="Text 39"/>
          <p:cNvSpPr/>
          <p:nvPr/>
        </p:nvSpPr>
        <p:spPr>
          <a:xfrm>
            <a:off x="9601200" y="4864608"/>
            <a:ext cx="1554480" cy="219456"/>
          </a:xfrm>
          <a:prstGeom prst="rect">
            <a:avLst/>
          </a:prstGeom>
          <a:noFill/>
          <a:ln/>
        </p:spPr>
        <p:txBody>
          <a:bodyPr wrap="square" rtlCol="0" anchor="ctr"/>
          <a:lstStyle/>
          <a:p>
            <a:pPr algn="r" indent="0" marL="0">
              <a:buNone/>
            </a:pPr>
            <a:r>
              <a:rPr lang="en-US" sz="780" b="1" dirty="0">
                <a:solidFill>
                  <a:srgbClr val="D97706"/>
                </a:solidFill>
                <a:latin typeface="Arial" pitchFamily="34" charset="0"/>
                <a:ea typeface="Arial" pitchFamily="34" charset="-122"/>
                <a:cs typeface="Arial" pitchFamily="34" charset="-120"/>
              </a:rPr>
              <a:t>Rp 6.250.000.000</a:t>
            </a:r>
            <a:endParaRPr lang="en-US" sz="780" dirty="0"/>
          </a:p>
        </p:txBody>
      </p:sp>
      <p:sp>
        <p:nvSpPr>
          <p:cNvPr id="44" name="Text 40"/>
          <p:cNvSpPr/>
          <p:nvPr/>
        </p:nvSpPr>
        <p:spPr>
          <a:xfrm>
            <a:off x="7452360" y="5102352"/>
            <a:ext cx="2103120" cy="219456"/>
          </a:xfrm>
          <a:prstGeom prst="rect">
            <a:avLst/>
          </a:prstGeom>
          <a:noFill/>
          <a:ln/>
        </p:spPr>
        <p:txBody>
          <a:bodyPr wrap="square" rtlCol="0" anchor="ctr"/>
          <a:lstStyle/>
          <a:p>
            <a:pPr indent="0" marL="0">
              <a:buNone/>
            </a:pPr>
            <a:r>
              <a:rPr lang="en-US" sz="780" dirty="0">
                <a:solidFill>
                  <a:srgbClr val="334155"/>
                </a:solidFill>
                <a:latin typeface="Arial" pitchFamily="34" charset="0"/>
                <a:ea typeface="Arial" pitchFamily="34" charset="-122"/>
                <a:cs typeface="Arial" pitchFamily="34" charset="-120"/>
              </a:rPr>
              <a:t>#2 Pemda e-Katalog Inovasi</a:t>
            </a:r>
            <a:endParaRPr lang="en-US" sz="780" dirty="0"/>
          </a:p>
        </p:txBody>
      </p:sp>
      <p:sp>
        <p:nvSpPr>
          <p:cNvPr id="45" name="Text 41"/>
          <p:cNvSpPr/>
          <p:nvPr/>
        </p:nvSpPr>
        <p:spPr>
          <a:xfrm>
            <a:off x="9601200" y="5102352"/>
            <a:ext cx="1554480" cy="219456"/>
          </a:xfrm>
          <a:prstGeom prst="rect">
            <a:avLst/>
          </a:prstGeom>
          <a:noFill/>
          <a:ln/>
        </p:spPr>
        <p:txBody>
          <a:bodyPr wrap="square" rtlCol="0" anchor="ctr"/>
          <a:lstStyle/>
          <a:p>
            <a:pPr algn="r" indent="0" marL="0">
              <a:buNone/>
            </a:pPr>
            <a:r>
              <a:rPr lang="en-US" sz="780" b="1" dirty="0">
                <a:solidFill>
                  <a:srgbClr val="0F172A"/>
                </a:solidFill>
                <a:latin typeface="Arial" pitchFamily="34" charset="0"/>
                <a:ea typeface="Arial" pitchFamily="34" charset="-122"/>
                <a:cs typeface="Arial" pitchFamily="34" charset="-120"/>
              </a:rPr>
              <a:t>Rp 2.250.000.000</a:t>
            </a:r>
            <a:endParaRPr lang="en-US" sz="780" dirty="0"/>
          </a:p>
        </p:txBody>
      </p:sp>
      <p:sp>
        <p:nvSpPr>
          <p:cNvPr id="46" name="Text 42"/>
          <p:cNvSpPr/>
          <p:nvPr/>
        </p:nvSpPr>
        <p:spPr>
          <a:xfrm>
            <a:off x="7452360" y="5340096"/>
            <a:ext cx="2103120" cy="219456"/>
          </a:xfrm>
          <a:prstGeom prst="rect">
            <a:avLst/>
          </a:prstGeom>
          <a:noFill/>
          <a:ln/>
        </p:spPr>
        <p:txBody>
          <a:bodyPr wrap="square" rtlCol="0" anchor="ctr"/>
          <a:lstStyle/>
          <a:p>
            <a:pPr indent="0" marL="0">
              <a:buNone/>
            </a:pPr>
            <a:r>
              <a:rPr lang="en-US" sz="780" dirty="0">
                <a:solidFill>
                  <a:srgbClr val="334155"/>
                </a:solidFill>
                <a:latin typeface="Arial" pitchFamily="34" charset="0"/>
                <a:ea typeface="Arial" pitchFamily="34" charset="-122"/>
                <a:cs typeface="Arial" pitchFamily="34" charset="-120"/>
              </a:rPr>
              <a:t>#3 Startup Binaan STP</a:t>
            </a:r>
            <a:endParaRPr lang="en-US" sz="780" dirty="0"/>
          </a:p>
        </p:txBody>
      </p:sp>
      <p:sp>
        <p:nvSpPr>
          <p:cNvPr id="47" name="Text 43"/>
          <p:cNvSpPr/>
          <p:nvPr/>
        </p:nvSpPr>
        <p:spPr>
          <a:xfrm>
            <a:off x="9601200" y="5340096"/>
            <a:ext cx="1554480" cy="219456"/>
          </a:xfrm>
          <a:prstGeom prst="rect">
            <a:avLst/>
          </a:prstGeom>
          <a:noFill/>
          <a:ln/>
        </p:spPr>
        <p:txBody>
          <a:bodyPr wrap="square" rtlCol="0" anchor="ctr"/>
          <a:lstStyle/>
          <a:p>
            <a:pPr algn="r" indent="0" marL="0">
              <a:buNone/>
            </a:pPr>
            <a:r>
              <a:rPr lang="en-US" sz="780" b="1" dirty="0">
                <a:solidFill>
                  <a:srgbClr val="059669"/>
                </a:solidFill>
                <a:latin typeface="Arial" pitchFamily="34" charset="0"/>
                <a:ea typeface="Arial" pitchFamily="34" charset="-122"/>
                <a:cs typeface="Arial" pitchFamily="34" charset="-120"/>
              </a:rPr>
              <a:t>Rp 2.000.000.000</a:t>
            </a:r>
            <a:endParaRPr lang="en-US" sz="780" dirty="0"/>
          </a:p>
        </p:txBody>
      </p:sp>
      <p:sp>
        <p:nvSpPr>
          <p:cNvPr id="48" name="Text 44"/>
          <p:cNvSpPr/>
          <p:nvPr/>
        </p:nvSpPr>
        <p:spPr>
          <a:xfrm>
            <a:off x="7452360" y="5577840"/>
            <a:ext cx="2103120" cy="219456"/>
          </a:xfrm>
          <a:prstGeom prst="rect">
            <a:avLst/>
          </a:prstGeom>
          <a:noFill/>
          <a:ln/>
        </p:spPr>
        <p:txBody>
          <a:bodyPr wrap="square" rtlCol="0" anchor="ctr"/>
          <a:lstStyle/>
          <a:p>
            <a:pPr indent="0" marL="0">
              <a:buNone/>
            </a:pPr>
            <a:r>
              <a:rPr lang="en-US" sz="780" dirty="0">
                <a:solidFill>
                  <a:srgbClr val="334155"/>
                </a:solidFill>
                <a:latin typeface="Arial" pitchFamily="34" charset="0"/>
                <a:ea typeface="Arial" pitchFamily="34" charset="-122"/>
                <a:cs typeface="Arial" pitchFamily="34" charset="-120"/>
              </a:rPr>
              <a:t>#4 Sertifikasi Tenaga JFT</a:t>
            </a:r>
            <a:endParaRPr lang="en-US" sz="780" dirty="0"/>
          </a:p>
        </p:txBody>
      </p:sp>
      <p:sp>
        <p:nvSpPr>
          <p:cNvPr id="49" name="Text 45"/>
          <p:cNvSpPr/>
          <p:nvPr/>
        </p:nvSpPr>
        <p:spPr>
          <a:xfrm>
            <a:off x="9601200" y="5577840"/>
            <a:ext cx="1554480" cy="219456"/>
          </a:xfrm>
          <a:prstGeom prst="rect">
            <a:avLst/>
          </a:prstGeom>
          <a:noFill/>
          <a:ln/>
        </p:spPr>
        <p:txBody>
          <a:bodyPr wrap="square" rtlCol="0" anchor="ctr"/>
          <a:lstStyle/>
          <a:p>
            <a:pPr algn="r" indent="0" marL="0">
              <a:buNone/>
            </a:pPr>
            <a:r>
              <a:rPr lang="en-US" sz="780" b="1" dirty="0">
                <a:solidFill>
                  <a:srgbClr val="0F172A"/>
                </a:solidFill>
                <a:latin typeface="Arial" pitchFamily="34" charset="0"/>
                <a:ea typeface="Arial" pitchFamily="34" charset="-122"/>
                <a:cs typeface="Arial" pitchFamily="34" charset="-120"/>
              </a:rPr>
              <a:t>Rp 1.375.000.000</a:t>
            </a:r>
            <a:endParaRPr lang="en-US" sz="780" dirty="0"/>
          </a:p>
        </p:txBody>
      </p:sp>
      <p:sp>
        <p:nvSpPr>
          <p:cNvPr id="50" name="Text 46"/>
          <p:cNvSpPr/>
          <p:nvPr/>
        </p:nvSpPr>
        <p:spPr>
          <a:xfrm>
            <a:off x="7452360" y="5815584"/>
            <a:ext cx="2103120" cy="219456"/>
          </a:xfrm>
          <a:prstGeom prst="rect">
            <a:avLst/>
          </a:prstGeom>
          <a:noFill/>
          <a:ln/>
        </p:spPr>
        <p:txBody>
          <a:bodyPr wrap="square" rtlCol="0" anchor="ctr"/>
          <a:lstStyle/>
          <a:p>
            <a:pPr indent="0" marL="0">
              <a:buNone/>
            </a:pPr>
            <a:r>
              <a:rPr lang="en-US" sz="780" dirty="0">
                <a:solidFill>
                  <a:srgbClr val="334155"/>
                </a:solidFill>
                <a:latin typeface="Arial" pitchFamily="34" charset="0"/>
                <a:ea typeface="Arial" pitchFamily="34" charset="-122"/>
                <a:cs typeface="Arial" pitchFamily="34" charset="-120"/>
              </a:rPr>
              <a:t>#5 Tempat Uji Kompetensi</a:t>
            </a:r>
            <a:endParaRPr lang="en-US" sz="780" dirty="0"/>
          </a:p>
        </p:txBody>
      </p:sp>
      <p:sp>
        <p:nvSpPr>
          <p:cNvPr id="51" name="Text 47"/>
          <p:cNvSpPr/>
          <p:nvPr/>
        </p:nvSpPr>
        <p:spPr>
          <a:xfrm>
            <a:off x="9601200" y="5815584"/>
            <a:ext cx="1554480" cy="219456"/>
          </a:xfrm>
          <a:prstGeom prst="rect">
            <a:avLst/>
          </a:prstGeom>
          <a:noFill/>
          <a:ln/>
        </p:spPr>
        <p:txBody>
          <a:bodyPr wrap="square" rtlCol="0" anchor="ctr"/>
          <a:lstStyle/>
          <a:p>
            <a:pPr algn="r" indent="0" marL="0">
              <a:buNone/>
            </a:pPr>
            <a:r>
              <a:rPr lang="en-US" sz="780" b="1" dirty="0">
                <a:solidFill>
                  <a:srgbClr val="0F172A"/>
                </a:solidFill>
                <a:latin typeface="Arial" pitchFamily="34" charset="0"/>
                <a:ea typeface="Arial" pitchFamily="34" charset="-122"/>
                <a:cs typeface="Arial" pitchFamily="34" charset="-120"/>
              </a:rPr>
              <a:t>Rp 1.350.000.000</a:t>
            </a:r>
            <a:endParaRPr lang="en-US" sz="7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84C7"/>
          </a:solidFill>
          <a:ln/>
        </p:spPr>
      </p:sp>
      <p:sp>
        <p:nvSpPr>
          <p:cNvPr id="3" name="Shape 1"/>
          <p:cNvSpPr/>
          <p:nvPr/>
        </p:nvSpPr>
        <p:spPr>
          <a:xfrm>
            <a:off x="9144000" y="0"/>
            <a:ext cx="3047695" cy="73152"/>
          </a:xfrm>
          <a:prstGeom prst="rect">
            <a:avLst/>
          </a:prstGeom>
          <a:solidFill>
            <a:srgbClr val="D97706"/>
          </a:solidFill>
          <a:ln/>
        </p:spPr>
      </p:sp>
      <p:sp>
        <p:nvSpPr>
          <p:cNvPr id="4" name="Shape 2"/>
          <p:cNvSpPr/>
          <p:nvPr/>
        </p:nvSpPr>
        <p:spPr>
          <a:xfrm>
            <a:off x="731520" y="256032"/>
            <a:ext cx="3291840" cy="237744"/>
          </a:xfrm>
          <a:prstGeom prst="roundRect">
            <a:avLst>
              <a:gd name="adj" fmla="val 19231"/>
            </a:avLst>
          </a:prstGeom>
          <a:solidFill>
            <a:srgbClr val="E0F2FE"/>
          </a:solidFill>
          <a:ln w="12700">
            <a:solidFill>
              <a:srgbClr val="0284C7"/>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0369A1"/>
                </a:solidFill>
                <a:latin typeface="Arial" pitchFamily="34" charset="0"/>
                <a:ea typeface="Arial" pitchFamily="34" charset="-122"/>
                <a:cs typeface="Arial" pitchFamily="34" charset="-120"/>
              </a:rPr>
              <a:t>TRANSPARANSI ANGGARAN &amp; STRUKTUR PENDAPATAN</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0F172A"/>
                </a:solidFill>
                <a:latin typeface="Arial" pitchFamily="34" charset="0"/>
                <a:ea typeface="Arial" pitchFamily="34" charset="-122"/>
                <a:cs typeface="Arial" pitchFamily="34" charset="-120"/>
              </a:rPr>
              <a:t>ANATOMY MESIN PENDAPATAN 2030: RINCIAN PER MATA ANGGARAN</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334155"/>
                </a:solidFill>
                <a:latin typeface="Arial" pitchFamily="34" charset="0"/>
                <a:ea typeface="Arial" pitchFamily="34" charset="-122"/>
                <a:cs typeface="Arial" pitchFamily="34" charset="-120"/>
              </a:rPr>
              <a:t>Transparansi Total Hasil Rekonsiliasi: Dari Mana Setiap Rupiah dari Target Rp 23,47 Miliar Berasal</a:t>
            </a:r>
            <a:endParaRPr lang="en-US" sz="1000" dirty="0"/>
          </a:p>
        </p:txBody>
      </p:sp>
      <p:sp>
        <p:nvSpPr>
          <p:cNvPr id="8" name="Shape 6"/>
          <p:cNvSpPr/>
          <p:nvPr/>
        </p:nvSpPr>
        <p:spPr>
          <a:xfrm>
            <a:off x="731520" y="6419088"/>
            <a:ext cx="10728655" cy="18288"/>
          </a:xfrm>
          <a:prstGeom prst="rect">
            <a:avLst/>
          </a:prstGeom>
          <a:solidFill>
            <a:srgbClr val="CBD5E1"/>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334155"/>
                </a:solidFill>
                <a:latin typeface="Arial" pitchFamily="34" charset="0"/>
                <a:ea typeface="Arial" pitchFamily="34" charset="-122"/>
                <a:cs typeface="Arial" pitchFamily="34" charset="-120"/>
              </a:rPr>
              <a:t>UPTD KST SOLO TECHNOPARK  |  BRIDA KOTA SURAKARTA  •  Bahan Paparan Resmi Walikota (Edisi V7 Light)</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0369A1"/>
                </a:solidFill>
                <a:latin typeface="Arial" pitchFamily="34" charset="0"/>
                <a:ea typeface="Arial" pitchFamily="34" charset="-122"/>
                <a:cs typeface="Arial" pitchFamily="34" charset="-120"/>
              </a:rPr>
              <a:t>Slide 10 / 12</a:t>
            </a:r>
            <a:endParaRPr lang="en-US" sz="900" dirty="0"/>
          </a:p>
        </p:txBody>
      </p:sp>
      <p:sp>
        <p:nvSpPr>
          <p:cNvPr id="11" name="Shape 9"/>
          <p:cNvSpPr/>
          <p:nvPr/>
        </p:nvSpPr>
        <p:spPr>
          <a:xfrm>
            <a:off x="731520" y="1280160"/>
            <a:ext cx="5863210" cy="292608"/>
          </a:xfrm>
          <a:prstGeom prst="rect">
            <a:avLst/>
          </a:prstGeom>
          <a:solidFill>
            <a:srgbClr val="0284C7"/>
          </a:solidFill>
          <a:ln w="12700">
            <a:solidFill>
              <a:srgbClr val="F8FAFC"/>
            </a:solidFill>
            <a:prstDash val="solid"/>
          </a:ln>
        </p:spPr>
      </p:sp>
      <p:sp>
        <p:nvSpPr>
          <p:cNvPr id="12" name="Text 10"/>
          <p:cNvSpPr/>
          <p:nvPr/>
        </p:nvSpPr>
        <p:spPr>
          <a:xfrm>
            <a:off x="731520" y="1280160"/>
            <a:ext cx="5863210" cy="292608"/>
          </a:xfrm>
          <a:prstGeom prst="rect">
            <a:avLst/>
          </a:prstGeom>
          <a:noFill/>
          <a:ln/>
        </p:spPr>
        <p:txBody>
          <a:bodyPr wrap="square" rtlCol="0" anchor="ctr"/>
          <a:lstStyle/>
          <a:p>
            <a:pPr algn="ctr" indent="0" marL="0">
              <a:buNone/>
            </a:pPr>
            <a:r>
              <a:rPr lang="en-US" sz="850" b="1" dirty="0">
                <a:solidFill>
                  <a:srgbClr val="F8FAFC"/>
                </a:solidFill>
                <a:latin typeface="Arial" pitchFamily="34" charset="0"/>
                <a:ea typeface="Arial" pitchFamily="34" charset="-122"/>
                <a:cs typeface="Arial" pitchFamily="34" charset="-120"/>
              </a:rPr>
              <a:t>Klaster A: Kemitraan Strategis (54,6%)</a:t>
            </a:r>
            <a:endParaRPr lang="en-US" sz="850" dirty="0"/>
          </a:p>
        </p:txBody>
      </p:sp>
      <p:sp>
        <p:nvSpPr>
          <p:cNvPr id="13" name="Shape 11"/>
          <p:cNvSpPr/>
          <p:nvPr/>
        </p:nvSpPr>
        <p:spPr>
          <a:xfrm>
            <a:off x="6594730" y="1280160"/>
            <a:ext cx="1682253" cy="292608"/>
          </a:xfrm>
          <a:prstGeom prst="rect">
            <a:avLst/>
          </a:prstGeom>
          <a:solidFill>
            <a:srgbClr val="0369A1"/>
          </a:solidFill>
          <a:ln w="12700">
            <a:solidFill>
              <a:srgbClr val="F8FAFC"/>
            </a:solidFill>
            <a:prstDash val="solid"/>
          </a:ln>
        </p:spPr>
      </p:sp>
      <p:sp>
        <p:nvSpPr>
          <p:cNvPr id="14" name="Text 12"/>
          <p:cNvSpPr/>
          <p:nvPr/>
        </p:nvSpPr>
        <p:spPr>
          <a:xfrm>
            <a:off x="6594730" y="1280160"/>
            <a:ext cx="1682253" cy="292608"/>
          </a:xfrm>
          <a:prstGeom prst="rect">
            <a:avLst/>
          </a:prstGeom>
          <a:noFill/>
          <a:ln/>
        </p:spPr>
        <p:txBody>
          <a:bodyPr wrap="square" rtlCol="0" anchor="ctr"/>
          <a:lstStyle/>
          <a:p>
            <a:pPr algn="ctr" indent="0" marL="0">
              <a:buNone/>
            </a:pPr>
            <a:r>
              <a:rPr lang="en-US" sz="750" b="1" dirty="0">
                <a:solidFill>
                  <a:srgbClr val="F8FAFC"/>
                </a:solidFill>
                <a:latin typeface="Arial" pitchFamily="34" charset="0"/>
                <a:ea typeface="Arial" pitchFamily="34" charset="-122"/>
                <a:cs typeface="Arial" pitchFamily="34" charset="-120"/>
              </a:rPr>
              <a:t>B: Vokasi (15,7%)</a:t>
            </a:r>
            <a:endParaRPr lang="en-US" sz="750" dirty="0"/>
          </a:p>
        </p:txBody>
      </p:sp>
      <p:sp>
        <p:nvSpPr>
          <p:cNvPr id="15" name="Shape 13"/>
          <p:cNvSpPr/>
          <p:nvPr/>
        </p:nvSpPr>
        <p:spPr>
          <a:xfrm>
            <a:off x="8276983" y="1280160"/>
            <a:ext cx="1128655" cy="292608"/>
          </a:xfrm>
          <a:prstGeom prst="rect">
            <a:avLst/>
          </a:prstGeom>
          <a:solidFill>
            <a:srgbClr val="D97706"/>
          </a:solidFill>
          <a:ln w="12700">
            <a:solidFill>
              <a:srgbClr val="F8FAFC"/>
            </a:solidFill>
            <a:prstDash val="solid"/>
          </a:ln>
        </p:spPr>
      </p:sp>
      <p:sp>
        <p:nvSpPr>
          <p:cNvPr id="16" name="Text 14"/>
          <p:cNvSpPr/>
          <p:nvPr/>
        </p:nvSpPr>
        <p:spPr>
          <a:xfrm>
            <a:off x="8276983" y="1280160"/>
            <a:ext cx="1128655" cy="292608"/>
          </a:xfrm>
          <a:prstGeom prst="rect">
            <a:avLst/>
          </a:prstGeom>
          <a:noFill/>
          <a:ln/>
        </p:spPr>
        <p:txBody>
          <a:bodyPr wrap="square" rtlCol="0" anchor="ctr"/>
          <a:lstStyle/>
          <a:p>
            <a:pPr algn="ctr" indent="0" marL="0">
              <a:buNone/>
            </a:pPr>
            <a:r>
              <a:rPr lang="en-US" sz="750" b="1" dirty="0">
                <a:solidFill>
                  <a:srgbClr val="F8FAFC"/>
                </a:solidFill>
                <a:latin typeface="Arial" pitchFamily="34" charset="0"/>
                <a:ea typeface="Arial" pitchFamily="34" charset="-122"/>
                <a:cs typeface="Arial" pitchFamily="34" charset="-120"/>
              </a:rPr>
              <a:t>C: Diklat (10,5%)</a:t>
            </a:r>
            <a:endParaRPr lang="en-US" sz="750" dirty="0"/>
          </a:p>
        </p:txBody>
      </p:sp>
      <p:sp>
        <p:nvSpPr>
          <p:cNvPr id="17" name="Shape 15"/>
          <p:cNvSpPr/>
          <p:nvPr/>
        </p:nvSpPr>
        <p:spPr>
          <a:xfrm>
            <a:off x="9405638" y="1280160"/>
            <a:ext cx="1120072" cy="292608"/>
          </a:xfrm>
          <a:prstGeom prst="rect">
            <a:avLst/>
          </a:prstGeom>
          <a:solidFill>
            <a:srgbClr val="059669"/>
          </a:solidFill>
          <a:ln w="12700">
            <a:solidFill>
              <a:srgbClr val="F8FAFC"/>
            </a:solidFill>
            <a:prstDash val="solid"/>
          </a:ln>
        </p:spPr>
      </p:sp>
      <p:sp>
        <p:nvSpPr>
          <p:cNvPr id="18" name="Text 16"/>
          <p:cNvSpPr/>
          <p:nvPr/>
        </p:nvSpPr>
        <p:spPr>
          <a:xfrm>
            <a:off x="9405638" y="1280160"/>
            <a:ext cx="1120072" cy="292608"/>
          </a:xfrm>
          <a:prstGeom prst="rect">
            <a:avLst/>
          </a:prstGeom>
          <a:noFill/>
          <a:ln/>
        </p:spPr>
        <p:txBody>
          <a:bodyPr wrap="square" rtlCol="0" anchor="ctr"/>
          <a:lstStyle/>
          <a:p>
            <a:pPr algn="ctr" indent="0" marL="0">
              <a:buNone/>
            </a:pPr>
            <a:r>
              <a:rPr lang="en-US" sz="750" b="1" dirty="0">
                <a:solidFill>
                  <a:srgbClr val="F8FAFC"/>
                </a:solidFill>
                <a:latin typeface="Arial" pitchFamily="34" charset="0"/>
                <a:ea typeface="Arial" pitchFamily="34" charset="-122"/>
                <a:cs typeface="Arial" pitchFamily="34" charset="-120"/>
              </a:rPr>
              <a:t>D: MICE (10,4%)</a:t>
            </a:r>
            <a:endParaRPr lang="en-US" sz="750" dirty="0"/>
          </a:p>
        </p:txBody>
      </p:sp>
      <p:sp>
        <p:nvSpPr>
          <p:cNvPr id="19" name="Shape 17"/>
          <p:cNvSpPr/>
          <p:nvPr/>
        </p:nvSpPr>
        <p:spPr>
          <a:xfrm>
            <a:off x="10525709" y="1280160"/>
            <a:ext cx="669468" cy="292608"/>
          </a:xfrm>
          <a:prstGeom prst="rect">
            <a:avLst/>
          </a:prstGeom>
          <a:solidFill>
            <a:srgbClr val="7C3AED"/>
          </a:solidFill>
          <a:ln w="12700">
            <a:solidFill>
              <a:srgbClr val="F8FAFC"/>
            </a:solidFill>
            <a:prstDash val="solid"/>
          </a:ln>
        </p:spPr>
      </p:sp>
      <p:sp>
        <p:nvSpPr>
          <p:cNvPr id="20" name="Text 18"/>
          <p:cNvSpPr/>
          <p:nvPr/>
        </p:nvSpPr>
        <p:spPr>
          <a:xfrm>
            <a:off x="10525709" y="1280160"/>
            <a:ext cx="669468" cy="292608"/>
          </a:xfrm>
          <a:prstGeom prst="rect">
            <a:avLst/>
          </a:prstGeom>
          <a:noFill/>
          <a:ln/>
        </p:spPr>
        <p:txBody>
          <a:bodyPr wrap="square" rtlCol="0" anchor="ctr"/>
          <a:lstStyle/>
          <a:p>
            <a:pPr algn="ctr" indent="0" marL="0">
              <a:buNone/>
            </a:pPr>
            <a:r>
              <a:rPr lang="en-US" sz="650" b="1" dirty="0">
                <a:solidFill>
                  <a:srgbClr val="0F172A"/>
                </a:solidFill>
                <a:latin typeface="Arial" pitchFamily="34" charset="0"/>
                <a:ea typeface="Arial" pitchFamily="34" charset="-122"/>
                <a:cs typeface="Arial" pitchFamily="34" charset="-120"/>
              </a:rPr>
              <a:t>E: 6,2%</a:t>
            </a:r>
            <a:endParaRPr lang="en-US" sz="650" dirty="0"/>
          </a:p>
        </p:txBody>
      </p:sp>
      <p:sp>
        <p:nvSpPr>
          <p:cNvPr id="21" name="Shape 19"/>
          <p:cNvSpPr/>
          <p:nvPr/>
        </p:nvSpPr>
        <p:spPr>
          <a:xfrm>
            <a:off x="11195177" y="1280160"/>
            <a:ext cx="264998" cy="292608"/>
          </a:xfrm>
          <a:prstGeom prst="rect">
            <a:avLst/>
          </a:prstGeom>
          <a:solidFill>
            <a:srgbClr val="64748B"/>
          </a:solidFill>
          <a:ln w="12700">
            <a:solidFill>
              <a:srgbClr val="F8FAFC"/>
            </a:solidFill>
            <a:prstDash val="solid"/>
          </a:ln>
        </p:spPr>
      </p:sp>
      <p:sp>
        <p:nvSpPr>
          <p:cNvPr id="22" name="Text 20"/>
          <p:cNvSpPr/>
          <p:nvPr/>
        </p:nvSpPr>
        <p:spPr>
          <a:xfrm>
            <a:off x="11195177" y="1280160"/>
            <a:ext cx="264998" cy="292608"/>
          </a:xfrm>
          <a:prstGeom prst="rect">
            <a:avLst/>
          </a:prstGeom>
          <a:noFill/>
          <a:ln/>
        </p:spPr>
        <p:txBody>
          <a:bodyPr wrap="square" rtlCol="0" anchor="ctr"/>
          <a:lstStyle/>
          <a:p>
            <a:pPr algn="ctr" indent="0" marL="0">
              <a:buNone/>
            </a:pPr>
            <a:r>
              <a:rPr lang="en-US" sz="650" b="1" dirty="0">
                <a:solidFill>
                  <a:srgbClr val="0F172A"/>
                </a:solidFill>
                <a:latin typeface="Arial" pitchFamily="34" charset="0"/>
                <a:ea typeface="Arial" pitchFamily="34" charset="-122"/>
                <a:cs typeface="Arial" pitchFamily="34" charset="-120"/>
              </a:rPr>
              <a:t>F</a:t>
            </a:r>
            <a:endParaRPr lang="en-US" sz="650" dirty="0"/>
          </a:p>
        </p:txBody>
      </p:sp>
      <p:sp>
        <p:nvSpPr>
          <p:cNvPr id="23" name="Shape 21"/>
          <p:cNvSpPr/>
          <p:nvPr/>
        </p:nvSpPr>
        <p:spPr>
          <a:xfrm>
            <a:off x="731520" y="1664208"/>
            <a:ext cx="4434840" cy="4005072"/>
          </a:xfrm>
          <a:prstGeom prst="roundRect">
            <a:avLst>
              <a:gd name="adj" fmla="val 1826"/>
            </a:avLst>
          </a:prstGeom>
          <a:solidFill>
            <a:srgbClr val="FFFFFF"/>
          </a:solidFill>
          <a:ln w="12700">
            <a:solidFill>
              <a:srgbClr val="CBD5E1"/>
            </a:solidFill>
            <a:prstDash val="solid"/>
          </a:ln>
        </p:spPr>
      </p:sp>
      <p:sp>
        <p:nvSpPr>
          <p:cNvPr id="24" name="Shape 22"/>
          <p:cNvSpPr/>
          <p:nvPr/>
        </p:nvSpPr>
        <p:spPr>
          <a:xfrm>
            <a:off x="731520" y="1664208"/>
            <a:ext cx="73152" cy="4005072"/>
          </a:xfrm>
          <a:prstGeom prst="roundRect">
            <a:avLst>
              <a:gd name="adj" fmla="val 50000"/>
            </a:avLst>
          </a:prstGeom>
          <a:solidFill>
            <a:srgbClr val="0284C7"/>
          </a:solidFill>
          <a:ln w="12700">
            <a:solidFill>
              <a:srgbClr val="0284C7"/>
            </a:solidFill>
            <a:prstDash val="solid"/>
          </a:ln>
        </p:spPr>
      </p:sp>
      <p:sp>
        <p:nvSpPr>
          <p:cNvPr id="25" name="Shape 23"/>
          <p:cNvSpPr/>
          <p:nvPr/>
        </p:nvSpPr>
        <p:spPr>
          <a:xfrm>
            <a:off x="868680" y="1773936"/>
            <a:ext cx="4160520" cy="676656"/>
          </a:xfrm>
          <a:prstGeom prst="roundRect">
            <a:avLst>
              <a:gd name="adj" fmla="val 6757"/>
            </a:avLst>
          </a:prstGeom>
          <a:solidFill>
            <a:srgbClr val="F1F5F9"/>
          </a:solidFill>
          <a:ln w="19050">
            <a:solidFill>
              <a:srgbClr val="0284C7"/>
            </a:solidFill>
            <a:prstDash val="solid"/>
          </a:ln>
        </p:spPr>
      </p:sp>
      <p:sp>
        <p:nvSpPr>
          <p:cNvPr id="26" name="Text 24"/>
          <p:cNvSpPr/>
          <p:nvPr/>
        </p:nvSpPr>
        <p:spPr>
          <a:xfrm>
            <a:off x="960120" y="1792224"/>
            <a:ext cx="2176272" cy="640080"/>
          </a:xfrm>
          <a:prstGeom prst="rect">
            <a:avLst/>
          </a:prstGeom>
          <a:noFill/>
          <a:ln/>
        </p:spPr>
        <p:txBody>
          <a:bodyPr wrap="square" rtlCol="0" anchor="ctr"/>
          <a:lstStyle/>
          <a:p>
            <a:pPr indent="0" marL="0">
              <a:buNone/>
            </a:pPr>
            <a:r>
              <a:rPr lang="en-US" sz="780" b="1" dirty="0">
                <a:solidFill>
                  <a:srgbClr val="0369A1"/>
                </a:solidFill>
                <a:latin typeface="Arial" pitchFamily="34" charset="0"/>
                <a:ea typeface="Arial" pitchFamily="34" charset="-122"/>
                <a:cs typeface="Arial" pitchFamily="34" charset="-120"/>
              </a:rPr>
              <a:t>🏆 ENGINE UTAMA (54,6% REVENUE)
</a:t>
            </a:r>
            <a:pPr indent="0" marL="0">
              <a:buNone/>
            </a:pPr>
            <a:r>
              <a:rPr lang="en-US" sz="880" b="1" dirty="0">
                <a:solidFill>
                  <a:srgbClr val="0F172A"/>
                </a:solidFill>
                <a:latin typeface="Arial" pitchFamily="34" charset="0"/>
                <a:ea typeface="Arial" pitchFamily="34" charset="-122"/>
                <a:cs typeface="Arial" pitchFamily="34" charset="-120"/>
              </a:rPr>
              <a:t>KLASTER A: KERJASAMA STRATEGIS
</a:t>
            </a:r>
            <a:pPr indent="0" marL="0">
              <a:buNone/>
            </a:pPr>
            <a:r>
              <a:rPr lang="en-US" sz="720" dirty="0">
                <a:solidFill>
                  <a:srgbClr val="334155"/>
                </a:solidFill>
                <a:latin typeface="Arial" pitchFamily="34" charset="0"/>
                <a:ea typeface="Arial" pitchFamily="34" charset="-122"/>
                <a:cs typeface="Arial" pitchFamily="34" charset="-120"/>
              </a:rPr>
              <a:t>5 Program Kemitraan Unggulan 2030</a:t>
            </a:r>
            <a:endParaRPr lang="en-US" sz="780" dirty="0"/>
          </a:p>
        </p:txBody>
      </p:sp>
      <p:sp>
        <p:nvSpPr>
          <p:cNvPr id="27" name="Shape 25"/>
          <p:cNvSpPr/>
          <p:nvPr/>
        </p:nvSpPr>
        <p:spPr>
          <a:xfrm>
            <a:off x="3200400" y="1828800"/>
            <a:ext cx="1737360" cy="566928"/>
          </a:xfrm>
          <a:prstGeom prst="roundRect">
            <a:avLst>
              <a:gd name="adj" fmla="val 6452"/>
            </a:avLst>
          </a:prstGeom>
          <a:solidFill>
            <a:srgbClr val="F8FAFC"/>
          </a:solidFill>
          <a:ln w="12700">
            <a:solidFill>
              <a:srgbClr val="D97706"/>
            </a:solidFill>
            <a:prstDash val="solid"/>
          </a:ln>
        </p:spPr>
      </p:sp>
      <p:sp>
        <p:nvSpPr>
          <p:cNvPr id="28" name="Text 26"/>
          <p:cNvSpPr/>
          <p:nvPr/>
        </p:nvSpPr>
        <p:spPr>
          <a:xfrm>
            <a:off x="3200400" y="1865376"/>
            <a:ext cx="1737360" cy="274320"/>
          </a:xfrm>
          <a:prstGeom prst="rect">
            <a:avLst/>
          </a:prstGeom>
          <a:noFill/>
          <a:ln/>
        </p:spPr>
        <p:txBody>
          <a:bodyPr wrap="square" rtlCol="0" anchor="ctr"/>
          <a:lstStyle/>
          <a:p>
            <a:pPr algn="ctr" indent="0" marL="0">
              <a:buNone/>
            </a:pPr>
            <a:r>
              <a:rPr lang="en-US" sz="1250" b="1" dirty="0">
                <a:solidFill>
                  <a:srgbClr val="D97706"/>
                </a:solidFill>
                <a:latin typeface="Arial" pitchFamily="34" charset="0"/>
                <a:ea typeface="Arial" pitchFamily="34" charset="-122"/>
                <a:cs typeface="Arial" pitchFamily="34" charset="-120"/>
              </a:rPr>
              <a:t>Rp 12.825.000.000</a:t>
            </a:r>
            <a:endParaRPr lang="en-US" sz="1250" dirty="0"/>
          </a:p>
        </p:txBody>
      </p:sp>
      <p:sp>
        <p:nvSpPr>
          <p:cNvPr id="29" name="Text 27"/>
          <p:cNvSpPr/>
          <p:nvPr/>
        </p:nvSpPr>
        <p:spPr>
          <a:xfrm>
            <a:off x="3200400" y="2139696"/>
            <a:ext cx="1737360" cy="182880"/>
          </a:xfrm>
          <a:prstGeom prst="rect">
            <a:avLst/>
          </a:prstGeom>
          <a:noFill/>
          <a:ln/>
        </p:spPr>
        <p:txBody>
          <a:bodyPr wrap="square" rtlCol="0" anchor="ctr"/>
          <a:lstStyle/>
          <a:p>
            <a:pPr algn="ctr" indent="0" marL="0">
              <a:buNone/>
            </a:pPr>
            <a:r>
              <a:rPr lang="en-US" sz="680" b="1" dirty="0">
                <a:solidFill>
                  <a:srgbClr val="0369A1"/>
                </a:solidFill>
                <a:latin typeface="Arial" pitchFamily="34" charset="0"/>
                <a:ea typeface="Arial" pitchFamily="34" charset="-122"/>
                <a:cs typeface="Arial" pitchFamily="34" charset="-120"/>
              </a:rPr>
              <a:t>54,65% DARI TOTAL TARGET</a:t>
            </a:r>
            <a:endParaRPr lang="en-US" sz="680" dirty="0"/>
          </a:p>
        </p:txBody>
      </p:sp>
      <p:sp>
        <p:nvSpPr>
          <p:cNvPr id="30" name="Shape 28"/>
          <p:cNvSpPr/>
          <p:nvPr/>
        </p:nvSpPr>
        <p:spPr>
          <a:xfrm>
            <a:off x="868680" y="2532888"/>
            <a:ext cx="4160520" cy="402336"/>
          </a:xfrm>
          <a:prstGeom prst="roundRect">
            <a:avLst>
              <a:gd name="adj" fmla="val 9091"/>
            </a:avLst>
          </a:prstGeom>
          <a:solidFill>
            <a:srgbClr val="FEF3C7"/>
          </a:solidFill>
          <a:ln w="15240">
            <a:solidFill>
              <a:srgbClr val="D97706"/>
            </a:solidFill>
            <a:prstDash val="solid"/>
          </a:ln>
        </p:spPr>
      </p:sp>
      <p:sp>
        <p:nvSpPr>
          <p:cNvPr id="31" name="Shape 29"/>
          <p:cNvSpPr/>
          <p:nvPr/>
        </p:nvSpPr>
        <p:spPr>
          <a:xfrm>
            <a:off x="987552" y="2697480"/>
            <a:ext cx="82296" cy="82296"/>
          </a:xfrm>
          <a:prstGeom prst="ellipse">
            <a:avLst/>
          </a:prstGeom>
          <a:solidFill>
            <a:srgbClr val="D97706"/>
          </a:solidFill>
          <a:ln w="12700">
            <a:solidFill>
              <a:srgbClr val="D97706"/>
            </a:solidFill>
            <a:prstDash val="solid"/>
          </a:ln>
        </p:spPr>
      </p:sp>
      <p:sp>
        <p:nvSpPr>
          <p:cNvPr id="32" name="Text 30"/>
          <p:cNvSpPr/>
          <p:nvPr/>
        </p:nvSpPr>
        <p:spPr>
          <a:xfrm>
            <a:off x="1115568" y="2569464"/>
            <a:ext cx="2468880" cy="329184"/>
          </a:xfrm>
          <a:prstGeom prst="rect">
            <a:avLst/>
          </a:prstGeom>
          <a:noFill/>
          <a:ln/>
        </p:spPr>
        <p:txBody>
          <a:bodyPr wrap="square" rtlCol="0" anchor="ctr"/>
          <a:lstStyle/>
          <a:p>
            <a:pPr indent="0" marL="0">
              <a:buNone/>
            </a:pPr>
            <a:r>
              <a:rPr lang="en-US" sz="850" b="1" dirty="0">
                <a:solidFill>
                  <a:srgbClr val="0F172A"/>
                </a:solidFill>
                <a:latin typeface="Arial" pitchFamily="34" charset="0"/>
                <a:ea typeface="Arial" pitchFamily="34" charset="-122"/>
                <a:cs typeface="Arial" pitchFamily="34" charset="-120"/>
              </a:rPr>
              <a:t>OGSCI Migas &amp; Maritim (Konsorsium)</a:t>
            </a:r>
            <a:pPr indent="0" marL="0">
              <a:buNone/>
            </a:pPr>
            <a:r>
              <a:rPr lang="en-US" sz="720" dirty="0">
                <a:solidFill>
                  <a:srgbClr val="D97706"/>
                </a:solidFill>
                <a:latin typeface="Arial" pitchFamily="34" charset="0"/>
                <a:ea typeface="Arial" pitchFamily="34" charset="-122"/>
                <a:cs typeface="Arial" pitchFamily="34" charset="-120"/>
              </a:rPr>
              <a:t>  [Anchor Revenue]</a:t>
            </a:r>
            <a:endParaRPr lang="en-US" sz="850" dirty="0"/>
          </a:p>
        </p:txBody>
      </p:sp>
      <p:sp>
        <p:nvSpPr>
          <p:cNvPr id="33" name="Text 31"/>
          <p:cNvSpPr/>
          <p:nvPr/>
        </p:nvSpPr>
        <p:spPr>
          <a:xfrm>
            <a:off x="3566160" y="2569464"/>
            <a:ext cx="1325880" cy="329184"/>
          </a:xfrm>
          <a:prstGeom prst="rect">
            <a:avLst/>
          </a:prstGeom>
          <a:noFill/>
          <a:ln/>
        </p:spPr>
        <p:txBody>
          <a:bodyPr wrap="square" rtlCol="0" anchor="ctr"/>
          <a:lstStyle/>
          <a:p>
            <a:pPr algn="r" indent="0" marL="0">
              <a:buNone/>
            </a:pPr>
            <a:r>
              <a:rPr lang="en-US" sz="880" b="1" dirty="0">
                <a:solidFill>
                  <a:srgbClr val="D97706"/>
                </a:solidFill>
                <a:latin typeface="Arial" pitchFamily="34" charset="0"/>
                <a:ea typeface="Arial" pitchFamily="34" charset="-122"/>
                <a:cs typeface="Arial" pitchFamily="34" charset="-120"/>
              </a:rPr>
              <a:t>Rp 6.250.000.000</a:t>
            </a:r>
            <a:endParaRPr lang="en-US" sz="880" dirty="0"/>
          </a:p>
        </p:txBody>
      </p:sp>
      <p:sp>
        <p:nvSpPr>
          <p:cNvPr id="34" name="Shape 32"/>
          <p:cNvSpPr/>
          <p:nvPr/>
        </p:nvSpPr>
        <p:spPr>
          <a:xfrm>
            <a:off x="868680" y="2990088"/>
            <a:ext cx="4160520" cy="402336"/>
          </a:xfrm>
          <a:prstGeom prst="roundRect">
            <a:avLst>
              <a:gd name="adj" fmla="val 9091"/>
            </a:avLst>
          </a:prstGeom>
          <a:solidFill>
            <a:srgbClr val="FFFFFF"/>
          </a:solidFill>
          <a:ln w="10160">
            <a:solidFill>
              <a:srgbClr val="CBD5E1"/>
            </a:solidFill>
            <a:prstDash val="solid"/>
          </a:ln>
        </p:spPr>
      </p:sp>
      <p:sp>
        <p:nvSpPr>
          <p:cNvPr id="35" name="Shape 33"/>
          <p:cNvSpPr/>
          <p:nvPr/>
        </p:nvSpPr>
        <p:spPr>
          <a:xfrm>
            <a:off x="987552" y="3154680"/>
            <a:ext cx="82296" cy="82296"/>
          </a:xfrm>
          <a:prstGeom prst="ellipse">
            <a:avLst/>
          </a:prstGeom>
          <a:solidFill>
            <a:srgbClr val="0284C7"/>
          </a:solidFill>
          <a:ln w="12700">
            <a:solidFill>
              <a:srgbClr val="0284C7"/>
            </a:solidFill>
            <a:prstDash val="solid"/>
          </a:ln>
        </p:spPr>
      </p:sp>
      <p:sp>
        <p:nvSpPr>
          <p:cNvPr id="36" name="Text 34"/>
          <p:cNvSpPr/>
          <p:nvPr/>
        </p:nvSpPr>
        <p:spPr>
          <a:xfrm>
            <a:off x="1115568" y="3026664"/>
            <a:ext cx="2468880" cy="329184"/>
          </a:xfrm>
          <a:prstGeom prst="rect">
            <a:avLst/>
          </a:prstGeom>
          <a:noFill/>
          <a:ln/>
        </p:spPr>
        <p:txBody>
          <a:bodyPr wrap="square" rtlCol="0" anchor="ctr"/>
          <a:lstStyle/>
          <a:p>
            <a:pPr indent="0" marL="0">
              <a:buNone/>
            </a:pPr>
            <a:r>
              <a:rPr lang="en-US" sz="850" b="1" dirty="0">
                <a:solidFill>
                  <a:srgbClr val="334155"/>
                </a:solidFill>
                <a:latin typeface="Arial" pitchFamily="34" charset="0"/>
                <a:ea typeface="Arial" pitchFamily="34" charset="-122"/>
                <a:cs typeface="Arial" pitchFamily="34" charset="-120"/>
              </a:rPr>
              <a:t>Pemda Solo (e-Katalog Inovasi)</a:t>
            </a:r>
            <a:pPr indent="0" marL="0">
              <a:buNone/>
            </a:pPr>
            <a:r>
              <a:rPr lang="en-US" sz="720" dirty="0">
                <a:solidFill>
                  <a:srgbClr val="0369A1"/>
                </a:solidFill>
                <a:latin typeface="Arial" pitchFamily="34" charset="0"/>
                <a:ea typeface="Arial" pitchFamily="34" charset="-122"/>
                <a:cs typeface="Arial" pitchFamily="34" charset="-120"/>
              </a:rPr>
              <a:t>  [Instruksi Walikota]</a:t>
            </a:r>
            <a:endParaRPr lang="en-US" sz="850" dirty="0"/>
          </a:p>
        </p:txBody>
      </p:sp>
      <p:sp>
        <p:nvSpPr>
          <p:cNvPr id="37" name="Text 35"/>
          <p:cNvSpPr/>
          <p:nvPr/>
        </p:nvSpPr>
        <p:spPr>
          <a:xfrm>
            <a:off x="3566160" y="3026664"/>
            <a:ext cx="1325880" cy="329184"/>
          </a:xfrm>
          <a:prstGeom prst="rect">
            <a:avLst/>
          </a:prstGeom>
          <a:noFill/>
          <a:ln/>
        </p:spPr>
        <p:txBody>
          <a:bodyPr wrap="square" rtlCol="0" anchor="ctr"/>
          <a:lstStyle/>
          <a:p>
            <a:pPr algn="r" indent="0" marL="0">
              <a:buNone/>
            </a:pPr>
            <a:r>
              <a:rPr lang="en-US" sz="880" b="1" dirty="0">
                <a:solidFill>
                  <a:srgbClr val="0F172A"/>
                </a:solidFill>
                <a:latin typeface="Arial" pitchFamily="34" charset="0"/>
                <a:ea typeface="Arial" pitchFamily="34" charset="-122"/>
                <a:cs typeface="Arial" pitchFamily="34" charset="-120"/>
              </a:rPr>
              <a:t>Rp 2.250.000.000</a:t>
            </a:r>
            <a:endParaRPr lang="en-US" sz="880" dirty="0"/>
          </a:p>
        </p:txBody>
      </p:sp>
      <p:sp>
        <p:nvSpPr>
          <p:cNvPr id="38" name="Shape 36"/>
          <p:cNvSpPr/>
          <p:nvPr/>
        </p:nvSpPr>
        <p:spPr>
          <a:xfrm>
            <a:off x="868680" y="3447288"/>
            <a:ext cx="4160520" cy="402336"/>
          </a:xfrm>
          <a:prstGeom prst="roundRect">
            <a:avLst>
              <a:gd name="adj" fmla="val 9091"/>
            </a:avLst>
          </a:prstGeom>
          <a:solidFill>
            <a:srgbClr val="FFFFFF"/>
          </a:solidFill>
          <a:ln w="10160">
            <a:solidFill>
              <a:srgbClr val="CBD5E1"/>
            </a:solidFill>
            <a:prstDash val="solid"/>
          </a:ln>
        </p:spPr>
      </p:sp>
      <p:sp>
        <p:nvSpPr>
          <p:cNvPr id="39" name="Shape 37"/>
          <p:cNvSpPr/>
          <p:nvPr/>
        </p:nvSpPr>
        <p:spPr>
          <a:xfrm>
            <a:off x="987552" y="3611880"/>
            <a:ext cx="82296" cy="82296"/>
          </a:xfrm>
          <a:prstGeom prst="ellipse">
            <a:avLst/>
          </a:prstGeom>
          <a:solidFill>
            <a:srgbClr val="0284C7"/>
          </a:solidFill>
          <a:ln w="12700">
            <a:solidFill>
              <a:srgbClr val="0284C7"/>
            </a:solidFill>
            <a:prstDash val="solid"/>
          </a:ln>
        </p:spPr>
      </p:sp>
      <p:sp>
        <p:nvSpPr>
          <p:cNvPr id="40" name="Text 38"/>
          <p:cNvSpPr/>
          <p:nvPr/>
        </p:nvSpPr>
        <p:spPr>
          <a:xfrm>
            <a:off x="1115568" y="3483864"/>
            <a:ext cx="2468880" cy="329184"/>
          </a:xfrm>
          <a:prstGeom prst="rect">
            <a:avLst/>
          </a:prstGeom>
          <a:noFill/>
          <a:ln/>
        </p:spPr>
        <p:txBody>
          <a:bodyPr wrap="square" rtlCol="0" anchor="ctr"/>
          <a:lstStyle/>
          <a:p>
            <a:pPr indent="0" marL="0">
              <a:buNone/>
            </a:pPr>
            <a:r>
              <a:rPr lang="en-US" sz="850" b="1" dirty="0">
                <a:solidFill>
                  <a:srgbClr val="334155"/>
                </a:solidFill>
                <a:latin typeface="Arial" pitchFamily="34" charset="0"/>
                <a:ea typeface="Arial" pitchFamily="34" charset="-122"/>
                <a:cs typeface="Arial" pitchFamily="34" charset="-120"/>
              </a:rPr>
              <a:t>Startup Binaan STP (Komersialisasi)</a:t>
            </a:r>
            <a:pPr indent="0" marL="0">
              <a:buNone/>
            </a:pPr>
            <a:r>
              <a:rPr lang="en-US" sz="720" dirty="0">
                <a:solidFill>
                  <a:srgbClr val="0369A1"/>
                </a:solidFill>
                <a:latin typeface="Arial" pitchFamily="34" charset="0"/>
                <a:ea typeface="Arial" pitchFamily="34" charset="-122"/>
                <a:cs typeface="Arial" pitchFamily="34" charset="-120"/>
              </a:rPr>
              <a:t>  [Success Fee &amp; Jasa]</a:t>
            </a:r>
            <a:endParaRPr lang="en-US" sz="850" dirty="0"/>
          </a:p>
        </p:txBody>
      </p:sp>
      <p:sp>
        <p:nvSpPr>
          <p:cNvPr id="41" name="Text 39"/>
          <p:cNvSpPr/>
          <p:nvPr/>
        </p:nvSpPr>
        <p:spPr>
          <a:xfrm>
            <a:off x="3566160" y="3483864"/>
            <a:ext cx="1325880" cy="329184"/>
          </a:xfrm>
          <a:prstGeom prst="rect">
            <a:avLst/>
          </a:prstGeom>
          <a:noFill/>
          <a:ln/>
        </p:spPr>
        <p:txBody>
          <a:bodyPr wrap="square" rtlCol="0" anchor="ctr"/>
          <a:lstStyle/>
          <a:p>
            <a:pPr algn="r" indent="0" marL="0">
              <a:buNone/>
            </a:pPr>
            <a:r>
              <a:rPr lang="en-US" sz="880" b="1" dirty="0">
                <a:solidFill>
                  <a:srgbClr val="0F172A"/>
                </a:solidFill>
                <a:latin typeface="Arial" pitchFamily="34" charset="0"/>
                <a:ea typeface="Arial" pitchFamily="34" charset="-122"/>
                <a:cs typeface="Arial" pitchFamily="34" charset="-120"/>
              </a:rPr>
              <a:t>Rp 2.000.000.000</a:t>
            </a:r>
            <a:endParaRPr lang="en-US" sz="880" dirty="0"/>
          </a:p>
        </p:txBody>
      </p:sp>
      <p:sp>
        <p:nvSpPr>
          <p:cNvPr id="42" name="Shape 40"/>
          <p:cNvSpPr/>
          <p:nvPr/>
        </p:nvSpPr>
        <p:spPr>
          <a:xfrm>
            <a:off x="868680" y="3904488"/>
            <a:ext cx="4160520" cy="402336"/>
          </a:xfrm>
          <a:prstGeom prst="roundRect">
            <a:avLst>
              <a:gd name="adj" fmla="val 9091"/>
            </a:avLst>
          </a:prstGeom>
          <a:solidFill>
            <a:srgbClr val="FFFFFF"/>
          </a:solidFill>
          <a:ln w="10160">
            <a:solidFill>
              <a:srgbClr val="CBD5E1"/>
            </a:solidFill>
            <a:prstDash val="solid"/>
          </a:ln>
        </p:spPr>
      </p:sp>
      <p:sp>
        <p:nvSpPr>
          <p:cNvPr id="43" name="Shape 41"/>
          <p:cNvSpPr/>
          <p:nvPr/>
        </p:nvSpPr>
        <p:spPr>
          <a:xfrm>
            <a:off x="987552" y="4069080"/>
            <a:ext cx="82296" cy="82296"/>
          </a:xfrm>
          <a:prstGeom prst="ellipse">
            <a:avLst/>
          </a:prstGeom>
          <a:solidFill>
            <a:srgbClr val="0284C7"/>
          </a:solidFill>
          <a:ln w="12700">
            <a:solidFill>
              <a:srgbClr val="0284C7"/>
            </a:solidFill>
            <a:prstDash val="solid"/>
          </a:ln>
        </p:spPr>
      </p:sp>
      <p:sp>
        <p:nvSpPr>
          <p:cNvPr id="44" name="Text 42"/>
          <p:cNvSpPr/>
          <p:nvPr/>
        </p:nvSpPr>
        <p:spPr>
          <a:xfrm>
            <a:off x="1115568" y="3941064"/>
            <a:ext cx="2468880" cy="329184"/>
          </a:xfrm>
          <a:prstGeom prst="rect">
            <a:avLst/>
          </a:prstGeom>
          <a:noFill/>
          <a:ln/>
        </p:spPr>
        <p:txBody>
          <a:bodyPr wrap="square" rtlCol="0" anchor="ctr"/>
          <a:lstStyle/>
          <a:p>
            <a:pPr indent="0" marL="0">
              <a:buNone/>
            </a:pPr>
            <a:r>
              <a:rPr lang="en-US" sz="850" b="1" dirty="0">
                <a:solidFill>
                  <a:srgbClr val="334155"/>
                </a:solidFill>
                <a:latin typeface="Arial" pitchFamily="34" charset="0"/>
                <a:ea typeface="Arial" pitchFamily="34" charset="-122"/>
                <a:cs typeface="Arial" pitchFamily="34" charset="-120"/>
              </a:rPr>
              <a:t>BP3MI - SMK GoGlobal (Talenta Luar Negeri)</a:t>
            </a:r>
            <a:pPr indent="0" marL="0">
              <a:buNone/>
            </a:pPr>
            <a:r>
              <a:rPr lang="en-US" sz="720" dirty="0">
                <a:solidFill>
                  <a:srgbClr val="0369A1"/>
                </a:solidFill>
                <a:latin typeface="Arial" pitchFamily="34" charset="0"/>
                <a:ea typeface="Arial" pitchFamily="34" charset="-122"/>
                <a:cs typeface="Arial" pitchFamily="34" charset="-120"/>
              </a:rPr>
              <a:t>  [Penempatan Global]</a:t>
            </a:r>
            <a:endParaRPr lang="en-US" sz="850" dirty="0"/>
          </a:p>
        </p:txBody>
      </p:sp>
      <p:sp>
        <p:nvSpPr>
          <p:cNvPr id="45" name="Text 43"/>
          <p:cNvSpPr/>
          <p:nvPr/>
        </p:nvSpPr>
        <p:spPr>
          <a:xfrm>
            <a:off x="3566160" y="3941064"/>
            <a:ext cx="1325880" cy="329184"/>
          </a:xfrm>
          <a:prstGeom prst="rect">
            <a:avLst/>
          </a:prstGeom>
          <a:noFill/>
          <a:ln/>
        </p:spPr>
        <p:txBody>
          <a:bodyPr wrap="square" rtlCol="0" anchor="ctr"/>
          <a:lstStyle/>
          <a:p>
            <a:pPr algn="r" indent="0" marL="0">
              <a:buNone/>
            </a:pPr>
            <a:r>
              <a:rPr lang="en-US" sz="880" b="1" dirty="0">
                <a:solidFill>
                  <a:srgbClr val="0F172A"/>
                </a:solidFill>
                <a:latin typeface="Arial" pitchFamily="34" charset="0"/>
                <a:ea typeface="Arial" pitchFamily="34" charset="-122"/>
                <a:cs typeface="Arial" pitchFamily="34" charset="-120"/>
              </a:rPr>
              <a:t>Rp 1.500.000.000</a:t>
            </a:r>
            <a:endParaRPr lang="en-US" sz="880" dirty="0"/>
          </a:p>
        </p:txBody>
      </p:sp>
      <p:sp>
        <p:nvSpPr>
          <p:cNvPr id="46" name="Shape 44"/>
          <p:cNvSpPr/>
          <p:nvPr/>
        </p:nvSpPr>
        <p:spPr>
          <a:xfrm>
            <a:off x="868680" y="4361688"/>
            <a:ext cx="4160520" cy="402336"/>
          </a:xfrm>
          <a:prstGeom prst="roundRect">
            <a:avLst>
              <a:gd name="adj" fmla="val 9091"/>
            </a:avLst>
          </a:prstGeom>
          <a:solidFill>
            <a:srgbClr val="FFFFFF"/>
          </a:solidFill>
          <a:ln w="10160">
            <a:solidFill>
              <a:srgbClr val="CBD5E1"/>
            </a:solidFill>
            <a:prstDash val="solid"/>
          </a:ln>
        </p:spPr>
      </p:sp>
      <p:sp>
        <p:nvSpPr>
          <p:cNvPr id="47" name="Shape 45"/>
          <p:cNvSpPr/>
          <p:nvPr/>
        </p:nvSpPr>
        <p:spPr>
          <a:xfrm>
            <a:off x="987552" y="4526280"/>
            <a:ext cx="82296" cy="82296"/>
          </a:xfrm>
          <a:prstGeom prst="ellipse">
            <a:avLst/>
          </a:prstGeom>
          <a:solidFill>
            <a:srgbClr val="0284C7"/>
          </a:solidFill>
          <a:ln w="12700">
            <a:solidFill>
              <a:srgbClr val="0284C7"/>
            </a:solidFill>
            <a:prstDash val="solid"/>
          </a:ln>
        </p:spPr>
      </p:sp>
      <p:sp>
        <p:nvSpPr>
          <p:cNvPr id="48" name="Text 46"/>
          <p:cNvSpPr/>
          <p:nvPr/>
        </p:nvSpPr>
        <p:spPr>
          <a:xfrm>
            <a:off x="1115568" y="4398264"/>
            <a:ext cx="2468880" cy="329184"/>
          </a:xfrm>
          <a:prstGeom prst="rect">
            <a:avLst/>
          </a:prstGeom>
          <a:noFill/>
          <a:ln/>
        </p:spPr>
        <p:txBody>
          <a:bodyPr wrap="square" rtlCol="0" anchor="ctr"/>
          <a:lstStyle/>
          <a:p>
            <a:pPr indent="0" marL="0">
              <a:buNone/>
            </a:pPr>
            <a:r>
              <a:rPr lang="en-US" sz="850" b="1" dirty="0">
                <a:solidFill>
                  <a:srgbClr val="334155"/>
                </a:solidFill>
                <a:latin typeface="Arial" pitchFamily="34" charset="0"/>
                <a:ea typeface="Arial" pitchFamily="34" charset="-122"/>
                <a:cs typeface="Arial" pitchFamily="34" charset="-120"/>
              </a:rPr>
              <a:t>Kemenperin &amp; Mitra LPK Industri</a:t>
            </a:r>
            <a:pPr indent="0" marL="0">
              <a:buNone/>
            </a:pPr>
            <a:r>
              <a:rPr lang="en-US" sz="720" dirty="0">
                <a:solidFill>
                  <a:srgbClr val="0369A1"/>
                </a:solidFill>
                <a:latin typeface="Arial" pitchFamily="34" charset="0"/>
                <a:ea typeface="Arial" pitchFamily="34" charset="-122"/>
                <a:cs typeface="Arial" pitchFamily="34" charset="-120"/>
              </a:rPr>
              <a:t>  [Subsidi Pelatihan]</a:t>
            </a:r>
            <a:endParaRPr lang="en-US" sz="850" dirty="0"/>
          </a:p>
        </p:txBody>
      </p:sp>
      <p:sp>
        <p:nvSpPr>
          <p:cNvPr id="49" name="Text 47"/>
          <p:cNvSpPr/>
          <p:nvPr/>
        </p:nvSpPr>
        <p:spPr>
          <a:xfrm>
            <a:off x="3566160" y="4398264"/>
            <a:ext cx="1325880" cy="329184"/>
          </a:xfrm>
          <a:prstGeom prst="rect">
            <a:avLst/>
          </a:prstGeom>
          <a:noFill/>
          <a:ln/>
        </p:spPr>
        <p:txBody>
          <a:bodyPr wrap="square" rtlCol="0" anchor="ctr"/>
          <a:lstStyle/>
          <a:p>
            <a:pPr algn="r" indent="0" marL="0">
              <a:buNone/>
            </a:pPr>
            <a:r>
              <a:rPr lang="en-US" sz="880" b="1" dirty="0">
                <a:solidFill>
                  <a:srgbClr val="0F172A"/>
                </a:solidFill>
                <a:latin typeface="Arial" pitchFamily="34" charset="0"/>
                <a:ea typeface="Arial" pitchFamily="34" charset="-122"/>
                <a:cs typeface="Arial" pitchFamily="34" charset="-120"/>
              </a:rPr>
              <a:t>Rp 825.000.000</a:t>
            </a:r>
            <a:endParaRPr lang="en-US" sz="880" dirty="0"/>
          </a:p>
        </p:txBody>
      </p:sp>
      <p:sp>
        <p:nvSpPr>
          <p:cNvPr id="50" name="Shape 48"/>
          <p:cNvSpPr/>
          <p:nvPr/>
        </p:nvSpPr>
        <p:spPr>
          <a:xfrm>
            <a:off x="868680" y="4882896"/>
            <a:ext cx="4160520" cy="676656"/>
          </a:xfrm>
          <a:prstGeom prst="roundRect">
            <a:avLst>
              <a:gd name="adj" fmla="val 5405"/>
            </a:avLst>
          </a:prstGeom>
          <a:solidFill>
            <a:srgbClr val="E0F2FE"/>
          </a:solidFill>
          <a:ln w="12700">
            <a:solidFill>
              <a:srgbClr val="0284C7"/>
            </a:solidFill>
            <a:prstDash val="solid"/>
          </a:ln>
        </p:spPr>
      </p:sp>
      <p:sp>
        <p:nvSpPr>
          <p:cNvPr id="51" name="Text 49"/>
          <p:cNvSpPr/>
          <p:nvPr/>
        </p:nvSpPr>
        <p:spPr>
          <a:xfrm>
            <a:off x="960120" y="4919472"/>
            <a:ext cx="3977640" cy="182880"/>
          </a:xfrm>
          <a:prstGeom prst="rect">
            <a:avLst/>
          </a:prstGeom>
          <a:noFill/>
          <a:ln/>
        </p:spPr>
        <p:txBody>
          <a:bodyPr wrap="square" rtlCol="0" anchor="ctr"/>
          <a:lstStyle/>
          <a:p>
            <a:pPr indent="0" marL="0">
              <a:buNone/>
            </a:pPr>
            <a:r>
              <a:rPr lang="en-US" sz="820" b="1" dirty="0">
                <a:solidFill>
                  <a:srgbClr val="0369A1"/>
                </a:solidFill>
                <a:latin typeface="Arial" pitchFamily="34" charset="0"/>
                <a:ea typeface="Arial" pitchFamily="34" charset="-122"/>
                <a:cs typeface="Arial" pitchFamily="34" charset="-120"/>
              </a:rPr>
              <a:t>💡 CATATAN STRATEGIS TRANSFORMASI:</a:t>
            </a:r>
            <a:endParaRPr lang="en-US" sz="820" dirty="0"/>
          </a:p>
        </p:txBody>
      </p:sp>
      <p:sp>
        <p:nvSpPr>
          <p:cNvPr id="52" name="Text 50"/>
          <p:cNvSpPr/>
          <p:nvPr/>
        </p:nvSpPr>
        <p:spPr>
          <a:xfrm>
            <a:off x="960120" y="5102352"/>
            <a:ext cx="3977640" cy="420624"/>
          </a:xfrm>
          <a:prstGeom prst="rect">
            <a:avLst/>
          </a:prstGeom>
          <a:noFill/>
          <a:ln/>
        </p:spPr>
        <p:txBody>
          <a:bodyPr wrap="square" rtlCol="0" anchor="ctr"/>
          <a:lstStyle/>
          <a:p>
            <a:pPr indent="0" marL="0">
              <a:lnSpc>
                <a:spcPts val="1000"/>
              </a:lnSpc>
              <a:buNone/>
            </a:pPr>
            <a:r>
              <a:rPr lang="en-US" sz="760" dirty="0">
                <a:solidFill>
                  <a:srgbClr val="0F172A"/>
                </a:solidFill>
                <a:latin typeface="Arial" pitchFamily="34" charset="0"/>
                <a:ea typeface="Arial" pitchFamily="34" charset="-122"/>
                <a:cs typeface="Arial" pitchFamily="34" charset="-120"/>
              </a:rPr>
              <a:t>Kontribusi 1 program OGSCI (Rp 6,25 M) saja sudah setara 83% total pendapatan STP tahun 2026. Ditambah e-Katalog dan Startup binaan, klaster ini menjamin kemandirian tanpa subsidi APBD.</a:t>
            </a:r>
            <a:endParaRPr lang="en-US" sz="760" dirty="0"/>
          </a:p>
        </p:txBody>
      </p:sp>
      <p:sp>
        <p:nvSpPr>
          <p:cNvPr id="53" name="Shape 51"/>
          <p:cNvSpPr/>
          <p:nvPr/>
        </p:nvSpPr>
        <p:spPr>
          <a:xfrm>
            <a:off x="5330952" y="1664208"/>
            <a:ext cx="2996032" cy="1938528"/>
          </a:xfrm>
          <a:prstGeom prst="roundRect">
            <a:avLst>
              <a:gd name="adj" fmla="val 3774"/>
            </a:avLst>
          </a:prstGeom>
          <a:solidFill>
            <a:srgbClr val="FFFFFF"/>
          </a:solidFill>
          <a:ln w="12700">
            <a:solidFill>
              <a:srgbClr val="CBD5E1"/>
            </a:solidFill>
            <a:prstDash val="solid"/>
          </a:ln>
        </p:spPr>
      </p:sp>
      <p:sp>
        <p:nvSpPr>
          <p:cNvPr id="54" name="Shape 52"/>
          <p:cNvSpPr/>
          <p:nvPr/>
        </p:nvSpPr>
        <p:spPr>
          <a:xfrm>
            <a:off x="5330952" y="1664208"/>
            <a:ext cx="73152" cy="1938528"/>
          </a:xfrm>
          <a:prstGeom prst="roundRect">
            <a:avLst>
              <a:gd name="adj" fmla="val 50000"/>
            </a:avLst>
          </a:prstGeom>
          <a:solidFill>
            <a:srgbClr val="0369A1"/>
          </a:solidFill>
          <a:ln w="12700">
            <a:solidFill>
              <a:srgbClr val="0369A1"/>
            </a:solidFill>
            <a:prstDash val="solid"/>
          </a:ln>
        </p:spPr>
      </p:sp>
      <p:sp>
        <p:nvSpPr>
          <p:cNvPr id="55" name="Shape 53"/>
          <p:cNvSpPr/>
          <p:nvPr/>
        </p:nvSpPr>
        <p:spPr>
          <a:xfrm>
            <a:off x="5440680" y="1755648"/>
            <a:ext cx="2776576" cy="402336"/>
          </a:xfrm>
          <a:prstGeom prst="roundRect">
            <a:avLst>
              <a:gd name="adj" fmla="val 9091"/>
            </a:avLst>
          </a:prstGeom>
          <a:solidFill>
            <a:srgbClr val="F1F5F9"/>
          </a:solidFill>
          <a:ln w="12700">
            <a:solidFill>
              <a:srgbClr val="0369A1"/>
            </a:solidFill>
            <a:prstDash val="solid"/>
          </a:ln>
        </p:spPr>
      </p:sp>
      <p:sp>
        <p:nvSpPr>
          <p:cNvPr id="56" name="Text 54"/>
          <p:cNvSpPr/>
          <p:nvPr/>
        </p:nvSpPr>
        <p:spPr>
          <a:xfrm>
            <a:off x="5495544" y="1773936"/>
            <a:ext cx="1554480" cy="365760"/>
          </a:xfrm>
          <a:prstGeom prst="rect">
            <a:avLst/>
          </a:prstGeom>
          <a:noFill/>
          <a:ln/>
        </p:spPr>
        <p:txBody>
          <a:bodyPr wrap="square" rtlCol="0" anchor="ctr"/>
          <a:lstStyle/>
          <a:p>
            <a:pPr indent="0" marL="0">
              <a:buNone/>
            </a:pPr>
            <a:r>
              <a:rPr lang="en-US" sz="780" b="1" dirty="0">
                <a:solidFill>
                  <a:srgbClr val="0F172A"/>
                </a:solidFill>
                <a:latin typeface="Arial" pitchFamily="34" charset="0"/>
                <a:ea typeface="Arial" pitchFamily="34" charset="-122"/>
                <a:cs typeface="Arial" pitchFamily="34" charset="-120"/>
              </a:rPr>
              <a:t>KLASTER B: VOKASI &amp; SERTIFIKASI</a:t>
            </a:r>
            <a:endParaRPr lang="en-US" sz="780" dirty="0"/>
          </a:p>
        </p:txBody>
      </p:sp>
      <p:sp>
        <p:nvSpPr>
          <p:cNvPr id="57" name="Text 55"/>
          <p:cNvSpPr/>
          <p:nvPr/>
        </p:nvSpPr>
        <p:spPr>
          <a:xfrm>
            <a:off x="7022592" y="1773936"/>
            <a:ext cx="1143000" cy="365760"/>
          </a:xfrm>
          <a:prstGeom prst="rect">
            <a:avLst/>
          </a:prstGeom>
          <a:noFill/>
          <a:ln/>
        </p:spPr>
        <p:txBody>
          <a:bodyPr wrap="square" rtlCol="0" anchor="ctr"/>
          <a:lstStyle/>
          <a:p>
            <a:pPr algn="r" indent="0" marL="0">
              <a:buNone/>
            </a:pPr>
            <a:r>
              <a:rPr lang="en-US" sz="820" b="1" dirty="0">
                <a:solidFill>
                  <a:srgbClr val="0369A1"/>
                </a:solidFill>
                <a:latin typeface="Arial" pitchFamily="34" charset="0"/>
                <a:ea typeface="Arial" pitchFamily="34" charset="-122"/>
                <a:cs typeface="Arial" pitchFamily="34" charset="-120"/>
              </a:rPr>
              <a:t>Rp 3.679.800.000
</a:t>
            </a:r>
            <a:pPr algn="r" indent="0" marL="0">
              <a:buNone/>
            </a:pPr>
            <a:r>
              <a:rPr lang="en-US" sz="680" dirty="0">
                <a:solidFill>
                  <a:srgbClr val="334155"/>
                </a:solidFill>
                <a:latin typeface="Arial" pitchFamily="34" charset="0"/>
                <a:ea typeface="Arial" pitchFamily="34" charset="-122"/>
                <a:cs typeface="Arial" pitchFamily="34" charset="-120"/>
              </a:rPr>
              <a:t>(15,7% Target 2030)</a:t>
            </a:r>
            <a:endParaRPr lang="en-US" sz="820" dirty="0"/>
          </a:p>
        </p:txBody>
      </p:sp>
      <p:sp>
        <p:nvSpPr>
          <p:cNvPr id="58" name="Shape 56"/>
          <p:cNvSpPr/>
          <p:nvPr/>
        </p:nvSpPr>
        <p:spPr>
          <a:xfrm>
            <a:off x="5477256" y="2286000"/>
            <a:ext cx="54864" cy="54864"/>
          </a:xfrm>
          <a:prstGeom prst="ellipse">
            <a:avLst/>
          </a:prstGeom>
          <a:solidFill>
            <a:srgbClr val="0369A1"/>
          </a:solidFill>
          <a:ln w="12700">
            <a:solidFill>
              <a:srgbClr val="0369A1"/>
            </a:solidFill>
            <a:prstDash val="solid"/>
          </a:ln>
        </p:spPr>
      </p:sp>
      <p:sp>
        <p:nvSpPr>
          <p:cNvPr id="59" name="Text 57"/>
          <p:cNvSpPr/>
          <p:nvPr/>
        </p:nvSpPr>
        <p:spPr>
          <a:xfrm>
            <a:off x="5568696" y="2212848"/>
            <a:ext cx="1691640" cy="292608"/>
          </a:xfrm>
          <a:prstGeom prst="rect">
            <a:avLst/>
          </a:prstGeom>
          <a:noFill/>
          <a:ln/>
        </p:spPr>
        <p:txBody>
          <a:bodyPr wrap="square" rtlCol="0" anchor="ctr"/>
          <a:lstStyle/>
          <a:p>
            <a:pPr indent="0" marL="0">
              <a:buNone/>
            </a:pPr>
            <a:r>
              <a:rPr lang="en-US" sz="750" dirty="0">
                <a:solidFill>
                  <a:srgbClr val="334155"/>
                </a:solidFill>
                <a:latin typeface="Arial" pitchFamily="34" charset="0"/>
                <a:ea typeface="Arial" pitchFamily="34" charset="-122"/>
                <a:cs typeface="Arial" pitchFamily="34" charset="-120"/>
              </a:rPr>
              <a:t>Sertifikasi JFT Fungsional</a:t>
            </a:r>
            <a:endParaRPr lang="en-US" sz="750" dirty="0"/>
          </a:p>
        </p:txBody>
      </p:sp>
      <p:sp>
        <p:nvSpPr>
          <p:cNvPr id="60" name="Text 58"/>
          <p:cNvSpPr/>
          <p:nvPr/>
        </p:nvSpPr>
        <p:spPr>
          <a:xfrm>
            <a:off x="7205472" y="2212848"/>
            <a:ext cx="987552" cy="292608"/>
          </a:xfrm>
          <a:prstGeom prst="rect">
            <a:avLst/>
          </a:prstGeom>
          <a:noFill/>
          <a:ln/>
        </p:spPr>
        <p:txBody>
          <a:bodyPr wrap="square" rtlCol="0" anchor="ctr"/>
          <a:lstStyle/>
          <a:p>
            <a:pPr algn="r" indent="0" marL="0">
              <a:buNone/>
            </a:pPr>
            <a:r>
              <a:rPr lang="en-US" sz="750" b="1" dirty="0">
                <a:solidFill>
                  <a:srgbClr val="0F172A"/>
                </a:solidFill>
                <a:latin typeface="Arial" pitchFamily="34" charset="0"/>
                <a:ea typeface="Arial" pitchFamily="34" charset="-122"/>
                <a:cs typeface="Arial" pitchFamily="34" charset="-120"/>
              </a:rPr>
              <a:t>Rp 1.375.000.000</a:t>
            </a:r>
            <a:endParaRPr lang="en-US" sz="750" dirty="0"/>
          </a:p>
        </p:txBody>
      </p:sp>
      <p:sp>
        <p:nvSpPr>
          <p:cNvPr id="61" name="Shape 59"/>
          <p:cNvSpPr/>
          <p:nvPr/>
        </p:nvSpPr>
        <p:spPr>
          <a:xfrm>
            <a:off x="5477256" y="2615184"/>
            <a:ext cx="54864" cy="54864"/>
          </a:xfrm>
          <a:prstGeom prst="ellipse">
            <a:avLst/>
          </a:prstGeom>
          <a:solidFill>
            <a:srgbClr val="0369A1"/>
          </a:solidFill>
          <a:ln w="12700">
            <a:solidFill>
              <a:srgbClr val="0369A1"/>
            </a:solidFill>
            <a:prstDash val="solid"/>
          </a:ln>
        </p:spPr>
      </p:sp>
      <p:sp>
        <p:nvSpPr>
          <p:cNvPr id="62" name="Text 60"/>
          <p:cNvSpPr/>
          <p:nvPr/>
        </p:nvSpPr>
        <p:spPr>
          <a:xfrm>
            <a:off x="5568696" y="2542032"/>
            <a:ext cx="1691640" cy="292608"/>
          </a:xfrm>
          <a:prstGeom prst="rect">
            <a:avLst/>
          </a:prstGeom>
          <a:noFill/>
          <a:ln/>
        </p:spPr>
        <p:txBody>
          <a:bodyPr wrap="square" rtlCol="0" anchor="ctr"/>
          <a:lstStyle/>
          <a:p>
            <a:pPr indent="0" marL="0">
              <a:buNone/>
            </a:pPr>
            <a:r>
              <a:rPr lang="en-US" sz="750" dirty="0">
                <a:solidFill>
                  <a:srgbClr val="334155"/>
                </a:solidFill>
                <a:latin typeface="Arial" pitchFamily="34" charset="0"/>
                <a:ea typeface="Arial" pitchFamily="34" charset="-122"/>
                <a:cs typeface="Arial" pitchFamily="34" charset="-120"/>
              </a:rPr>
              <a:t>TUK Mandiri Terakreditasi</a:t>
            </a:r>
            <a:endParaRPr lang="en-US" sz="750" dirty="0"/>
          </a:p>
        </p:txBody>
      </p:sp>
      <p:sp>
        <p:nvSpPr>
          <p:cNvPr id="63" name="Text 61"/>
          <p:cNvSpPr/>
          <p:nvPr/>
        </p:nvSpPr>
        <p:spPr>
          <a:xfrm>
            <a:off x="7205472" y="2542032"/>
            <a:ext cx="987552" cy="292608"/>
          </a:xfrm>
          <a:prstGeom prst="rect">
            <a:avLst/>
          </a:prstGeom>
          <a:noFill/>
          <a:ln/>
        </p:spPr>
        <p:txBody>
          <a:bodyPr wrap="square" rtlCol="0" anchor="ctr"/>
          <a:lstStyle/>
          <a:p>
            <a:pPr algn="r" indent="0" marL="0">
              <a:buNone/>
            </a:pPr>
            <a:r>
              <a:rPr lang="en-US" sz="750" b="1" dirty="0">
                <a:solidFill>
                  <a:srgbClr val="0F172A"/>
                </a:solidFill>
                <a:latin typeface="Arial" pitchFamily="34" charset="0"/>
                <a:ea typeface="Arial" pitchFamily="34" charset="-122"/>
                <a:cs typeface="Arial" pitchFamily="34" charset="-120"/>
              </a:rPr>
              <a:t>Rp 1.350.000.000</a:t>
            </a:r>
            <a:endParaRPr lang="en-US" sz="750" dirty="0"/>
          </a:p>
        </p:txBody>
      </p:sp>
      <p:sp>
        <p:nvSpPr>
          <p:cNvPr id="64" name="Shape 62"/>
          <p:cNvSpPr/>
          <p:nvPr/>
        </p:nvSpPr>
        <p:spPr>
          <a:xfrm>
            <a:off x="5477256" y="2944368"/>
            <a:ext cx="54864" cy="54864"/>
          </a:xfrm>
          <a:prstGeom prst="ellipse">
            <a:avLst/>
          </a:prstGeom>
          <a:solidFill>
            <a:srgbClr val="0369A1"/>
          </a:solidFill>
          <a:ln w="12700">
            <a:solidFill>
              <a:srgbClr val="0369A1"/>
            </a:solidFill>
            <a:prstDash val="solid"/>
          </a:ln>
        </p:spPr>
      </p:sp>
      <p:sp>
        <p:nvSpPr>
          <p:cNvPr id="65" name="Text 63"/>
          <p:cNvSpPr/>
          <p:nvPr/>
        </p:nvSpPr>
        <p:spPr>
          <a:xfrm>
            <a:off x="5568696" y="2871216"/>
            <a:ext cx="1691640" cy="292608"/>
          </a:xfrm>
          <a:prstGeom prst="rect">
            <a:avLst/>
          </a:prstGeom>
          <a:noFill/>
          <a:ln/>
        </p:spPr>
        <p:txBody>
          <a:bodyPr wrap="square" rtlCol="0" anchor="ctr"/>
          <a:lstStyle/>
          <a:p>
            <a:pPr indent="0" marL="0">
              <a:buNone/>
            </a:pPr>
            <a:r>
              <a:rPr lang="en-US" sz="750" dirty="0">
                <a:solidFill>
                  <a:srgbClr val="334155"/>
                </a:solidFill>
                <a:latin typeface="Arial" pitchFamily="34" charset="0"/>
                <a:ea typeface="Arial" pitchFamily="34" charset="-122"/>
                <a:cs typeface="Arial" pitchFamily="34" charset="-120"/>
              </a:rPr>
              <a:t>Konsultasi Lab &amp; Data Center</a:t>
            </a:r>
            <a:endParaRPr lang="en-US" sz="750" dirty="0"/>
          </a:p>
        </p:txBody>
      </p:sp>
      <p:sp>
        <p:nvSpPr>
          <p:cNvPr id="66" name="Text 64"/>
          <p:cNvSpPr/>
          <p:nvPr/>
        </p:nvSpPr>
        <p:spPr>
          <a:xfrm>
            <a:off x="7205472" y="2871216"/>
            <a:ext cx="987552" cy="292608"/>
          </a:xfrm>
          <a:prstGeom prst="rect">
            <a:avLst/>
          </a:prstGeom>
          <a:noFill/>
          <a:ln/>
        </p:spPr>
        <p:txBody>
          <a:bodyPr wrap="square" rtlCol="0" anchor="ctr"/>
          <a:lstStyle/>
          <a:p>
            <a:pPr algn="r" indent="0" marL="0">
              <a:buNone/>
            </a:pPr>
            <a:r>
              <a:rPr lang="en-US" sz="750" b="1" dirty="0">
                <a:solidFill>
                  <a:srgbClr val="0F172A"/>
                </a:solidFill>
                <a:latin typeface="Arial" pitchFamily="34" charset="0"/>
                <a:ea typeface="Arial" pitchFamily="34" charset="-122"/>
                <a:cs typeface="Arial" pitchFamily="34" charset="-120"/>
              </a:rPr>
              <a:t>Rp 950.000.000</a:t>
            </a:r>
            <a:endParaRPr lang="en-US" sz="750" dirty="0"/>
          </a:p>
        </p:txBody>
      </p:sp>
      <p:sp>
        <p:nvSpPr>
          <p:cNvPr id="67" name="Shape 65"/>
          <p:cNvSpPr/>
          <p:nvPr/>
        </p:nvSpPr>
        <p:spPr>
          <a:xfrm>
            <a:off x="5477256" y="3273552"/>
            <a:ext cx="54864" cy="54864"/>
          </a:xfrm>
          <a:prstGeom prst="ellipse">
            <a:avLst/>
          </a:prstGeom>
          <a:solidFill>
            <a:srgbClr val="0369A1"/>
          </a:solidFill>
          <a:ln w="12700">
            <a:solidFill>
              <a:srgbClr val="0369A1"/>
            </a:solidFill>
            <a:prstDash val="solid"/>
          </a:ln>
        </p:spPr>
      </p:sp>
      <p:sp>
        <p:nvSpPr>
          <p:cNvPr id="68" name="Text 66"/>
          <p:cNvSpPr/>
          <p:nvPr/>
        </p:nvSpPr>
        <p:spPr>
          <a:xfrm>
            <a:off x="5568696" y="3200400"/>
            <a:ext cx="1691640" cy="292608"/>
          </a:xfrm>
          <a:prstGeom prst="rect">
            <a:avLst/>
          </a:prstGeom>
          <a:noFill/>
          <a:ln/>
        </p:spPr>
        <p:txBody>
          <a:bodyPr wrap="square" rtlCol="0" anchor="ctr"/>
          <a:lstStyle/>
          <a:p>
            <a:pPr indent="0" marL="0">
              <a:buNone/>
            </a:pPr>
            <a:r>
              <a:rPr lang="en-US" sz="750" dirty="0">
                <a:solidFill>
                  <a:srgbClr val="334155"/>
                </a:solidFill>
                <a:latin typeface="Arial" pitchFamily="34" charset="0"/>
                <a:ea typeface="Arial" pitchFamily="34" charset="-122"/>
                <a:cs typeface="Arial" pitchFamily="34" charset="-120"/>
              </a:rPr>
              <a:t>Prakerin Siswa SMK Solo Raya</a:t>
            </a:r>
            <a:endParaRPr lang="en-US" sz="750" dirty="0"/>
          </a:p>
        </p:txBody>
      </p:sp>
      <p:sp>
        <p:nvSpPr>
          <p:cNvPr id="69" name="Text 67"/>
          <p:cNvSpPr/>
          <p:nvPr/>
        </p:nvSpPr>
        <p:spPr>
          <a:xfrm>
            <a:off x="7205472" y="3200400"/>
            <a:ext cx="987552" cy="292608"/>
          </a:xfrm>
          <a:prstGeom prst="rect">
            <a:avLst/>
          </a:prstGeom>
          <a:noFill/>
          <a:ln/>
        </p:spPr>
        <p:txBody>
          <a:bodyPr wrap="square" rtlCol="0" anchor="ctr"/>
          <a:lstStyle/>
          <a:p>
            <a:pPr algn="r" indent="0" marL="0">
              <a:buNone/>
            </a:pPr>
            <a:r>
              <a:rPr lang="en-US" sz="750" b="1" dirty="0">
                <a:solidFill>
                  <a:srgbClr val="0F172A"/>
                </a:solidFill>
                <a:latin typeface="Arial" pitchFamily="34" charset="0"/>
                <a:ea typeface="Arial" pitchFamily="34" charset="-122"/>
                <a:cs typeface="Arial" pitchFamily="34" charset="-120"/>
              </a:rPr>
              <a:t>Rp 4.800.000</a:t>
            </a:r>
            <a:endParaRPr lang="en-US" sz="750" dirty="0"/>
          </a:p>
        </p:txBody>
      </p:sp>
      <p:sp>
        <p:nvSpPr>
          <p:cNvPr id="70" name="Shape 68"/>
          <p:cNvSpPr/>
          <p:nvPr/>
        </p:nvSpPr>
        <p:spPr>
          <a:xfrm>
            <a:off x="8464144" y="1664208"/>
            <a:ext cx="2996032" cy="1938528"/>
          </a:xfrm>
          <a:prstGeom prst="roundRect">
            <a:avLst>
              <a:gd name="adj" fmla="val 3774"/>
            </a:avLst>
          </a:prstGeom>
          <a:solidFill>
            <a:srgbClr val="FFFFFF"/>
          </a:solidFill>
          <a:ln w="12700">
            <a:solidFill>
              <a:srgbClr val="CBD5E1"/>
            </a:solidFill>
            <a:prstDash val="solid"/>
          </a:ln>
        </p:spPr>
      </p:sp>
      <p:sp>
        <p:nvSpPr>
          <p:cNvPr id="71" name="Shape 69"/>
          <p:cNvSpPr/>
          <p:nvPr/>
        </p:nvSpPr>
        <p:spPr>
          <a:xfrm>
            <a:off x="8464144" y="1664208"/>
            <a:ext cx="73152" cy="1938528"/>
          </a:xfrm>
          <a:prstGeom prst="roundRect">
            <a:avLst>
              <a:gd name="adj" fmla="val 50000"/>
            </a:avLst>
          </a:prstGeom>
          <a:solidFill>
            <a:srgbClr val="D97706"/>
          </a:solidFill>
          <a:ln w="12700">
            <a:solidFill>
              <a:srgbClr val="D97706"/>
            </a:solidFill>
            <a:prstDash val="solid"/>
          </a:ln>
        </p:spPr>
      </p:sp>
      <p:sp>
        <p:nvSpPr>
          <p:cNvPr id="72" name="Shape 70"/>
          <p:cNvSpPr/>
          <p:nvPr/>
        </p:nvSpPr>
        <p:spPr>
          <a:xfrm>
            <a:off x="8573872" y="1755648"/>
            <a:ext cx="2776576" cy="402336"/>
          </a:xfrm>
          <a:prstGeom prst="roundRect">
            <a:avLst>
              <a:gd name="adj" fmla="val 9091"/>
            </a:avLst>
          </a:prstGeom>
          <a:solidFill>
            <a:srgbClr val="F1F5F9"/>
          </a:solidFill>
          <a:ln w="12700">
            <a:solidFill>
              <a:srgbClr val="D97706"/>
            </a:solidFill>
            <a:prstDash val="solid"/>
          </a:ln>
        </p:spPr>
      </p:sp>
      <p:sp>
        <p:nvSpPr>
          <p:cNvPr id="73" name="Text 71"/>
          <p:cNvSpPr/>
          <p:nvPr/>
        </p:nvSpPr>
        <p:spPr>
          <a:xfrm>
            <a:off x="8628736" y="1773936"/>
            <a:ext cx="1554480" cy="365760"/>
          </a:xfrm>
          <a:prstGeom prst="rect">
            <a:avLst/>
          </a:prstGeom>
          <a:noFill/>
          <a:ln/>
        </p:spPr>
        <p:txBody>
          <a:bodyPr wrap="square" rtlCol="0" anchor="ctr"/>
          <a:lstStyle/>
          <a:p>
            <a:pPr indent="0" marL="0">
              <a:buNone/>
            </a:pPr>
            <a:r>
              <a:rPr lang="en-US" sz="780" b="1" dirty="0">
                <a:solidFill>
                  <a:srgbClr val="0F172A"/>
                </a:solidFill>
                <a:latin typeface="Arial" pitchFamily="34" charset="0"/>
                <a:ea typeface="Arial" pitchFamily="34" charset="-122"/>
                <a:cs typeface="Arial" pitchFamily="34" charset="-120"/>
              </a:rPr>
              <a:t>KLASTER C: DIKLAT SPESIALIS</a:t>
            </a:r>
            <a:endParaRPr lang="en-US" sz="780" dirty="0"/>
          </a:p>
        </p:txBody>
      </p:sp>
      <p:sp>
        <p:nvSpPr>
          <p:cNvPr id="74" name="Text 72"/>
          <p:cNvSpPr/>
          <p:nvPr/>
        </p:nvSpPr>
        <p:spPr>
          <a:xfrm>
            <a:off x="10155784" y="1773936"/>
            <a:ext cx="1143000" cy="365760"/>
          </a:xfrm>
          <a:prstGeom prst="rect">
            <a:avLst/>
          </a:prstGeom>
          <a:noFill/>
          <a:ln/>
        </p:spPr>
        <p:txBody>
          <a:bodyPr wrap="square" rtlCol="0" anchor="ctr"/>
          <a:lstStyle/>
          <a:p>
            <a:pPr algn="r" indent="0" marL="0">
              <a:buNone/>
            </a:pPr>
            <a:r>
              <a:rPr lang="en-US" sz="820" b="1" dirty="0">
                <a:solidFill>
                  <a:srgbClr val="D97706"/>
                </a:solidFill>
                <a:latin typeface="Arial" pitchFamily="34" charset="0"/>
                <a:ea typeface="Arial" pitchFamily="34" charset="-122"/>
                <a:cs typeface="Arial" pitchFamily="34" charset="-120"/>
              </a:rPr>
              <a:t>Rp 2.469.000.000
</a:t>
            </a:r>
            <a:pPr algn="r" indent="0" marL="0">
              <a:buNone/>
            </a:pPr>
            <a:r>
              <a:rPr lang="en-US" sz="680" dirty="0">
                <a:solidFill>
                  <a:srgbClr val="334155"/>
                </a:solidFill>
                <a:latin typeface="Arial" pitchFamily="34" charset="0"/>
                <a:ea typeface="Arial" pitchFamily="34" charset="-122"/>
                <a:cs typeface="Arial" pitchFamily="34" charset="-120"/>
              </a:rPr>
              <a:t>(10,5% Target 2030)</a:t>
            </a:r>
            <a:endParaRPr lang="en-US" sz="820" dirty="0"/>
          </a:p>
        </p:txBody>
      </p:sp>
      <p:sp>
        <p:nvSpPr>
          <p:cNvPr id="75" name="Shape 73"/>
          <p:cNvSpPr/>
          <p:nvPr/>
        </p:nvSpPr>
        <p:spPr>
          <a:xfrm>
            <a:off x="8610448" y="2267712"/>
            <a:ext cx="54864" cy="54864"/>
          </a:xfrm>
          <a:prstGeom prst="ellipse">
            <a:avLst/>
          </a:prstGeom>
          <a:solidFill>
            <a:srgbClr val="D97706"/>
          </a:solidFill>
          <a:ln w="12700">
            <a:solidFill>
              <a:srgbClr val="D97706"/>
            </a:solidFill>
            <a:prstDash val="solid"/>
          </a:ln>
        </p:spPr>
      </p:sp>
      <p:sp>
        <p:nvSpPr>
          <p:cNvPr id="76" name="Text 74"/>
          <p:cNvSpPr/>
          <p:nvPr/>
        </p:nvSpPr>
        <p:spPr>
          <a:xfrm>
            <a:off x="8701888" y="2194560"/>
            <a:ext cx="1691640" cy="237744"/>
          </a:xfrm>
          <a:prstGeom prst="rect">
            <a:avLst/>
          </a:prstGeom>
          <a:noFill/>
          <a:ln/>
        </p:spPr>
        <p:txBody>
          <a:bodyPr wrap="square" rtlCol="0" anchor="ctr"/>
          <a:lstStyle/>
          <a:p>
            <a:pPr indent="0" marL="0">
              <a:buNone/>
            </a:pPr>
            <a:r>
              <a:rPr lang="en-US" sz="720" dirty="0">
                <a:solidFill>
                  <a:srgbClr val="334155"/>
                </a:solidFill>
                <a:latin typeface="Arial" pitchFamily="34" charset="0"/>
                <a:ea typeface="Arial" pitchFamily="34" charset="-122"/>
                <a:cs typeface="Arial" pitchFamily="34" charset="-120"/>
              </a:rPr>
              <a:t>Underwater Wet Welding</a:t>
            </a:r>
            <a:endParaRPr lang="en-US" sz="720" dirty="0"/>
          </a:p>
        </p:txBody>
      </p:sp>
      <p:sp>
        <p:nvSpPr>
          <p:cNvPr id="77" name="Text 75"/>
          <p:cNvSpPr/>
          <p:nvPr/>
        </p:nvSpPr>
        <p:spPr>
          <a:xfrm>
            <a:off x="10338664" y="2194560"/>
            <a:ext cx="987552" cy="237744"/>
          </a:xfrm>
          <a:prstGeom prst="rect">
            <a:avLst/>
          </a:prstGeom>
          <a:noFill/>
          <a:ln/>
        </p:spPr>
        <p:txBody>
          <a:bodyPr wrap="square" rtlCol="0" anchor="ctr"/>
          <a:lstStyle/>
          <a:p>
            <a:pPr algn="r" indent="0" marL="0">
              <a:buNone/>
            </a:pPr>
            <a:r>
              <a:rPr lang="en-US" sz="720" b="1" dirty="0">
                <a:solidFill>
                  <a:srgbClr val="0F172A"/>
                </a:solidFill>
                <a:latin typeface="Arial" pitchFamily="34" charset="0"/>
                <a:ea typeface="Arial" pitchFamily="34" charset="-122"/>
                <a:cs typeface="Arial" pitchFamily="34" charset="-120"/>
              </a:rPr>
              <a:t>Rp 846.000.000</a:t>
            </a:r>
            <a:endParaRPr lang="en-US" sz="720" dirty="0"/>
          </a:p>
        </p:txBody>
      </p:sp>
      <p:sp>
        <p:nvSpPr>
          <p:cNvPr id="78" name="Shape 76"/>
          <p:cNvSpPr/>
          <p:nvPr/>
        </p:nvSpPr>
        <p:spPr>
          <a:xfrm>
            <a:off x="8610448" y="2532888"/>
            <a:ext cx="54864" cy="54864"/>
          </a:xfrm>
          <a:prstGeom prst="ellipse">
            <a:avLst/>
          </a:prstGeom>
          <a:solidFill>
            <a:srgbClr val="D97706"/>
          </a:solidFill>
          <a:ln w="12700">
            <a:solidFill>
              <a:srgbClr val="D97706"/>
            </a:solidFill>
            <a:prstDash val="solid"/>
          </a:ln>
        </p:spPr>
      </p:sp>
      <p:sp>
        <p:nvSpPr>
          <p:cNvPr id="79" name="Text 77"/>
          <p:cNvSpPr/>
          <p:nvPr/>
        </p:nvSpPr>
        <p:spPr>
          <a:xfrm>
            <a:off x="8701888" y="2459736"/>
            <a:ext cx="1691640" cy="237744"/>
          </a:xfrm>
          <a:prstGeom prst="rect">
            <a:avLst/>
          </a:prstGeom>
          <a:noFill/>
          <a:ln/>
        </p:spPr>
        <p:txBody>
          <a:bodyPr wrap="square" rtlCol="0" anchor="ctr"/>
          <a:lstStyle/>
          <a:p>
            <a:pPr indent="0" marL="0">
              <a:buNone/>
            </a:pPr>
            <a:r>
              <a:rPr lang="en-US" sz="720" dirty="0">
                <a:solidFill>
                  <a:srgbClr val="334155"/>
                </a:solidFill>
                <a:latin typeface="Arial" pitchFamily="34" charset="0"/>
                <a:ea typeface="Arial" pitchFamily="34" charset="-122"/>
                <a:cs typeface="Arial" pitchFamily="34" charset="-120"/>
              </a:rPr>
              <a:t>Manufaktur &amp; Welding Intensif</a:t>
            </a:r>
            <a:endParaRPr lang="en-US" sz="720" dirty="0"/>
          </a:p>
        </p:txBody>
      </p:sp>
      <p:sp>
        <p:nvSpPr>
          <p:cNvPr id="80" name="Text 78"/>
          <p:cNvSpPr/>
          <p:nvPr/>
        </p:nvSpPr>
        <p:spPr>
          <a:xfrm>
            <a:off x="10338664" y="2459736"/>
            <a:ext cx="987552" cy="237744"/>
          </a:xfrm>
          <a:prstGeom prst="rect">
            <a:avLst/>
          </a:prstGeom>
          <a:noFill/>
          <a:ln/>
        </p:spPr>
        <p:txBody>
          <a:bodyPr wrap="square" rtlCol="0" anchor="ctr"/>
          <a:lstStyle/>
          <a:p>
            <a:pPr algn="r" indent="0" marL="0">
              <a:buNone/>
            </a:pPr>
            <a:r>
              <a:rPr lang="en-US" sz="720" b="1" dirty="0">
                <a:solidFill>
                  <a:srgbClr val="0F172A"/>
                </a:solidFill>
                <a:latin typeface="Arial" pitchFamily="34" charset="0"/>
                <a:ea typeface="Arial" pitchFamily="34" charset="-122"/>
                <a:cs typeface="Arial" pitchFamily="34" charset="-120"/>
              </a:rPr>
              <a:t>Rp 728.000.000</a:t>
            </a:r>
            <a:endParaRPr lang="en-US" sz="720" dirty="0"/>
          </a:p>
        </p:txBody>
      </p:sp>
      <p:sp>
        <p:nvSpPr>
          <p:cNvPr id="81" name="Shape 79"/>
          <p:cNvSpPr/>
          <p:nvPr/>
        </p:nvSpPr>
        <p:spPr>
          <a:xfrm>
            <a:off x="8610448" y="2798064"/>
            <a:ext cx="54864" cy="54864"/>
          </a:xfrm>
          <a:prstGeom prst="ellipse">
            <a:avLst/>
          </a:prstGeom>
          <a:solidFill>
            <a:srgbClr val="D97706"/>
          </a:solidFill>
          <a:ln w="12700">
            <a:solidFill>
              <a:srgbClr val="D97706"/>
            </a:solidFill>
            <a:prstDash val="solid"/>
          </a:ln>
        </p:spPr>
      </p:sp>
      <p:sp>
        <p:nvSpPr>
          <p:cNvPr id="82" name="Text 80"/>
          <p:cNvSpPr/>
          <p:nvPr/>
        </p:nvSpPr>
        <p:spPr>
          <a:xfrm>
            <a:off x="8701888" y="2724912"/>
            <a:ext cx="1691640" cy="237744"/>
          </a:xfrm>
          <a:prstGeom prst="rect">
            <a:avLst/>
          </a:prstGeom>
          <a:noFill/>
          <a:ln/>
        </p:spPr>
        <p:txBody>
          <a:bodyPr wrap="square" rtlCol="0" anchor="ctr"/>
          <a:lstStyle/>
          <a:p>
            <a:pPr indent="0" marL="0">
              <a:buNone/>
            </a:pPr>
            <a:r>
              <a:rPr lang="en-US" sz="720" dirty="0">
                <a:solidFill>
                  <a:srgbClr val="334155"/>
                </a:solidFill>
                <a:latin typeface="Arial" pitchFamily="34" charset="0"/>
                <a:ea typeface="Arial" pitchFamily="34" charset="-122"/>
                <a:cs typeface="Arial" pitchFamily="34" charset="-120"/>
              </a:rPr>
              <a:t>Desain, Manajerial &amp; EV</a:t>
            </a:r>
            <a:endParaRPr lang="en-US" sz="720" dirty="0"/>
          </a:p>
        </p:txBody>
      </p:sp>
      <p:sp>
        <p:nvSpPr>
          <p:cNvPr id="83" name="Text 81"/>
          <p:cNvSpPr/>
          <p:nvPr/>
        </p:nvSpPr>
        <p:spPr>
          <a:xfrm>
            <a:off x="10338664" y="2724912"/>
            <a:ext cx="987552" cy="237744"/>
          </a:xfrm>
          <a:prstGeom prst="rect">
            <a:avLst/>
          </a:prstGeom>
          <a:noFill/>
          <a:ln/>
        </p:spPr>
        <p:txBody>
          <a:bodyPr wrap="square" rtlCol="0" anchor="ctr"/>
          <a:lstStyle/>
          <a:p>
            <a:pPr algn="r" indent="0" marL="0">
              <a:buNone/>
            </a:pPr>
            <a:r>
              <a:rPr lang="en-US" sz="720" b="1" dirty="0">
                <a:solidFill>
                  <a:srgbClr val="0F172A"/>
                </a:solidFill>
                <a:latin typeface="Arial" pitchFamily="34" charset="0"/>
                <a:ea typeface="Arial" pitchFamily="34" charset="-122"/>
                <a:cs typeface="Arial" pitchFamily="34" charset="-120"/>
              </a:rPr>
              <a:t>Rp 555.000.000</a:t>
            </a:r>
            <a:endParaRPr lang="en-US" sz="720" dirty="0"/>
          </a:p>
        </p:txBody>
      </p:sp>
      <p:sp>
        <p:nvSpPr>
          <p:cNvPr id="84" name="Shape 82"/>
          <p:cNvSpPr/>
          <p:nvPr/>
        </p:nvSpPr>
        <p:spPr>
          <a:xfrm>
            <a:off x="8610448" y="3063240"/>
            <a:ext cx="54864" cy="54864"/>
          </a:xfrm>
          <a:prstGeom prst="ellipse">
            <a:avLst/>
          </a:prstGeom>
          <a:solidFill>
            <a:srgbClr val="D97706"/>
          </a:solidFill>
          <a:ln w="12700">
            <a:solidFill>
              <a:srgbClr val="D97706"/>
            </a:solidFill>
            <a:prstDash val="solid"/>
          </a:ln>
        </p:spPr>
      </p:sp>
      <p:sp>
        <p:nvSpPr>
          <p:cNvPr id="85" name="Text 83"/>
          <p:cNvSpPr/>
          <p:nvPr/>
        </p:nvSpPr>
        <p:spPr>
          <a:xfrm>
            <a:off x="8701888" y="2990088"/>
            <a:ext cx="1691640" cy="237744"/>
          </a:xfrm>
          <a:prstGeom prst="rect">
            <a:avLst/>
          </a:prstGeom>
          <a:noFill/>
          <a:ln/>
        </p:spPr>
        <p:txBody>
          <a:bodyPr wrap="square" rtlCol="0" anchor="ctr"/>
          <a:lstStyle/>
          <a:p>
            <a:pPr indent="0" marL="0">
              <a:buNone/>
            </a:pPr>
            <a:r>
              <a:rPr lang="en-US" sz="720" dirty="0">
                <a:solidFill>
                  <a:srgbClr val="334155"/>
                </a:solidFill>
                <a:latin typeface="Arial" pitchFamily="34" charset="0"/>
                <a:ea typeface="Arial" pitchFamily="34" charset="-122"/>
                <a:cs typeface="Arial" pitchFamily="34" charset="-120"/>
              </a:rPr>
              <a:t>Digital Tech (AI &amp; Cyber)</a:t>
            </a:r>
            <a:endParaRPr lang="en-US" sz="720" dirty="0"/>
          </a:p>
        </p:txBody>
      </p:sp>
      <p:sp>
        <p:nvSpPr>
          <p:cNvPr id="86" name="Text 84"/>
          <p:cNvSpPr/>
          <p:nvPr/>
        </p:nvSpPr>
        <p:spPr>
          <a:xfrm>
            <a:off x="10338664" y="2990088"/>
            <a:ext cx="987552" cy="237744"/>
          </a:xfrm>
          <a:prstGeom prst="rect">
            <a:avLst/>
          </a:prstGeom>
          <a:noFill/>
          <a:ln/>
        </p:spPr>
        <p:txBody>
          <a:bodyPr wrap="square" rtlCol="0" anchor="ctr"/>
          <a:lstStyle/>
          <a:p>
            <a:pPr algn="r" indent="0" marL="0">
              <a:buNone/>
            </a:pPr>
            <a:r>
              <a:rPr lang="en-US" sz="720" b="1" dirty="0">
                <a:solidFill>
                  <a:srgbClr val="0F172A"/>
                </a:solidFill>
                <a:latin typeface="Arial" pitchFamily="34" charset="0"/>
                <a:ea typeface="Arial" pitchFamily="34" charset="-122"/>
                <a:cs typeface="Arial" pitchFamily="34" charset="-120"/>
              </a:rPr>
              <a:t>Rp 225.000.000</a:t>
            </a:r>
            <a:endParaRPr lang="en-US" sz="720" dirty="0"/>
          </a:p>
        </p:txBody>
      </p:sp>
      <p:sp>
        <p:nvSpPr>
          <p:cNvPr id="87" name="Shape 85"/>
          <p:cNvSpPr/>
          <p:nvPr/>
        </p:nvSpPr>
        <p:spPr>
          <a:xfrm>
            <a:off x="8610448" y="3328416"/>
            <a:ext cx="54864" cy="54864"/>
          </a:xfrm>
          <a:prstGeom prst="ellipse">
            <a:avLst/>
          </a:prstGeom>
          <a:solidFill>
            <a:srgbClr val="D97706"/>
          </a:solidFill>
          <a:ln w="12700">
            <a:solidFill>
              <a:srgbClr val="D97706"/>
            </a:solidFill>
            <a:prstDash val="solid"/>
          </a:ln>
        </p:spPr>
      </p:sp>
      <p:sp>
        <p:nvSpPr>
          <p:cNvPr id="88" name="Text 86"/>
          <p:cNvSpPr/>
          <p:nvPr/>
        </p:nvSpPr>
        <p:spPr>
          <a:xfrm>
            <a:off x="8701888" y="3255264"/>
            <a:ext cx="1691640" cy="237744"/>
          </a:xfrm>
          <a:prstGeom prst="rect">
            <a:avLst/>
          </a:prstGeom>
          <a:noFill/>
          <a:ln/>
        </p:spPr>
        <p:txBody>
          <a:bodyPr wrap="square" rtlCol="0" anchor="ctr"/>
          <a:lstStyle/>
          <a:p>
            <a:pPr indent="0" marL="0">
              <a:buNone/>
            </a:pPr>
            <a:r>
              <a:rPr lang="en-US" sz="720" dirty="0">
                <a:solidFill>
                  <a:srgbClr val="334155"/>
                </a:solidFill>
                <a:latin typeface="Arial" pitchFamily="34" charset="0"/>
                <a:ea typeface="Arial" pitchFamily="34" charset="-122"/>
                <a:cs typeface="Arial" pitchFamily="34" charset="-120"/>
              </a:rPr>
              <a:t>Kewirausahaan &amp; UMKM</a:t>
            </a:r>
            <a:endParaRPr lang="en-US" sz="720" dirty="0"/>
          </a:p>
        </p:txBody>
      </p:sp>
      <p:sp>
        <p:nvSpPr>
          <p:cNvPr id="89" name="Text 87"/>
          <p:cNvSpPr/>
          <p:nvPr/>
        </p:nvSpPr>
        <p:spPr>
          <a:xfrm>
            <a:off x="10338664" y="3255264"/>
            <a:ext cx="987552" cy="237744"/>
          </a:xfrm>
          <a:prstGeom prst="rect">
            <a:avLst/>
          </a:prstGeom>
          <a:noFill/>
          <a:ln/>
        </p:spPr>
        <p:txBody>
          <a:bodyPr wrap="square" rtlCol="0" anchor="ctr"/>
          <a:lstStyle/>
          <a:p>
            <a:pPr algn="r" indent="0" marL="0">
              <a:buNone/>
            </a:pPr>
            <a:r>
              <a:rPr lang="en-US" sz="720" b="1" dirty="0">
                <a:solidFill>
                  <a:srgbClr val="0F172A"/>
                </a:solidFill>
                <a:latin typeface="Arial" pitchFamily="34" charset="0"/>
                <a:ea typeface="Arial" pitchFamily="34" charset="-122"/>
                <a:cs typeface="Arial" pitchFamily="34" charset="-120"/>
              </a:rPr>
              <a:t>Rp 115.000.000</a:t>
            </a:r>
            <a:endParaRPr lang="en-US" sz="720" dirty="0"/>
          </a:p>
        </p:txBody>
      </p:sp>
      <p:sp>
        <p:nvSpPr>
          <p:cNvPr id="90" name="Shape 88"/>
          <p:cNvSpPr/>
          <p:nvPr/>
        </p:nvSpPr>
        <p:spPr>
          <a:xfrm>
            <a:off x="5330952" y="3712464"/>
            <a:ext cx="1969922" cy="1956816"/>
          </a:xfrm>
          <a:prstGeom prst="roundRect">
            <a:avLst>
              <a:gd name="adj" fmla="val 3738"/>
            </a:avLst>
          </a:prstGeom>
          <a:solidFill>
            <a:srgbClr val="FFFFFF"/>
          </a:solidFill>
          <a:ln w="12700">
            <a:solidFill>
              <a:srgbClr val="CBD5E1"/>
            </a:solidFill>
            <a:prstDash val="solid"/>
          </a:ln>
        </p:spPr>
      </p:sp>
      <p:sp>
        <p:nvSpPr>
          <p:cNvPr id="91" name="Shape 89"/>
          <p:cNvSpPr/>
          <p:nvPr/>
        </p:nvSpPr>
        <p:spPr>
          <a:xfrm>
            <a:off x="5330952" y="3712464"/>
            <a:ext cx="73152" cy="1956816"/>
          </a:xfrm>
          <a:prstGeom prst="roundRect">
            <a:avLst>
              <a:gd name="adj" fmla="val 50000"/>
            </a:avLst>
          </a:prstGeom>
          <a:solidFill>
            <a:srgbClr val="059669"/>
          </a:solidFill>
          <a:ln w="12700">
            <a:solidFill>
              <a:srgbClr val="059669"/>
            </a:solidFill>
            <a:prstDash val="solid"/>
          </a:ln>
        </p:spPr>
      </p:sp>
      <p:sp>
        <p:nvSpPr>
          <p:cNvPr id="92" name="Shape 90"/>
          <p:cNvSpPr/>
          <p:nvPr/>
        </p:nvSpPr>
        <p:spPr>
          <a:xfrm>
            <a:off x="5422392" y="3803904"/>
            <a:ext cx="1787042" cy="402336"/>
          </a:xfrm>
          <a:prstGeom prst="roundRect">
            <a:avLst>
              <a:gd name="adj" fmla="val 9091"/>
            </a:avLst>
          </a:prstGeom>
          <a:solidFill>
            <a:srgbClr val="F1F5F9"/>
          </a:solidFill>
          <a:ln w="12700">
            <a:solidFill>
              <a:srgbClr val="059669"/>
            </a:solidFill>
            <a:prstDash val="solid"/>
          </a:ln>
        </p:spPr>
      </p:sp>
      <p:sp>
        <p:nvSpPr>
          <p:cNvPr id="93" name="Text 91"/>
          <p:cNvSpPr/>
          <p:nvPr/>
        </p:nvSpPr>
        <p:spPr>
          <a:xfrm>
            <a:off x="5458968" y="3822192"/>
            <a:ext cx="1713890" cy="164592"/>
          </a:xfrm>
          <a:prstGeom prst="rect">
            <a:avLst/>
          </a:prstGeom>
          <a:noFill/>
          <a:ln/>
        </p:spPr>
        <p:txBody>
          <a:bodyPr wrap="square" rtlCol="0" anchor="ctr"/>
          <a:lstStyle/>
          <a:p>
            <a:pPr indent="0" marL="0">
              <a:buNone/>
            </a:pPr>
            <a:r>
              <a:rPr lang="en-US" sz="780" b="1" dirty="0">
                <a:solidFill>
                  <a:srgbClr val="0F172A"/>
                </a:solidFill>
                <a:latin typeface="Arial" pitchFamily="34" charset="0"/>
                <a:ea typeface="Arial" pitchFamily="34" charset="-122"/>
                <a:cs typeface="Arial" pitchFamily="34" charset="-120"/>
              </a:rPr>
              <a:t>KLASTER D: MICE &amp; ASET</a:t>
            </a:r>
            <a:endParaRPr lang="en-US" sz="780" dirty="0"/>
          </a:p>
        </p:txBody>
      </p:sp>
      <p:sp>
        <p:nvSpPr>
          <p:cNvPr id="94" name="Text 92"/>
          <p:cNvSpPr/>
          <p:nvPr/>
        </p:nvSpPr>
        <p:spPr>
          <a:xfrm>
            <a:off x="5458968" y="3968496"/>
            <a:ext cx="1713890" cy="201168"/>
          </a:xfrm>
          <a:prstGeom prst="rect">
            <a:avLst/>
          </a:prstGeom>
          <a:noFill/>
          <a:ln/>
        </p:spPr>
        <p:txBody>
          <a:bodyPr wrap="square" rtlCol="0" anchor="ctr"/>
          <a:lstStyle/>
          <a:p>
            <a:pPr indent="0" marL="0">
              <a:buNone/>
            </a:pPr>
            <a:r>
              <a:rPr lang="en-US" sz="820" b="1" dirty="0">
                <a:solidFill>
                  <a:srgbClr val="059669"/>
                </a:solidFill>
                <a:latin typeface="Arial" pitchFamily="34" charset="0"/>
                <a:ea typeface="Arial" pitchFamily="34" charset="-122"/>
                <a:cs typeface="Arial" pitchFamily="34" charset="-120"/>
              </a:rPr>
              <a:t>Rp 2.450.000.000 (10,4%)</a:t>
            </a:r>
            <a:endParaRPr lang="en-US" sz="820" dirty="0"/>
          </a:p>
        </p:txBody>
      </p:sp>
      <p:sp>
        <p:nvSpPr>
          <p:cNvPr id="95" name="Text 93"/>
          <p:cNvSpPr/>
          <p:nvPr/>
        </p:nvSpPr>
        <p:spPr>
          <a:xfrm>
            <a:off x="5440680" y="4261104"/>
            <a:ext cx="1051560" cy="292608"/>
          </a:xfrm>
          <a:prstGeom prst="rect">
            <a:avLst/>
          </a:prstGeom>
          <a:noFill/>
          <a:ln/>
        </p:spPr>
        <p:txBody>
          <a:bodyPr wrap="square" rtlCol="0" anchor="ctr"/>
          <a:lstStyle/>
          <a:p>
            <a:pPr indent="0" marL="0">
              <a:buNone/>
            </a:pPr>
            <a:r>
              <a:rPr lang="en-US" sz="720" dirty="0">
                <a:solidFill>
                  <a:srgbClr val="334155"/>
                </a:solidFill>
                <a:latin typeface="Arial" pitchFamily="34" charset="0"/>
                <a:ea typeface="Arial" pitchFamily="34" charset="-122"/>
                <a:cs typeface="Arial" pitchFamily="34" charset="-120"/>
              </a:rPr>
              <a:t>Sarana Kawasan / MICE</a:t>
            </a:r>
            <a:endParaRPr lang="en-US" sz="720" dirty="0"/>
          </a:p>
        </p:txBody>
      </p:sp>
      <p:sp>
        <p:nvSpPr>
          <p:cNvPr id="96" name="Text 94"/>
          <p:cNvSpPr/>
          <p:nvPr/>
        </p:nvSpPr>
        <p:spPr>
          <a:xfrm>
            <a:off x="6428232" y="4261104"/>
            <a:ext cx="768096" cy="292608"/>
          </a:xfrm>
          <a:prstGeom prst="rect">
            <a:avLst/>
          </a:prstGeom>
          <a:noFill/>
          <a:ln/>
        </p:spPr>
        <p:txBody>
          <a:bodyPr wrap="square" rtlCol="0" anchor="ctr"/>
          <a:lstStyle/>
          <a:p>
            <a:pPr algn="r" indent="0" marL="0">
              <a:buNone/>
            </a:pPr>
            <a:r>
              <a:rPr lang="en-US" sz="720" b="1" dirty="0">
                <a:solidFill>
                  <a:srgbClr val="0F172A"/>
                </a:solidFill>
                <a:latin typeface="Arial" pitchFamily="34" charset="0"/>
                <a:ea typeface="Arial" pitchFamily="34" charset="-122"/>
                <a:cs typeface="Arial" pitchFamily="34" charset="-120"/>
              </a:rPr>
              <a:t>Rp 1.500 M</a:t>
            </a:r>
            <a:endParaRPr lang="en-US" sz="720" dirty="0"/>
          </a:p>
        </p:txBody>
      </p:sp>
      <p:sp>
        <p:nvSpPr>
          <p:cNvPr id="97" name="Text 95"/>
          <p:cNvSpPr/>
          <p:nvPr/>
        </p:nvSpPr>
        <p:spPr>
          <a:xfrm>
            <a:off x="5440680" y="4608576"/>
            <a:ext cx="1051560" cy="292608"/>
          </a:xfrm>
          <a:prstGeom prst="rect">
            <a:avLst/>
          </a:prstGeom>
          <a:noFill/>
          <a:ln/>
        </p:spPr>
        <p:txBody>
          <a:bodyPr wrap="square" rtlCol="0" anchor="ctr"/>
          <a:lstStyle/>
          <a:p>
            <a:pPr indent="0" marL="0">
              <a:buNone/>
            </a:pPr>
            <a:r>
              <a:rPr lang="en-US" sz="720" dirty="0">
                <a:solidFill>
                  <a:srgbClr val="334155"/>
                </a:solidFill>
                <a:latin typeface="Arial" pitchFamily="34" charset="0"/>
                <a:ea typeface="Arial" pitchFamily="34" charset="-122"/>
                <a:cs typeface="Arial" pitchFamily="34" charset="-120"/>
              </a:rPr>
              <a:t>Co-Working &amp; Virtual Off.</a:t>
            </a:r>
            <a:endParaRPr lang="en-US" sz="720" dirty="0"/>
          </a:p>
        </p:txBody>
      </p:sp>
      <p:sp>
        <p:nvSpPr>
          <p:cNvPr id="98" name="Text 96"/>
          <p:cNvSpPr/>
          <p:nvPr/>
        </p:nvSpPr>
        <p:spPr>
          <a:xfrm>
            <a:off x="6428232" y="4608576"/>
            <a:ext cx="768096" cy="292608"/>
          </a:xfrm>
          <a:prstGeom prst="rect">
            <a:avLst/>
          </a:prstGeom>
          <a:noFill/>
          <a:ln/>
        </p:spPr>
        <p:txBody>
          <a:bodyPr wrap="square" rtlCol="0" anchor="ctr"/>
          <a:lstStyle/>
          <a:p>
            <a:pPr algn="r" indent="0" marL="0">
              <a:buNone/>
            </a:pPr>
            <a:r>
              <a:rPr lang="en-US" sz="720" b="1" dirty="0">
                <a:solidFill>
                  <a:srgbClr val="0F172A"/>
                </a:solidFill>
                <a:latin typeface="Arial" pitchFamily="34" charset="0"/>
                <a:ea typeface="Arial" pitchFamily="34" charset="-122"/>
                <a:cs typeface="Arial" pitchFamily="34" charset="-120"/>
              </a:rPr>
              <a:t>Rp 900 Jt</a:t>
            </a:r>
            <a:endParaRPr lang="en-US" sz="720" dirty="0"/>
          </a:p>
        </p:txBody>
      </p:sp>
      <p:sp>
        <p:nvSpPr>
          <p:cNvPr id="99" name="Text 97"/>
          <p:cNvSpPr/>
          <p:nvPr/>
        </p:nvSpPr>
        <p:spPr>
          <a:xfrm>
            <a:off x="5440680" y="4956048"/>
            <a:ext cx="1051560" cy="292608"/>
          </a:xfrm>
          <a:prstGeom prst="rect">
            <a:avLst/>
          </a:prstGeom>
          <a:noFill/>
          <a:ln/>
        </p:spPr>
        <p:txBody>
          <a:bodyPr wrap="square" rtlCol="0" anchor="ctr"/>
          <a:lstStyle/>
          <a:p>
            <a:pPr indent="0" marL="0">
              <a:buNone/>
            </a:pPr>
            <a:r>
              <a:rPr lang="en-US" sz="720" dirty="0">
                <a:solidFill>
                  <a:srgbClr val="334155"/>
                </a:solidFill>
                <a:latin typeface="Arial" pitchFamily="34" charset="0"/>
                <a:ea typeface="Arial" pitchFamily="34" charset="-122"/>
                <a:cs typeface="Arial" pitchFamily="34" charset="-120"/>
              </a:rPr>
              <a:t>Jasa Giro Kas BLUD</a:t>
            </a:r>
            <a:endParaRPr lang="en-US" sz="720" dirty="0"/>
          </a:p>
        </p:txBody>
      </p:sp>
      <p:sp>
        <p:nvSpPr>
          <p:cNvPr id="100" name="Text 98"/>
          <p:cNvSpPr/>
          <p:nvPr/>
        </p:nvSpPr>
        <p:spPr>
          <a:xfrm>
            <a:off x="6428232" y="4956048"/>
            <a:ext cx="768096" cy="292608"/>
          </a:xfrm>
          <a:prstGeom prst="rect">
            <a:avLst/>
          </a:prstGeom>
          <a:noFill/>
          <a:ln/>
        </p:spPr>
        <p:txBody>
          <a:bodyPr wrap="square" rtlCol="0" anchor="ctr"/>
          <a:lstStyle/>
          <a:p>
            <a:pPr algn="r" indent="0" marL="0">
              <a:buNone/>
            </a:pPr>
            <a:r>
              <a:rPr lang="en-US" sz="720" b="1" dirty="0">
                <a:solidFill>
                  <a:srgbClr val="0F172A"/>
                </a:solidFill>
                <a:latin typeface="Arial" pitchFamily="34" charset="0"/>
                <a:ea typeface="Arial" pitchFamily="34" charset="-122"/>
                <a:cs typeface="Arial" pitchFamily="34" charset="-120"/>
              </a:rPr>
              <a:t>Rp 50 Jt</a:t>
            </a:r>
            <a:endParaRPr lang="en-US" sz="720" dirty="0"/>
          </a:p>
        </p:txBody>
      </p:sp>
      <p:sp>
        <p:nvSpPr>
          <p:cNvPr id="101" name="Shape 99"/>
          <p:cNvSpPr/>
          <p:nvPr/>
        </p:nvSpPr>
        <p:spPr>
          <a:xfrm>
            <a:off x="7410602" y="3712464"/>
            <a:ext cx="1969922" cy="1956816"/>
          </a:xfrm>
          <a:prstGeom prst="roundRect">
            <a:avLst>
              <a:gd name="adj" fmla="val 3738"/>
            </a:avLst>
          </a:prstGeom>
          <a:solidFill>
            <a:srgbClr val="FFFFFF"/>
          </a:solidFill>
          <a:ln w="12700">
            <a:solidFill>
              <a:srgbClr val="CBD5E1"/>
            </a:solidFill>
            <a:prstDash val="solid"/>
          </a:ln>
        </p:spPr>
      </p:sp>
      <p:sp>
        <p:nvSpPr>
          <p:cNvPr id="102" name="Shape 100"/>
          <p:cNvSpPr/>
          <p:nvPr/>
        </p:nvSpPr>
        <p:spPr>
          <a:xfrm>
            <a:off x="7410602" y="3712464"/>
            <a:ext cx="73152" cy="1956816"/>
          </a:xfrm>
          <a:prstGeom prst="roundRect">
            <a:avLst>
              <a:gd name="adj" fmla="val 50000"/>
            </a:avLst>
          </a:prstGeom>
          <a:solidFill>
            <a:srgbClr val="7C3AED"/>
          </a:solidFill>
          <a:ln w="12700">
            <a:solidFill>
              <a:srgbClr val="7C3AED"/>
            </a:solidFill>
            <a:prstDash val="solid"/>
          </a:ln>
        </p:spPr>
      </p:sp>
      <p:sp>
        <p:nvSpPr>
          <p:cNvPr id="103" name="Shape 101"/>
          <p:cNvSpPr/>
          <p:nvPr/>
        </p:nvSpPr>
        <p:spPr>
          <a:xfrm>
            <a:off x="7502042" y="3803904"/>
            <a:ext cx="1787042" cy="402336"/>
          </a:xfrm>
          <a:prstGeom prst="roundRect">
            <a:avLst>
              <a:gd name="adj" fmla="val 9091"/>
            </a:avLst>
          </a:prstGeom>
          <a:solidFill>
            <a:srgbClr val="F1F5F9"/>
          </a:solidFill>
          <a:ln w="12700">
            <a:solidFill>
              <a:srgbClr val="7C3AED"/>
            </a:solidFill>
            <a:prstDash val="solid"/>
          </a:ln>
        </p:spPr>
      </p:sp>
      <p:sp>
        <p:nvSpPr>
          <p:cNvPr id="104" name="Text 102"/>
          <p:cNvSpPr/>
          <p:nvPr/>
        </p:nvSpPr>
        <p:spPr>
          <a:xfrm>
            <a:off x="7538618" y="3822192"/>
            <a:ext cx="1713890" cy="164592"/>
          </a:xfrm>
          <a:prstGeom prst="rect">
            <a:avLst/>
          </a:prstGeom>
          <a:noFill/>
          <a:ln/>
        </p:spPr>
        <p:txBody>
          <a:bodyPr wrap="square" rtlCol="0" anchor="ctr"/>
          <a:lstStyle/>
          <a:p>
            <a:pPr indent="0" marL="0">
              <a:buNone/>
            </a:pPr>
            <a:r>
              <a:rPr lang="en-US" sz="780" b="1" dirty="0">
                <a:solidFill>
                  <a:srgbClr val="0F172A"/>
                </a:solidFill>
                <a:latin typeface="Arial" pitchFamily="34" charset="0"/>
                <a:ea typeface="Arial" pitchFamily="34" charset="-122"/>
                <a:cs typeface="Arial" pitchFamily="34" charset="-120"/>
              </a:rPr>
              <a:t>KLASTER E: MANUFAKTUR</a:t>
            </a:r>
            <a:endParaRPr lang="en-US" sz="780" dirty="0"/>
          </a:p>
        </p:txBody>
      </p:sp>
      <p:sp>
        <p:nvSpPr>
          <p:cNvPr id="105" name="Text 103"/>
          <p:cNvSpPr/>
          <p:nvPr/>
        </p:nvSpPr>
        <p:spPr>
          <a:xfrm>
            <a:off x="7538618" y="3968496"/>
            <a:ext cx="1713890" cy="201168"/>
          </a:xfrm>
          <a:prstGeom prst="rect">
            <a:avLst/>
          </a:prstGeom>
          <a:noFill/>
          <a:ln/>
        </p:spPr>
        <p:txBody>
          <a:bodyPr wrap="square" rtlCol="0" anchor="ctr"/>
          <a:lstStyle/>
          <a:p>
            <a:pPr indent="0" marL="0">
              <a:buNone/>
            </a:pPr>
            <a:r>
              <a:rPr lang="en-US" sz="820" b="1" dirty="0">
                <a:solidFill>
                  <a:srgbClr val="7C3AED"/>
                </a:solidFill>
                <a:latin typeface="Arial" pitchFamily="34" charset="0"/>
                <a:ea typeface="Arial" pitchFamily="34" charset="-122"/>
                <a:cs typeface="Arial" pitchFamily="34" charset="-120"/>
              </a:rPr>
              <a:t>Rp 1.465.000.000 (6,2%)</a:t>
            </a:r>
            <a:endParaRPr lang="en-US" sz="820" dirty="0"/>
          </a:p>
        </p:txBody>
      </p:sp>
      <p:sp>
        <p:nvSpPr>
          <p:cNvPr id="106" name="Text 104"/>
          <p:cNvSpPr/>
          <p:nvPr/>
        </p:nvSpPr>
        <p:spPr>
          <a:xfrm>
            <a:off x="7520330" y="4261104"/>
            <a:ext cx="1051560" cy="292608"/>
          </a:xfrm>
          <a:prstGeom prst="rect">
            <a:avLst/>
          </a:prstGeom>
          <a:noFill/>
          <a:ln/>
        </p:spPr>
        <p:txBody>
          <a:bodyPr wrap="square" rtlCol="0" anchor="ctr"/>
          <a:lstStyle/>
          <a:p>
            <a:pPr indent="0" marL="0">
              <a:buNone/>
            </a:pPr>
            <a:r>
              <a:rPr lang="en-US" sz="720" dirty="0">
                <a:solidFill>
                  <a:srgbClr val="334155"/>
                </a:solidFill>
                <a:latin typeface="Arial" pitchFamily="34" charset="0"/>
                <a:ea typeface="Arial" pitchFamily="34" charset="-122"/>
                <a:cs typeface="Arial" pitchFamily="34" charset="-120"/>
              </a:rPr>
              <a:t>Precision Parts Fabrikasi</a:t>
            </a:r>
            <a:endParaRPr lang="en-US" sz="720" dirty="0"/>
          </a:p>
        </p:txBody>
      </p:sp>
      <p:sp>
        <p:nvSpPr>
          <p:cNvPr id="107" name="Text 105"/>
          <p:cNvSpPr/>
          <p:nvPr/>
        </p:nvSpPr>
        <p:spPr>
          <a:xfrm>
            <a:off x="8507882" y="4261104"/>
            <a:ext cx="768096" cy="292608"/>
          </a:xfrm>
          <a:prstGeom prst="rect">
            <a:avLst/>
          </a:prstGeom>
          <a:noFill/>
          <a:ln/>
        </p:spPr>
        <p:txBody>
          <a:bodyPr wrap="square" rtlCol="0" anchor="ctr"/>
          <a:lstStyle/>
          <a:p>
            <a:pPr algn="r" indent="0" marL="0">
              <a:buNone/>
            </a:pPr>
            <a:r>
              <a:rPr lang="en-US" sz="720" b="1" dirty="0">
                <a:solidFill>
                  <a:srgbClr val="0F172A"/>
                </a:solidFill>
                <a:latin typeface="Arial" pitchFamily="34" charset="0"/>
                <a:ea typeface="Arial" pitchFamily="34" charset="-122"/>
                <a:cs typeface="Arial" pitchFamily="34" charset="-120"/>
              </a:rPr>
              <a:t>Rp 1.225 M</a:t>
            </a:r>
            <a:endParaRPr lang="en-US" sz="720" dirty="0"/>
          </a:p>
        </p:txBody>
      </p:sp>
      <p:sp>
        <p:nvSpPr>
          <p:cNvPr id="108" name="Text 106"/>
          <p:cNvSpPr/>
          <p:nvPr/>
        </p:nvSpPr>
        <p:spPr>
          <a:xfrm>
            <a:off x="7520330" y="4608576"/>
            <a:ext cx="1051560" cy="292608"/>
          </a:xfrm>
          <a:prstGeom prst="rect">
            <a:avLst/>
          </a:prstGeom>
          <a:noFill/>
          <a:ln/>
        </p:spPr>
        <p:txBody>
          <a:bodyPr wrap="square" rtlCol="0" anchor="ctr"/>
          <a:lstStyle/>
          <a:p>
            <a:pPr indent="0" marL="0">
              <a:buNone/>
            </a:pPr>
            <a:r>
              <a:rPr lang="en-US" sz="720" dirty="0">
                <a:solidFill>
                  <a:srgbClr val="334155"/>
                </a:solidFill>
                <a:latin typeface="Arial" pitchFamily="34" charset="0"/>
                <a:ea typeface="Arial" pitchFamily="34" charset="-122"/>
                <a:cs typeface="Arial" pitchFamily="34" charset="-120"/>
              </a:rPr>
              <a:t>Standarisasi Uji TKDN</a:t>
            </a:r>
            <a:endParaRPr lang="en-US" sz="720" dirty="0"/>
          </a:p>
        </p:txBody>
      </p:sp>
      <p:sp>
        <p:nvSpPr>
          <p:cNvPr id="109" name="Text 107"/>
          <p:cNvSpPr/>
          <p:nvPr/>
        </p:nvSpPr>
        <p:spPr>
          <a:xfrm>
            <a:off x="8507882" y="4608576"/>
            <a:ext cx="768096" cy="292608"/>
          </a:xfrm>
          <a:prstGeom prst="rect">
            <a:avLst/>
          </a:prstGeom>
          <a:noFill/>
          <a:ln/>
        </p:spPr>
        <p:txBody>
          <a:bodyPr wrap="square" rtlCol="0" anchor="ctr"/>
          <a:lstStyle/>
          <a:p>
            <a:pPr algn="r" indent="0" marL="0">
              <a:buNone/>
            </a:pPr>
            <a:r>
              <a:rPr lang="en-US" sz="720" b="1" dirty="0">
                <a:solidFill>
                  <a:srgbClr val="0F172A"/>
                </a:solidFill>
                <a:latin typeface="Arial" pitchFamily="34" charset="0"/>
                <a:ea typeface="Arial" pitchFamily="34" charset="-122"/>
                <a:cs typeface="Arial" pitchFamily="34" charset="-120"/>
              </a:rPr>
              <a:t>Rp 135 Jt</a:t>
            </a:r>
            <a:endParaRPr lang="en-US" sz="720" dirty="0"/>
          </a:p>
        </p:txBody>
      </p:sp>
      <p:sp>
        <p:nvSpPr>
          <p:cNvPr id="110" name="Text 108"/>
          <p:cNvSpPr/>
          <p:nvPr/>
        </p:nvSpPr>
        <p:spPr>
          <a:xfrm>
            <a:off x="7520330" y="4956048"/>
            <a:ext cx="1051560" cy="292608"/>
          </a:xfrm>
          <a:prstGeom prst="rect">
            <a:avLst/>
          </a:prstGeom>
          <a:noFill/>
          <a:ln/>
        </p:spPr>
        <p:txBody>
          <a:bodyPr wrap="square" rtlCol="0" anchor="ctr"/>
          <a:lstStyle/>
          <a:p>
            <a:pPr indent="0" marL="0">
              <a:buNone/>
            </a:pPr>
            <a:r>
              <a:rPr lang="en-US" sz="720" dirty="0">
                <a:solidFill>
                  <a:srgbClr val="334155"/>
                </a:solidFill>
                <a:latin typeface="Arial" pitchFamily="34" charset="0"/>
                <a:ea typeface="Arial" pitchFamily="34" charset="-122"/>
                <a:cs typeface="Arial" pitchFamily="34" charset="-120"/>
              </a:rPr>
              <a:t>Pesanan Pemda e-Katalog</a:t>
            </a:r>
            <a:endParaRPr lang="en-US" sz="720" dirty="0"/>
          </a:p>
        </p:txBody>
      </p:sp>
      <p:sp>
        <p:nvSpPr>
          <p:cNvPr id="111" name="Text 109"/>
          <p:cNvSpPr/>
          <p:nvPr/>
        </p:nvSpPr>
        <p:spPr>
          <a:xfrm>
            <a:off x="8507882" y="4956048"/>
            <a:ext cx="768096" cy="292608"/>
          </a:xfrm>
          <a:prstGeom prst="rect">
            <a:avLst/>
          </a:prstGeom>
          <a:noFill/>
          <a:ln/>
        </p:spPr>
        <p:txBody>
          <a:bodyPr wrap="square" rtlCol="0" anchor="ctr"/>
          <a:lstStyle/>
          <a:p>
            <a:pPr algn="r" indent="0" marL="0">
              <a:buNone/>
            </a:pPr>
            <a:r>
              <a:rPr lang="en-US" sz="720" b="1" dirty="0">
                <a:solidFill>
                  <a:srgbClr val="0F172A"/>
                </a:solidFill>
                <a:latin typeface="Arial" pitchFamily="34" charset="0"/>
                <a:ea typeface="Arial" pitchFamily="34" charset="-122"/>
                <a:cs typeface="Arial" pitchFamily="34" charset="-120"/>
              </a:rPr>
              <a:t>Rp 105 Jt</a:t>
            </a:r>
            <a:endParaRPr lang="en-US" sz="720" dirty="0"/>
          </a:p>
        </p:txBody>
      </p:sp>
      <p:sp>
        <p:nvSpPr>
          <p:cNvPr id="112" name="Shape 110"/>
          <p:cNvSpPr/>
          <p:nvPr/>
        </p:nvSpPr>
        <p:spPr>
          <a:xfrm>
            <a:off x="9490253" y="3712464"/>
            <a:ext cx="1969922" cy="1956816"/>
          </a:xfrm>
          <a:prstGeom prst="roundRect">
            <a:avLst>
              <a:gd name="adj" fmla="val 3738"/>
            </a:avLst>
          </a:prstGeom>
          <a:solidFill>
            <a:srgbClr val="FFFFFF"/>
          </a:solidFill>
          <a:ln w="12700">
            <a:solidFill>
              <a:srgbClr val="CBD5E1"/>
            </a:solidFill>
            <a:prstDash val="solid"/>
          </a:ln>
        </p:spPr>
      </p:sp>
      <p:sp>
        <p:nvSpPr>
          <p:cNvPr id="113" name="Shape 111"/>
          <p:cNvSpPr/>
          <p:nvPr/>
        </p:nvSpPr>
        <p:spPr>
          <a:xfrm>
            <a:off x="9490253" y="3712464"/>
            <a:ext cx="73152" cy="1956816"/>
          </a:xfrm>
          <a:prstGeom prst="roundRect">
            <a:avLst>
              <a:gd name="adj" fmla="val 50000"/>
            </a:avLst>
          </a:prstGeom>
          <a:solidFill>
            <a:srgbClr val="64748B"/>
          </a:solidFill>
          <a:ln w="12700">
            <a:solidFill>
              <a:srgbClr val="64748B"/>
            </a:solidFill>
            <a:prstDash val="solid"/>
          </a:ln>
        </p:spPr>
      </p:sp>
      <p:sp>
        <p:nvSpPr>
          <p:cNvPr id="114" name="Shape 112"/>
          <p:cNvSpPr/>
          <p:nvPr/>
        </p:nvSpPr>
        <p:spPr>
          <a:xfrm>
            <a:off x="9581693" y="3803904"/>
            <a:ext cx="1787042" cy="402336"/>
          </a:xfrm>
          <a:prstGeom prst="roundRect">
            <a:avLst>
              <a:gd name="adj" fmla="val 9091"/>
            </a:avLst>
          </a:prstGeom>
          <a:solidFill>
            <a:srgbClr val="F1F5F9"/>
          </a:solidFill>
          <a:ln w="12700">
            <a:solidFill>
              <a:srgbClr val="64748B"/>
            </a:solidFill>
            <a:prstDash val="solid"/>
          </a:ln>
        </p:spPr>
      </p:sp>
      <p:sp>
        <p:nvSpPr>
          <p:cNvPr id="115" name="Text 113"/>
          <p:cNvSpPr/>
          <p:nvPr/>
        </p:nvSpPr>
        <p:spPr>
          <a:xfrm>
            <a:off x="9618269" y="3822192"/>
            <a:ext cx="1713890" cy="164592"/>
          </a:xfrm>
          <a:prstGeom prst="rect">
            <a:avLst/>
          </a:prstGeom>
          <a:noFill/>
          <a:ln/>
        </p:spPr>
        <p:txBody>
          <a:bodyPr wrap="square" rtlCol="0" anchor="ctr"/>
          <a:lstStyle/>
          <a:p>
            <a:pPr indent="0" marL="0">
              <a:buNone/>
            </a:pPr>
            <a:r>
              <a:rPr lang="en-US" sz="780" b="1" dirty="0">
                <a:solidFill>
                  <a:srgbClr val="0F172A"/>
                </a:solidFill>
                <a:latin typeface="Arial" pitchFamily="34" charset="0"/>
                <a:ea typeface="Arial" pitchFamily="34" charset="-122"/>
                <a:cs typeface="Arial" pitchFamily="34" charset="-120"/>
              </a:rPr>
              <a:t>KLASTER F: SEWA LAHAN</a:t>
            </a:r>
            <a:endParaRPr lang="en-US" sz="780" dirty="0"/>
          </a:p>
        </p:txBody>
      </p:sp>
      <p:sp>
        <p:nvSpPr>
          <p:cNvPr id="116" name="Text 114"/>
          <p:cNvSpPr/>
          <p:nvPr/>
        </p:nvSpPr>
        <p:spPr>
          <a:xfrm>
            <a:off x="9618269" y="3968496"/>
            <a:ext cx="1713890" cy="201168"/>
          </a:xfrm>
          <a:prstGeom prst="rect">
            <a:avLst/>
          </a:prstGeom>
          <a:noFill/>
          <a:ln/>
        </p:spPr>
        <p:txBody>
          <a:bodyPr wrap="square" rtlCol="0" anchor="ctr"/>
          <a:lstStyle/>
          <a:p>
            <a:pPr indent="0" marL="0">
              <a:buNone/>
            </a:pPr>
            <a:r>
              <a:rPr lang="en-US" sz="820" b="1" dirty="0">
                <a:solidFill>
                  <a:srgbClr val="334155"/>
                </a:solidFill>
                <a:latin typeface="Arial" pitchFamily="34" charset="0"/>
                <a:ea typeface="Arial" pitchFamily="34" charset="-122"/>
                <a:cs typeface="Arial" pitchFamily="34" charset="-120"/>
              </a:rPr>
              <a:t>Rp 579.358.831 (2,5%)</a:t>
            </a:r>
            <a:endParaRPr lang="en-US" sz="820" dirty="0"/>
          </a:p>
        </p:txBody>
      </p:sp>
      <p:sp>
        <p:nvSpPr>
          <p:cNvPr id="117" name="Text 115"/>
          <p:cNvSpPr/>
          <p:nvPr/>
        </p:nvSpPr>
        <p:spPr>
          <a:xfrm>
            <a:off x="9599981" y="4261104"/>
            <a:ext cx="1051560" cy="256032"/>
          </a:xfrm>
          <a:prstGeom prst="rect">
            <a:avLst/>
          </a:prstGeom>
          <a:noFill/>
          <a:ln/>
        </p:spPr>
        <p:txBody>
          <a:bodyPr wrap="square" rtlCol="0" anchor="ctr"/>
          <a:lstStyle/>
          <a:p>
            <a:pPr indent="0" marL="0">
              <a:buNone/>
            </a:pPr>
            <a:r>
              <a:rPr lang="en-US" sz="720" dirty="0">
                <a:solidFill>
                  <a:srgbClr val="334155"/>
                </a:solidFill>
                <a:latin typeface="Arial" pitchFamily="34" charset="0"/>
                <a:ea typeface="Arial" pitchFamily="34" charset="-122"/>
                <a:cs typeface="Arial" pitchFamily="34" charset="-120"/>
              </a:rPr>
              <a:t>Shopee Co-Location</a:t>
            </a:r>
            <a:endParaRPr lang="en-US" sz="720" dirty="0"/>
          </a:p>
        </p:txBody>
      </p:sp>
      <p:sp>
        <p:nvSpPr>
          <p:cNvPr id="118" name="Text 116"/>
          <p:cNvSpPr/>
          <p:nvPr/>
        </p:nvSpPr>
        <p:spPr>
          <a:xfrm>
            <a:off x="10587533" y="4261104"/>
            <a:ext cx="768096" cy="256032"/>
          </a:xfrm>
          <a:prstGeom prst="rect">
            <a:avLst/>
          </a:prstGeom>
          <a:noFill/>
          <a:ln/>
        </p:spPr>
        <p:txBody>
          <a:bodyPr wrap="square" rtlCol="0" anchor="ctr"/>
          <a:lstStyle/>
          <a:p>
            <a:pPr algn="r" indent="0" marL="0">
              <a:buNone/>
            </a:pPr>
            <a:r>
              <a:rPr lang="en-US" sz="720" b="1" dirty="0">
                <a:solidFill>
                  <a:srgbClr val="0F172A"/>
                </a:solidFill>
                <a:latin typeface="Arial" pitchFamily="34" charset="0"/>
                <a:ea typeface="Arial" pitchFamily="34" charset="-122"/>
                <a:cs typeface="Arial" pitchFamily="34" charset="-120"/>
              </a:rPr>
              <a:t>Rp 544 Jt</a:t>
            </a:r>
            <a:endParaRPr lang="en-US" sz="720" dirty="0"/>
          </a:p>
        </p:txBody>
      </p:sp>
      <p:sp>
        <p:nvSpPr>
          <p:cNvPr id="119" name="Text 117"/>
          <p:cNvSpPr/>
          <p:nvPr/>
        </p:nvSpPr>
        <p:spPr>
          <a:xfrm>
            <a:off x="9599981" y="4572000"/>
            <a:ext cx="1051560" cy="256032"/>
          </a:xfrm>
          <a:prstGeom prst="rect">
            <a:avLst/>
          </a:prstGeom>
          <a:noFill/>
          <a:ln/>
        </p:spPr>
        <p:txBody>
          <a:bodyPr wrap="square" rtlCol="0" anchor="ctr"/>
          <a:lstStyle/>
          <a:p>
            <a:pPr indent="0" marL="0">
              <a:buNone/>
            </a:pPr>
            <a:r>
              <a:rPr lang="en-US" sz="720" dirty="0">
                <a:solidFill>
                  <a:srgbClr val="334155"/>
                </a:solidFill>
                <a:latin typeface="Arial" pitchFamily="34" charset="0"/>
                <a:ea typeface="Arial" pitchFamily="34" charset="-122"/>
                <a:cs typeface="Arial" pitchFamily="34" charset="-120"/>
              </a:rPr>
              <a:t>Katulondi Kawasan</a:t>
            </a:r>
            <a:endParaRPr lang="en-US" sz="720" dirty="0"/>
          </a:p>
        </p:txBody>
      </p:sp>
      <p:sp>
        <p:nvSpPr>
          <p:cNvPr id="120" name="Text 118"/>
          <p:cNvSpPr/>
          <p:nvPr/>
        </p:nvSpPr>
        <p:spPr>
          <a:xfrm>
            <a:off x="10587533" y="4572000"/>
            <a:ext cx="768096" cy="256032"/>
          </a:xfrm>
          <a:prstGeom prst="rect">
            <a:avLst/>
          </a:prstGeom>
          <a:noFill/>
          <a:ln/>
        </p:spPr>
        <p:txBody>
          <a:bodyPr wrap="square" rtlCol="0" anchor="ctr"/>
          <a:lstStyle/>
          <a:p>
            <a:pPr algn="r" indent="0" marL="0">
              <a:buNone/>
            </a:pPr>
            <a:r>
              <a:rPr lang="en-US" sz="720" b="1" dirty="0">
                <a:solidFill>
                  <a:srgbClr val="0F172A"/>
                </a:solidFill>
                <a:latin typeface="Arial" pitchFamily="34" charset="0"/>
                <a:ea typeface="Arial" pitchFamily="34" charset="-122"/>
                <a:cs typeface="Arial" pitchFamily="34" charset="-120"/>
              </a:rPr>
              <a:t>Rp 35 Jt</a:t>
            </a:r>
            <a:endParaRPr lang="en-US" sz="720" dirty="0"/>
          </a:p>
        </p:txBody>
      </p:sp>
      <p:sp>
        <p:nvSpPr>
          <p:cNvPr id="121" name="Shape 119"/>
          <p:cNvSpPr/>
          <p:nvPr/>
        </p:nvSpPr>
        <p:spPr>
          <a:xfrm>
            <a:off x="9581693" y="4937760"/>
            <a:ext cx="1787042" cy="640080"/>
          </a:xfrm>
          <a:prstGeom prst="roundRect">
            <a:avLst>
              <a:gd name="adj" fmla="val 4286"/>
            </a:avLst>
          </a:prstGeom>
          <a:solidFill>
            <a:srgbClr val="F8FAFC"/>
          </a:solidFill>
          <a:ln w="10160">
            <a:solidFill>
              <a:srgbClr val="CBD5E1"/>
            </a:solidFill>
            <a:prstDash val="solid"/>
          </a:ln>
        </p:spPr>
      </p:sp>
      <p:sp>
        <p:nvSpPr>
          <p:cNvPr id="122" name="Text 120"/>
          <p:cNvSpPr/>
          <p:nvPr/>
        </p:nvSpPr>
        <p:spPr>
          <a:xfrm>
            <a:off x="9618269" y="4956048"/>
            <a:ext cx="1713890" cy="585216"/>
          </a:xfrm>
          <a:prstGeom prst="rect">
            <a:avLst/>
          </a:prstGeom>
          <a:noFill/>
          <a:ln/>
        </p:spPr>
        <p:txBody>
          <a:bodyPr wrap="square" rtlCol="0" anchor="ctr"/>
          <a:lstStyle/>
          <a:p>
            <a:pPr indent="0" marL="0">
              <a:lnSpc>
                <a:spcPts val="900"/>
              </a:lnSpc>
              <a:buNone/>
            </a:pPr>
            <a:r>
              <a:rPr lang="en-US" sz="680" dirty="0">
                <a:solidFill>
                  <a:srgbClr val="D97706"/>
                </a:solidFill>
                <a:latin typeface="Arial" pitchFamily="34" charset="0"/>
                <a:ea typeface="Arial" pitchFamily="34" charset="-122"/>
                <a:cs typeface="Arial" pitchFamily="34" charset="-120"/>
              </a:rPr>
              <a:t>📉 DE-ESKALASI SEWA:</a:t>
            </a:r>
            <a:endParaRPr lang="en-US" sz="680" dirty="0"/>
          </a:p>
          <a:p>
            <a:pPr indent="0" marL="0">
              <a:lnSpc>
                <a:spcPts val="900"/>
              </a:lnSpc>
              <a:buNone/>
            </a:pPr>
            <a:r>
              <a:rPr lang="en-US" sz="680" dirty="0">
                <a:solidFill>
                  <a:srgbClr val="D97706"/>
                </a:solidFill>
                <a:latin typeface="Arial" pitchFamily="34" charset="0"/>
                <a:ea typeface="Arial" pitchFamily="34" charset="-122"/>
                <a:cs typeface="Arial" pitchFamily="34" charset="-120"/>
              </a:rPr>
              <a:t>Porsi sewa ditekan ke 2,5% demi beralih ke inovasi bernilai tinggi.</a:t>
            </a:r>
            <a:endParaRPr lang="en-US" sz="680" dirty="0"/>
          </a:p>
        </p:txBody>
      </p:sp>
      <p:sp>
        <p:nvSpPr>
          <p:cNvPr id="123" name="Shape 121"/>
          <p:cNvSpPr/>
          <p:nvPr/>
        </p:nvSpPr>
        <p:spPr>
          <a:xfrm>
            <a:off x="731520" y="5742432"/>
            <a:ext cx="10728655" cy="530352"/>
          </a:xfrm>
          <a:prstGeom prst="roundRect">
            <a:avLst>
              <a:gd name="adj" fmla="val 13793"/>
            </a:avLst>
          </a:prstGeom>
          <a:solidFill>
            <a:srgbClr val="F1F5F9"/>
          </a:solidFill>
          <a:ln w="12700">
            <a:solidFill>
              <a:srgbClr val="D97706"/>
            </a:solidFill>
            <a:prstDash val="solid"/>
          </a:ln>
        </p:spPr>
      </p:sp>
      <p:sp>
        <p:nvSpPr>
          <p:cNvPr id="124" name="Text 122"/>
          <p:cNvSpPr/>
          <p:nvPr/>
        </p:nvSpPr>
        <p:spPr>
          <a:xfrm>
            <a:off x="914400" y="5742432"/>
            <a:ext cx="10362895" cy="530352"/>
          </a:xfrm>
          <a:prstGeom prst="rect">
            <a:avLst/>
          </a:prstGeom>
          <a:noFill/>
          <a:ln/>
        </p:spPr>
        <p:txBody>
          <a:bodyPr wrap="square" rtlCol="0" anchor="ctr"/>
          <a:lstStyle/>
          <a:p>
            <a:pPr algn="ctr" indent="0" marL="0">
              <a:buNone/>
            </a:pPr>
            <a:r>
              <a:rPr lang="en-US" sz="1050" b="1" dirty="0">
                <a:solidFill>
                  <a:srgbClr val="0F172A"/>
                </a:solidFill>
                <a:latin typeface="Arial" pitchFamily="34" charset="0"/>
                <a:ea typeface="Arial" pitchFamily="34" charset="-122"/>
                <a:cs typeface="Arial" pitchFamily="34" charset="-120"/>
              </a:rPr>
              <a:t>TOTAL TARGET PENDAPATAN BLUD 2030:   </a:t>
            </a:r>
            <a:pPr algn="ctr" indent="0" marL="0">
              <a:buNone/>
            </a:pPr>
            <a:r>
              <a:rPr lang="en-US" sz="1350" b="1" dirty="0">
                <a:solidFill>
                  <a:srgbClr val="D97706"/>
                </a:solidFill>
                <a:latin typeface="Arial" pitchFamily="34" charset="0"/>
                <a:ea typeface="Arial" pitchFamily="34" charset="-122"/>
                <a:cs typeface="Arial" pitchFamily="34" charset="-120"/>
              </a:rPr>
              <a:t>Rp 23.468.158.831  </a:t>
            </a:r>
            <a:pPr algn="ctr" indent="0" marL="0">
              <a:buNone/>
            </a:pPr>
            <a:r>
              <a:rPr lang="en-US" sz="820" i="1" dirty="0">
                <a:solidFill>
                  <a:srgbClr val="0369A1"/>
                </a:solidFill>
                <a:latin typeface="Arial" pitchFamily="34" charset="0"/>
                <a:ea typeface="Arial" pitchFamily="34" charset="-122"/>
                <a:cs typeface="Arial" pitchFamily="34" charset="-120"/>
              </a:rPr>
              <a:t>(Dua Puluh Tiga Miliar Empat Ratus Enam Puluh Delapan Juta Rupiah) — Rekonsiliasi 100% Mandiri Bebas APBD</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84C7"/>
          </a:solidFill>
          <a:ln/>
        </p:spPr>
      </p:sp>
      <p:sp>
        <p:nvSpPr>
          <p:cNvPr id="3" name="Shape 1"/>
          <p:cNvSpPr/>
          <p:nvPr/>
        </p:nvSpPr>
        <p:spPr>
          <a:xfrm>
            <a:off x="9144000" y="0"/>
            <a:ext cx="3047695" cy="73152"/>
          </a:xfrm>
          <a:prstGeom prst="rect">
            <a:avLst/>
          </a:prstGeom>
          <a:solidFill>
            <a:srgbClr val="D97706"/>
          </a:solidFill>
          <a:ln/>
        </p:spPr>
      </p:sp>
      <p:sp>
        <p:nvSpPr>
          <p:cNvPr id="4" name="Shape 2"/>
          <p:cNvSpPr/>
          <p:nvPr/>
        </p:nvSpPr>
        <p:spPr>
          <a:xfrm>
            <a:off x="731520" y="256032"/>
            <a:ext cx="3291840" cy="237744"/>
          </a:xfrm>
          <a:prstGeom prst="roundRect">
            <a:avLst>
              <a:gd name="adj" fmla="val 19231"/>
            </a:avLst>
          </a:prstGeom>
          <a:solidFill>
            <a:srgbClr val="E0F2FE"/>
          </a:solidFill>
          <a:ln w="12700">
            <a:solidFill>
              <a:srgbClr val="0284C7"/>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0369A1"/>
                </a:solidFill>
                <a:latin typeface="Arial" pitchFamily="34" charset="0"/>
                <a:ea typeface="Arial" pitchFamily="34" charset="-122"/>
                <a:cs typeface="Arial" pitchFamily="34" charset="-120"/>
              </a:rPr>
              <a:t>DAMPAK SOSIAL-EKONOMI DAERAH</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0F172A"/>
                </a:solidFill>
                <a:latin typeface="Arial" pitchFamily="34" charset="0"/>
                <a:ea typeface="Arial" pitchFamily="34" charset="-122"/>
                <a:cs typeface="Arial" pitchFamily="34" charset="-120"/>
              </a:rPr>
              <a:t>6 DIMENSI KEBERDAMPAKAN: SOLO TECHNOPARK UNTUK WARGA SURAKARTA</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334155"/>
                </a:solidFill>
                <a:latin typeface="Arial" pitchFamily="34" charset="0"/>
                <a:ea typeface="Arial" pitchFamily="34" charset="-122"/>
                <a:cs typeface="Arial" pitchFamily="34" charset="-120"/>
              </a:rPr>
              <a:t>"Indikator Keberhasilan Harus Mengukur IMPACT — Bukan Sekadar Aktivitas dan Pendapatan Kas" (Dokumen Strategi STP 2026)</a:t>
            </a:r>
            <a:endParaRPr lang="en-US" sz="1000" dirty="0"/>
          </a:p>
        </p:txBody>
      </p:sp>
      <p:sp>
        <p:nvSpPr>
          <p:cNvPr id="8" name="Shape 6"/>
          <p:cNvSpPr/>
          <p:nvPr/>
        </p:nvSpPr>
        <p:spPr>
          <a:xfrm>
            <a:off x="731520" y="6419088"/>
            <a:ext cx="10728655" cy="18288"/>
          </a:xfrm>
          <a:prstGeom prst="rect">
            <a:avLst/>
          </a:prstGeom>
          <a:solidFill>
            <a:srgbClr val="CBD5E1"/>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334155"/>
                </a:solidFill>
                <a:latin typeface="Arial" pitchFamily="34" charset="0"/>
                <a:ea typeface="Arial" pitchFamily="34" charset="-122"/>
                <a:cs typeface="Arial" pitchFamily="34" charset="-120"/>
              </a:rPr>
              <a:t>UPTD KST SOLO TECHNOPARK  |  BRIDA KOTA SURAKARTA  •  Bahan Paparan Resmi Walikota (Edisi V7 Light)</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0369A1"/>
                </a:solidFill>
                <a:latin typeface="Arial" pitchFamily="34" charset="0"/>
                <a:ea typeface="Arial" pitchFamily="34" charset="-122"/>
                <a:cs typeface="Arial" pitchFamily="34" charset="-120"/>
              </a:rPr>
              <a:t>Slide 11 / 12</a:t>
            </a:r>
            <a:endParaRPr lang="en-US" sz="900" dirty="0"/>
          </a:p>
        </p:txBody>
      </p:sp>
      <p:sp>
        <p:nvSpPr>
          <p:cNvPr id="11" name="Shape 9"/>
          <p:cNvSpPr/>
          <p:nvPr/>
        </p:nvSpPr>
        <p:spPr>
          <a:xfrm>
            <a:off x="731520" y="1325880"/>
            <a:ext cx="4846320" cy="4892040"/>
          </a:xfrm>
          <a:prstGeom prst="roundRect">
            <a:avLst>
              <a:gd name="adj" fmla="val 1509"/>
            </a:avLst>
          </a:prstGeom>
          <a:solidFill>
            <a:srgbClr val="FFFFFF"/>
          </a:solidFill>
          <a:ln w="12700">
            <a:solidFill>
              <a:srgbClr val="CBD5E1"/>
            </a:solidFill>
            <a:prstDash val="solid"/>
          </a:ln>
        </p:spPr>
      </p:sp>
      <p:sp>
        <p:nvSpPr>
          <p:cNvPr id="12" name="Shape 10"/>
          <p:cNvSpPr/>
          <p:nvPr/>
        </p:nvSpPr>
        <p:spPr>
          <a:xfrm>
            <a:off x="731520" y="1325880"/>
            <a:ext cx="73152" cy="4892040"/>
          </a:xfrm>
          <a:prstGeom prst="roundRect">
            <a:avLst>
              <a:gd name="adj" fmla="val 50000"/>
            </a:avLst>
          </a:prstGeom>
          <a:solidFill>
            <a:srgbClr val="0284C7"/>
          </a:solidFill>
          <a:ln w="12700">
            <a:solidFill>
              <a:srgbClr val="0284C7"/>
            </a:solidFill>
            <a:prstDash val="solid"/>
          </a:ln>
        </p:spPr>
      </p:sp>
      <p:sp>
        <p:nvSpPr>
          <p:cNvPr id="13" name="Text 11"/>
          <p:cNvSpPr/>
          <p:nvPr/>
        </p:nvSpPr>
        <p:spPr>
          <a:xfrm>
            <a:off x="914400" y="1463040"/>
            <a:ext cx="4480560" cy="256032"/>
          </a:xfrm>
          <a:prstGeom prst="rect">
            <a:avLst/>
          </a:prstGeom>
          <a:noFill/>
          <a:ln/>
        </p:spPr>
        <p:txBody>
          <a:bodyPr wrap="square" rtlCol="0" anchor="ctr"/>
          <a:lstStyle/>
          <a:p>
            <a:pPr indent="0" marL="0">
              <a:buNone/>
            </a:pPr>
            <a:r>
              <a:rPr lang="en-US" sz="1000" b="1" dirty="0">
                <a:solidFill>
                  <a:srgbClr val="0369A1"/>
                </a:solidFill>
                <a:latin typeface="Arial" pitchFamily="34" charset="0"/>
                <a:ea typeface="Arial" pitchFamily="34" charset="-122"/>
                <a:cs typeface="Arial" pitchFamily="34" charset="-120"/>
              </a:rPr>
              <a:t>SKOR CAPAIAN 6 DIMENSI DAMPAK 2030 (%)</a:t>
            </a:r>
            <a:endParaRPr lang="en-US" sz="1000" dirty="0"/>
          </a:p>
        </p:txBody>
      </p:sp>
      <p:graphicFrame>
        <p:nvGraphicFramePr>
          <p:cNvPr id="14" name="Chart 0" descr=""/>
          <p:cNvGraphicFramePr/>
          <p:nvPr/>
        </p:nvGraphicFramePr>
        <p:xfrm>
          <a:off x="868680" y="1783080"/>
          <a:ext cx="4526280" cy="2834640"/>
        </p:xfrm>
        <a:graphic xmlns:a="http://schemas.openxmlformats.org/drawingml/2006/main">
          <a:graphicData uri="http://schemas.openxmlformats.org/drawingml/2006/chart">
            <c:chart xmlns:c="http://schemas.openxmlformats.org/drawingml/2006/chart" r:id="rId1"/>
          </a:graphicData>
        </a:graphic>
      </p:graphicFrame>
      <p:sp>
        <p:nvSpPr>
          <p:cNvPr id="15" name="Shape 12"/>
          <p:cNvSpPr/>
          <p:nvPr/>
        </p:nvSpPr>
        <p:spPr>
          <a:xfrm>
            <a:off x="914400" y="4709160"/>
            <a:ext cx="4480560" cy="1371600"/>
          </a:xfrm>
          <a:prstGeom prst="roundRect">
            <a:avLst>
              <a:gd name="adj" fmla="val 2667"/>
            </a:avLst>
          </a:prstGeom>
          <a:solidFill>
            <a:srgbClr val="F1F5F9"/>
          </a:solidFill>
          <a:ln w="12700">
            <a:solidFill>
              <a:srgbClr val="CBD5E1"/>
            </a:solidFill>
            <a:prstDash val="solid"/>
          </a:ln>
        </p:spPr>
      </p:sp>
      <p:sp>
        <p:nvSpPr>
          <p:cNvPr id="16" name="Text 13"/>
          <p:cNvSpPr/>
          <p:nvPr/>
        </p:nvSpPr>
        <p:spPr>
          <a:xfrm>
            <a:off x="1051560" y="4800600"/>
            <a:ext cx="4206240" cy="228600"/>
          </a:xfrm>
          <a:prstGeom prst="rect">
            <a:avLst/>
          </a:prstGeom>
          <a:noFill/>
          <a:ln/>
        </p:spPr>
        <p:txBody>
          <a:bodyPr wrap="square" rtlCol="0" anchor="ctr"/>
          <a:lstStyle/>
          <a:p>
            <a:pPr indent="0" marL="0">
              <a:buNone/>
            </a:pPr>
            <a:r>
              <a:rPr lang="en-US" sz="950" b="1" dirty="0">
                <a:solidFill>
                  <a:srgbClr val="D97706"/>
                </a:solidFill>
                <a:latin typeface="Arial" pitchFamily="34" charset="0"/>
                <a:ea typeface="Arial" pitchFamily="34" charset="-122"/>
                <a:cs typeface="Arial" pitchFamily="34" charset="-120"/>
              </a:rPr>
              <a:t>FILOSOFI IMPACT MEASUREMENT KOTA:</a:t>
            </a:r>
            <a:endParaRPr lang="en-US" sz="950" dirty="0"/>
          </a:p>
        </p:txBody>
      </p:sp>
      <p:sp>
        <p:nvSpPr>
          <p:cNvPr id="17" name="Text 14"/>
          <p:cNvSpPr/>
          <p:nvPr/>
        </p:nvSpPr>
        <p:spPr>
          <a:xfrm>
            <a:off x="1051560" y="5074920"/>
            <a:ext cx="4206240" cy="914400"/>
          </a:xfrm>
          <a:prstGeom prst="rect">
            <a:avLst/>
          </a:prstGeom>
          <a:noFill/>
          <a:ln/>
        </p:spPr>
        <p:txBody>
          <a:bodyPr wrap="square" rtlCol="0" anchor="ctr"/>
          <a:lstStyle/>
          <a:p>
            <a:pPr indent="0" marL="0">
              <a:lnSpc>
                <a:spcPts val="1200"/>
              </a:lnSpc>
              <a:buNone/>
            </a:pPr>
            <a:r>
              <a:rPr lang="en-US" sz="850" dirty="0">
                <a:solidFill>
                  <a:srgbClr val="0F172A"/>
                </a:solidFill>
                <a:latin typeface="Arial" pitchFamily="34" charset="0"/>
                <a:ea typeface="Arial" pitchFamily="34" charset="-122"/>
                <a:cs typeface="Arial" pitchFamily="34" charset="-120"/>
              </a:rPr>
              <a:t>Keberhasilan Solo Technopark tidak diukur dari megahnya gedung atau saldo kas BLUD semata, melainkan dari kesejahteraan nyata warga Surakarta: lapangan kerja yang terserap, UMKM yang naik kelas, serta keterhubungan riset kampus dengan kebutuhan industri.</a:t>
            </a:r>
            <a:endParaRPr lang="en-US" sz="850" dirty="0"/>
          </a:p>
        </p:txBody>
      </p:sp>
      <p:sp>
        <p:nvSpPr>
          <p:cNvPr id="18" name="Shape 15"/>
          <p:cNvSpPr/>
          <p:nvPr/>
        </p:nvSpPr>
        <p:spPr>
          <a:xfrm>
            <a:off x="5760720" y="1325880"/>
            <a:ext cx="2697480" cy="1536192"/>
          </a:xfrm>
          <a:prstGeom prst="roundRect">
            <a:avLst>
              <a:gd name="adj" fmla="val 4762"/>
            </a:avLst>
          </a:prstGeom>
          <a:solidFill>
            <a:srgbClr val="FFFFFF"/>
          </a:solidFill>
          <a:ln w="12700">
            <a:solidFill>
              <a:srgbClr val="CBD5E1"/>
            </a:solidFill>
            <a:prstDash val="solid"/>
          </a:ln>
        </p:spPr>
      </p:sp>
      <p:sp>
        <p:nvSpPr>
          <p:cNvPr id="19" name="Shape 16"/>
          <p:cNvSpPr/>
          <p:nvPr/>
        </p:nvSpPr>
        <p:spPr>
          <a:xfrm>
            <a:off x="5760720" y="1325880"/>
            <a:ext cx="73152" cy="1536192"/>
          </a:xfrm>
          <a:prstGeom prst="roundRect">
            <a:avLst>
              <a:gd name="adj" fmla="val 50000"/>
            </a:avLst>
          </a:prstGeom>
          <a:solidFill>
            <a:srgbClr val="0369A1"/>
          </a:solidFill>
          <a:ln w="12700">
            <a:solidFill>
              <a:srgbClr val="0369A1"/>
            </a:solidFill>
            <a:prstDash val="solid"/>
          </a:ln>
        </p:spPr>
      </p:sp>
      <p:sp>
        <p:nvSpPr>
          <p:cNvPr id="20" name="Text 17"/>
          <p:cNvSpPr/>
          <p:nvPr/>
        </p:nvSpPr>
        <p:spPr>
          <a:xfrm>
            <a:off x="5897880" y="1435608"/>
            <a:ext cx="2423160" cy="228600"/>
          </a:xfrm>
          <a:prstGeom prst="rect">
            <a:avLst/>
          </a:prstGeom>
          <a:noFill/>
          <a:ln/>
        </p:spPr>
        <p:txBody>
          <a:bodyPr wrap="square" rtlCol="0" anchor="ctr"/>
          <a:lstStyle/>
          <a:p>
            <a:pPr indent="0" marL="0">
              <a:buNone/>
            </a:pPr>
            <a:r>
              <a:rPr lang="en-US" sz="850" b="1" dirty="0">
                <a:solidFill>
                  <a:srgbClr val="0F172A"/>
                </a:solidFill>
                <a:latin typeface="Arial" pitchFamily="34" charset="0"/>
                <a:ea typeface="Arial" pitchFamily="34" charset="-122"/>
                <a:cs typeface="Arial" pitchFamily="34" charset="-120"/>
              </a:rPr>
              <a:t>👨‍🎓  SDM LEBIH KOMPETEN</a:t>
            </a:r>
            <a:endParaRPr lang="en-US" sz="850" dirty="0"/>
          </a:p>
        </p:txBody>
      </p:sp>
      <p:sp>
        <p:nvSpPr>
          <p:cNvPr id="21" name="Text 18"/>
          <p:cNvSpPr/>
          <p:nvPr/>
        </p:nvSpPr>
        <p:spPr>
          <a:xfrm>
            <a:off x="5897880" y="1737360"/>
            <a:ext cx="2423160" cy="502920"/>
          </a:xfrm>
          <a:prstGeom prst="rect">
            <a:avLst/>
          </a:prstGeom>
          <a:noFill/>
          <a:ln/>
        </p:spPr>
        <p:txBody>
          <a:bodyPr wrap="square" rtlCol="0" anchor="ctr"/>
          <a:lstStyle/>
          <a:p>
            <a:pPr algn="ctr" indent="0" marL="0">
              <a:buNone/>
            </a:pPr>
            <a:r>
              <a:rPr lang="en-US" sz="1350" b="1" dirty="0">
                <a:solidFill>
                  <a:srgbClr val="0369A1"/>
                </a:solidFill>
                <a:latin typeface="Arial" pitchFamily="34" charset="0"/>
                <a:ea typeface="Arial" pitchFamily="34" charset="-122"/>
                <a:cs typeface="Arial" pitchFamily="34" charset="-120"/>
              </a:rPr>
              <a:t>9.000 Peserta / Thn</a:t>
            </a:r>
            <a:endParaRPr lang="en-US" sz="1350" dirty="0"/>
          </a:p>
        </p:txBody>
      </p:sp>
      <p:sp>
        <p:nvSpPr>
          <p:cNvPr id="22" name="Text 19"/>
          <p:cNvSpPr/>
          <p:nvPr/>
        </p:nvSpPr>
        <p:spPr>
          <a:xfrm>
            <a:off x="5897880" y="2350008"/>
            <a:ext cx="2423160" cy="411480"/>
          </a:xfrm>
          <a:prstGeom prst="rect">
            <a:avLst/>
          </a:prstGeom>
          <a:noFill/>
          <a:ln/>
        </p:spPr>
        <p:txBody>
          <a:bodyPr wrap="square" rtlCol="0" anchor="ctr"/>
          <a:lstStyle/>
          <a:p>
            <a:pPr algn="ctr" indent="0" marL="0">
              <a:lnSpc>
                <a:spcPts val="1000"/>
              </a:lnSpc>
              <a:buNone/>
            </a:pPr>
            <a:r>
              <a:rPr lang="en-US" sz="800" dirty="0">
                <a:solidFill>
                  <a:srgbClr val="334155"/>
                </a:solidFill>
                <a:latin typeface="Arial" pitchFamily="34" charset="0"/>
                <a:ea typeface="Arial" pitchFamily="34" charset="-122"/>
                <a:cs typeface="Arial" pitchFamily="34" charset="-120"/>
              </a:rPr>
              <a:t>Kuota afirmasi 65% KTP Surakarta</a:t>
            </a:r>
            <a:endParaRPr lang="en-US" sz="800" dirty="0"/>
          </a:p>
        </p:txBody>
      </p:sp>
      <p:sp>
        <p:nvSpPr>
          <p:cNvPr id="23" name="Shape 20"/>
          <p:cNvSpPr/>
          <p:nvPr/>
        </p:nvSpPr>
        <p:spPr>
          <a:xfrm>
            <a:off x="8595360" y="1325880"/>
            <a:ext cx="2697480" cy="1536192"/>
          </a:xfrm>
          <a:prstGeom prst="roundRect">
            <a:avLst>
              <a:gd name="adj" fmla="val 4762"/>
            </a:avLst>
          </a:prstGeom>
          <a:solidFill>
            <a:srgbClr val="FFFFFF"/>
          </a:solidFill>
          <a:ln w="12700">
            <a:solidFill>
              <a:srgbClr val="CBD5E1"/>
            </a:solidFill>
            <a:prstDash val="solid"/>
          </a:ln>
        </p:spPr>
      </p:sp>
      <p:sp>
        <p:nvSpPr>
          <p:cNvPr id="24" name="Shape 21"/>
          <p:cNvSpPr/>
          <p:nvPr/>
        </p:nvSpPr>
        <p:spPr>
          <a:xfrm>
            <a:off x="8595360" y="1325880"/>
            <a:ext cx="73152" cy="1536192"/>
          </a:xfrm>
          <a:prstGeom prst="roundRect">
            <a:avLst>
              <a:gd name="adj" fmla="val 50000"/>
            </a:avLst>
          </a:prstGeom>
          <a:solidFill>
            <a:srgbClr val="D97706"/>
          </a:solidFill>
          <a:ln w="12700">
            <a:solidFill>
              <a:srgbClr val="D97706"/>
            </a:solidFill>
            <a:prstDash val="solid"/>
          </a:ln>
        </p:spPr>
      </p:sp>
      <p:sp>
        <p:nvSpPr>
          <p:cNvPr id="25" name="Text 22"/>
          <p:cNvSpPr/>
          <p:nvPr/>
        </p:nvSpPr>
        <p:spPr>
          <a:xfrm>
            <a:off x="8732520" y="1435608"/>
            <a:ext cx="2423160" cy="228600"/>
          </a:xfrm>
          <a:prstGeom prst="rect">
            <a:avLst/>
          </a:prstGeom>
          <a:noFill/>
          <a:ln/>
        </p:spPr>
        <p:txBody>
          <a:bodyPr wrap="square" rtlCol="0" anchor="ctr"/>
          <a:lstStyle/>
          <a:p>
            <a:pPr indent="0" marL="0">
              <a:buNone/>
            </a:pPr>
            <a:r>
              <a:rPr lang="en-US" sz="850" b="1" dirty="0">
                <a:solidFill>
                  <a:srgbClr val="0F172A"/>
                </a:solidFill>
                <a:latin typeface="Arial" pitchFamily="34" charset="0"/>
                <a:ea typeface="Arial" pitchFamily="34" charset="-122"/>
                <a:cs typeface="Arial" pitchFamily="34" charset="-120"/>
              </a:rPr>
              <a:t>🌱  UMKM &amp; STARTUP TUMBUH</a:t>
            </a:r>
            <a:endParaRPr lang="en-US" sz="850" dirty="0"/>
          </a:p>
        </p:txBody>
      </p:sp>
      <p:sp>
        <p:nvSpPr>
          <p:cNvPr id="26" name="Text 23"/>
          <p:cNvSpPr/>
          <p:nvPr/>
        </p:nvSpPr>
        <p:spPr>
          <a:xfrm>
            <a:off x="8732520" y="1737360"/>
            <a:ext cx="2423160" cy="502920"/>
          </a:xfrm>
          <a:prstGeom prst="rect">
            <a:avLst/>
          </a:prstGeom>
          <a:noFill/>
          <a:ln/>
        </p:spPr>
        <p:txBody>
          <a:bodyPr wrap="square" rtlCol="0" anchor="ctr"/>
          <a:lstStyle/>
          <a:p>
            <a:pPr algn="ctr" indent="0" marL="0">
              <a:buNone/>
            </a:pPr>
            <a:r>
              <a:rPr lang="en-US" sz="1350" b="1" dirty="0">
                <a:solidFill>
                  <a:srgbClr val="D97706"/>
                </a:solidFill>
                <a:latin typeface="Arial" pitchFamily="34" charset="0"/>
                <a:ea typeface="Arial" pitchFamily="34" charset="-122"/>
                <a:cs typeface="Arial" pitchFamily="34" charset="-120"/>
              </a:rPr>
              <a:t>80+ Wirausaha Baru</a:t>
            </a:r>
            <a:endParaRPr lang="en-US" sz="1350" dirty="0"/>
          </a:p>
        </p:txBody>
      </p:sp>
      <p:sp>
        <p:nvSpPr>
          <p:cNvPr id="27" name="Text 24"/>
          <p:cNvSpPr/>
          <p:nvPr/>
        </p:nvSpPr>
        <p:spPr>
          <a:xfrm>
            <a:off x="8732520" y="2350008"/>
            <a:ext cx="2423160" cy="411480"/>
          </a:xfrm>
          <a:prstGeom prst="rect">
            <a:avLst/>
          </a:prstGeom>
          <a:noFill/>
          <a:ln/>
        </p:spPr>
        <p:txBody>
          <a:bodyPr wrap="square" rtlCol="0" anchor="ctr"/>
          <a:lstStyle/>
          <a:p>
            <a:pPr algn="ctr" indent="0" marL="0">
              <a:lnSpc>
                <a:spcPts val="1000"/>
              </a:lnSpc>
              <a:buNone/>
            </a:pPr>
            <a:r>
              <a:rPr lang="en-US" sz="800" dirty="0">
                <a:solidFill>
                  <a:srgbClr val="334155"/>
                </a:solidFill>
                <a:latin typeface="Arial" pitchFamily="34" charset="0"/>
                <a:ea typeface="Arial" pitchFamily="34" charset="-122"/>
                <a:cs typeface="Arial" pitchFamily="34" charset="-120"/>
              </a:rPr>
              <a:t>Pendampingan &amp; onboarding GoTo Hub</a:t>
            </a:r>
            <a:endParaRPr lang="en-US" sz="800" dirty="0"/>
          </a:p>
        </p:txBody>
      </p:sp>
      <p:sp>
        <p:nvSpPr>
          <p:cNvPr id="28" name="Shape 25"/>
          <p:cNvSpPr/>
          <p:nvPr/>
        </p:nvSpPr>
        <p:spPr>
          <a:xfrm>
            <a:off x="5760720" y="2953512"/>
            <a:ext cx="2697480" cy="1536192"/>
          </a:xfrm>
          <a:prstGeom prst="roundRect">
            <a:avLst>
              <a:gd name="adj" fmla="val 4762"/>
            </a:avLst>
          </a:prstGeom>
          <a:solidFill>
            <a:srgbClr val="FFFFFF"/>
          </a:solidFill>
          <a:ln w="12700">
            <a:solidFill>
              <a:srgbClr val="CBD5E1"/>
            </a:solidFill>
            <a:prstDash val="solid"/>
          </a:ln>
        </p:spPr>
      </p:sp>
      <p:sp>
        <p:nvSpPr>
          <p:cNvPr id="29" name="Shape 26"/>
          <p:cNvSpPr/>
          <p:nvPr/>
        </p:nvSpPr>
        <p:spPr>
          <a:xfrm>
            <a:off x="5760720" y="2953512"/>
            <a:ext cx="73152" cy="1536192"/>
          </a:xfrm>
          <a:prstGeom prst="roundRect">
            <a:avLst>
              <a:gd name="adj" fmla="val 50000"/>
            </a:avLst>
          </a:prstGeom>
          <a:solidFill>
            <a:srgbClr val="059669"/>
          </a:solidFill>
          <a:ln w="12700">
            <a:solidFill>
              <a:srgbClr val="059669"/>
            </a:solidFill>
            <a:prstDash val="solid"/>
          </a:ln>
        </p:spPr>
      </p:sp>
      <p:sp>
        <p:nvSpPr>
          <p:cNvPr id="30" name="Text 27"/>
          <p:cNvSpPr/>
          <p:nvPr/>
        </p:nvSpPr>
        <p:spPr>
          <a:xfrm>
            <a:off x="5897880" y="3063240"/>
            <a:ext cx="2423160" cy="228600"/>
          </a:xfrm>
          <a:prstGeom prst="rect">
            <a:avLst/>
          </a:prstGeom>
          <a:noFill/>
          <a:ln/>
        </p:spPr>
        <p:txBody>
          <a:bodyPr wrap="square" rtlCol="0" anchor="ctr"/>
          <a:lstStyle/>
          <a:p>
            <a:pPr indent="0" marL="0">
              <a:buNone/>
            </a:pPr>
            <a:r>
              <a:rPr lang="en-US" sz="850" b="1" dirty="0">
                <a:solidFill>
                  <a:srgbClr val="0F172A"/>
                </a:solidFill>
                <a:latin typeface="Arial" pitchFamily="34" charset="0"/>
                <a:ea typeface="Arial" pitchFamily="34" charset="-122"/>
                <a:cs typeface="Arial" pitchFamily="34" charset="-120"/>
              </a:rPr>
              <a:t>🔬  RISET DEKAT KE PASAR</a:t>
            </a:r>
            <a:endParaRPr lang="en-US" sz="850" dirty="0"/>
          </a:p>
        </p:txBody>
      </p:sp>
      <p:sp>
        <p:nvSpPr>
          <p:cNvPr id="31" name="Text 28"/>
          <p:cNvSpPr/>
          <p:nvPr/>
        </p:nvSpPr>
        <p:spPr>
          <a:xfrm>
            <a:off x="5897880" y="3364992"/>
            <a:ext cx="2423160" cy="502920"/>
          </a:xfrm>
          <a:prstGeom prst="rect">
            <a:avLst/>
          </a:prstGeom>
          <a:noFill/>
          <a:ln/>
        </p:spPr>
        <p:txBody>
          <a:bodyPr wrap="square" rtlCol="0" anchor="ctr"/>
          <a:lstStyle/>
          <a:p>
            <a:pPr algn="ctr" indent="0" marL="0">
              <a:buNone/>
            </a:pPr>
            <a:r>
              <a:rPr lang="en-US" sz="1350" b="1" dirty="0">
                <a:solidFill>
                  <a:srgbClr val="059669"/>
                </a:solidFill>
                <a:latin typeface="Arial" pitchFamily="34" charset="0"/>
                <a:ea typeface="Arial" pitchFamily="34" charset="-122"/>
                <a:cs typeface="Arial" pitchFamily="34" charset="-120"/>
              </a:rPr>
              <a:t>45+ Produk Hilirisasi</a:t>
            </a:r>
            <a:endParaRPr lang="en-US" sz="1350" dirty="0"/>
          </a:p>
        </p:txBody>
      </p:sp>
      <p:sp>
        <p:nvSpPr>
          <p:cNvPr id="32" name="Text 29"/>
          <p:cNvSpPr/>
          <p:nvPr/>
        </p:nvSpPr>
        <p:spPr>
          <a:xfrm>
            <a:off x="5897880" y="3977640"/>
            <a:ext cx="2423160" cy="411480"/>
          </a:xfrm>
          <a:prstGeom prst="rect">
            <a:avLst/>
          </a:prstGeom>
          <a:noFill/>
          <a:ln/>
        </p:spPr>
        <p:txBody>
          <a:bodyPr wrap="square" rtlCol="0" anchor="ctr"/>
          <a:lstStyle/>
          <a:p>
            <a:pPr algn="ctr" indent="0" marL="0">
              <a:lnSpc>
                <a:spcPts val="1000"/>
              </a:lnSpc>
              <a:buNone/>
            </a:pPr>
            <a:r>
              <a:rPr lang="en-US" sz="800" dirty="0">
                <a:solidFill>
                  <a:srgbClr val="334155"/>
                </a:solidFill>
                <a:latin typeface="Arial" pitchFamily="34" charset="0"/>
                <a:ea typeface="Arial" pitchFamily="34" charset="-122"/>
                <a:cs typeface="Arial" pitchFamily="34" charset="-120"/>
              </a:rPr>
              <a:t>Paten HKI, Uji NDT &amp; Sertifikasi TKDN</a:t>
            </a:r>
            <a:endParaRPr lang="en-US" sz="800" dirty="0"/>
          </a:p>
        </p:txBody>
      </p:sp>
      <p:sp>
        <p:nvSpPr>
          <p:cNvPr id="33" name="Shape 30"/>
          <p:cNvSpPr/>
          <p:nvPr/>
        </p:nvSpPr>
        <p:spPr>
          <a:xfrm>
            <a:off x="8595360" y="2953512"/>
            <a:ext cx="2697480" cy="1536192"/>
          </a:xfrm>
          <a:prstGeom prst="roundRect">
            <a:avLst>
              <a:gd name="adj" fmla="val 4762"/>
            </a:avLst>
          </a:prstGeom>
          <a:solidFill>
            <a:srgbClr val="FFFFFF"/>
          </a:solidFill>
          <a:ln w="12700">
            <a:solidFill>
              <a:srgbClr val="CBD5E1"/>
            </a:solidFill>
            <a:prstDash val="solid"/>
          </a:ln>
        </p:spPr>
      </p:sp>
      <p:sp>
        <p:nvSpPr>
          <p:cNvPr id="34" name="Shape 31"/>
          <p:cNvSpPr/>
          <p:nvPr/>
        </p:nvSpPr>
        <p:spPr>
          <a:xfrm>
            <a:off x="8595360" y="2953512"/>
            <a:ext cx="73152" cy="1536192"/>
          </a:xfrm>
          <a:prstGeom prst="roundRect">
            <a:avLst>
              <a:gd name="adj" fmla="val 50000"/>
            </a:avLst>
          </a:prstGeom>
          <a:solidFill>
            <a:srgbClr val="0284C7"/>
          </a:solidFill>
          <a:ln w="12700">
            <a:solidFill>
              <a:srgbClr val="0284C7"/>
            </a:solidFill>
            <a:prstDash val="solid"/>
          </a:ln>
        </p:spPr>
      </p:sp>
      <p:sp>
        <p:nvSpPr>
          <p:cNvPr id="35" name="Text 32"/>
          <p:cNvSpPr/>
          <p:nvPr/>
        </p:nvSpPr>
        <p:spPr>
          <a:xfrm>
            <a:off x="8732520" y="3063240"/>
            <a:ext cx="2423160" cy="228600"/>
          </a:xfrm>
          <a:prstGeom prst="rect">
            <a:avLst/>
          </a:prstGeom>
          <a:noFill/>
          <a:ln/>
        </p:spPr>
        <p:txBody>
          <a:bodyPr wrap="square" rtlCol="0" anchor="ctr"/>
          <a:lstStyle/>
          <a:p>
            <a:pPr indent="0" marL="0">
              <a:buNone/>
            </a:pPr>
            <a:r>
              <a:rPr lang="en-US" sz="850" b="1" dirty="0">
                <a:solidFill>
                  <a:srgbClr val="0F172A"/>
                </a:solidFill>
                <a:latin typeface="Arial" pitchFamily="34" charset="0"/>
                <a:ea typeface="Arial" pitchFamily="34" charset="-122"/>
                <a:cs typeface="Arial" pitchFamily="34" charset="-120"/>
              </a:rPr>
              <a:t>💻  AKSES TEKNOLOGI TERBUKA</a:t>
            </a:r>
            <a:endParaRPr lang="en-US" sz="850" dirty="0"/>
          </a:p>
        </p:txBody>
      </p:sp>
      <p:sp>
        <p:nvSpPr>
          <p:cNvPr id="36" name="Text 33"/>
          <p:cNvSpPr/>
          <p:nvPr/>
        </p:nvSpPr>
        <p:spPr>
          <a:xfrm>
            <a:off x="8732520" y="3364992"/>
            <a:ext cx="2423160" cy="502920"/>
          </a:xfrm>
          <a:prstGeom prst="rect">
            <a:avLst/>
          </a:prstGeom>
          <a:noFill/>
          <a:ln/>
        </p:spPr>
        <p:txBody>
          <a:bodyPr wrap="square" rtlCol="0" anchor="ctr"/>
          <a:lstStyle/>
          <a:p>
            <a:pPr algn="ctr" indent="0" marL="0">
              <a:buNone/>
            </a:pPr>
            <a:r>
              <a:rPr lang="en-US" sz="1350" b="1" dirty="0">
                <a:solidFill>
                  <a:srgbClr val="0284C7"/>
                </a:solidFill>
                <a:latin typeface="Arial" pitchFamily="34" charset="0"/>
                <a:ea typeface="Arial" pitchFamily="34" charset="-122"/>
                <a:cs typeface="Arial" pitchFamily="34" charset="-120"/>
              </a:rPr>
              <a:t>10.000+ Kunjungan/Thn</a:t>
            </a:r>
            <a:endParaRPr lang="en-US" sz="1350" dirty="0"/>
          </a:p>
        </p:txBody>
      </p:sp>
      <p:sp>
        <p:nvSpPr>
          <p:cNvPr id="37" name="Text 34"/>
          <p:cNvSpPr/>
          <p:nvPr/>
        </p:nvSpPr>
        <p:spPr>
          <a:xfrm>
            <a:off x="8732520" y="3977640"/>
            <a:ext cx="2423160" cy="411480"/>
          </a:xfrm>
          <a:prstGeom prst="rect">
            <a:avLst/>
          </a:prstGeom>
          <a:noFill/>
          <a:ln/>
        </p:spPr>
        <p:txBody>
          <a:bodyPr wrap="square" rtlCol="0" anchor="ctr"/>
          <a:lstStyle/>
          <a:p>
            <a:pPr algn="ctr" indent="0" marL="0">
              <a:lnSpc>
                <a:spcPts val="1000"/>
              </a:lnSpc>
              <a:buNone/>
            </a:pPr>
            <a:r>
              <a:rPr lang="en-US" sz="800" dirty="0">
                <a:solidFill>
                  <a:srgbClr val="334155"/>
                </a:solidFill>
                <a:latin typeface="Arial" pitchFamily="34" charset="0"/>
                <a:ea typeface="Arial" pitchFamily="34" charset="-122"/>
                <a:cs typeface="Arial" pitchFamily="34" charset="-120"/>
              </a:rPr>
              <a:t>Lab AI, Cyber &amp; Prakerin SMK Solo Raya</a:t>
            </a:r>
            <a:endParaRPr lang="en-US" sz="800" dirty="0"/>
          </a:p>
        </p:txBody>
      </p:sp>
      <p:sp>
        <p:nvSpPr>
          <p:cNvPr id="38" name="Shape 35"/>
          <p:cNvSpPr/>
          <p:nvPr/>
        </p:nvSpPr>
        <p:spPr>
          <a:xfrm>
            <a:off x="5760720" y="4581144"/>
            <a:ext cx="2697480" cy="1536192"/>
          </a:xfrm>
          <a:prstGeom prst="roundRect">
            <a:avLst>
              <a:gd name="adj" fmla="val 4762"/>
            </a:avLst>
          </a:prstGeom>
          <a:solidFill>
            <a:srgbClr val="FFFFFF"/>
          </a:solidFill>
          <a:ln w="12700">
            <a:solidFill>
              <a:srgbClr val="CBD5E1"/>
            </a:solidFill>
            <a:prstDash val="solid"/>
          </a:ln>
        </p:spPr>
      </p:sp>
      <p:sp>
        <p:nvSpPr>
          <p:cNvPr id="39" name="Shape 36"/>
          <p:cNvSpPr/>
          <p:nvPr/>
        </p:nvSpPr>
        <p:spPr>
          <a:xfrm>
            <a:off x="5760720" y="4581144"/>
            <a:ext cx="73152" cy="1536192"/>
          </a:xfrm>
          <a:prstGeom prst="roundRect">
            <a:avLst>
              <a:gd name="adj" fmla="val 50000"/>
            </a:avLst>
          </a:prstGeom>
          <a:solidFill>
            <a:srgbClr val="D97706"/>
          </a:solidFill>
          <a:ln w="12700">
            <a:solidFill>
              <a:srgbClr val="D97706"/>
            </a:solidFill>
            <a:prstDash val="solid"/>
          </a:ln>
        </p:spPr>
      </p:sp>
      <p:sp>
        <p:nvSpPr>
          <p:cNvPr id="40" name="Text 37"/>
          <p:cNvSpPr/>
          <p:nvPr/>
        </p:nvSpPr>
        <p:spPr>
          <a:xfrm>
            <a:off x="5897880" y="4690872"/>
            <a:ext cx="2423160" cy="228600"/>
          </a:xfrm>
          <a:prstGeom prst="rect">
            <a:avLst/>
          </a:prstGeom>
          <a:noFill/>
          <a:ln/>
        </p:spPr>
        <p:txBody>
          <a:bodyPr wrap="square" rtlCol="0" anchor="ctr"/>
          <a:lstStyle/>
          <a:p>
            <a:pPr indent="0" marL="0">
              <a:buNone/>
            </a:pPr>
            <a:r>
              <a:rPr lang="en-US" sz="850" b="1" dirty="0">
                <a:solidFill>
                  <a:srgbClr val="0F172A"/>
                </a:solidFill>
                <a:latin typeface="Arial" pitchFamily="34" charset="0"/>
                <a:ea typeface="Arial" pitchFamily="34" charset="-122"/>
                <a:cs typeface="Arial" pitchFamily="34" charset="-120"/>
              </a:rPr>
              <a:t>💼  PELUANG KERJA BARU</a:t>
            </a:r>
            <a:endParaRPr lang="en-US" sz="850" dirty="0"/>
          </a:p>
        </p:txBody>
      </p:sp>
      <p:sp>
        <p:nvSpPr>
          <p:cNvPr id="41" name="Text 38"/>
          <p:cNvSpPr/>
          <p:nvPr/>
        </p:nvSpPr>
        <p:spPr>
          <a:xfrm>
            <a:off x="5897880" y="4992624"/>
            <a:ext cx="2423160" cy="502920"/>
          </a:xfrm>
          <a:prstGeom prst="rect">
            <a:avLst/>
          </a:prstGeom>
          <a:noFill/>
          <a:ln/>
        </p:spPr>
        <p:txBody>
          <a:bodyPr wrap="square" rtlCol="0" anchor="ctr"/>
          <a:lstStyle/>
          <a:p>
            <a:pPr algn="ctr" indent="0" marL="0">
              <a:buNone/>
            </a:pPr>
            <a:r>
              <a:rPr lang="en-US" sz="1350" b="1" dirty="0">
                <a:solidFill>
                  <a:srgbClr val="D97706"/>
                </a:solidFill>
                <a:latin typeface="Arial" pitchFamily="34" charset="0"/>
                <a:ea typeface="Arial" pitchFamily="34" charset="-122"/>
                <a:cs typeface="Arial" pitchFamily="34" charset="-120"/>
              </a:rPr>
              <a:t>Rp 180 M Multiplier</a:t>
            </a:r>
            <a:endParaRPr lang="en-US" sz="1350" dirty="0"/>
          </a:p>
        </p:txBody>
      </p:sp>
      <p:sp>
        <p:nvSpPr>
          <p:cNvPr id="42" name="Text 39"/>
          <p:cNvSpPr/>
          <p:nvPr/>
        </p:nvSpPr>
        <p:spPr>
          <a:xfrm>
            <a:off x="5897880" y="5605272"/>
            <a:ext cx="2423160" cy="411480"/>
          </a:xfrm>
          <a:prstGeom prst="rect">
            <a:avLst/>
          </a:prstGeom>
          <a:noFill/>
          <a:ln/>
        </p:spPr>
        <p:txBody>
          <a:bodyPr wrap="square" rtlCol="0" anchor="ctr"/>
          <a:lstStyle/>
          <a:p>
            <a:pPr algn="ctr" indent="0" marL="0">
              <a:lnSpc>
                <a:spcPts val="1000"/>
              </a:lnSpc>
              <a:buNone/>
            </a:pPr>
            <a:r>
              <a:rPr lang="en-US" sz="800" dirty="0">
                <a:solidFill>
                  <a:srgbClr val="334155"/>
                </a:solidFill>
                <a:latin typeface="Arial" pitchFamily="34" charset="0"/>
                <a:ea typeface="Arial" pitchFamily="34" charset="-122"/>
                <a:cs typeface="Arial" pitchFamily="34" charset="-120"/>
              </a:rPr>
              <a:t>Perputaran ekonomi hotel, resto &amp; MICE</a:t>
            </a:r>
            <a:endParaRPr lang="en-US" sz="800" dirty="0"/>
          </a:p>
        </p:txBody>
      </p:sp>
      <p:sp>
        <p:nvSpPr>
          <p:cNvPr id="43" name="Shape 40"/>
          <p:cNvSpPr/>
          <p:nvPr/>
        </p:nvSpPr>
        <p:spPr>
          <a:xfrm>
            <a:off x="8595360" y="4581144"/>
            <a:ext cx="2697480" cy="1536192"/>
          </a:xfrm>
          <a:prstGeom prst="roundRect">
            <a:avLst>
              <a:gd name="adj" fmla="val 4762"/>
            </a:avLst>
          </a:prstGeom>
          <a:solidFill>
            <a:srgbClr val="FFFFFF"/>
          </a:solidFill>
          <a:ln w="12700">
            <a:solidFill>
              <a:srgbClr val="CBD5E1"/>
            </a:solidFill>
            <a:prstDash val="solid"/>
          </a:ln>
        </p:spPr>
      </p:sp>
      <p:sp>
        <p:nvSpPr>
          <p:cNvPr id="44" name="Shape 41"/>
          <p:cNvSpPr/>
          <p:nvPr/>
        </p:nvSpPr>
        <p:spPr>
          <a:xfrm>
            <a:off x="8595360" y="4581144"/>
            <a:ext cx="73152" cy="1536192"/>
          </a:xfrm>
          <a:prstGeom prst="roundRect">
            <a:avLst>
              <a:gd name="adj" fmla="val 50000"/>
            </a:avLst>
          </a:prstGeom>
          <a:solidFill>
            <a:srgbClr val="059669"/>
          </a:solidFill>
          <a:ln w="12700">
            <a:solidFill>
              <a:srgbClr val="059669"/>
            </a:solidFill>
            <a:prstDash val="solid"/>
          </a:ln>
        </p:spPr>
      </p:sp>
      <p:sp>
        <p:nvSpPr>
          <p:cNvPr id="45" name="Text 42"/>
          <p:cNvSpPr/>
          <p:nvPr/>
        </p:nvSpPr>
        <p:spPr>
          <a:xfrm>
            <a:off x="8732520" y="4690872"/>
            <a:ext cx="2423160" cy="228600"/>
          </a:xfrm>
          <a:prstGeom prst="rect">
            <a:avLst/>
          </a:prstGeom>
          <a:noFill/>
          <a:ln/>
        </p:spPr>
        <p:txBody>
          <a:bodyPr wrap="square" rtlCol="0" anchor="ctr"/>
          <a:lstStyle/>
          <a:p>
            <a:pPr indent="0" marL="0">
              <a:buNone/>
            </a:pPr>
            <a:r>
              <a:rPr lang="en-US" sz="850" b="1" dirty="0">
                <a:solidFill>
                  <a:srgbClr val="0F172A"/>
                </a:solidFill>
                <a:latin typeface="Arial" pitchFamily="34" charset="0"/>
                <a:ea typeface="Arial" pitchFamily="34" charset="-122"/>
                <a:cs typeface="Arial" pitchFamily="34" charset="-120"/>
              </a:rPr>
              <a:t>🤝  KOLABORASI INDUSTRI</a:t>
            </a:r>
            <a:endParaRPr lang="en-US" sz="850" dirty="0"/>
          </a:p>
        </p:txBody>
      </p:sp>
      <p:sp>
        <p:nvSpPr>
          <p:cNvPr id="46" name="Text 43"/>
          <p:cNvSpPr/>
          <p:nvPr/>
        </p:nvSpPr>
        <p:spPr>
          <a:xfrm>
            <a:off x="8732520" y="4992624"/>
            <a:ext cx="2423160" cy="502920"/>
          </a:xfrm>
          <a:prstGeom prst="rect">
            <a:avLst/>
          </a:prstGeom>
          <a:noFill/>
          <a:ln/>
        </p:spPr>
        <p:txBody>
          <a:bodyPr wrap="square" rtlCol="0" anchor="ctr"/>
          <a:lstStyle/>
          <a:p>
            <a:pPr algn="ctr" indent="0" marL="0">
              <a:buNone/>
            </a:pPr>
            <a:r>
              <a:rPr lang="en-US" sz="1350" b="1" dirty="0">
                <a:solidFill>
                  <a:srgbClr val="059669"/>
                </a:solidFill>
                <a:latin typeface="Arial" pitchFamily="34" charset="0"/>
                <a:ea typeface="Arial" pitchFamily="34" charset="-122"/>
                <a:cs typeface="Arial" pitchFamily="34" charset="-120"/>
              </a:rPr>
              <a:t>100% Investasi Swasta</a:t>
            </a:r>
            <a:endParaRPr lang="en-US" sz="1350" dirty="0"/>
          </a:p>
        </p:txBody>
      </p:sp>
      <p:sp>
        <p:nvSpPr>
          <p:cNvPr id="47" name="Text 44"/>
          <p:cNvSpPr/>
          <p:nvPr/>
        </p:nvSpPr>
        <p:spPr>
          <a:xfrm>
            <a:off x="8732520" y="5605272"/>
            <a:ext cx="2423160" cy="411480"/>
          </a:xfrm>
          <a:prstGeom prst="rect">
            <a:avLst/>
          </a:prstGeom>
          <a:noFill/>
          <a:ln/>
        </p:spPr>
        <p:txBody>
          <a:bodyPr wrap="square" rtlCol="0" anchor="ctr"/>
          <a:lstStyle/>
          <a:p>
            <a:pPr algn="ctr" indent="0" marL="0">
              <a:lnSpc>
                <a:spcPts val="1000"/>
              </a:lnSpc>
              <a:buNone/>
            </a:pPr>
            <a:r>
              <a:rPr lang="en-US" sz="800" dirty="0">
                <a:solidFill>
                  <a:srgbClr val="334155"/>
                </a:solidFill>
                <a:latin typeface="Arial" pitchFamily="34" charset="0"/>
                <a:ea typeface="Arial" pitchFamily="34" charset="-122"/>
                <a:cs typeface="Arial" pitchFamily="34" charset="-120"/>
              </a:rPr>
              <a:t>95+ korporasi dunia tanpa beban APBD</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84C7"/>
          </a:solidFill>
          <a:ln/>
        </p:spPr>
      </p:sp>
      <p:sp>
        <p:nvSpPr>
          <p:cNvPr id="3" name="Shape 1"/>
          <p:cNvSpPr/>
          <p:nvPr/>
        </p:nvSpPr>
        <p:spPr>
          <a:xfrm>
            <a:off x="9144000" y="0"/>
            <a:ext cx="3047695" cy="73152"/>
          </a:xfrm>
          <a:prstGeom prst="rect">
            <a:avLst/>
          </a:prstGeom>
          <a:solidFill>
            <a:srgbClr val="D97706"/>
          </a:solidFill>
          <a:ln/>
        </p:spPr>
      </p:sp>
      <p:sp>
        <p:nvSpPr>
          <p:cNvPr id="4" name="Shape 2"/>
          <p:cNvSpPr/>
          <p:nvPr/>
        </p:nvSpPr>
        <p:spPr>
          <a:xfrm>
            <a:off x="731520" y="256032"/>
            <a:ext cx="3291840" cy="237744"/>
          </a:xfrm>
          <a:prstGeom prst="roundRect">
            <a:avLst>
              <a:gd name="adj" fmla="val 19231"/>
            </a:avLst>
          </a:prstGeom>
          <a:solidFill>
            <a:srgbClr val="E0F2FE"/>
          </a:solidFill>
          <a:ln w="12700">
            <a:solidFill>
              <a:srgbClr val="0284C7"/>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0369A1"/>
                </a:solidFill>
                <a:latin typeface="Arial" pitchFamily="34" charset="0"/>
                <a:ea typeface="Arial" pitchFamily="34" charset="-122"/>
                <a:cs typeface="Arial" pitchFamily="34" charset="-120"/>
              </a:rPr>
              <a:t>DUKUNGAN KEPEMIMPINAN &amp; KOMITMEN EKSEKUSI</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0F172A"/>
                </a:solidFill>
                <a:latin typeface="Arial" pitchFamily="34" charset="0"/>
                <a:ea typeface="Arial" pitchFamily="34" charset="-122"/>
                <a:cs typeface="Arial" pitchFamily="34" charset="-120"/>
              </a:rPr>
              <a:t>3 PERMOHONAN KEBIJAKAN KEPADA WALIKOTA &amp; RENCANA AKSI 100 HARI</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334155"/>
                </a:solidFill>
                <a:latin typeface="Arial" pitchFamily="34" charset="0"/>
                <a:ea typeface="Arial" pitchFamily="34" charset="-122"/>
                <a:cs typeface="Arial" pitchFamily="34" charset="-120"/>
              </a:rPr>
              <a:t>Kami Tidak Memohon Tambahan Pagu APBD — Kami Memohon 3 Payung Regulasi Kepemimpinan Walikota</a:t>
            </a:r>
            <a:endParaRPr lang="en-US" sz="1000" dirty="0"/>
          </a:p>
        </p:txBody>
      </p:sp>
      <p:sp>
        <p:nvSpPr>
          <p:cNvPr id="8" name="Shape 6"/>
          <p:cNvSpPr/>
          <p:nvPr/>
        </p:nvSpPr>
        <p:spPr>
          <a:xfrm>
            <a:off x="731520" y="6419088"/>
            <a:ext cx="10728655" cy="18288"/>
          </a:xfrm>
          <a:prstGeom prst="rect">
            <a:avLst/>
          </a:prstGeom>
          <a:solidFill>
            <a:srgbClr val="CBD5E1"/>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334155"/>
                </a:solidFill>
                <a:latin typeface="Arial" pitchFamily="34" charset="0"/>
                <a:ea typeface="Arial" pitchFamily="34" charset="-122"/>
                <a:cs typeface="Arial" pitchFamily="34" charset="-120"/>
              </a:rPr>
              <a:t>UPTD KST SOLO TECHNOPARK  |  BRIDA KOTA SURAKARTA  •  Bahan Paparan Resmi Walikota (Edisi V7 Light)</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0369A1"/>
                </a:solidFill>
                <a:latin typeface="Arial" pitchFamily="34" charset="0"/>
                <a:ea typeface="Arial" pitchFamily="34" charset="-122"/>
                <a:cs typeface="Arial" pitchFamily="34" charset="-120"/>
              </a:rPr>
              <a:t>Slide 12 / 12</a:t>
            </a:r>
            <a:endParaRPr lang="en-US" sz="900" dirty="0"/>
          </a:p>
        </p:txBody>
      </p:sp>
      <p:sp>
        <p:nvSpPr>
          <p:cNvPr id="11" name="Shape 9"/>
          <p:cNvSpPr/>
          <p:nvPr/>
        </p:nvSpPr>
        <p:spPr>
          <a:xfrm>
            <a:off x="731520" y="1325880"/>
            <a:ext cx="3474720" cy="2468880"/>
          </a:xfrm>
          <a:prstGeom prst="roundRect">
            <a:avLst>
              <a:gd name="adj" fmla="val 2963"/>
            </a:avLst>
          </a:prstGeom>
          <a:solidFill>
            <a:srgbClr val="FFFFFF"/>
          </a:solidFill>
          <a:ln w="12700">
            <a:solidFill>
              <a:srgbClr val="CBD5E1"/>
            </a:solidFill>
            <a:prstDash val="solid"/>
          </a:ln>
        </p:spPr>
      </p:sp>
      <p:sp>
        <p:nvSpPr>
          <p:cNvPr id="12" name="Shape 10"/>
          <p:cNvSpPr/>
          <p:nvPr/>
        </p:nvSpPr>
        <p:spPr>
          <a:xfrm>
            <a:off x="731520" y="1325880"/>
            <a:ext cx="73152" cy="2468880"/>
          </a:xfrm>
          <a:prstGeom prst="roundRect">
            <a:avLst>
              <a:gd name="adj" fmla="val 50000"/>
            </a:avLst>
          </a:prstGeom>
          <a:solidFill>
            <a:srgbClr val="0284C7"/>
          </a:solidFill>
          <a:ln w="12700">
            <a:solidFill>
              <a:srgbClr val="0284C7"/>
            </a:solidFill>
            <a:prstDash val="solid"/>
          </a:ln>
        </p:spPr>
      </p:sp>
      <p:sp>
        <p:nvSpPr>
          <p:cNvPr id="13" name="Shape 11"/>
          <p:cNvSpPr/>
          <p:nvPr/>
        </p:nvSpPr>
        <p:spPr>
          <a:xfrm>
            <a:off x="868680" y="1417320"/>
            <a:ext cx="3200400" cy="237744"/>
          </a:xfrm>
          <a:prstGeom prst="roundRect">
            <a:avLst>
              <a:gd name="adj" fmla="val 11538"/>
            </a:avLst>
          </a:prstGeom>
          <a:solidFill>
            <a:srgbClr val="F8FAFC"/>
          </a:solidFill>
          <a:ln w="10160">
            <a:solidFill>
              <a:srgbClr val="0284C7"/>
            </a:solidFill>
            <a:prstDash val="solid"/>
          </a:ln>
        </p:spPr>
      </p:sp>
      <p:sp>
        <p:nvSpPr>
          <p:cNvPr id="14" name="Text 12"/>
          <p:cNvSpPr/>
          <p:nvPr/>
        </p:nvSpPr>
        <p:spPr>
          <a:xfrm>
            <a:off x="868680" y="1417320"/>
            <a:ext cx="3200400" cy="237744"/>
          </a:xfrm>
          <a:prstGeom prst="rect">
            <a:avLst/>
          </a:prstGeom>
          <a:noFill/>
          <a:ln/>
        </p:spPr>
        <p:txBody>
          <a:bodyPr wrap="square" rtlCol="0" anchor="ctr"/>
          <a:lstStyle/>
          <a:p>
            <a:pPr algn="ctr" indent="0" marL="0">
              <a:buNone/>
            </a:pPr>
            <a:r>
              <a:rPr lang="en-US" sz="720" b="1" dirty="0">
                <a:solidFill>
                  <a:srgbClr val="0284C7"/>
                </a:solidFill>
                <a:latin typeface="Arial" pitchFamily="34" charset="0"/>
                <a:ea typeface="Arial" pitchFamily="34" charset="-122"/>
                <a:cs typeface="Arial" pitchFamily="34" charset="-120"/>
              </a:rPr>
              <a:t>⭐ PRIORITAS UTAMA (QUICK WIN 30 HARI)</a:t>
            </a:r>
            <a:endParaRPr lang="en-US" sz="720" dirty="0"/>
          </a:p>
        </p:txBody>
      </p:sp>
      <p:sp>
        <p:nvSpPr>
          <p:cNvPr id="15" name="Shape 13"/>
          <p:cNvSpPr/>
          <p:nvPr/>
        </p:nvSpPr>
        <p:spPr>
          <a:xfrm>
            <a:off x="868680" y="1719072"/>
            <a:ext cx="3200400" cy="420624"/>
          </a:xfrm>
          <a:prstGeom prst="roundRect">
            <a:avLst>
              <a:gd name="adj" fmla="val 8696"/>
            </a:avLst>
          </a:prstGeom>
          <a:solidFill>
            <a:srgbClr val="F1F5F9"/>
          </a:solidFill>
          <a:ln w="12700">
            <a:solidFill>
              <a:srgbClr val="0284C7"/>
            </a:solidFill>
            <a:prstDash val="solid"/>
          </a:ln>
        </p:spPr>
      </p:sp>
      <p:sp>
        <p:nvSpPr>
          <p:cNvPr id="16" name="Text 14"/>
          <p:cNvSpPr/>
          <p:nvPr/>
        </p:nvSpPr>
        <p:spPr>
          <a:xfrm>
            <a:off x="914400" y="1737360"/>
            <a:ext cx="3108960" cy="384048"/>
          </a:xfrm>
          <a:prstGeom prst="rect">
            <a:avLst/>
          </a:prstGeom>
          <a:noFill/>
          <a:ln/>
        </p:spPr>
        <p:txBody>
          <a:bodyPr wrap="square" rtlCol="0" anchor="ctr"/>
          <a:lstStyle/>
          <a:p>
            <a:pPr algn="ctr" indent="0" marL="0">
              <a:buNone/>
            </a:pPr>
            <a:r>
              <a:rPr lang="en-US" sz="850" b="1" dirty="0">
                <a:solidFill>
                  <a:srgbClr val="0F172A"/>
                </a:solidFill>
                <a:latin typeface="Arial" pitchFamily="34" charset="0"/>
                <a:ea typeface="Arial" pitchFamily="34" charset="-122"/>
                <a:cs typeface="Arial" pitchFamily="34" charset="-120"/>
              </a:rPr>
              <a:t>PERMOHONAN 1: INSTRUKSI WALIKOTA AFIRMASI e-KATALOG</a:t>
            </a:r>
            <a:endParaRPr lang="en-US" sz="850" dirty="0"/>
          </a:p>
        </p:txBody>
      </p:sp>
      <p:sp>
        <p:nvSpPr>
          <p:cNvPr id="17" name="Text 15"/>
          <p:cNvSpPr/>
          <p:nvPr/>
        </p:nvSpPr>
        <p:spPr>
          <a:xfrm>
            <a:off x="914400" y="2176272"/>
            <a:ext cx="3108960" cy="777240"/>
          </a:xfrm>
          <a:prstGeom prst="rect">
            <a:avLst/>
          </a:prstGeom>
          <a:noFill/>
          <a:ln/>
        </p:spPr>
        <p:txBody>
          <a:bodyPr wrap="square" rtlCol="0" anchor="ctr"/>
          <a:lstStyle/>
          <a:p>
            <a:pPr indent="0" marL="0">
              <a:lnSpc>
                <a:spcPts val="1100"/>
              </a:lnSpc>
              <a:buNone/>
            </a:pPr>
            <a:r>
              <a:rPr lang="en-US" sz="850" dirty="0">
                <a:solidFill>
                  <a:srgbClr val="334155"/>
                </a:solidFill>
                <a:latin typeface="Arial" pitchFamily="34" charset="0"/>
                <a:ea typeface="Arial" pitchFamily="34" charset="-122"/>
                <a:cs typeface="Arial" pitchFamily="34" charset="-120"/>
              </a:rPr>
              <a:t>Mengarahkan seluruh OPD Pemkot memprioritaskan belanja produk teknologi &amp; layanan tenant STP via e-Katalog Lokal.</a:t>
            </a:r>
            <a:endParaRPr lang="en-US" sz="850" dirty="0"/>
          </a:p>
        </p:txBody>
      </p:sp>
      <p:sp>
        <p:nvSpPr>
          <p:cNvPr id="18" name="Shape 16"/>
          <p:cNvSpPr/>
          <p:nvPr/>
        </p:nvSpPr>
        <p:spPr>
          <a:xfrm>
            <a:off x="914400" y="3017520"/>
            <a:ext cx="3108960" cy="658368"/>
          </a:xfrm>
          <a:prstGeom prst="roundRect">
            <a:avLst>
              <a:gd name="adj" fmla="val 5556"/>
            </a:avLst>
          </a:prstGeom>
          <a:solidFill>
            <a:srgbClr val="F8FAFC"/>
          </a:solidFill>
          <a:ln w="12700">
            <a:solidFill>
              <a:srgbClr val="CBD5E1"/>
            </a:solidFill>
            <a:prstDash val="solid"/>
          </a:ln>
        </p:spPr>
      </p:sp>
      <p:sp>
        <p:nvSpPr>
          <p:cNvPr id="19" name="Text 17"/>
          <p:cNvSpPr/>
          <p:nvPr/>
        </p:nvSpPr>
        <p:spPr>
          <a:xfrm>
            <a:off x="960120" y="3054096"/>
            <a:ext cx="3017520" cy="292608"/>
          </a:xfrm>
          <a:prstGeom prst="rect">
            <a:avLst/>
          </a:prstGeom>
          <a:noFill/>
          <a:ln/>
        </p:spPr>
        <p:txBody>
          <a:bodyPr wrap="square" rtlCol="0" anchor="ctr"/>
          <a:lstStyle/>
          <a:p>
            <a:pPr indent="0" marL="0">
              <a:buNone/>
            </a:pPr>
            <a:r>
              <a:rPr lang="en-US" sz="850" b="1" dirty="0">
                <a:solidFill>
                  <a:srgbClr val="0F172A"/>
                </a:solidFill>
                <a:latin typeface="Arial" pitchFamily="34" charset="0"/>
                <a:ea typeface="Arial" pitchFamily="34" charset="-122"/>
                <a:cs typeface="Arial" pitchFamily="34" charset="-120"/>
              </a:rPr>
              <a:t>Target: Rp 2,25 M / Thn di 2030 (80+ Produk Terserap)</a:t>
            </a:r>
            <a:endParaRPr lang="en-US" sz="850" dirty="0"/>
          </a:p>
        </p:txBody>
      </p:sp>
      <p:sp>
        <p:nvSpPr>
          <p:cNvPr id="20" name="Text 18"/>
          <p:cNvSpPr/>
          <p:nvPr/>
        </p:nvSpPr>
        <p:spPr>
          <a:xfrm>
            <a:off x="960120" y="3364992"/>
            <a:ext cx="3017520" cy="256032"/>
          </a:xfrm>
          <a:prstGeom prst="rect">
            <a:avLst/>
          </a:prstGeom>
          <a:noFill/>
          <a:ln/>
        </p:spPr>
        <p:txBody>
          <a:bodyPr wrap="square" rtlCol="0" anchor="ctr"/>
          <a:lstStyle/>
          <a:p>
            <a:pPr indent="0" marL="0">
              <a:buNone/>
            </a:pPr>
            <a:r>
              <a:rPr lang="en-US" sz="800" i="1" dirty="0">
                <a:solidFill>
                  <a:srgbClr val="0284C7"/>
                </a:solidFill>
                <a:latin typeface="Arial" pitchFamily="34" charset="0"/>
                <a:ea typeface="Arial" pitchFamily="34" charset="-122"/>
                <a:cs typeface="Arial" pitchFamily="34" charset="-120"/>
              </a:rPr>
              <a:t>⚡ Bisa langsung diterbitkan dalam 30 hari pertama</a:t>
            </a:r>
            <a:endParaRPr lang="en-US" sz="800" dirty="0"/>
          </a:p>
        </p:txBody>
      </p:sp>
      <p:sp>
        <p:nvSpPr>
          <p:cNvPr id="21" name="Shape 19"/>
          <p:cNvSpPr/>
          <p:nvPr/>
        </p:nvSpPr>
        <p:spPr>
          <a:xfrm>
            <a:off x="4343400" y="1325880"/>
            <a:ext cx="3474720" cy="2468880"/>
          </a:xfrm>
          <a:prstGeom prst="roundRect">
            <a:avLst>
              <a:gd name="adj" fmla="val 2963"/>
            </a:avLst>
          </a:prstGeom>
          <a:solidFill>
            <a:srgbClr val="FFFFFF"/>
          </a:solidFill>
          <a:ln w="12700">
            <a:solidFill>
              <a:srgbClr val="CBD5E1"/>
            </a:solidFill>
            <a:prstDash val="solid"/>
          </a:ln>
        </p:spPr>
      </p:sp>
      <p:sp>
        <p:nvSpPr>
          <p:cNvPr id="22" name="Shape 20"/>
          <p:cNvSpPr/>
          <p:nvPr/>
        </p:nvSpPr>
        <p:spPr>
          <a:xfrm>
            <a:off x="4343400" y="1325880"/>
            <a:ext cx="73152" cy="2468880"/>
          </a:xfrm>
          <a:prstGeom prst="roundRect">
            <a:avLst>
              <a:gd name="adj" fmla="val 50000"/>
            </a:avLst>
          </a:prstGeom>
          <a:solidFill>
            <a:srgbClr val="D97706"/>
          </a:solidFill>
          <a:ln w="12700">
            <a:solidFill>
              <a:srgbClr val="D97706"/>
            </a:solidFill>
            <a:prstDash val="solid"/>
          </a:ln>
        </p:spPr>
      </p:sp>
      <p:sp>
        <p:nvSpPr>
          <p:cNvPr id="23" name="Shape 21"/>
          <p:cNvSpPr/>
          <p:nvPr/>
        </p:nvSpPr>
        <p:spPr>
          <a:xfrm>
            <a:off x="4480560" y="1417320"/>
            <a:ext cx="3200400" cy="237744"/>
          </a:xfrm>
          <a:prstGeom prst="roundRect">
            <a:avLst>
              <a:gd name="adj" fmla="val 11538"/>
            </a:avLst>
          </a:prstGeom>
          <a:solidFill>
            <a:srgbClr val="F8FAFC"/>
          </a:solidFill>
          <a:ln w="10160">
            <a:solidFill>
              <a:srgbClr val="D97706"/>
            </a:solidFill>
            <a:prstDash val="solid"/>
          </a:ln>
        </p:spPr>
      </p:sp>
      <p:sp>
        <p:nvSpPr>
          <p:cNvPr id="24" name="Text 22"/>
          <p:cNvSpPr/>
          <p:nvPr/>
        </p:nvSpPr>
        <p:spPr>
          <a:xfrm>
            <a:off x="4480560" y="1417320"/>
            <a:ext cx="3200400" cy="237744"/>
          </a:xfrm>
          <a:prstGeom prst="rect">
            <a:avLst/>
          </a:prstGeom>
          <a:noFill/>
          <a:ln/>
        </p:spPr>
        <p:txBody>
          <a:bodyPr wrap="square" rtlCol="0" anchor="ctr"/>
          <a:lstStyle/>
          <a:p>
            <a:pPr algn="ctr" indent="0" marL="0">
              <a:buNone/>
            </a:pPr>
            <a:r>
              <a:rPr lang="en-US" sz="720" b="1" dirty="0">
                <a:solidFill>
                  <a:srgbClr val="D97706"/>
                </a:solidFill>
                <a:latin typeface="Arial" pitchFamily="34" charset="0"/>
                <a:ea typeface="Arial" pitchFamily="34" charset="-122"/>
                <a:cs typeface="Arial" pitchFamily="34" charset="-120"/>
              </a:rPr>
              <a:t>🏢 INVESTASI JANGKA PANJANG (10–25 TAHUN)</a:t>
            </a:r>
            <a:endParaRPr lang="en-US" sz="720" dirty="0"/>
          </a:p>
        </p:txBody>
      </p:sp>
      <p:sp>
        <p:nvSpPr>
          <p:cNvPr id="25" name="Shape 23"/>
          <p:cNvSpPr/>
          <p:nvPr/>
        </p:nvSpPr>
        <p:spPr>
          <a:xfrm>
            <a:off x="4480560" y="1719072"/>
            <a:ext cx="3200400" cy="420624"/>
          </a:xfrm>
          <a:prstGeom prst="roundRect">
            <a:avLst>
              <a:gd name="adj" fmla="val 8696"/>
            </a:avLst>
          </a:prstGeom>
          <a:solidFill>
            <a:srgbClr val="F1F5F9"/>
          </a:solidFill>
          <a:ln w="12700">
            <a:solidFill>
              <a:srgbClr val="D97706"/>
            </a:solidFill>
            <a:prstDash val="solid"/>
          </a:ln>
        </p:spPr>
      </p:sp>
      <p:sp>
        <p:nvSpPr>
          <p:cNvPr id="26" name="Text 24"/>
          <p:cNvSpPr/>
          <p:nvPr/>
        </p:nvSpPr>
        <p:spPr>
          <a:xfrm>
            <a:off x="4526280" y="1737360"/>
            <a:ext cx="3108960" cy="384048"/>
          </a:xfrm>
          <a:prstGeom prst="rect">
            <a:avLst/>
          </a:prstGeom>
          <a:noFill/>
          <a:ln/>
        </p:spPr>
        <p:txBody>
          <a:bodyPr wrap="square" rtlCol="0" anchor="ctr"/>
          <a:lstStyle/>
          <a:p>
            <a:pPr algn="ctr" indent="0" marL="0">
              <a:buNone/>
            </a:pPr>
            <a:r>
              <a:rPr lang="en-US" sz="850" b="1" dirty="0">
                <a:solidFill>
                  <a:srgbClr val="0F172A"/>
                </a:solidFill>
                <a:latin typeface="Arial" pitchFamily="34" charset="0"/>
                <a:ea typeface="Arial" pitchFamily="34" charset="-122"/>
                <a:cs typeface="Arial" pitchFamily="34" charset="-120"/>
              </a:rPr>
              <a:t>PERMOHONAN 2: FLEKSIBILITAS KERJASAMA LAHAN BLUD</a:t>
            </a:r>
            <a:endParaRPr lang="en-US" sz="850" dirty="0"/>
          </a:p>
        </p:txBody>
      </p:sp>
      <p:sp>
        <p:nvSpPr>
          <p:cNvPr id="27" name="Text 25"/>
          <p:cNvSpPr/>
          <p:nvPr/>
        </p:nvSpPr>
        <p:spPr>
          <a:xfrm>
            <a:off x="4526280" y="2176272"/>
            <a:ext cx="3108960" cy="777240"/>
          </a:xfrm>
          <a:prstGeom prst="rect">
            <a:avLst/>
          </a:prstGeom>
          <a:noFill/>
          <a:ln/>
        </p:spPr>
        <p:txBody>
          <a:bodyPr wrap="square" rtlCol="0" anchor="ctr"/>
          <a:lstStyle/>
          <a:p>
            <a:pPr indent="0" marL="0">
              <a:lnSpc>
                <a:spcPts val="1100"/>
              </a:lnSpc>
              <a:buNone/>
            </a:pPr>
            <a:r>
              <a:rPr lang="en-US" sz="850" dirty="0">
                <a:solidFill>
                  <a:srgbClr val="334155"/>
                </a:solidFill>
                <a:latin typeface="Arial" pitchFamily="34" charset="0"/>
                <a:ea typeface="Arial" pitchFamily="34" charset="-122"/>
                <a:cs typeface="Arial" pitchFamily="34" charset="-120"/>
              </a:rPr>
              <a:t>Peraturan Walikota skema Long-Term Revenue Sharing yang fleksibel bagi investor teknologi global di kawasan STP.</a:t>
            </a:r>
            <a:endParaRPr lang="en-US" sz="850" dirty="0"/>
          </a:p>
        </p:txBody>
      </p:sp>
      <p:sp>
        <p:nvSpPr>
          <p:cNvPr id="28" name="Shape 26"/>
          <p:cNvSpPr/>
          <p:nvPr/>
        </p:nvSpPr>
        <p:spPr>
          <a:xfrm>
            <a:off x="4526280" y="3017520"/>
            <a:ext cx="3108960" cy="658368"/>
          </a:xfrm>
          <a:prstGeom prst="roundRect">
            <a:avLst>
              <a:gd name="adj" fmla="val 5556"/>
            </a:avLst>
          </a:prstGeom>
          <a:solidFill>
            <a:srgbClr val="F8FAFC"/>
          </a:solidFill>
          <a:ln w="12700">
            <a:solidFill>
              <a:srgbClr val="CBD5E1"/>
            </a:solidFill>
            <a:prstDash val="solid"/>
          </a:ln>
        </p:spPr>
      </p:sp>
      <p:sp>
        <p:nvSpPr>
          <p:cNvPr id="29" name="Text 27"/>
          <p:cNvSpPr/>
          <p:nvPr/>
        </p:nvSpPr>
        <p:spPr>
          <a:xfrm>
            <a:off x="4572000" y="3054096"/>
            <a:ext cx="3017520" cy="292608"/>
          </a:xfrm>
          <a:prstGeom prst="rect">
            <a:avLst/>
          </a:prstGeom>
          <a:noFill/>
          <a:ln/>
        </p:spPr>
        <p:txBody>
          <a:bodyPr wrap="square" rtlCol="0" anchor="ctr"/>
          <a:lstStyle/>
          <a:p>
            <a:pPr indent="0" marL="0">
              <a:buNone/>
            </a:pPr>
            <a:r>
              <a:rPr lang="en-US" sz="850" b="1" dirty="0">
                <a:solidFill>
                  <a:srgbClr val="0F172A"/>
                </a:solidFill>
                <a:latin typeface="Arial" pitchFamily="34" charset="0"/>
                <a:ea typeface="Arial" pitchFamily="34" charset="-122"/>
                <a:cs typeface="Arial" pitchFamily="34" charset="-120"/>
              </a:rPr>
              <a:t>Target: Menarik 3–5 Investor Baru Tanpa Beban APBD</a:t>
            </a:r>
            <a:endParaRPr lang="en-US" sz="850" dirty="0"/>
          </a:p>
        </p:txBody>
      </p:sp>
      <p:sp>
        <p:nvSpPr>
          <p:cNvPr id="30" name="Text 28"/>
          <p:cNvSpPr/>
          <p:nvPr/>
        </p:nvSpPr>
        <p:spPr>
          <a:xfrm>
            <a:off x="4572000" y="3364992"/>
            <a:ext cx="3017520" cy="25603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 Harmonisasi bersama BPKAD &amp; Bagian Hukum Setda</a:t>
            </a:r>
            <a:endParaRPr lang="en-US" sz="800" dirty="0"/>
          </a:p>
        </p:txBody>
      </p:sp>
      <p:sp>
        <p:nvSpPr>
          <p:cNvPr id="31" name="Shape 29"/>
          <p:cNvSpPr/>
          <p:nvPr/>
        </p:nvSpPr>
        <p:spPr>
          <a:xfrm>
            <a:off x="7955280" y="1325880"/>
            <a:ext cx="3474720" cy="2468880"/>
          </a:xfrm>
          <a:prstGeom prst="roundRect">
            <a:avLst>
              <a:gd name="adj" fmla="val 2963"/>
            </a:avLst>
          </a:prstGeom>
          <a:solidFill>
            <a:srgbClr val="FFFFFF"/>
          </a:solidFill>
          <a:ln w="12700">
            <a:solidFill>
              <a:srgbClr val="CBD5E1"/>
            </a:solidFill>
            <a:prstDash val="solid"/>
          </a:ln>
        </p:spPr>
      </p:sp>
      <p:sp>
        <p:nvSpPr>
          <p:cNvPr id="32" name="Shape 30"/>
          <p:cNvSpPr/>
          <p:nvPr/>
        </p:nvSpPr>
        <p:spPr>
          <a:xfrm>
            <a:off x="7955280" y="1325880"/>
            <a:ext cx="73152" cy="2468880"/>
          </a:xfrm>
          <a:prstGeom prst="roundRect">
            <a:avLst>
              <a:gd name="adj" fmla="val 50000"/>
            </a:avLst>
          </a:prstGeom>
          <a:solidFill>
            <a:srgbClr val="059669"/>
          </a:solidFill>
          <a:ln w="12700">
            <a:solidFill>
              <a:srgbClr val="059669"/>
            </a:solidFill>
            <a:prstDash val="solid"/>
          </a:ln>
        </p:spPr>
      </p:sp>
      <p:sp>
        <p:nvSpPr>
          <p:cNvPr id="33" name="Shape 31"/>
          <p:cNvSpPr/>
          <p:nvPr/>
        </p:nvSpPr>
        <p:spPr>
          <a:xfrm>
            <a:off x="8092440" y="1417320"/>
            <a:ext cx="3200400" cy="237744"/>
          </a:xfrm>
          <a:prstGeom prst="roundRect">
            <a:avLst>
              <a:gd name="adj" fmla="val 11538"/>
            </a:avLst>
          </a:prstGeom>
          <a:solidFill>
            <a:srgbClr val="F8FAFC"/>
          </a:solidFill>
          <a:ln w="10160">
            <a:solidFill>
              <a:srgbClr val="059669"/>
            </a:solidFill>
            <a:prstDash val="solid"/>
          </a:ln>
        </p:spPr>
      </p:sp>
      <p:sp>
        <p:nvSpPr>
          <p:cNvPr id="34" name="Text 32"/>
          <p:cNvSpPr/>
          <p:nvPr/>
        </p:nvSpPr>
        <p:spPr>
          <a:xfrm>
            <a:off x="8092440" y="1417320"/>
            <a:ext cx="3200400" cy="237744"/>
          </a:xfrm>
          <a:prstGeom prst="rect">
            <a:avLst/>
          </a:prstGeom>
          <a:noFill/>
          <a:ln/>
        </p:spPr>
        <p:txBody>
          <a:bodyPr wrap="square" rtlCol="0" anchor="ctr"/>
          <a:lstStyle/>
          <a:p>
            <a:pPr algn="ctr" indent="0" marL="0">
              <a:buNone/>
            </a:pPr>
            <a:r>
              <a:rPr lang="en-US" sz="720" b="1" dirty="0">
                <a:solidFill>
                  <a:srgbClr val="059669"/>
                </a:solidFill>
                <a:latin typeface="Arial" pitchFamily="34" charset="0"/>
                <a:ea typeface="Arial" pitchFamily="34" charset="-122"/>
                <a:cs typeface="Arial" pitchFamily="34" charset="-120"/>
              </a:rPr>
              <a:t>🎓 KONSORSIUM RISET 5 KAMPUS SOLO RAYA</a:t>
            </a:r>
            <a:endParaRPr lang="en-US" sz="720" dirty="0"/>
          </a:p>
        </p:txBody>
      </p:sp>
      <p:sp>
        <p:nvSpPr>
          <p:cNvPr id="35" name="Shape 33"/>
          <p:cNvSpPr/>
          <p:nvPr/>
        </p:nvSpPr>
        <p:spPr>
          <a:xfrm>
            <a:off x="8092440" y="1719072"/>
            <a:ext cx="3200400" cy="420624"/>
          </a:xfrm>
          <a:prstGeom prst="roundRect">
            <a:avLst>
              <a:gd name="adj" fmla="val 8696"/>
            </a:avLst>
          </a:prstGeom>
          <a:solidFill>
            <a:srgbClr val="F1F5F9"/>
          </a:solidFill>
          <a:ln w="12700">
            <a:solidFill>
              <a:srgbClr val="059669"/>
            </a:solidFill>
            <a:prstDash val="solid"/>
          </a:ln>
        </p:spPr>
      </p:sp>
      <p:sp>
        <p:nvSpPr>
          <p:cNvPr id="36" name="Text 34"/>
          <p:cNvSpPr/>
          <p:nvPr/>
        </p:nvSpPr>
        <p:spPr>
          <a:xfrm>
            <a:off x="8138160" y="1737360"/>
            <a:ext cx="3108960" cy="384048"/>
          </a:xfrm>
          <a:prstGeom prst="rect">
            <a:avLst/>
          </a:prstGeom>
          <a:noFill/>
          <a:ln/>
        </p:spPr>
        <p:txBody>
          <a:bodyPr wrap="square" rtlCol="0" anchor="ctr"/>
          <a:lstStyle/>
          <a:p>
            <a:pPr algn="ctr" indent="0" marL="0">
              <a:buNone/>
            </a:pPr>
            <a:r>
              <a:rPr lang="en-US" sz="850" b="1" dirty="0">
                <a:solidFill>
                  <a:srgbClr val="0F172A"/>
                </a:solidFill>
                <a:latin typeface="Arial" pitchFamily="34" charset="0"/>
                <a:ea typeface="Arial" pitchFamily="34" charset="-122"/>
                <a:cs typeface="Arial" pitchFamily="34" charset="-120"/>
              </a:rPr>
              <a:t>PERMOHONAN 3: SURAT EDARAN KONSORSIUM RISET DAERAH</a:t>
            </a:r>
            <a:endParaRPr lang="en-US" sz="850" dirty="0"/>
          </a:p>
        </p:txBody>
      </p:sp>
      <p:sp>
        <p:nvSpPr>
          <p:cNvPr id="37" name="Text 35"/>
          <p:cNvSpPr/>
          <p:nvPr/>
        </p:nvSpPr>
        <p:spPr>
          <a:xfrm>
            <a:off x="8138160" y="2176272"/>
            <a:ext cx="3108960" cy="777240"/>
          </a:xfrm>
          <a:prstGeom prst="rect">
            <a:avLst/>
          </a:prstGeom>
          <a:noFill/>
          <a:ln/>
        </p:spPr>
        <p:txBody>
          <a:bodyPr wrap="square" rtlCol="0" anchor="ctr"/>
          <a:lstStyle/>
          <a:p>
            <a:pPr indent="0" marL="0">
              <a:lnSpc>
                <a:spcPts val="1100"/>
              </a:lnSpc>
              <a:buNone/>
            </a:pPr>
            <a:r>
              <a:rPr lang="en-US" sz="850" dirty="0">
                <a:solidFill>
                  <a:srgbClr val="334155"/>
                </a:solidFill>
                <a:latin typeface="Arial" pitchFamily="34" charset="0"/>
                <a:ea typeface="Arial" pitchFamily="34" charset="-122"/>
                <a:cs typeface="Arial" pitchFamily="34" charset="-120"/>
              </a:rPr>
              <a:t>Mendorong perguruan tinggi (UNS, UMS, ISI, Poltek) mengarahkan minimal 30% riset terapan menyelesaikan problem kota di STP.</a:t>
            </a:r>
            <a:endParaRPr lang="en-US" sz="850" dirty="0"/>
          </a:p>
        </p:txBody>
      </p:sp>
      <p:sp>
        <p:nvSpPr>
          <p:cNvPr id="38" name="Shape 36"/>
          <p:cNvSpPr/>
          <p:nvPr/>
        </p:nvSpPr>
        <p:spPr>
          <a:xfrm>
            <a:off x="8138160" y="3017520"/>
            <a:ext cx="3108960" cy="658368"/>
          </a:xfrm>
          <a:prstGeom prst="roundRect">
            <a:avLst>
              <a:gd name="adj" fmla="val 5556"/>
            </a:avLst>
          </a:prstGeom>
          <a:solidFill>
            <a:srgbClr val="F8FAFC"/>
          </a:solidFill>
          <a:ln w="12700">
            <a:solidFill>
              <a:srgbClr val="CBD5E1"/>
            </a:solidFill>
            <a:prstDash val="solid"/>
          </a:ln>
        </p:spPr>
      </p:sp>
      <p:sp>
        <p:nvSpPr>
          <p:cNvPr id="39" name="Text 37"/>
          <p:cNvSpPr/>
          <p:nvPr/>
        </p:nvSpPr>
        <p:spPr>
          <a:xfrm>
            <a:off x="8183880" y="3054096"/>
            <a:ext cx="3017520" cy="292608"/>
          </a:xfrm>
          <a:prstGeom prst="rect">
            <a:avLst/>
          </a:prstGeom>
          <a:noFill/>
          <a:ln/>
        </p:spPr>
        <p:txBody>
          <a:bodyPr wrap="square" rtlCol="0" anchor="ctr"/>
          <a:lstStyle/>
          <a:p>
            <a:pPr indent="0" marL="0">
              <a:buNone/>
            </a:pPr>
            <a:r>
              <a:rPr lang="en-US" sz="850" b="1" dirty="0">
                <a:solidFill>
                  <a:srgbClr val="0F172A"/>
                </a:solidFill>
                <a:latin typeface="Arial" pitchFamily="34" charset="0"/>
                <a:ea typeface="Arial" pitchFamily="34" charset="-122"/>
                <a:cs typeface="Arial" pitchFamily="34" charset="-120"/>
              </a:rPr>
              <a:t>Target: 5 Kampus Mitra, 30 Klaster Riset Terapan</a:t>
            </a:r>
            <a:endParaRPr lang="en-US" sz="850" dirty="0"/>
          </a:p>
        </p:txBody>
      </p:sp>
      <p:sp>
        <p:nvSpPr>
          <p:cNvPr id="40" name="Text 38"/>
          <p:cNvSpPr/>
          <p:nvPr/>
        </p:nvSpPr>
        <p:spPr>
          <a:xfrm>
            <a:off x="8183880" y="3364992"/>
            <a:ext cx="3017520" cy="256032"/>
          </a:xfrm>
          <a:prstGeom prst="rect">
            <a:avLst/>
          </a:prstGeom>
          <a:noFill/>
          <a:ln/>
        </p:spPr>
        <p:txBody>
          <a:bodyPr wrap="square" rtlCol="0" anchor="ctr"/>
          <a:lstStyle/>
          <a:p>
            <a:pPr indent="0" marL="0">
              <a:buNone/>
            </a:pPr>
            <a:r>
              <a:rPr lang="en-US" sz="800" i="1" dirty="0">
                <a:solidFill>
                  <a:srgbClr val="059669"/>
                </a:solidFill>
                <a:latin typeface="Arial" pitchFamily="34" charset="0"/>
                <a:ea typeface="Arial" pitchFamily="34" charset="-122"/>
                <a:cs typeface="Arial" pitchFamily="34" charset="-120"/>
              </a:rPr>
              <a:t>⚡ Penyusunan MoU bersama 5 Rektor Solo Raya</a:t>
            </a:r>
            <a:endParaRPr lang="en-US" sz="800" dirty="0"/>
          </a:p>
        </p:txBody>
      </p:sp>
      <p:sp>
        <p:nvSpPr>
          <p:cNvPr id="41" name="Shape 39"/>
          <p:cNvSpPr/>
          <p:nvPr/>
        </p:nvSpPr>
        <p:spPr>
          <a:xfrm>
            <a:off x="731520" y="3931920"/>
            <a:ext cx="10728655" cy="2423160"/>
          </a:xfrm>
          <a:prstGeom prst="roundRect">
            <a:avLst>
              <a:gd name="adj" fmla="val 3019"/>
            </a:avLst>
          </a:prstGeom>
          <a:solidFill>
            <a:srgbClr val="FFFFFF"/>
          </a:solidFill>
          <a:ln w="12700">
            <a:solidFill>
              <a:srgbClr val="0284C7"/>
            </a:solidFill>
            <a:prstDash val="solid"/>
          </a:ln>
        </p:spPr>
      </p:sp>
      <p:sp>
        <p:nvSpPr>
          <p:cNvPr id="42" name="Text 40"/>
          <p:cNvSpPr/>
          <p:nvPr/>
        </p:nvSpPr>
        <p:spPr>
          <a:xfrm>
            <a:off x="914400" y="4023360"/>
            <a:ext cx="10362895" cy="256032"/>
          </a:xfrm>
          <a:prstGeom prst="rect">
            <a:avLst/>
          </a:prstGeom>
          <a:noFill/>
          <a:ln/>
        </p:spPr>
        <p:txBody>
          <a:bodyPr wrap="square" rtlCol="0" anchor="ctr"/>
          <a:lstStyle/>
          <a:p>
            <a:pPr indent="0" marL="0">
              <a:buNone/>
            </a:pPr>
            <a:r>
              <a:rPr lang="en-US" sz="1000" b="1" dirty="0">
                <a:solidFill>
                  <a:srgbClr val="D97706"/>
                </a:solidFill>
                <a:latin typeface="Arial" pitchFamily="34" charset="0"/>
                <a:ea typeface="Arial" pitchFamily="34" charset="-122"/>
                <a:cs typeface="Arial" pitchFamily="34" charset="-120"/>
              </a:rPr>
              <a:t>RENCANA AKSI 100 HARI PERTAMA (QUICK WINS PASCA-ARAHAN WALIKOTA SURAKARTA):</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914400" y="4343400"/>
          <a:ext cx="10362895" cy="1874520"/>
        </p:xfrm>
        <a:graphic>
          <a:graphicData uri="http://schemas.openxmlformats.org/drawingml/2006/table">
            <a:tbl>
              <a:tblPr/>
              <a:tblGrid>
                <a:gridCol w="1280160"/>
                <a:gridCol w="3474720"/>
                <a:gridCol w="5608015"/>
              </a:tblGrid>
              <a:tr h="274320">
                <a:tc>
                  <a:txBody>
                    <a:bodyPr/>
                    <a:lstStyle/>
                    <a:p>
                      <a:pPr algn="ctr" indent="0" marL="0">
                        <a:buNone/>
                      </a:pPr>
                      <a:r>
                        <a:rPr lang="en-US" sz="850" b="1" dirty="0">
                          <a:solidFill>
                            <a:srgbClr val="FFFFFF"/>
                          </a:solidFill>
                          <a:latin typeface="Arial" pitchFamily="34" charset="0"/>
                          <a:ea typeface="Arial" pitchFamily="34" charset="-122"/>
                          <a:cs typeface="Arial" pitchFamily="34" charset="-120"/>
                        </a:rPr>
                        <a:t>PERIODE</a:t>
                      </a:r>
                      <a:endParaRPr lang="en-US" sz="85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2942"/>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AGENDA STRATEGIS</a:t>
                      </a:r>
                      <a:endParaRPr lang="en-US" sz="85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2942"/>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OUTPUT KONKRET &amp; TARGET KEBERHASILAN</a:t>
                      </a:r>
                      <a:endParaRPr lang="en-US" sz="85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2942"/>
                    </a:solidFill>
                  </a:tcPr>
                </a:tc>
              </a:tr>
              <a:tr h="256032">
                <a:tc>
                  <a:txBody>
                    <a:bodyPr/>
                    <a:lstStyle/>
                    <a:p>
                      <a:pPr algn="ctr" indent="0" marL="0">
                        <a:buNone/>
                      </a:pPr>
                      <a:r>
                        <a:rPr lang="en-US" sz="850" b="1" dirty="0">
                          <a:solidFill>
                            <a:srgbClr val="0369A1"/>
                          </a:solidFill>
                          <a:latin typeface="Arial" pitchFamily="34" charset="0"/>
                          <a:ea typeface="Arial" pitchFamily="34" charset="-122"/>
                          <a:cs typeface="Arial" pitchFamily="34" charset="-120"/>
                        </a:rPr>
                        <a:t>Hari 1–10</a:t>
                      </a:r>
                      <a:endParaRPr lang="en-US" sz="85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Penyusunan Draf Instruksi Walikota e-Katalog</a:t>
                      </a:r>
                      <a:endParaRPr lang="en-US" sz="85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850" dirty="0">
                          <a:solidFill>
                            <a:srgbClr val="334155"/>
                          </a:solidFill>
                          <a:latin typeface="Arial" pitchFamily="34" charset="0"/>
                          <a:ea typeface="Arial" pitchFamily="34" charset="-122"/>
                          <a:cs typeface="Arial" pitchFamily="34" charset="-120"/>
                        </a:rPr>
                        <a:t>Draf Inkwal Afirmatif siap harmonisasi bersama Bagian Hukum Setda &amp; BPKAD.</a:t>
                      </a:r>
                      <a:endParaRPr lang="en-US" sz="85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r h="256032">
                <a:tc>
                  <a:txBody>
                    <a:bodyPr/>
                    <a:lstStyle/>
                    <a:p>
                      <a:pPr algn="ctr" indent="0" marL="0">
                        <a:buNone/>
                      </a:pPr>
                      <a:r>
                        <a:rPr lang="en-US" sz="850" b="1" dirty="0">
                          <a:solidFill>
                            <a:srgbClr val="D97706"/>
                          </a:solidFill>
                          <a:latin typeface="Arial" pitchFamily="34" charset="0"/>
                          <a:ea typeface="Arial" pitchFamily="34" charset="-122"/>
                          <a:cs typeface="Arial" pitchFamily="34" charset="-120"/>
                        </a:rPr>
                        <a:t>Hari 11–30</a:t>
                      </a:r>
                      <a:endParaRPr lang="en-US" sz="85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850" b="1" dirty="0">
                          <a:solidFill>
                            <a:srgbClr val="D97706"/>
                          </a:solidFill>
                          <a:latin typeface="Arial" pitchFamily="34" charset="0"/>
                          <a:ea typeface="Arial" pitchFamily="34" charset="-122"/>
                          <a:cs typeface="Arial" pitchFamily="34" charset="-120"/>
                        </a:rPr>
                        <a:t>Harmonisasi &amp; Penerbitan Instruksi Walikota</a:t>
                      </a:r>
                      <a:endParaRPr lang="en-US" sz="85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850" b="1" dirty="0">
                          <a:solidFill>
                            <a:srgbClr val="0F172A"/>
                          </a:solidFill>
                          <a:latin typeface="Arial" pitchFamily="34" charset="0"/>
                          <a:ea typeface="Arial" pitchFamily="34" charset="-122"/>
                          <a:cs typeface="Arial" pitchFamily="34" charset="-120"/>
                        </a:rPr>
                        <a:t>Inkwal ditandatangani Walikota; Sosialisasi ke seluruh OPD prioritas Pemkot.</a:t>
                      </a:r>
                      <a:endParaRPr lang="en-US" sz="85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r h="256032">
                <a:tc>
                  <a:txBody>
                    <a:bodyPr/>
                    <a:lstStyle/>
                    <a:p>
                      <a:pPr algn="ctr" indent="0" marL="0">
                        <a:buNone/>
                      </a:pPr>
                      <a:r>
                        <a:rPr lang="en-US" sz="850" b="1" dirty="0">
                          <a:solidFill>
                            <a:srgbClr val="0369A1"/>
                          </a:solidFill>
                          <a:latin typeface="Arial" pitchFamily="34" charset="0"/>
                          <a:ea typeface="Arial" pitchFamily="34" charset="-122"/>
                          <a:cs typeface="Arial" pitchFamily="34" charset="-120"/>
                        </a:rPr>
                        <a:t>Hari 31–50</a:t>
                      </a:r>
                      <a:endParaRPr lang="en-US" sz="85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Kurasi &amp; Seleksi 5 Produk Inovasi Unggulan</a:t>
                      </a:r>
                      <a:endParaRPr lang="en-US" sz="85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850" dirty="0">
                          <a:solidFill>
                            <a:srgbClr val="334155"/>
                          </a:solidFill>
                          <a:latin typeface="Arial" pitchFamily="34" charset="0"/>
                          <a:ea typeface="Arial" pitchFamily="34" charset="-122"/>
                          <a:cs typeface="Arial" pitchFamily="34" charset="-120"/>
                        </a:rPr>
                        <a:t>Katalog 5 Produk Unggulan Hilirisasi STP (Smart Agri IoT, Alkes, Mesin Sortasi).</a:t>
                      </a:r>
                      <a:endParaRPr lang="en-US" sz="85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r h="256032">
                <a:tc>
                  <a:txBody>
                    <a:bodyPr/>
                    <a:lstStyle/>
                    <a:p>
                      <a:pPr algn="ctr" indent="0" marL="0">
                        <a:buNone/>
                      </a:pPr>
                      <a:r>
                        <a:rPr lang="en-US" sz="850" b="1" dirty="0">
                          <a:solidFill>
                            <a:srgbClr val="0369A1"/>
                          </a:solidFill>
                          <a:latin typeface="Arial" pitchFamily="34" charset="0"/>
                          <a:ea typeface="Arial" pitchFamily="34" charset="-122"/>
                          <a:cs typeface="Arial" pitchFamily="34" charset="-120"/>
                        </a:rPr>
                        <a:t>Hari 51–60</a:t>
                      </a:r>
                      <a:endParaRPr lang="en-US" sz="85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Showcase Inovasi di Depan Walikota &amp; OPD</a:t>
                      </a:r>
                      <a:endParaRPr lang="en-US" sz="85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850" dirty="0">
                          <a:solidFill>
                            <a:srgbClr val="334155"/>
                          </a:solidFill>
                          <a:latin typeface="Arial" pitchFamily="34" charset="0"/>
                          <a:ea typeface="Arial" pitchFamily="34" charset="-122"/>
                          <a:cs typeface="Arial" pitchFamily="34" charset="-120"/>
                        </a:rPr>
                        <a:t>Demonstrasi produk di hadapan Walikota &amp; media; komitmen serapan perdana OPD.</a:t>
                      </a:r>
                      <a:endParaRPr lang="en-US" sz="85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r h="256032">
                <a:tc>
                  <a:txBody>
                    <a:bodyPr/>
                    <a:lstStyle/>
                    <a:p>
                      <a:pPr algn="ctr" indent="0" marL="0">
                        <a:buNone/>
                      </a:pPr>
                      <a:r>
                        <a:rPr lang="en-US" sz="850" b="1" dirty="0">
                          <a:solidFill>
                            <a:srgbClr val="0369A1"/>
                          </a:solidFill>
                          <a:latin typeface="Arial" pitchFamily="34" charset="0"/>
                          <a:ea typeface="Arial" pitchFamily="34" charset="-122"/>
                          <a:cs typeface="Arial" pitchFamily="34" charset="-120"/>
                        </a:rPr>
                        <a:t>Hari 61–80</a:t>
                      </a:r>
                      <a:endParaRPr lang="en-US" sz="85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850" dirty="0">
                          <a:solidFill>
                            <a:srgbClr val="0F172A"/>
                          </a:solidFill>
                          <a:latin typeface="Arial" pitchFamily="34" charset="0"/>
                          <a:ea typeface="Arial" pitchFamily="34" charset="-122"/>
                          <a:cs typeface="Arial" pitchFamily="34" charset="-120"/>
                        </a:rPr>
                        <a:t>Inisiasi Konsorsium Riset 5 Perguruan Tinggi</a:t>
                      </a:r>
                      <a:endParaRPr lang="en-US" sz="85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850" dirty="0">
                          <a:solidFill>
                            <a:srgbClr val="334155"/>
                          </a:solidFill>
                          <a:latin typeface="Arial" pitchFamily="34" charset="0"/>
                          <a:ea typeface="Arial" pitchFamily="34" charset="-122"/>
                          <a:cs typeface="Arial" pitchFamily="34" charset="-120"/>
                        </a:rPr>
                        <a:t>MoU Pra-Konsorsium bersama Rektor UNS, UMS, ISI, Poltek Solo Raya.</a:t>
                      </a:r>
                      <a:endParaRPr lang="en-US" sz="85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r h="256032">
                <a:tc>
                  <a:txBody>
                    <a:bodyPr/>
                    <a:lstStyle/>
                    <a:p>
                      <a:pPr algn="ctr" indent="0" marL="0">
                        <a:buNone/>
                      </a:pPr>
                      <a:r>
                        <a:rPr lang="en-US" sz="850" b="1" dirty="0">
                          <a:solidFill>
                            <a:srgbClr val="059669"/>
                          </a:solidFill>
                          <a:latin typeface="Arial" pitchFamily="34" charset="0"/>
                          <a:ea typeface="Arial" pitchFamily="34" charset="-122"/>
                          <a:cs typeface="Arial" pitchFamily="34" charset="-120"/>
                        </a:rPr>
                        <a:t>Hari 81–100</a:t>
                      </a:r>
                      <a:endParaRPr lang="en-US" sz="85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850" b="1" dirty="0">
                          <a:solidFill>
                            <a:srgbClr val="0F172A"/>
                          </a:solidFill>
                          <a:latin typeface="Arial" pitchFamily="34" charset="0"/>
                          <a:ea typeface="Arial" pitchFamily="34" charset="-122"/>
                          <a:cs typeface="Arial" pitchFamily="34" charset="-120"/>
                        </a:rPr>
                        <a:t>Launching Resmi Konsorsium &amp; Hilirisasi Inovasi</a:t>
                      </a:r>
                      <a:endParaRPr lang="en-US" sz="85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850" b="1" dirty="0">
                          <a:solidFill>
                            <a:srgbClr val="059669"/>
                          </a:solidFill>
                          <a:latin typeface="Arial" pitchFamily="34" charset="0"/>
                          <a:ea typeface="Arial" pitchFamily="34" charset="-122"/>
                          <a:cs typeface="Arial" pitchFamily="34" charset="-120"/>
                        </a:rPr>
                        <a:t>Penandatanganan MoU Riset Terapan bersama Kadin/Apindo di STP; kick-off hilirisasi.</a:t>
                      </a:r>
                      <a:endParaRPr lang="en-US" sz="850" dirty="0">
                        <a:latin typeface="Arial" charset="0"/>
                        <a:ea typeface="Arial" charset="0"/>
                        <a:cs typeface="Arial"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Pemerintah Kota Surakarta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Solo Technopark: Dari Kawasan Sains &amp; Teknologi Menuju Mesin Impact Daerah (V7 - Sovereign Boardroom Light Edition)</dc:title>
  <dc:subject>Bahan Paparan Resmi Walikota Surakarta 2026–2030 (Edisi Eksekutif V7 - Sovereign Light Edition)</dc:subject>
  <dc:creator>UPTD KST Solo Technopark &amp; BRIDA Kota Surakarta</dc:creator>
  <cp:lastModifiedBy>UPTD KST Solo Technopark &amp; BRIDA Kota Surakarta</cp:lastModifiedBy>
  <cp:revision>1</cp:revision>
  <dcterms:created xsi:type="dcterms:W3CDTF">2026-09-11T05:00:59Z</dcterms:created>
  <dcterms:modified xsi:type="dcterms:W3CDTF">2026-09-11T05:00:59Z</dcterms:modified>
</cp:coreProperties>
</file>