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GAWE\Paparan Roadmap STP\materi_paparan\assets\slide_01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914400" y="822960"/>
            <a:ext cx="3840480" cy="411480"/>
          </a:xfrm>
          <a:prstGeom prst="roundRect">
            <a:avLst>
              <a:gd name="adj" fmla="val 17778"/>
            </a:avLst>
          </a:prstGeom>
          <a:solidFill>
            <a:srgbClr val="0284C7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822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KOTA SURAKARTA &amp; BRIDA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14400" y="150876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 INOVATIF PENGEMBANGAN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 2026–2030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14400" y="33375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Pengelolaan Kawasan Fisik Menuju Mesin Hilirisasi Riset &amp; Lokomotif Ekonomi Daerah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4480560"/>
            <a:ext cx="2450592" cy="1371600"/>
          </a:xfrm>
          <a:prstGeom prst="roundRect">
            <a:avLst>
              <a:gd name="adj" fmla="val 6667"/>
            </a:avLst>
          </a:prstGeom>
          <a:solidFill>
            <a:srgbClr val="0A192F">
              <a:alpha val="75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466344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KELEMBAGAAN BLUD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51560" y="5120640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Unit BRIDA Surakarta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547872" y="4480560"/>
            <a:ext cx="2450592" cy="1371600"/>
          </a:xfrm>
          <a:prstGeom prst="roundRect">
            <a:avLst>
              <a:gd name="adj" fmla="val 6667"/>
            </a:avLst>
          </a:prstGeom>
          <a:solidFill>
            <a:srgbClr val="0A192F">
              <a:alpha val="75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85032" y="466344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HILIRISASI RISET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85032" y="5120640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Jembatan Invensi Menuju Pasar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81344" y="4480560"/>
            <a:ext cx="2450592" cy="1371600"/>
          </a:xfrm>
          <a:prstGeom prst="roundRect">
            <a:avLst>
              <a:gd name="adj" fmla="val 6667"/>
            </a:avLst>
          </a:prstGeom>
          <a:solidFill>
            <a:srgbClr val="0A192F">
              <a:alpha val="75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18504" y="466344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TARGET Rp 23,4 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18504" y="5120640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Lompatan Pendapatan 300% (2030)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814816" y="4480560"/>
            <a:ext cx="2450592" cy="1371600"/>
          </a:xfrm>
          <a:prstGeom prst="roundRect">
            <a:avLst>
              <a:gd name="adj" fmla="val 6667"/>
            </a:avLst>
          </a:prstGeom>
          <a:solidFill>
            <a:srgbClr val="0A192F">
              <a:alpha val="75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951976" y="466344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95+ MITRA GLOBAL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951976" y="5120640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Ekosistem AI, Cyber, 5G Terpasang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KELOLA PEMERINTAHAN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Kedudukan Kelembagaan &amp; Harmonisasi Peran BRIDA–STP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 2026–2030 | Bahan Paparan Walikota Surakarta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0" y="6355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/ 10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383280" cy="402336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17320"/>
            <a:ext cx="3017520" cy="320040"/>
          </a:xfrm>
          <a:prstGeom prst="roundRect">
            <a:avLst>
              <a:gd name="adj" fmla="val 17143"/>
            </a:avLst>
          </a:prstGeom>
          <a:solidFill>
            <a:srgbClr val="1E3A8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&amp; REGULATOR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BRIDA KOTA SURAKARTA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3317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Perumusan kebijakan riset &amp; inovasi daerah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Penyusunan kajian strategis ekonomi kota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Koordinasi lintas OPD &amp; perguruan tinggi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Monitoring, evaluasi &amp; akuntabilitas program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1234440"/>
            <a:ext cx="3383280" cy="402336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417320"/>
            <a:ext cx="3017520" cy="320040"/>
          </a:xfrm>
          <a:prstGeom prst="roundRect">
            <a:avLst>
              <a:gd name="adj" fmla="val 17143"/>
            </a:avLst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417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UNIT PELAKSANA (BLUD)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0" y="1828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23317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Eksekusi teknis operasional hilirisasi riset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Fasilitasi inkubasi bisnis &amp; pendampingan startup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Penyelenggaraan diklat vokasi industri spesifik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Penerapan praktik bisnis sehat &amp; fleksibilitas BLUD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1234440"/>
            <a:ext cx="3383280" cy="402336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417320"/>
            <a:ext cx="3017520" cy="320040"/>
          </a:xfrm>
          <a:prstGeom prst="roundRect">
            <a:avLst>
              <a:gd name="adj" fmla="val 17143"/>
            </a:avLst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1417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BENEFICIARIES &amp; MITRA STRATEGIS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29600" y="1828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MASYARAKAT &amp; DUNIA USAHA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23317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Penyerapan tenaga kerja terampil pemuda Solo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produk dan omzet UMKM binaan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Investasi industri &amp; pemanfaatan fasilitas riset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Peningkatan PAD dan perputaran ekonomi daerah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5440680"/>
            <a:ext cx="10698480" cy="594360"/>
          </a:xfrm>
          <a:prstGeom prst="roundRect">
            <a:avLst>
              <a:gd name="adj" fmla="val 12308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44068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Landasan Regulasi: Perwali No. 15/2022 &amp; No. 38/2022 (Pola Tata Kelola BLUD STP) • Perpres No. 106/2017 (Kawasan Sains &amp; Teknologi) • Permendagri No. 79/2018 (Fleksibilitas BLUD)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PORTOFOLIO LAYANAN BLUD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Klaster Layanan Utama Sesuai Standar Nasional KST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 2026–2030 | Bahan Paparan Walikota Surakarta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0" y="6355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/ 10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34440"/>
            <a:ext cx="521208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280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LAYANAN TEKNIS — Technical Training &amp; Vocational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737360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Diklat Manufaktur Presisi &amp; CNC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Underwater Wet Welding (Las Bawah Air)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Otomasi Industri &amp; Mekatronika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Pelatihan Manajerial &amp; Desain Teknis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23444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234440"/>
            <a:ext cx="52120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280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PENGEMBANGAN TEKNOLOGI — Engineering &amp; Prototyping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46520" y="1737360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Jasa Pemesinan &amp; Precision Parts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Pembuatan Prototipe Produk UKM/IKM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Pengujian Standarisasi Produk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Bersama Mitra Industri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74720"/>
            <a:ext cx="521208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520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INKUBASI BISNIS &amp; TEKNOLOGI — Startup &amp; Commercialization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3977640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Pra-Inkubasi &amp; Seleksi Inovator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Pendampingan Legalitas &amp; HKI Paten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Fasilitasi Pendanaan &amp; Investor Matching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Fasilitas Co-Working &amp; Business Hub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34747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474720"/>
            <a:ext cx="52120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520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LAYANAN PENDUKUNG — Community &amp; Ecosystem Enabler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46520" y="3977640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Prakerin &amp; Uji Sertifikasi Kompetensi SMK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Pusat Peragaan IPTEK (Solo Science Center)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Penyewaan Gedung Pertemuan &amp; Exhibition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Penyelenggaraan Event Ekosistem Teknologi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"BLUD menggeser paradigma STP dari sekadar menyewakan aset fisik menjadi penyedia solusi teknologi yang responsif pasar."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RANTAI NILAI HILIRISASI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Hilirisasi Riset: Dari Laboratorium Menuju Pasar Komersial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 2026–2030 | Bahan Paparan Walikota Surakarta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0" y="6355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/ 10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99339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2588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Riset &amp; Inventor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Kampus (UNS, UMS) &amp; Inovator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07792" y="1234440"/>
            <a:ext cx="199339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9232" y="132588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99232" y="16916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Kurasi &amp; Seleksi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99232" y="205740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 Kelayakan Kebutuhan Pasar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84064" y="1234440"/>
            <a:ext cx="199339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5504" y="132588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75504" y="16916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Prototipe &amp; Uji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75504" y="205740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Rekayasa Presisi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60336" y="1234440"/>
            <a:ext cx="199339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51776" y="132588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51776" y="16916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Inkubasi Bisnis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51776" y="205740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Paten, Legalitas &amp; Business Plan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436608" y="1234440"/>
            <a:ext cx="1993392" cy="1554480"/>
          </a:xfrm>
          <a:prstGeom prst="roundRect">
            <a:avLst>
              <a:gd name="adj" fmla="val 4706"/>
            </a:avLst>
          </a:prstGeom>
          <a:solidFill>
            <a:srgbClr val="1E3A8A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28048" y="132588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528048" y="16916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 Komersial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528048" y="205740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e-Katalog LKPP &amp; Industri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1520" y="2971800"/>
            <a:ext cx="52120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108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CONTOH PRODUK TEKNOLOGI TERAPAN NYATA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347472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 Sortasi Kopi Otomatis berbasis Vision Sensor &amp; AI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Pertanian Cerdas (Smart Agriculture IoT)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 Penetas Telur Presisi untuk Kelompok Peternak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 Virtual Reality (VR) Pelatihan Vokasi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Kendaraan Listrik Otonom (Autonomous Vehicle Prototyping)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2971800"/>
            <a:ext cx="52120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108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TARGET OUTPUT HILIRISASI KE PASAR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347472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Prototipe TRL 7-9 yang siap diproduksi massal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Pendaftaran Hak Cipta, Merek, dan Paten (HKI)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Kelahiran Perusahaan Pemula Berbasis Teknologi (Spin-off)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Penyerapan Produk Inovasi Lokal dalam e-Katalog LKPP Pemkot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Peningkatan Nilai Tambah Ekonomi &amp; Daya Saing Pengrajin/IKM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57150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Kredo: "STP adalah jembatan penghubung antara meja laboratorium kampus dan etalase pasar industri."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KEMITRAAN QUADRUPLEHELIX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Kekuatan Ekosistem: 95+ Mitra Korporasi Kelas Dunia di Solo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 2026–2030 | Bahan Paparan Walikota Surakarta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0" y="6355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/ 10</a:t>
            </a:r>
            <a:endParaRPr lang="en-US" sz="950" dirty="0"/>
          </a:p>
        </p:txBody>
      </p:sp>
      <p:pic>
        <p:nvPicPr>
          <p:cNvPr id="7" name="Image 0" descr="d:\Project\GAWE\Paparan Roadmap STP\materi_paparan\assets\slide_04_05_innovation_la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4937760" cy="4389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4892040"/>
            <a:ext cx="4937760" cy="731520"/>
          </a:xfrm>
          <a:prstGeom prst="rect">
            <a:avLst/>
          </a:prstGeom>
          <a:solidFill>
            <a:srgbClr val="0A192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9377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 INNOVATION LABS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• Robotics • 5G • Cyber Security • Gaming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130759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National Cyber Security Hub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80760" y="161848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Pusat riset dan talenta pertahanan siber nasional bersama BSSN &amp; industri.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0" y="210312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217627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Solo Gaming Hub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80760" y="248716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Inkubasi developer game lokal dan studio animasi berkelas ekspor.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43600" y="297180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304495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Experience Center &amp; 5G Lab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80760" y="335584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Fasilitas riset terapan kecerdasan buatan &amp; telko bersama Indosat &amp; Huawei.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943600" y="384048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391363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GoTo UMKM Center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080760" y="422452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Digitalisasi ribuan pedagang &amp; UMKM Solo ke platform e-commerce nasional.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943600" y="470916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0760" y="478231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Korporasi Multinasional Terpasang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080760" y="509320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Shopee, Garena, Mandiri, J&amp;T, Kemenperin 3-in-1, BP3MI, dsb.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"STP sukses menarik investasi fasilitas teknologi mutakhir tanpa membebani APBD Kota Surakarta."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KRITIS &amp; PERBAIKAN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Analysis: 5 Tantangan Utama &amp; Rencana Aksi Solutif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 2026–2030 | Bahan Paparan Walikota Surakarta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0" y="6355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/ 10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34440"/>
          <a:ext cx="10698480" cy="4206240"/>
        </p:xfrm>
        <a:graphic>
          <a:graphicData uri="http://schemas.openxmlformats.org/drawingml/2006/table">
            <a:tbl>
              <a:tblPr/>
              <a:tblGrid>
                <a:gridCol w="548640"/>
                <a:gridCol w="2468880"/>
                <a:gridCol w="3840480"/>
                <a:gridCol w="384048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Kesenjangan (GAP)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Identifikasi Akar Masalah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Solusi &amp; Arah Perbaikan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92F"/>
                          </a:solidFill>
                        </a:rPr>
                        <a:t>Varian Pelatihan Terbatas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Keterbatasan instruktur ahli &amp; peremajaan alat mesin canggih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Sharing-equipment dengan industri &amp; pembukaan modul AI / EV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92F"/>
                          </a:solidFill>
                        </a:rPr>
                        <a:t>R&amp;D Belum Maksimal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Riset kampus masih sebatas jurnal, belum membaca kebutuhan industri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Membentuk Clearing House riset berbasis tantangan riil industri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92F"/>
                          </a:solidFill>
                        </a:rPr>
                        <a:t>Investasi Lahan Terbatas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Lahan kosong belum dikemas spesifik untuk menarik investor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Penyusunan Masterplan Investasi &amp; skema KSO/BOT yang atraktif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92F"/>
                          </a:solidFill>
                        </a:rPr>
                        <a:t>Kemandirian Finansial Rendah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Hardware/sarana belum dikelola sebagai portofolio bisnis komersial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Standardisasi tarif layanan &amp; pembentukan Strategic Business Unit (SBU)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92F"/>
                          </a:solidFill>
                        </a:rPr>
                        <a:t>Promosi &amp; Jejaring Kurang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Jejaring mitra belum diikat dalam payung regulasi bisnis jangka panjang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Penguatan tim Corporate Partnership &amp; regulasi kontrak bisnis yang valid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57150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Kejujuran manajerial membaca gap adalah kunci akselerasi STP menuju kawasan sains mandiri dan berdaya saing tinggi.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KERJA STRATEGIS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Pengembangan Solo Technopark 2026–2030 (3 Fase)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 2026–2030 | Bahan Paparan Walikota Surakarta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0" y="6355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/ 10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34440"/>
            <a:ext cx="3383280" cy="7315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I (2026–2027)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KONSOLIDASI &amp; EKOSISTEM KERJA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214884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Peningkatan kualitas layanan diklat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Perluasan bidang vokasi masa depan (EV, AI)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Penguatan SDM instruktur &amp; sertifikasi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serapan kerja lokal &amp; luar negeri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Penyusunan regulasi kemitraan komersial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23444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234440"/>
            <a:ext cx="338328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II (2028–2029)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KOMERSIALISASI &amp; FORMASI SBU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17720" y="214884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Pembentukan Strategic Business Unit (SBU)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Kemandirian unit produksi rekayasa presisi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 corporate marketing terintegrasi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Peningkatan skala hilirisasi produk UMKM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Peningkatan kontribusi pendapatan BLUD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123444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1234440"/>
            <a:ext cx="3383280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III (2029–2030)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3816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POSITIONING &amp; HOLDING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75320" y="214884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Reposisi Indonesia Digital Technopark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Penyesuaian tata kelola Holding Company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Kemandirian finansial penuh (Self-Financing)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Ekspansi kemitraan rantai pasok global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sebagai rujukan technopark ASEAN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56235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Target Akhir 2030: "Centre of Innovation and Industrial Connectivity &amp; Entrepreneur Technopark with Self-Financing"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KEMANDIRIAN FINANSIAL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Re-Setting Target Pendapatan BLUD 2026–2030 (Lompatan 3x Lipat)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 2026–2030 | Bahan Paparan Walikota Surakarta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0" y="6355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/ 10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325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17373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Kerjasama Program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02996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OGSCI Migas, Kemenperin 3-in-1, BP3MI, Pemda e-Katalog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56432" y="12344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1325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93592" y="17373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Pelatihan &amp; Sertifikasi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93592" y="202996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Diklat Mandiri, Las Underwater, Desain &amp; AI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81344" y="12344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1325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18504" y="17373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Sewa Fasilitas &amp; Kawasan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18504" y="202996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Co-Working, Virtual Office, Gedung Pameran &amp; Event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906256" y="12344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43416" y="1325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043416" y="17373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Produksi Komersial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043416" y="202996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Rekayasa Manufaktur, Sparepart &amp; Prototipe IKM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651760"/>
          <a:ext cx="10698480" cy="2834640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  <a:gridCol w="1828800"/>
                <a:gridCol w="4754880"/>
              </a:tblGrid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Tahun Anggaran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Target Pendapatan BLUD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Pertumbuhan Tahunan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Fokus Kontributor Pendapatan Kunci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4C7"/>
                          </a:solidFill>
                        </a:rPr>
                        <a:t>Rp 7.503.392.698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Baseline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Optimalisasi kemitraan industri &amp; diklat mandiri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2027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4C7"/>
                          </a:solidFill>
                        </a:rPr>
                        <a:t>Rp 12.532.185.031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+67.0%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Ekspansi Program OGSCI &amp; Pelatihan Vokasi Kemenperin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2028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4C7"/>
                          </a:solidFill>
                        </a:rPr>
                        <a:t>Rp 16.100.658.831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+28.5%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Peluncuran SBU Manufaktur &amp; Jasa Pengujian Industri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2029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4C7"/>
                          </a:solidFill>
                        </a:rPr>
                        <a:t>Rp 20.615.658.831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+28.0%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Sertifikasi JFT &amp; optimalisasi tenant komersial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2030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</a:rPr>
                        <a:t>Rp 23.468.158.831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+13.8%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Kemandirian Finansial Penuh (Holding Unit Bisnis)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731520" y="57150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Pertumbuhan Pendapatan &gt; 212% dalam 5 tahun: Menuju kemandirian penuh tanpa beban subsidi operasional APBD.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MULTIPLIER EFFECT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Nyata bagi Masyarakat &amp; Pertumbuhan Ekonomi Kota Surakarta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 2026–2030 | Bahan Paparan Walikota Surakarta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0" y="6355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/ 10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34440"/>
            <a:ext cx="3383280" cy="38404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28930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👨‍🏭 SDM &amp; Lapangan Kerja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Lulusan diklat vokasi langsung terserap kerja di industri mitra dengan keahlian bersertifikat (welding, digital, mesin presisi).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389120" y="123444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234440"/>
            <a:ext cx="3383280" cy="38404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28930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UMKM &amp; Startup Naik Kelas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7373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Inkubasi bisnis membantu pelaku usaha lokal mendapatkan akses teknologi, legalitas HKI, sertifikasi mutu, dan perluasan pasar.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046720" y="123444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234440"/>
            <a:ext cx="3383280" cy="38404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28930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Inovasi Kampus ke Pasar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17373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Menghubungkan potensi riset dosen dan mahasiswa UNS, UMS, dsb. agar menghasilkan produk nyata yang laku terjual.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731520" y="34290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429000"/>
            <a:ext cx="3383280" cy="38404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48386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Akses Fasilitas Teknologi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93192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Masyarakat, pelajar SMK, dan komunitas dapat memanfaatkan laboratorium modern (AI, 5G, Cyber, Gaming) tanpa biaya mahal.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4389120" y="34290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3429000"/>
            <a:ext cx="3383280" cy="38404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5" name="Text 23"/>
          <p:cNvSpPr/>
          <p:nvPr/>
        </p:nvSpPr>
        <p:spPr>
          <a:xfrm>
            <a:off x="4526280" y="348386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🏙️ Peningkatan PAD &amp; Investasi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393192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Aktivitas bisnis di STP memicu perputaran ekonomi lokal, menyerap belanja korporasi, dan mendongkrak penerimaan pajak daerah.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8046720" y="34290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3429000"/>
            <a:ext cx="3383280" cy="38404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9" name="Text 27"/>
          <p:cNvSpPr/>
          <p:nvPr/>
        </p:nvSpPr>
        <p:spPr>
          <a:xfrm>
            <a:off x="8183880" y="348386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Reputasi Kota Inovasi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0" y="393192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Mengukuhkan posisi Kota Surakarta bukan hanya sebagai kota budaya, tetapi juga episentrum inovasi digital dan teknologi nasional.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Ukuran Keberhasilan STP: Peserta Terserap Kerja • Tenant Tumbuh • Produk Masuk Pasar • Pajak &amp; Retribusi Naik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STRATEGIS BERSAMA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Dukungan Kebijakan Walikota &amp; Rencana Aksi Konkret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 2026–2030 | Bahan Paparan Walikota Surakarta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241280" y="6355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/ 10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554480"/>
            <a:ext cx="594360" cy="59436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37360" y="13716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Regulasi Prioritas Produk Inovasi (Perwali / Surat Edaran)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37360" y="17373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Mendorong seluruh Organisasi Perangkat Daerah (OPD) dan BUMD Kota Surakarta memprioritaskan penyerapan produk inovasi teknologi binaan STP lewat e-Katalog Lokal.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60604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2926080"/>
            <a:ext cx="594360" cy="59436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27432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Payung Hukum Pemanfaatan Lahan Investasi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31089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Dukungan penetapan regulasi kerja sama aset kawasan (KSO/BOT) untuk menarik investor teknologi skala besar mendirikan Tech-Office dan fasilitas riset.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4297680"/>
            <a:ext cx="594360" cy="59436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297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37360" y="41148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 Orkestrasi Ekosistem Hexahelix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37360" y="44805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Arahan pimpinan daerah untuk menyatukan agenda riset terapan kampus dan politeknik di Solo Raya agar berpusat dan berhilir di Solo Technopark.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5486400"/>
            <a:ext cx="10698480" cy="685800"/>
          </a:xfrm>
          <a:prstGeom prst="roundRect">
            <a:avLst>
              <a:gd name="adj" fmla="val 10667"/>
            </a:avLst>
          </a:prstGeom>
          <a:solidFill>
            <a:srgbClr val="0A192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48640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Walikota Surakarta, Solo Technopark Siap Menjadi Lokomotif Kemandirian Inovasi Indonesia 🇮🇩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Pemerintah Kota Surakarta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Roadmap Solo Technopark 2026-2030</dc:title>
  <dc:subject>PptxGenJS Presentation</dc:subject>
  <dc:creator>Solo Technopark &amp; BRIDA Surakarta</dc:creator>
  <cp:lastModifiedBy>Solo Technopark &amp; BRIDA Surakarta</cp:lastModifiedBy>
  <cp:revision>1</cp:revision>
  <dcterms:created xsi:type="dcterms:W3CDTF">2026-09-11T01:43:28Z</dcterms:created>
  <dcterms:modified xsi:type="dcterms:W3CDTF">2026-09-11T01:43:28Z</dcterms:modified>
</cp:coreProperties>
</file>