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Target Pendapatan BLUD (Miliar Rp)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.00 &quot;M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2026 (Baseline)</c:v>
                  </c:pt>
                  <c:pt idx="1">
                    <c:v>2027 (Konsolidasi)</c:v>
                  </c:pt>
                  <c:pt idx="2">
                    <c:v>2028 (Akselerasi)</c:v>
                  </c:pt>
                  <c:pt idx="3">
                    <c:v>2029 (BEP Mandiri)</c:v>
                  </c:pt>
                  <c:pt idx="4">
                    <c:v>2030 (Surplus Penuh)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8.2</c:v>
                </c:pt>
                <c:pt idx="1">
                  <c:v>12.85</c:v>
                </c:pt>
                <c:pt idx="2">
                  <c:v>15.6</c:v>
                </c:pt>
                <c:pt idx="3">
                  <c:v>18.5</c:v>
                </c:pt>
                <c:pt idx="4">
                  <c:v>23.47</c:v>
                </c:pt>
              </c:numCache>
            </c:numRef>
          </c:val>
        </c:ser>
        <c:dLbls>
          <c:numFmt formatCode="#,##0.00 &quot;M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"/>
          <c:min val="0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Proporsi Pendapatan 2030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3A8A"/>
              </a:solidFill>
              <a:effectLst/>
            </c:spPr>
          </c:dPt>
          <c:dPt>
            <c:idx val="1"/>
            <c:bubble3D val="0"/>
            <c:spPr>
              <a:solidFill>
                <a:srgbClr val="1E40AF"/>
              </a:solidFill>
              <a:effectLst/>
            </c:spPr>
          </c:dPt>
          <c:dPt>
            <c:idx val="2"/>
            <c:bubble3D val="0"/>
            <c:spPr>
              <a:solidFill>
                <a:srgbClr val="0284C7"/>
              </a:solidFill>
              <a:effectLst/>
            </c:spPr>
          </c:dPt>
          <c:dPt>
            <c:idx val="3"/>
            <c:bubble3D val="0"/>
            <c:spPr>
              <a:solidFill>
                <a:srgbClr val="D97706"/>
              </a:solidFill>
              <a:effectLst/>
            </c:spPr>
          </c:dPt>
          <c:dPt>
            <c:idx val="4"/>
            <c:bubble3D val="0"/>
            <c:spPr>
              <a:solidFill>
                <a:srgbClr val="7C3AED"/>
              </a:solidFill>
              <a:effectLst/>
            </c:spPr>
          </c:dPt>
          <c:dPt>
            <c:idx val="5"/>
            <c:bubble3D val="0"/>
            <c:spPr>
              <a:solidFill>
                <a:srgbClr val="059669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Klaster A: Kerjasama Lahan (54,6%)</c:v>
                </c:pt>
                <c:pt idx="1">
                  <c:v>Klaster B: Diklat Vokasi (16,7%)</c:v>
                </c:pt>
                <c:pt idx="2">
                  <c:v>Klaster C: Fabrikasi &amp; Lab (10,4%)</c:v>
                </c:pt>
                <c:pt idx="3">
                  <c:v>Klaster D: Inkubasi Startup (7,5%)</c:v>
                </c:pt>
                <c:pt idx="4">
                  <c:v>Klaster E: Riset Industri (6,0%)</c:v>
                </c:pt>
                <c:pt idx="5">
                  <c:v>Klaster F: MICE &amp; Wisata Tekno (4,8%)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54.6</c:v>
                </c:pt>
                <c:pt idx="1">
                  <c:v>16.7</c:v>
                </c:pt>
                <c:pt idx="2">
                  <c:v>10.4</c:v>
                </c:pt>
                <c:pt idx="3">
                  <c:v>7.5</c:v>
                </c:pt>
                <c:pt idx="4">
                  <c:v>6</c:v>
                </c:pt>
                <c:pt idx="5">
                  <c:v>4.8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33415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image" Target="../media/image-1-7.png"/><Relationship Id="rId8" Type="http://schemas.openxmlformats.org/officeDocument/2006/relationships/image" Target="../media/image-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image" Target="../media/image-4-13.png"/><Relationship Id="rId14" Type="http://schemas.openxmlformats.org/officeDocument/2006/relationships/image" Target="../media/image-4-14.svg"/><Relationship Id="rId15" Type="http://schemas.openxmlformats.org/officeDocument/2006/relationships/image" Target="../media/image-4-15.png"/><Relationship Id="rId16" Type="http://schemas.openxmlformats.org/officeDocument/2006/relationships/image" Target="../media/image-4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image" Target="../media/image-16-7.png"/><Relationship Id="rId8" Type="http://schemas.openxmlformats.org/officeDocument/2006/relationships/image" Target="../media/image-16-8.svg"/><Relationship Id="rId9" Type="http://schemas.openxmlformats.org/officeDocument/2006/relationships/image" Target="../media/image-16-9.png"/><Relationship Id="rId10" Type="http://schemas.openxmlformats.org/officeDocument/2006/relationships/image" Target="../media/image-16-10.sv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594360"/>
            <a:ext cx="4937760" cy="32918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640080"/>
            <a:ext cx="4754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STRATEGIS PEMERINTAH KOTA SURAKARTA 2026–2030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731520" y="1051560"/>
            <a:ext cx="10515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TRANSFORMASI SOLO TECHNOPARK:</a:t>
            </a:r>
            <a:endParaRPr lang="en-US" sz="3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KEMANDIRIAN FISKAL &amp; PUSAT INOVASI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Rencana Strategis UPTD KST Solo Technopark Menuju Kemandirian Penuh BLUD 2029 Tanpa Subsidi APBD,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Hilirisasi Riset Terapan Konsorsium Perguruan Tinggi, dan Penciptaan Multiplier Effect Bagi Warga Surakarta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3337560"/>
            <a:ext cx="10728655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3566160"/>
            <a:ext cx="2542032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566160"/>
            <a:ext cx="2542032" cy="73152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749040"/>
            <a:ext cx="475488" cy="475488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87552" y="3822192"/>
            <a:ext cx="329184" cy="32918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914400" y="4206240"/>
            <a:ext cx="21762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23,47 M</a:t>
            </a:r>
            <a:endParaRPr lang="en-US" sz="2300" dirty="0"/>
          </a:p>
        </p:txBody>
      </p:sp>
      <p:sp>
        <p:nvSpPr>
          <p:cNvPr id="13" name="Text 10"/>
          <p:cNvSpPr/>
          <p:nvPr/>
        </p:nvSpPr>
        <p:spPr>
          <a:xfrm>
            <a:off x="914400" y="4645152"/>
            <a:ext cx="21762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PENDAPATAN 2030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914400" y="4919472"/>
            <a:ext cx="21762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Lompatan +212,8% dari baseline 2026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914400" y="5413248"/>
            <a:ext cx="2176272" cy="256032"/>
          </a:xfrm>
          <a:prstGeom prst="rect">
            <a:avLst/>
          </a:prstGeom>
          <a:solidFill>
            <a:srgbClr val="EFF6FF"/>
          </a:solidFill>
          <a:ln w="9525">
            <a:solidFill>
              <a:srgbClr val="1E3A8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5431536"/>
            <a:ext cx="21762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MANDIRI PENUH +212%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3456432" y="3566160"/>
            <a:ext cx="2542032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456432" y="3566160"/>
            <a:ext cx="2542032" cy="731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639312" y="3749040"/>
            <a:ext cx="475488" cy="475488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2464" y="3822192"/>
            <a:ext cx="329184" cy="32918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639312" y="4206240"/>
            <a:ext cx="21762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</a:t>
            </a:r>
            <a:endParaRPr lang="en-US" sz="2300" dirty="0"/>
          </a:p>
        </p:txBody>
      </p:sp>
      <p:sp>
        <p:nvSpPr>
          <p:cNvPr id="22" name="Text 18"/>
          <p:cNvSpPr/>
          <p:nvPr/>
        </p:nvSpPr>
        <p:spPr>
          <a:xfrm>
            <a:off x="3639312" y="4645152"/>
            <a:ext cx="21762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BREAK-EVEN POINT (BEP)</a:t>
            </a:r>
            <a:endParaRPr lang="en-US" sz="850" dirty="0"/>
          </a:p>
        </p:txBody>
      </p:sp>
      <p:sp>
        <p:nvSpPr>
          <p:cNvPr id="23" name="Text 19"/>
          <p:cNvSpPr/>
          <p:nvPr/>
        </p:nvSpPr>
        <p:spPr>
          <a:xfrm>
            <a:off x="3639312" y="4919472"/>
            <a:ext cx="21762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Mandiri operasional non-APBD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3639312" y="5413248"/>
            <a:ext cx="2176272" cy="256032"/>
          </a:xfrm>
          <a:prstGeom prst="rect">
            <a:avLst/>
          </a:prstGeom>
          <a:solidFill>
            <a:srgbClr val="F0FDF4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3639312" y="5431536"/>
            <a:ext cx="21762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NOL SUBSIDI APBD</a:t>
            </a:r>
            <a:endParaRPr lang="en-US" sz="800" dirty="0"/>
          </a:p>
        </p:txBody>
      </p:sp>
      <p:sp>
        <p:nvSpPr>
          <p:cNvPr id="26" name="Shape 22"/>
          <p:cNvSpPr/>
          <p:nvPr/>
        </p:nvSpPr>
        <p:spPr>
          <a:xfrm>
            <a:off x="6181344" y="3566160"/>
            <a:ext cx="2542032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181344" y="3566160"/>
            <a:ext cx="2542032" cy="7315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364224" y="3749040"/>
            <a:ext cx="475488" cy="475488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37376" y="3822192"/>
            <a:ext cx="329184" cy="32918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364224" y="4206240"/>
            <a:ext cx="21762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95+ Mitra</a:t>
            </a:r>
            <a:endParaRPr lang="en-US" sz="2300" dirty="0"/>
          </a:p>
        </p:txBody>
      </p:sp>
      <p:sp>
        <p:nvSpPr>
          <p:cNvPr id="31" name="Text 26"/>
          <p:cNvSpPr/>
          <p:nvPr/>
        </p:nvSpPr>
        <p:spPr>
          <a:xfrm>
            <a:off x="6364224" y="4645152"/>
            <a:ext cx="21762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EKOSISTEM KEMITRAAN GLOBAL</a:t>
            </a:r>
            <a:endParaRPr lang="en-US" sz="850" dirty="0"/>
          </a:p>
        </p:txBody>
      </p:sp>
      <p:sp>
        <p:nvSpPr>
          <p:cNvPr id="32" name="Text 27"/>
          <p:cNvSpPr/>
          <p:nvPr/>
        </p:nvSpPr>
        <p:spPr>
          <a:xfrm>
            <a:off x="6364224" y="4919472"/>
            <a:ext cx="21762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Shopee, Garena, Indosat, ACER, 5 Kampus</a:t>
            </a:r>
            <a:endParaRPr lang="en-US" sz="950" dirty="0"/>
          </a:p>
        </p:txBody>
      </p:sp>
      <p:sp>
        <p:nvSpPr>
          <p:cNvPr id="33" name="Shape 28"/>
          <p:cNvSpPr/>
          <p:nvPr/>
        </p:nvSpPr>
        <p:spPr>
          <a:xfrm>
            <a:off x="6364224" y="5413248"/>
            <a:ext cx="2176272" cy="256032"/>
          </a:xfrm>
          <a:prstGeom prst="rect">
            <a:avLst/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6364224" y="5431536"/>
            <a:ext cx="21762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SKEMA HEXAHELIX</a:t>
            </a:r>
            <a:endParaRPr lang="en-US" sz="800" dirty="0"/>
          </a:p>
        </p:txBody>
      </p:sp>
      <p:sp>
        <p:nvSpPr>
          <p:cNvPr id="35" name="Shape 30"/>
          <p:cNvSpPr/>
          <p:nvPr/>
        </p:nvSpPr>
        <p:spPr>
          <a:xfrm>
            <a:off x="8906256" y="3566160"/>
            <a:ext cx="2542032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8906256" y="3566160"/>
            <a:ext cx="2542032" cy="731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9089136" y="3749040"/>
            <a:ext cx="475488" cy="475488"/>
          </a:xfrm>
          <a:prstGeom prst="rect">
            <a:avLst/>
          </a:prstGeom>
          <a:solidFill>
            <a:srgbClr val="FAF5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62288" y="3822192"/>
            <a:ext cx="329184" cy="329184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9089136" y="4206240"/>
            <a:ext cx="21762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18,5 M</a:t>
            </a:r>
            <a:endParaRPr lang="en-US" sz="2300" dirty="0"/>
          </a:p>
        </p:txBody>
      </p:sp>
      <p:sp>
        <p:nvSpPr>
          <p:cNvPr id="40" name="Text 34"/>
          <p:cNvSpPr/>
          <p:nvPr/>
        </p:nvSpPr>
        <p:spPr>
          <a:xfrm>
            <a:off x="9089136" y="4645152"/>
            <a:ext cx="21762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 EKONOMI DAERAH</a:t>
            </a:r>
            <a:endParaRPr lang="en-US" sz="850" dirty="0"/>
          </a:p>
        </p:txBody>
      </p:sp>
      <p:sp>
        <p:nvSpPr>
          <p:cNvPr id="41" name="Text 35"/>
          <p:cNvSpPr/>
          <p:nvPr/>
        </p:nvSpPr>
        <p:spPr>
          <a:xfrm>
            <a:off x="9089136" y="4919472"/>
            <a:ext cx="21762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Omzet tenant lokal &amp; 1.500 naker/thn</a:t>
            </a:r>
            <a:endParaRPr lang="en-US" sz="950" dirty="0"/>
          </a:p>
        </p:txBody>
      </p:sp>
      <p:sp>
        <p:nvSpPr>
          <p:cNvPr id="42" name="Shape 36"/>
          <p:cNvSpPr/>
          <p:nvPr/>
        </p:nvSpPr>
        <p:spPr>
          <a:xfrm>
            <a:off x="9089136" y="5413248"/>
            <a:ext cx="2176272" cy="256032"/>
          </a:xfrm>
          <a:prstGeom prst="rect">
            <a:avLst/>
          </a:prstGeom>
          <a:solidFill>
            <a:srgbClr val="FAF5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9089136" y="5431536"/>
            <a:ext cx="21762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1.500 NAKER / THN</a:t>
            </a:r>
            <a:endParaRPr lang="en-US" sz="800" dirty="0"/>
          </a:p>
        </p:txBody>
      </p:sp>
      <p:sp>
        <p:nvSpPr>
          <p:cNvPr id="44" name="Shape 38"/>
          <p:cNvSpPr/>
          <p:nvPr/>
        </p:nvSpPr>
        <p:spPr>
          <a:xfrm>
            <a:off x="731520" y="5943600"/>
            <a:ext cx="10728655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731520" y="5971032"/>
            <a:ext cx="107286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PENYAJI: Kepala UPTD STP &amp; BRIDA Kota Surakarta   •   AUDIENS: Walikota Surakarta   •   DOKUMEN: Paparan Eksekutif Master Plan 2026–2030</a:t>
            </a:r>
            <a:endParaRPr lang="en-US" sz="800" dirty="0"/>
          </a:p>
        </p:txBody>
      </p:sp>
      <p:sp>
        <p:nvSpPr>
          <p:cNvPr id="46" name="Shape 40"/>
          <p:cNvSpPr/>
          <p:nvPr/>
        </p:nvSpPr>
        <p:spPr>
          <a:xfrm>
            <a:off x="731520" y="63550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731520" y="6419088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PEMERINTAH KOTA SURAKARTA  •  BADAN RISET DAN INOVASI DAERAH (BRIDA)  •  ROADMAP 2026–2030</a:t>
            </a:r>
            <a:endParaRPr lang="en-US" sz="750" dirty="0"/>
          </a:p>
        </p:txBody>
      </p:sp>
      <p:sp>
        <p:nvSpPr>
          <p:cNvPr id="48" name="Text 42"/>
          <p:cNvSpPr/>
          <p:nvPr/>
        </p:nvSpPr>
        <p:spPr>
          <a:xfrm>
            <a:off x="7772400" y="6419088"/>
            <a:ext cx="368777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EDISI ZEN ENTERPRISE ULTRA (18 SLIDES)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9144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ARSITEKTUR TATA KELOLA PEMERINTAHAN // REGULASI KELEMBAGAAN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9601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KEDUDUKAN HUKUM UPTD KST SOLO TECHNOPARK DI BAWAH BRIDA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1024128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Landasan Struktural Berdasarkan Peraturan Walikota Surakarta No. 15 Tahun 2022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515600" y="43891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/  18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08760"/>
            <a:ext cx="3456432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508760"/>
            <a:ext cx="3456432" cy="73152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1664208"/>
            <a:ext cx="1554480" cy="219456"/>
          </a:xfrm>
          <a:prstGeom prst="rect">
            <a:avLst/>
          </a:prstGeom>
          <a:solidFill>
            <a:srgbClr val="EFF6FF"/>
          </a:solidFill>
          <a:ln w="9525">
            <a:solidFill>
              <a:srgbClr val="1E3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1682496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 DAERAH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960120" y="1965960"/>
            <a:ext cx="475488" cy="475488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3272" y="2039112"/>
            <a:ext cx="329184" cy="32918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17320" y="196596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BRIDA KOTA SURAKARTA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1417320" y="2212848"/>
            <a:ext cx="2606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INDUK KEBIJAKAN &amp; PENGARAH STRATEGIS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960120" y="2468880"/>
            <a:ext cx="29992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Lembaga teknis daerah yang memayungi arah riset, inovasi, dan hilirisasi teknologi sesuai visi Walikota.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960120" y="3035808"/>
            <a:ext cx="299923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60120" y="3182112"/>
            <a:ext cx="82296" cy="8229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115568" y="3127248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Fungsi Regulasi: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Menetapkan pedoman prioritas riset terapan pemecah masalah perkotaan.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960120" y="3767328"/>
            <a:ext cx="82296" cy="8229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115568" y="3712464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Pengarah Program: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Memastikan seluruh aset dan fasilitas STP selaras dengan RPJMD Surakarta.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60120" y="4352544"/>
            <a:ext cx="82296" cy="8229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115568" y="42976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Evaluasi Kinerja: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Menilai akuntabilitas ilmiah, dampak sosio-ekonomi, dan tata kelola inovasi.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960120" y="4937760"/>
            <a:ext cx="82296" cy="8229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115568" y="4882896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Dasar Hukum: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 No. 10/2021 &amp; Perwali Surakarta No. 14/2022 tentang Susunan Organisasi BRIDA.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370832" y="1508760"/>
            <a:ext cx="3456432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70832" y="1508760"/>
            <a:ext cx="3456432" cy="7315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599432" y="1664208"/>
            <a:ext cx="1554480" cy="219456"/>
          </a:xfrm>
          <a:prstGeom prst="rect">
            <a:avLst/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99432" y="1682496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 KAWASAN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4599432" y="1965960"/>
            <a:ext cx="475488" cy="475488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72584" y="2039112"/>
            <a:ext cx="329184" cy="329184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056632" y="196596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UPTD KST SOLO TECHNOPARK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056632" y="2212848"/>
            <a:ext cx="2606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 BISNIS &amp; TEKNOLOGI BLUD</a:t>
            </a:r>
            <a:endParaRPr lang="en-US" sz="800" dirty="0"/>
          </a:p>
        </p:txBody>
      </p:sp>
      <p:sp>
        <p:nvSpPr>
          <p:cNvPr id="33" name="Text 29"/>
          <p:cNvSpPr/>
          <p:nvPr/>
        </p:nvSpPr>
        <p:spPr>
          <a:xfrm>
            <a:off x="4599432" y="2468880"/>
            <a:ext cx="29992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Pelaksana Teknis Daerah yang mengoperasikan ekosistem inovasi, inkubasi, dan kemitraan industri.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599432" y="3035808"/>
            <a:ext cx="299923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99432" y="3182112"/>
            <a:ext cx="82296" cy="82296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4754880" y="3127248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BLUD: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Menerapkan Pola Pengelolaan Keuangan BLUD Penuh (Permendagri 79/2018).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4599432" y="3767328"/>
            <a:ext cx="82296" cy="82296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754880" y="3712464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Kawasan: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Mengelola 9 gedung tematik, 5 laboratorium canggih, dan 13 hektar kawasan STP.</a:t>
            </a:r>
            <a:endParaRPr lang="en-US" sz="1050" dirty="0"/>
          </a:p>
        </p:txBody>
      </p:sp>
      <p:sp>
        <p:nvSpPr>
          <p:cNvPr id="39" name="Shape 35"/>
          <p:cNvSpPr/>
          <p:nvPr/>
        </p:nvSpPr>
        <p:spPr>
          <a:xfrm>
            <a:off x="4599432" y="4352544"/>
            <a:ext cx="82296" cy="82296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4754880" y="42976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Kemitraan Industri: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Menjalin kontrak komersial business-to-business (B2B) secara lincah dan mandiri.</a:t>
            </a:r>
            <a:endParaRPr lang="en-US" sz="1050" dirty="0"/>
          </a:p>
        </p:txBody>
      </p:sp>
      <p:sp>
        <p:nvSpPr>
          <p:cNvPr id="41" name="Shape 37"/>
          <p:cNvSpPr/>
          <p:nvPr/>
        </p:nvSpPr>
        <p:spPr>
          <a:xfrm>
            <a:off x="4599432" y="4937760"/>
            <a:ext cx="82296" cy="82296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4754880" y="4882896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Akselerasi Startup: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Menginkubasi 20+ wirausaha baru berbasis teknologi setiap tahun.</a:t>
            </a:r>
            <a:endParaRPr lang="en-US" sz="1050" dirty="0"/>
          </a:p>
        </p:txBody>
      </p:sp>
      <p:sp>
        <p:nvSpPr>
          <p:cNvPr id="43" name="Shape 39"/>
          <p:cNvSpPr/>
          <p:nvPr/>
        </p:nvSpPr>
        <p:spPr>
          <a:xfrm>
            <a:off x="8010144" y="1508760"/>
            <a:ext cx="3456432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8010144" y="1508760"/>
            <a:ext cx="3456432" cy="731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8238744" y="1664208"/>
            <a:ext cx="1554480" cy="219456"/>
          </a:xfrm>
          <a:prstGeom prst="rect">
            <a:avLst/>
          </a:prstGeom>
          <a:solidFill>
            <a:srgbClr val="F0FDF4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8238744" y="1682496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SINERGI BLUD</a:t>
            </a:r>
            <a:endParaRPr lang="en-US" sz="800" dirty="0"/>
          </a:p>
        </p:txBody>
      </p:sp>
      <p:sp>
        <p:nvSpPr>
          <p:cNvPr id="47" name="Shape 43"/>
          <p:cNvSpPr/>
          <p:nvPr/>
        </p:nvSpPr>
        <p:spPr>
          <a:xfrm>
            <a:off x="8238744" y="1965960"/>
            <a:ext cx="475488" cy="475488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11896" y="2039112"/>
            <a:ext cx="329184" cy="329184"/>
          </a:xfrm>
          <a:prstGeom prst="rect">
            <a:avLst/>
          </a:prstGeom>
        </p:spPr>
      </p:pic>
      <p:sp>
        <p:nvSpPr>
          <p:cNvPr id="49" name="Text 44"/>
          <p:cNvSpPr/>
          <p:nvPr/>
        </p:nvSpPr>
        <p:spPr>
          <a:xfrm>
            <a:off x="8695944" y="196596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SINERGI TATA KELOLA BLUD</a:t>
            </a:r>
            <a:endParaRPr lang="en-US" sz="1250" dirty="0"/>
          </a:p>
        </p:txBody>
      </p:sp>
      <p:sp>
        <p:nvSpPr>
          <p:cNvPr id="50" name="Text 45"/>
          <p:cNvSpPr/>
          <p:nvPr/>
        </p:nvSpPr>
        <p:spPr>
          <a:xfrm>
            <a:off x="8695944" y="2212848"/>
            <a:ext cx="2606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KEUNGGULAN OPERASIONAL &amp; EFISIENSI</a:t>
            </a:r>
            <a:endParaRPr lang="en-US" sz="800" dirty="0"/>
          </a:p>
        </p:txBody>
      </p:sp>
      <p:sp>
        <p:nvSpPr>
          <p:cNvPr id="51" name="Text 46"/>
          <p:cNvSpPr/>
          <p:nvPr/>
        </p:nvSpPr>
        <p:spPr>
          <a:xfrm>
            <a:off x="8238744" y="2468880"/>
            <a:ext cx="29992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Harmonisasi kepatuhan birokrasi daerah dengan kecepatan eksekusi standar industri kelas dunia.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8238744" y="3035808"/>
            <a:ext cx="299923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3" name="Shape 48"/>
          <p:cNvSpPr/>
          <p:nvPr/>
        </p:nvSpPr>
        <p:spPr>
          <a:xfrm>
            <a:off x="8238744" y="3182112"/>
            <a:ext cx="82296" cy="8229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8394192" y="3127248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Rekrutmen Fleksibel: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Berhak merekrut tenaga profesional non-PNS dengan standar remunerasi pasar.</a:t>
            </a:r>
            <a:endParaRPr lang="en-US" sz="1050" dirty="0"/>
          </a:p>
        </p:txBody>
      </p:sp>
      <p:sp>
        <p:nvSpPr>
          <p:cNvPr id="55" name="Shape 50"/>
          <p:cNvSpPr/>
          <p:nvPr/>
        </p:nvSpPr>
        <p:spPr>
          <a:xfrm>
            <a:off x="8238744" y="3767328"/>
            <a:ext cx="82296" cy="8229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6" name="Text 51"/>
          <p:cNvSpPr/>
          <p:nvPr/>
        </p:nvSpPr>
        <p:spPr>
          <a:xfrm>
            <a:off x="8394192" y="3712464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Pengadaan Cepat: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Mekanisme pengadaan barang/jasa langsung tanpa birokrasi lelang APBD berbelit.</a:t>
            </a:r>
            <a:endParaRPr lang="en-US" sz="1050" dirty="0"/>
          </a:p>
        </p:txBody>
      </p:sp>
      <p:sp>
        <p:nvSpPr>
          <p:cNvPr id="57" name="Shape 52"/>
          <p:cNvSpPr/>
          <p:nvPr/>
        </p:nvSpPr>
        <p:spPr>
          <a:xfrm>
            <a:off x="8238744" y="4352544"/>
            <a:ext cx="82296" cy="8229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8394192" y="42976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Reinvestasi SiLPA: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Pendapatan jasa layanan dapat langsung digunakan kembali untuk belanja operasional.</a:t>
            </a:r>
            <a:endParaRPr lang="en-US" sz="1050" dirty="0"/>
          </a:p>
        </p:txBody>
      </p:sp>
      <p:sp>
        <p:nvSpPr>
          <p:cNvPr id="59" name="Shape 54"/>
          <p:cNvSpPr/>
          <p:nvPr/>
        </p:nvSpPr>
        <p:spPr>
          <a:xfrm>
            <a:off x="8238744" y="4937760"/>
            <a:ext cx="82296" cy="8229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0" name="Text 55"/>
          <p:cNvSpPr/>
          <p:nvPr/>
        </p:nvSpPr>
        <p:spPr>
          <a:xfrm>
            <a:off x="8394192" y="4882896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Akuntabilitas Ganda: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Diaudit rutin oleh Kantor Akuntan Publik (KAP) independen, Inspektorat, dan BPK.</a:t>
            </a:r>
            <a:endParaRPr lang="en-US" sz="1050" dirty="0"/>
          </a:p>
        </p:txBody>
      </p:sp>
      <p:sp>
        <p:nvSpPr>
          <p:cNvPr id="61" name="Shape 56"/>
          <p:cNvSpPr/>
          <p:nvPr/>
        </p:nvSpPr>
        <p:spPr>
          <a:xfrm>
            <a:off x="731520" y="5669280"/>
            <a:ext cx="10728655" cy="50292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914400" y="5724144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KOMITMEN TATA KELOLA: Kedudukan UPTD di bawah BRIDA menjamin keselarasan ilmiah dengan program prioritas Kota Surakarta, sementara status BLUD memberikan kelincahan komersial penuh untuk bermitra cepat dengan industri global.</a:t>
            </a:r>
            <a:endParaRPr lang="en-US" sz="1050" dirty="0"/>
          </a:p>
        </p:txBody>
      </p:sp>
      <p:sp>
        <p:nvSpPr>
          <p:cNvPr id="63" name="Shape 58"/>
          <p:cNvSpPr/>
          <p:nvPr/>
        </p:nvSpPr>
        <p:spPr>
          <a:xfrm>
            <a:off x="731520" y="63550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731520" y="6419088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PEMERINTAH KOTA SURAKARTA  •  BADAN RISET DAN INOVASI DAERAH (BRIDA)  •  ROADMAP 2026–2030</a:t>
            </a:r>
            <a:endParaRPr lang="en-US" sz="750" dirty="0"/>
          </a:p>
        </p:txBody>
      </p:sp>
      <p:sp>
        <p:nvSpPr>
          <p:cNvPr id="65" name="Text 60"/>
          <p:cNvSpPr/>
          <p:nvPr/>
        </p:nvSpPr>
        <p:spPr>
          <a:xfrm>
            <a:off x="7772400" y="6419088"/>
            <a:ext cx="368777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EDISI ZEN ENTERPRISE ULTRA (18 SLIDES)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9144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LOGIKA PENGEMBANGAN DAERAH // CHAIN OF IMPACT TRIPARTIT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9601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RANTAI DAMPAK SOLO TECHNOPARK UNTUK WARGA SURAKARTA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1024128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Menjembatani Hasil Riset Laboratorium Menjadi Nilai Ekonomi Riil dan Lapangan Kerja Daerah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515600" y="43891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/  18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08760"/>
            <a:ext cx="3456432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508760"/>
            <a:ext cx="3456432" cy="73152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1664208"/>
            <a:ext cx="2999232" cy="237744"/>
          </a:xfrm>
          <a:prstGeom prst="rect">
            <a:avLst/>
          </a:prstGeom>
          <a:solidFill>
            <a:srgbClr val="EFF6FF"/>
          </a:solidFill>
          <a:ln w="9525">
            <a:solidFill>
              <a:srgbClr val="1E3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1682496"/>
            <a:ext cx="29992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1 // DIRECT OUTPUT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960120" y="1993392"/>
            <a:ext cx="475488" cy="475488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3272" y="2066544"/>
            <a:ext cx="329184" cy="32918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17320" y="201168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LAYANAN LANGSUNG STP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60120" y="2423160"/>
            <a:ext cx="2999232" cy="384048"/>
          </a:xfrm>
          <a:prstGeom prst="rect">
            <a:avLst/>
          </a:prstGeom>
          <a:solidFill>
            <a:srgbClr val="EFF6FF"/>
          </a:solidFill>
          <a:ln w="9525">
            <a:solidFill>
              <a:srgbClr val="1E3A8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51560" y="2478024"/>
            <a:ext cx="2816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Fasilitas &amp; Layanan Riil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60120" y="3026664"/>
            <a:ext cx="82296" cy="8229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115568" y="29718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Pengoperasian 9 gedung, 5 lab canggih, dan 13 hektar kawasan.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60120" y="3529584"/>
            <a:ext cx="82296" cy="8229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15568" y="34747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1.500 talenta muda Surakarta dilatih &amp; disertifikasi industri per tahun.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960120" y="4032504"/>
            <a:ext cx="82296" cy="8229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115568" y="39776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startup teknologi baru diinkubasi &amp; difasilitasi akses pendanaan.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60120" y="4535424"/>
            <a:ext cx="82296" cy="8229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115568" y="44805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inovasi riset kampus diuji coba dan dibuatkan prototipe layak pasar.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960120" y="5038344"/>
            <a:ext cx="82296" cy="8229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15568" y="49834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Kolaborasi aktif dengan Shopee, Garena, Indosat, ACER, dan 5 Kampus.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4215384" y="320040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4370832" y="1508760"/>
            <a:ext cx="3456432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70832" y="1508760"/>
            <a:ext cx="3456432" cy="7315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99432" y="1664208"/>
            <a:ext cx="2999232" cy="237744"/>
          </a:xfrm>
          <a:prstGeom prst="rect">
            <a:avLst/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599432" y="1682496"/>
            <a:ext cx="29992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2 // INTERMEDIARY OUTCOME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4599432" y="1993392"/>
            <a:ext cx="475488" cy="475488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72584" y="2066544"/>
            <a:ext cx="329184" cy="329184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056632" y="201168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 EKOSISTEM &amp; INDUSTRI</a:t>
            </a:r>
            <a:endParaRPr lang="en-US" sz="1250" dirty="0"/>
          </a:p>
        </p:txBody>
      </p:sp>
      <p:sp>
        <p:nvSpPr>
          <p:cNvPr id="34" name="Shape 30"/>
          <p:cNvSpPr/>
          <p:nvPr/>
        </p:nvSpPr>
        <p:spPr>
          <a:xfrm>
            <a:off x="4599432" y="2423160"/>
            <a:ext cx="2999232" cy="384048"/>
          </a:xfrm>
          <a:prstGeom prst="rect">
            <a:avLst/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690872" y="2478024"/>
            <a:ext cx="2816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Serapan Kerja &amp; Investasi</a:t>
            </a:r>
            <a:endParaRPr lang="en-US" sz="1050" dirty="0"/>
          </a:p>
        </p:txBody>
      </p:sp>
      <p:sp>
        <p:nvSpPr>
          <p:cNvPr id="36" name="Shape 32"/>
          <p:cNvSpPr/>
          <p:nvPr/>
        </p:nvSpPr>
        <p:spPr>
          <a:xfrm>
            <a:off x="4599432" y="3026664"/>
            <a:ext cx="82296" cy="82296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4754880" y="29718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Tingkat serapan kerja lulusan vokasi mencapai 85%+ dalam 6 bulan.</a:t>
            </a:r>
            <a:endParaRPr lang="en-US" sz="1050" dirty="0"/>
          </a:p>
        </p:txBody>
      </p:sp>
      <p:sp>
        <p:nvSpPr>
          <p:cNvPr id="38" name="Shape 34"/>
          <p:cNvSpPr/>
          <p:nvPr/>
        </p:nvSpPr>
        <p:spPr>
          <a:xfrm>
            <a:off x="4599432" y="3529584"/>
            <a:ext cx="82296" cy="82296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4754880" y="34747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Masuknya investasi korporasi teknologi global ke Solo (Zero APBD Burden).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4599432" y="4032504"/>
            <a:ext cx="82296" cy="82296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4754880" y="39776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Peningkatan omzet tenant inovasi hingga mencapai Rp 18,5 Miliar di 2030.</a:t>
            </a:r>
            <a:endParaRPr lang="en-US" sz="1050" dirty="0"/>
          </a:p>
        </p:txBody>
      </p:sp>
      <p:sp>
        <p:nvSpPr>
          <p:cNvPr id="42" name="Shape 38"/>
          <p:cNvSpPr/>
          <p:nvPr/>
        </p:nvSpPr>
        <p:spPr>
          <a:xfrm>
            <a:off x="4599432" y="4535424"/>
            <a:ext cx="82296" cy="82296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4754880" y="44805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Peningkatan pendapatan mandiri BLUD menuju target Rp 23,47 Miliar.</a:t>
            </a:r>
            <a:endParaRPr lang="en-US" sz="1050" dirty="0"/>
          </a:p>
        </p:txBody>
      </p:sp>
      <p:sp>
        <p:nvSpPr>
          <p:cNvPr id="44" name="Shape 40"/>
          <p:cNvSpPr/>
          <p:nvPr/>
        </p:nvSpPr>
        <p:spPr>
          <a:xfrm>
            <a:off x="4599432" y="5038344"/>
            <a:ext cx="82296" cy="82296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4754880" y="49834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Terbentuknya jejaring rantai pasok industri manufaktur dan digital lokal.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7854696" y="320040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1400" dirty="0"/>
          </a:p>
        </p:txBody>
      </p:sp>
      <p:sp>
        <p:nvSpPr>
          <p:cNvPr id="47" name="Shape 43"/>
          <p:cNvSpPr/>
          <p:nvPr/>
        </p:nvSpPr>
        <p:spPr>
          <a:xfrm>
            <a:off x="8010144" y="1508760"/>
            <a:ext cx="3456432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8010144" y="1508760"/>
            <a:ext cx="3456432" cy="731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8238744" y="1664208"/>
            <a:ext cx="2999232" cy="237744"/>
          </a:xfrm>
          <a:prstGeom prst="rect">
            <a:avLst/>
          </a:prstGeom>
          <a:solidFill>
            <a:srgbClr val="F0FDF4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8238744" y="1682496"/>
            <a:ext cx="29992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3 // SYSTEMIC IMPACT</a:t>
            </a:r>
            <a:endParaRPr lang="en-US" sz="850" dirty="0"/>
          </a:p>
        </p:txBody>
      </p:sp>
      <p:sp>
        <p:nvSpPr>
          <p:cNvPr id="51" name="Shape 47"/>
          <p:cNvSpPr/>
          <p:nvPr/>
        </p:nvSpPr>
        <p:spPr>
          <a:xfrm>
            <a:off x="8238744" y="1993392"/>
            <a:ext cx="475488" cy="475488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11896" y="2066544"/>
            <a:ext cx="329184" cy="329184"/>
          </a:xfrm>
          <a:prstGeom prst="rect">
            <a:avLst/>
          </a:prstGeom>
        </p:spPr>
      </p:pic>
      <p:sp>
        <p:nvSpPr>
          <p:cNvPr id="53" name="Text 48"/>
          <p:cNvSpPr/>
          <p:nvPr/>
        </p:nvSpPr>
        <p:spPr>
          <a:xfrm>
            <a:off x="8695944" y="201168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KESEJAHTERAAN WARGA KOTA</a:t>
            </a:r>
            <a:endParaRPr lang="en-US" sz="1250" dirty="0"/>
          </a:p>
        </p:txBody>
      </p:sp>
      <p:sp>
        <p:nvSpPr>
          <p:cNvPr id="54" name="Shape 49"/>
          <p:cNvSpPr/>
          <p:nvPr/>
        </p:nvSpPr>
        <p:spPr>
          <a:xfrm>
            <a:off x="8238744" y="2423160"/>
            <a:ext cx="2999232" cy="384048"/>
          </a:xfrm>
          <a:prstGeom prst="rect">
            <a:avLst/>
          </a:prstGeom>
          <a:solidFill>
            <a:srgbClr val="F0FDF4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330184" y="2478024"/>
            <a:ext cx="2816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Multi-Efek Kota Surakarta</a:t>
            </a:r>
            <a:endParaRPr lang="en-US" sz="1050" dirty="0"/>
          </a:p>
        </p:txBody>
      </p:sp>
      <p:sp>
        <p:nvSpPr>
          <p:cNvPr id="56" name="Shape 51"/>
          <p:cNvSpPr/>
          <p:nvPr/>
        </p:nvSpPr>
        <p:spPr>
          <a:xfrm>
            <a:off x="8238744" y="3026664"/>
            <a:ext cx="82296" cy="8229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8394192" y="29718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Diversifikasi ekonomi Solo dari sektor pariwisata-tekstil ke ekonomi inovasi.</a:t>
            </a:r>
            <a:endParaRPr lang="en-US" sz="1050" dirty="0"/>
          </a:p>
        </p:txBody>
      </p:sp>
      <p:sp>
        <p:nvSpPr>
          <p:cNvPr id="58" name="Shape 53"/>
          <p:cNvSpPr/>
          <p:nvPr/>
        </p:nvSpPr>
        <p:spPr>
          <a:xfrm>
            <a:off x="8238744" y="3529584"/>
            <a:ext cx="82296" cy="8229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8394192" y="34747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Penurunan angka pengangguran usia produktif dan peningkatan upah layak.</a:t>
            </a:r>
            <a:endParaRPr lang="en-US" sz="1050" dirty="0"/>
          </a:p>
        </p:txBody>
      </p:sp>
      <p:sp>
        <p:nvSpPr>
          <p:cNvPr id="60" name="Shape 55"/>
          <p:cNvSpPr/>
          <p:nvPr/>
        </p:nvSpPr>
        <p:spPr>
          <a:xfrm>
            <a:off x="8238744" y="4032504"/>
            <a:ext cx="82296" cy="8229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8394192" y="39776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Peningkatan Pendapatan Asli Daerah (PAD) melalui retribusi dan pajak daerah.</a:t>
            </a:r>
            <a:endParaRPr lang="en-US" sz="1050" dirty="0"/>
          </a:p>
        </p:txBody>
      </p:sp>
      <p:sp>
        <p:nvSpPr>
          <p:cNvPr id="62" name="Shape 57"/>
          <p:cNvSpPr/>
          <p:nvPr/>
        </p:nvSpPr>
        <p:spPr>
          <a:xfrm>
            <a:off x="8238744" y="4535424"/>
            <a:ext cx="82296" cy="8229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8394192" y="44805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diakui sebagai Hub Inovasi &amp; Riset Terapan Terdepan di Jawa Tengah.</a:t>
            </a:r>
            <a:endParaRPr lang="en-US" sz="1050" dirty="0"/>
          </a:p>
        </p:txBody>
      </p:sp>
      <p:sp>
        <p:nvSpPr>
          <p:cNvPr id="64" name="Shape 59"/>
          <p:cNvSpPr/>
          <p:nvPr/>
        </p:nvSpPr>
        <p:spPr>
          <a:xfrm>
            <a:off x="8238744" y="5038344"/>
            <a:ext cx="82296" cy="8229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8394192" y="49834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Kemandirian fiskal Pemkot Surakarta: APBD dapat dialihkan untuk bansos.</a:t>
            </a:r>
            <a:endParaRPr lang="en-US" sz="1050" dirty="0"/>
          </a:p>
        </p:txBody>
      </p:sp>
      <p:sp>
        <p:nvSpPr>
          <p:cNvPr id="66" name="Shape 61"/>
          <p:cNvSpPr/>
          <p:nvPr/>
        </p:nvSpPr>
        <p:spPr>
          <a:xfrm>
            <a:off x="731520" y="5669280"/>
            <a:ext cx="10728655" cy="50292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914400" y="5724144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PRINSIP KEBERDAMPAKAN: Setiap rupiah belanja operasional dan pemanfaatan aset Solo Technopark wajib bermuara pada kesejahteraan nyata, daya saing talenta muda, dan pembukaan lapangan kerja berkualitas bagi warga Surakarta.</a:t>
            </a:r>
            <a:endParaRPr lang="en-US" sz="1050" dirty="0"/>
          </a:p>
        </p:txBody>
      </p:sp>
      <p:sp>
        <p:nvSpPr>
          <p:cNvPr id="68" name="Shape 63"/>
          <p:cNvSpPr/>
          <p:nvPr/>
        </p:nvSpPr>
        <p:spPr>
          <a:xfrm>
            <a:off x="731520" y="63550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731520" y="6419088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PEMERINTAH KOTA SURAKARTA  •  BADAN RISET DAN INOVASI DAERAH (BRIDA)  •  ROADMAP 2026–2030</a:t>
            </a:r>
            <a:endParaRPr lang="en-US" sz="750" dirty="0"/>
          </a:p>
        </p:txBody>
      </p:sp>
      <p:sp>
        <p:nvSpPr>
          <p:cNvPr id="70" name="Text 65"/>
          <p:cNvSpPr/>
          <p:nvPr/>
        </p:nvSpPr>
        <p:spPr>
          <a:xfrm>
            <a:off x="7772400" y="6419088"/>
            <a:ext cx="368777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EDISI ZEN ENTERPRISE ULTRA (18 SLIDES)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9144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KEPASTIAN HUKUM // REGULASI &amp; KEPATUHAN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9601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LANDASAN YURIDIS KOKOH &amp; 4 FLEKSIBILITAS PENGELOLAAN BLUD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1024128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Menjamin Kepatuhan Tata Kelola Pemerintahan Sekaligus Kelincahan Kemitraan Komersial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515600" y="43891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/  18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08760"/>
            <a:ext cx="4023360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508760"/>
            <a:ext cx="4023360" cy="73152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69164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HIRARKI REGULASI PENGUAT BLUD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2066544"/>
            <a:ext cx="402336" cy="402336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3272" y="2139696"/>
            <a:ext cx="256032" cy="25603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371600" y="202996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Perpres No. 106 Tahun 2017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371600" y="226771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 Kawasan Sains &amp; Teknologi Nasional sebagai pusat riset terapan dan hilirisasi inovasi daerah.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60120" y="2907792"/>
            <a:ext cx="402336" cy="402336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3272" y="2980944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371600" y="287121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Permendagri No. 79 Tahun 2018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1371600" y="310896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Pedoman Teknis BLUD: Memberikan fleksibilitas penuh pengelolaan keuangan, pendapatan, belanja, dan tarif.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960120" y="3749040"/>
            <a:ext cx="402336" cy="402336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3272" y="3822192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371600" y="3712464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Peraturan Walikota Surakarta No. 15/2022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1371600" y="395020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Kedudukan, Susunan Organisasi, Tugas, Fungsi, dan Tata Kerja UPTD KST Solo Technopark pada BRIDA.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960120" y="4590288"/>
            <a:ext cx="402336" cy="402336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33272" y="4663440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371600" y="455371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Peraturan Walikota Surakarta No. 38/2022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1371600" y="4791456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Penetapan Pola Pengelolaan Keuangan BLUD Penuh pada UPTD KST Solo Technopark.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4983480" y="1508760"/>
            <a:ext cx="3108960" cy="1965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983480" y="1508760"/>
            <a:ext cx="3108960" cy="7315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5166360" y="1673352"/>
            <a:ext cx="438912" cy="438912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39512" y="1746504"/>
            <a:ext cx="292608" cy="29260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5577840" y="165506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FLEKSIBILITAS TARIF LAYANAN</a:t>
            </a:r>
            <a:endParaRPr lang="en-US" sz="1000" dirty="0"/>
          </a:p>
        </p:txBody>
      </p:sp>
      <p:sp>
        <p:nvSpPr>
          <p:cNvPr id="31" name="Text 24"/>
          <p:cNvSpPr/>
          <p:nvPr/>
        </p:nvSpPr>
        <p:spPr>
          <a:xfrm>
            <a:off x="5577840" y="187452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Penetapan Tarif Berdasarkan Nilai Pasar</a:t>
            </a:r>
            <a:endParaRPr lang="en-US" sz="850" dirty="0"/>
          </a:p>
        </p:txBody>
      </p:sp>
      <p:sp>
        <p:nvSpPr>
          <p:cNvPr id="32" name="Shape 25"/>
          <p:cNvSpPr/>
          <p:nvPr/>
        </p:nvSpPr>
        <p:spPr>
          <a:xfrm>
            <a:off x="5166360" y="2130552"/>
            <a:ext cx="27432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166360" y="2221992"/>
            <a:ext cx="73152" cy="73152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5303520" y="2185416"/>
            <a:ext cx="2606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Mekanisme Tarif: Ditetapkan langsung via SK Kepala UPTD/Perwali tanpa perlu pembahasan APBD tahunan.</a:t>
            </a:r>
            <a:endParaRPr lang="en-US" sz="950" dirty="0"/>
          </a:p>
        </p:txBody>
      </p:sp>
      <p:sp>
        <p:nvSpPr>
          <p:cNvPr id="35" name="Shape 28"/>
          <p:cNvSpPr/>
          <p:nvPr/>
        </p:nvSpPr>
        <p:spPr>
          <a:xfrm>
            <a:off x="5166360" y="2788920"/>
            <a:ext cx="73152" cy="73152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5303520" y="2752344"/>
            <a:ext cx="2606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Keunggulan Bisnis: Tarif kompetitif mengikuti dinamika pasar untuk 45+ jenis uji lab &amp; sewa fasilitas.</a:t>
            </a:r>
            <a:endParaRPr lang="en-US" sz="950" dirty="0"/>
          </a:p>
        </p:txBody>
      </p:sp>
      <p:sp>
        <p:nvSpPr>
          <p:cNvPr id="37" name="Shape 30"/>
          <p:cNvSpPr/>
          <p:nvPr/>
        </p:nvSpPr>
        <p:spPr>
          <a:xfrm>
            <a:off x="8229600" y="1508760"/>
            <a:ext cx="3108960" cy="1965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8229600" y="1508760"/>
            <a:ext cx="3108960" cy="731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8412480" y="1673352"/>
            <a:ext cx="438912" cy="438912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485632" y="1746504"/>
            <a:ext cx="292608" cy="292608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8823960" y="165506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FLEKSIBILITAS BELANJA &amp; SiLPA</a:t>
            </a:r>
            <a:endParaRPr lang="en-US" sz="1000" dirty="0"/>
          </a:p>
        </p:txBody>
      </p:sp>
      <p:sp>
        <p:nvSpPr>
          <p:cNvPr id="42" name="Text 34"/>
          <p:cNvSpPr/>
          <p:nvPr/>
        </p:nvSpPr>
        <p:spPr>
          <a:xfrm>
            <a:off x="8823960" y="187452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Reinvestasi Pendapatan Mandiri</a:t>
            </a:r>
            <a:endParaRPr lang="en-US" sz="850" dirty="0"/>
          </a:p>
        </p:txBody>
      </p:sp>
      <p:sp>
        <p:nvSpPr>
          <p:cNvPr id="43" name="Shape 35"/>
          <p:cNvSpPr/>
          <p:nvPr/>
        </p:nvSpPr>
        <p:spPr>
          <a:xfrm>
            <a:off x="8412480" y="2130552"/>
            <a:ext cx="27432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4" name="Shape 36"/>
          <p:cNvSpPr/>
          <p:nvPr/>
        </p:nvSpPr>
        <p:spPr>
          <a:xfrm>
            <a:off x="8412480" y="2221992"/>
            <a:ext cx="73152" cy="7315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5" name="Text 37"/>
          <p:cNvSpPr/>
          <p:nvPr/>
        </p:nvSpPr>
        <p:spPr>
          <a:xfrm>
            <a:off x="8549640" y="2185416"/>
            <a:ext cx="2606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Rekening Otonom: Seluruh penerimaan disetor ke kas BLUD dan dapat langsung dibelanjakan mandiri.</a:t>
            </a:r>
            <a:endParaRPr lang="en-US" sz="950" dirty="0"/>
          </a:p>
        </p:txBody>
      </p:sp>
      <p:sp>
        <p:nvSpPr>
          <p:cNvPr id="46" name="Shape 38"/>
          <p:cNvSpPr/>
          <p:nvPr/>
        </p:nvSpPr>
        <p:spPr>
          <a:xfrm>
            <a:off x="8412480" y="2788920"/>
            <a:ext cx="73152" cy="7315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7" name="Text 39"/>
          <p:cNvSpPr/>
          <p:nvPr/>
        </p:nvSpPr>
        <p:spPr>
          <a:xfrm>
            <a:off x="8549640" y="2752344"/>
            <a:ext cx="2606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Efisiensi Operasional: Reinvestasi instan untuk pemeliharaan lab presisi dan bahan uji tanpa jeda birokrasi.</a:t>
            </a:r>
            <a:endParaRPr lang="en-US" sz="950" dirty="0"/>
          </a:p>
        </p:txBody>
      </p:sp>
      <p:sp>
        <p:nvSpPr>
          <p:cNvPr id="48" name="Shape 40"/>
          <p:cNvSpPr/>
          <p:nvPr/>
        </p:nvSpPr>
        <p:spPr>
          <a:xfrm>
            <a:off x="4983480" y="3566160"/>
            <a:ext cx="3108960" cy="1965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Shape 41"/>
          <p:cNvSpPr/>
          <p:nvPr/>
        </p:nvSpPr>
        <p:spPr>
          <a:xfrm>
            <a:off x="4983480" y="3566160"/>
            <a:ext cx="3108960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0" name="Shape 42"/>
          <p:cNvSpPr/>
          <p:nvPr/>
        </p:nvSpPr>
        <p:spPr>
          <a:xfrm>
            <a:off x="5166360" y="3730752"/>
            <a:ext cx="438912" cy="438912"/>
          </a:xfrm>
          <a:prstGeom prst="rect">
            <a:avLst/>
          </a:prstGeom>
          <a:solidFill>
            <a:srgbClr val="FFFBEB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1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239512" y="3803904"/>
            <a:ext cx="292608" cy="292608"/>
          </a:xfrm>
          <a:prstGeom prst="rect">
            <a:avLst/>
          </a:prstGeom>
        </p:spPr>
      </p:pic>
      <p:sp>
        <p:nvSpPr>
          <p:cNvPr id="52" name="Text 43"/>
          <p:cNvSpPr/>
          <p:nvPr/>
        </p:nvSpPr>
        <p:spPr>
          <a:xfrm>
            <a:off x="5577840" y="371246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KERJASAMA LAHAN &amp; ASET</a:t>
            </a:r>
            <a:endParaRPr lang="en-US" sz="1000" dirty="0"/>
          </a:p>
        </p:txBody>
      </p:sp>
      <p:sp>
        <p:nvSpPr>
          <p:cNvPr id="53" name="Text 44"/>
          <p:cNvSpPr/>
          <p:nvPr/>
        </p:nvSpPr>
        <p:spPr>
          <a:xfrm>
            <a:off x="5577840" y="393192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Kemitraan Jangka Panjang (10-25 Tahun)</a:t>
            </a:r>
            <a:endParaRPr lang="en-US" sz="850" dirty="0"/>
          </a:p>
        </p:txBody>
      </p:sp>
      <p:sp>
        <p:nvSpPr>
          <p:cNvPr id="54" name="Shape 45"/>
          <p:cNvSpPr/>
          <p:nvPr/>
        </p:nvSpPr>
        <p:spPr>
          <a:xfrm>
            <a:off x="5166360" y="4187952"/>
            <a:ext cx="27432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5" name="Shape 46"/>
          <p:cNvSpPr/>
          <p:nvPr/>
        </p:nvSpPr>
        <p:spPr>
          <a:xfrm>
            <a:off x="5166360" y="4279392"/>
            <a:ext cx="73152" cy="7315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6" name="Text 47"/>
          <p:cNvSpPr/>
          <p:nvPr/>
        </p:nvSpPr>
        <p:spPr>
          <a:xfrm>
            <a:off x="5303520" y="4242816"/>
            <a:ext cx="2606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Skema Fleksibel: Monetisasi lahan tidur melalui skema Bangun Guna Serah (BGS) &amp; Long-Term Revenue Sharing.</a:t>
            </a:r>
            <a:endParaRPr lang="en-US" sz="950" dirty="0"/>
          </a:p>
        </p:txBody>
      </p:sp>
      <p:sp>
        <p:nvSpPr>
          <p:cNvPr id="57" name="Shape 48"/>
          <p:cNvSpPr/>
          <p:nvPr/>
        </p:nvSpPr>
        <p:spPr>
          <a:xfrm>
            <a:off x="5166360" y="4846320"/>
            <a:ext cx="73152" cy="7315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8" name="Text 49"/>
          <p:cNvSpPr/>
          <p:nvPr/>
        </p:nvSpPr>
        <p:spPr>
          <a:xfrm>
            <a:off x="5303520" y="4809744"/>
            <a:ext cx="2606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APBD: Pembangunan gedung riset dan fasilitas baru 100% didanai mitra korporasi swasta global.</a:t>
            </a:r>
            <a:endParaRPr lang="en-US" sz="950" dirty="0"/>
          </a:p>
        </p:txBody>
      </p:sp>
      <p:sp>
        <p:nvSpPr>
          <p:cNvPr id="59" name="Shape 50"/>
          <p:cNvSpPr/>
          <p:nvPr/>
        </p:nvSpPr>
        <p:spPr>
          <a:xfrm>
            <a:off x="8229600" y="3566160"/>
            <a:ext cx="3108960" cy="1965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0" name="Shape 51"/>
          <p:cNvSpPr/>
          <p:nvPr/>
        </p:nvSpPr>
        <p:spPr>
          <a:xfrm>
            <a:off x="8229600" y="3566160"/>
            <a:ext cx="3108960" cy="731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Shape 52"/>
          <p:cNvSpPr/>
          <p:nvPr/>
        </p:nvSpPr>
        <p:spPr>
          <a:xfrm>
            <a:off x="8412480" y="3730752"/>
            <a:ext cx="438912" cy="438912"/>
          </a:xfrm>
          <a:prstGeom prst="rect">
            <a:avLst/>
          </a:prstGeom>
          <a:solidFill>
            <a:srgbClr val="FAF5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485632" y="3803904"/>
            <a:ext cx="292608" cy="292608"/>
          </a:xfrm>
          <a:prstGeom prst="rect">
            <a:avLst/>
          </a:prstGeom>
        </p:spPr>
      </p:pic>
      <p:sp>
        <p:nvSpPr>
          <p:cNvPr id="63" name="Text 53"/>
          <p:cNvSpPr/>
          <p:nvPr/>
        </p:nvSpPr>
        <p:spPr>
          <a:xfrm>
            <a:off x="8823960" y="371246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PENGADAAN &amp; SDM PROFESIONAL</a:t>
            </a:r>
            <a:endParaRPr lang="en-US" sz="1000" dirty="0"/>
          </a:p>
        </p:txBody>
      </p:sp>
      <p:sp>
        <p:nvSpPr>
          <p:cNvPr id="64" name="Text 54"/>
          <p:cNvSpPr/>
          <p:nvPr/>
        </p:nvSpPr>
        <p:spPr>
          <a:xfrm>
            <a:off x="8823960" y="393192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Kelincahan Standar Industri Swasta</a:t>
            </a:r>
            <a:endParaRPr lang="en-US" sz="850" dirty="0"/>
          </a:p>
        </p:txBody>
      </p:sp>
      <p:sp>
        <p:nvSpPr>
          <p:cNvPr id="65" name="Shape 55"/>
          <p:cNvSpPr/>
          <p:nvPr/>
        </p:nvSpPr>
        <p:spPr>
          <a:xfrm>
            <a:off x="8412480" y="4187952"/>
            <a:ext cx="27432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6" name="Shape 56"/>
          <p:cNvSpPr/>
          <p:nvPr/>
        </p:nvSpPr>
        <p:spPr>
          <a:xfrm>
            <a:off x="8412480" y="4279392"/>
            <a:ext cx="73152" cy="731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7" name="Text 57"/>
          <p:cNvSpPr/>
          <p:nvPr/>
        </p:nvSpPr>
        <p:spPr>
          <a:xfrm>
            <a:off x="8549640" y="4242816"/>
            <a:ext cx="2606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SDM Non-PNS: Hak merekrut tenaga ahli dan praktisi industri global dengan standar remunerasi pasar.</a:t>
            </a:r>
            <a:endParaRPr lang="en-US" sz="950" dirty="0"/>
          </a:p>
        </p:txBody>
      </p:sp>
      <p:sp>
        <p:nvSpPr>
          <p:cNvPr id="68" name="Shape 58"/>
          <p:cNvSpPr/>
          <p:nvPr/>
        </p:nvSpPr>
        <p:spPr>
          <a:xfrm>
            <a:off x="8412480" y="4846320"/>
            <a:ext cx="73152" cy="731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9" name="Text 59"/>
          <p:cNvSpPr/>
          <p:nvPr/>
        </p:nvSpPr>
        <p:spPr>
          <a:xfrm>
            <a:off x="8549640" y="4809744"/>
            <a:ext cx="2606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Pengadaan Cepat: Mekanisme pengadaan barang/jasa teknologi langsung tanpa hambatan lelang birokratis.</a:t>
            </a:r>
            <a:endParaRPr lang="en-US" sz="950" dirty="0"/>
          </a:p>
        </p:txBody>
      </p:sp>
      <p:sp>
        <p:nvSpPr>
          <p:cNvPr id="70" name="Shape 60"/>
          <p:cNvSpPr/>
          <p:nvPr/>
        </p:nvSpPr>
        <p:spPr>
          <a:xfrm>
            <a:off x="731520" y="5669280"/>
            <a:ext cx="10728655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1" name="Text 61"/>
          <p:cNvSpPr/>
          <p:nvPr/>
        </p:nvSpPr>
        <p:spPr>
          <a:xfrm>
            <a:off x="914400" y="5724144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KESIMPULAN YURIDIS: Payung hukum BLUD Solo Technopark telah sah dan berkekuatan hukum penuh. Tantangan utama saat ini bukan pada ketiadaan izin, melainkan pada eksekusi regulasi turunan pemanfaatan aset dan kemitraan lahan.</a:t>
            </a:r>
            <a:endParaRPr lang="en-US" sz="1050" dirty="0"/>
          </a:p>
        </p:txBody>
      </p:sp>
      <p:sp>
        <p:nvSpPr>
          <p:cNvPr id="72" name="Shape 62"/>
          <p:cNvSpPr/>
          <p:nvPr/>
        </p:nvSpPr>
        <p:spPr>
          <a:xfrm>
            <a:off x="731520" y="63550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63"/>
          <p:cNvSpPr/>
          <p:nvPr/>
        </p:nvSpPr>
        <p:spPr>
          <a:xfrm>
            <a:off x="731520" y="6419088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PEMERINTAH KOTA SURAKARTA  •  BADAN RISET DAN INOVASI DAERAH (BRIDA)  •  ROADMAP 2026–2030</a:t>
            </a:r>
            <a:endParaRPr lang="en-US" sz="750" dirty="0"/>
          </a:p>
        </p:txBody>
      </p:sp>
      <p:sp>
        <p:nvSpPr>
          <p:cNvPr id="74" name="Text 64"/>
          <p:cNvSpPr/>
          <p:nvPr/>
        </p:nvSpPr>
        <p:spPr>
          <a:xfrm>
            <a:off x="7772400" y="6419088"/>
            <a:ext cx="368777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EDISI ZEN ENTERPRISE ULTRA (18 SLIDES)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9144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FUNGSI STRATEGIS KAWASAN SAINS &amp; TEKNOLOGI // PERPRES 106/2017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9601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PILAR LAYANAN TERPADU SOLO TECHNOPARK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1024128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 Nasional Pengembangan KST sebagai Mesin Hilirisasi dan Pertumbuhan Ekonomi Daerah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515600" y="43891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/  18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08760"/>
            <a:ext cx="2542032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508760"/>
            <a:ext cx="2542032" cy="73152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719072"/>
            <a:ext cx="475488" cy="475488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87552" y="1792224"/>
            <a:ext cx="329184" cy="32918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14400" y="2157984"/>
            <a:ext cx="21762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INKUBASI BISNIS TEKNOLOGI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14400" y="256032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Mencetak Wirausaha Berbasis Inovasi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914400" y="2880360"/>
            <a:ext cx="21762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14400" y="3054096"/>
            <a:ext cx="73152" cy="7315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999232"/>
            <a:ext cx="20299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Akselerasi 20+ tenant startup digital &amp; manufaktur per tahun.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14400" y="3529584"/>
            <a:ext cx="73152" cy="7315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3474720"/>
            <a:ext cx="20299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Mentoring intensif oleh praktisi industri global (Shopee, Garena).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914400" y="4005072"/>
            <a:ext cx="73152" cy="7315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60704" y="3950208"/>
            <a:ext cx="20299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Fasilitasi legalitas PT/CV, HKI/Paten, dan sertifikasi SNI/Halal.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914400" y="4480560"/>
            <a:ext cx="73152" cy="7315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60704" y="4425696"/>
            <a:ext cx="20299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Akses pendanaan investor melalui Demo Day &amp; Business Matching.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868680" y="5047488"/>
            <a:ext cx="2267712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6112" y="5065776"/>
            <a:ext cx="22128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20+ STARTUP DIGITAL &amp; MANUFAKTUR / THN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3456432" y="1508760"/>
            <a:ext cx="2542032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456432" y="1508760"/>
            <a:ext cx="2542032" cy="7315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639312" y="1719072"/>
            <a:ext cx="475488" cy="475488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2464" y="1792224"/>
            <a:ext cx="329184" cy="329184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3639312" y="2157984"/>
            <a:ext cx="21762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PELATIHAN VOKASI &amp; SERTIFIKASI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3639312" y="256032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Upskilling Talenta Masa Depan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3639312" y="2880360"/>
            <a:ext cx="21762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3639312" y="3054096"/>
            <a:ext cx="73152" cy="73152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3785616" y="2999232"/>
            <a:ext cx="20299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Diklat vokasi industri: Otomasi, Pengelasan Underwater, &amp; AI.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3639312" y="3529584"/>
            <a:ext cx="73152" cy="73152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3785616" y="3474720"/>
            <a:ext cx="20299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Sertifikasi standar BNSP &amp; internasional (AWS, Cisco, TUV).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3639312" y="4005072"/>
            <a:ext cx="73152" cy="73152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3785616" y="3950208"/>
            <a:ext cx="20299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1.500 talenta muda tersertifikasi per tahun.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3639312" y="4480560"/>
            <a:ext cx="73152" cy="73152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3785616" y="4425696"/>
            <a:ext cx="20299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Tingkat keterserapan kerja lulusan ke industri mencapai 85%+.</a:t>
            </a:r>
            <a:endParaRPr lang="en-US" sz="950" dirty="0"/>
          </a:p>
        </p:txBody>
      </p:sp>
      <p:sp>
        <p:nvSpPr>
          <p:cNvPr id="39" name="Shape 35"/>
          <p:cNvSpPr/>
          <p:nvPr/>
        </p:nvSpPr>
        <p:spPr>
          <a:xfrm>
            <a:off x="3593592" y="5047488"/>
            <a:ext cx="2267712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3621024" y="5065776"/>
            <a:ext cx="22128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1.500 TALENTA TERSERTIFIKASI / THN</a:t>
            </a:r>
            <a:endParaRPr lang="en-US" sz="750" dirty="0"/>
          </a:p>
        </p:txBody>
      </p:sp>
      <p:sp>
        <p:nvSpPr>
          <p:cNvPr id="41" name="Shape 37"/>
          <p:cNvSpPr/>
          <p:nvPr/>
        </p:nvSpPr>
        <p:spPr>
          <a:xfrm>
            <a:off x="6181344" y="1508760"/>
            <a:ext cx="2542032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6181344" y="1508760"/>
            <a:ext cx="2542032" cy="731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6364224" y="1719072"/>
            <a:ext cx="475488" cy="475488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37376" y="1792224"/>
            <a:ext cx="329184" cy="329184"/>
          </a:xfrm>
          <a:prstGeom prst="rect">
            <a:avLst/>
          </a:prstGeom>
        </p:spPr>
      </p:pic>
      <p:sp>
        <p:nvSpPr>
          <p:cNvPr id="45" name="Text 40"/>
          <p:cNvSpPr/>
          <p:nvPr/>
        </p:nvSpPr>
        <p:spPr>
          <a:xfrm>
            <a:off x="6364224" y="2157984"/>
            <a:ext cx="21762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RISET TERAPAN &amp; INOVASI</a:t>
            </a:r>
            <a:endParaRPr lang="en-US" sz="1100" dirty="0"/>
          </a:p>
        </p:txBody>
      </p:sp>
      <p:sp>
        <p:nvSpPr>
          <p:cNvPr id="46" name="Text 41"/>
          <p:cNvSpPr/>
          <p:nvPr/>
        </p:nvSpPr>
        <p:spPr>
          <a:xfrm>
            <a:off x="6364224" y="256032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Menjembatani Kampus ke Industri</a:t>
            </a:r>
            <a:endParaRPr lang="en-US" sz="850" dirty="0"/>
          </a:p>
        </p:txBody>
      </p:sp>
      <p:sp>
        <p:nvSpPr>
          <p:cNvPr id="47" name="Shape 42"/>
          <p:cNvSpPr/>
          <p:nvPr/>
        </p:nvSpPr>
        <p:spPr>
          <a:xfrm>
            <a:off x="6364224" y="2880360"/>
            <a:ext cx="21762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8" name="Shape 43"/>
          <p:cNvSpPr/>
          <p:nvPr/>
        </p:nvSpPr>
        <p:spPr>
          <a:xfrm>
            <a:off x="6364224" y="3054096"/>
            <a:ext cx="73152" cy="7315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6510528" y="2999232"/>
            <a:ext cx="20299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Konsorsium riset terapan bersama 5 kampus ternama Solo Raya.</a:t>
            </a:r>
            <a:endParaRPr lang="en-US" sz="950" dirty="0"/>
          </a:p>
        </p:txBody>
      </p:sp>
      <p:sp>
        <p:nvSpPr>
          <p:cNvPr id="50" name="Shape 45"/>
          <p:cNvSpPr/>
          <p:nvPr/>
        </p:nvSpPr>
        <p:spPr>
          <a:xfrm>
            <a:off x="6364224" y="3529584"/>
            <a:ext cx="73152" cy="7315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6510528" y="3474720"/>
            <a:ext cx="20299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Fasilitasi uji laboratorium, reverse engineering, &amp; CAD/CAM.</a:t>
            </a:r>
            <a:endParaRPr lang="en-US" sz="950" dirty="0"/>
          </a:p>
        </p:txBody>
      </p:sp>
      <p:sp>
        <p:nvSpPr>
          <p:cNvPr id="52" name="Shape 47"/>
          <p:cNvSpPr/>
          <p:nvPr/>
        </p:nvSpPr>
        <p:spPr>
          <a:xfrm>
            <a:off x="6364224" y="4005072"/>
            <a:ext cx="73152" cy="7315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6510528" y="3950208"/>
            <a:ext cx="20299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Fasilitas Fablab, Precision Machining, dan Biotech Lab.</a:t>
            </a:r>
            <a:endParaRPr lang="en-US" sz="950" dirty="0"/>
          </a:p>
        </p:txBody>
      </p:sp>
      <p:sp>
        <p:nvSpPr>
          <p:cNvPr id="54" name="Shape 49"/>
          <p:cNvSpPr/>
          <p:nvPr/>
        </p:nvSpPr>
        <p:spPr>
          <a:xfrm>
            <a:off x="6364224" y="4480560"/>
            <a:ext cx="73152" cy="7315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6510528" y="4425696"/>
            <a:ext cx="20299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Fokus riset terapan: Alkes, Smart Agri IoT, &amp; Mesin Pengolah.</a:t>
            </a:r>
            <a:endParaRPr lang="en-US" sz="950" dirty="0"/>
          </a:p>
        </p:txBody>
      </p:sp>
      <p:sp>
        <p:nvSpPr>
          <p:cNvPr id="56" name="Shape 51"/>
          <p:cNvSpPr/>
          <p:nvPr/>
        </p:nvSpPr>
        <p:spPr>
          <a:xfrm>
            <a:off x="6318504" y="5047488"/>
            <a:ext cx="2267712" cy="347472"/>
          </a:xfrm>
          <a:prstGeom prst="rect">
            <a:avLst/>
          </a:prstGeom>
          <a:solidFill>
            <a:srgbClr val="F0FDF4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6345936" y="5065776"/>
            <a:ext cx="22128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30+ KLASTER RISET INDUSTRI &amp; KAMPUS</a:t>
            </a:r>
            <a:endParaRPr lang="en-US" sz="750" dirty="0"/>
          </a:p>
        </p:txBody>
      </p:sp>
      <p:sp>
        <p:nvSpPr>
          <p:cNvPr id="58" name="Shape 53"/>
          <p:cNvSpPr/>
          <p:nvPr/>
        </p:nvSpPr>
        <p:spPr>
          <a:xfrm>
            <a:off x="8906256" y="1508760"/>
            <a:ext cx="2542032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Shape 54"/>
          <p:cNvSpPr/>
          <p:nvPr/>
        </p:nvSpPr>
        <p:spPr>
          <a:xfrm>
            <a:off x="8906256" y="1508760"/>
            <a:ext cx="2542032" cy="731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9089136" y="1719072"/>
            <a:ext cx="475488" cy="475488"/>
          </a:xfrm>
          <a:prstGeom prst="rect">
            <a:avLst/>
          </a:prstGeom>
          <a:solidFill>
            <a:srgbClr val="FAF5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6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62288" y="1792224"/>
            <a:ext cx="329184" cy="329184"/>
          </a:xfrm>
          <a:prstGeom prst="rect">
            <a:avLst/>
          </a:prstGeom>
        </p:spPr>
      </p:pic>
      <p:sp>
        <p:nvSpPr>
          <p:cNvPr id="62" name="Text 56"/>
          <p:cNvSpPr/>
          <p:nvPr/>
        </p:nvSpPr>
        <p:spPr>
          <a:xfrm>
            <a:off x="9089136" y="2157984"/>
            <a:ext cx="21762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HILIRISASI &amp; KOMERSIALISASI</a:t>
            </a:r>
            <a:endParaRPr lang="en-US" sz="1100" dirty="0"/>
          </a:p>
        </p:txBody>
      </p:sp>
      <p:sp>
        <p:nvSpPr>
          <p:cNvPr id="63" name="Text 57"/>
          <p:cNvSpPr/>
          <p:nvPr/>
        </p:nvSpPr>
        <p:spPr>
          <a:xfrm>
            <a:off x="9089136" y="256032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Membawa Prototipe ke Pasar Nyata</a:t>
            </a:r>
            <a:endParaRPr lang="en-US" sz="850" dirty="0"/>
          </a:p>
        </p:txBody>
      </p:sp>
      <p:sp>
        <p:nvSpPr>
          <p:cNvPr id="64" name="Shape 58"/>
          <p:cNvSpPr/>
          <p:nvPr/>
        </p:nvSpPr>
        <p:spPr>
          <a:xfrm>
            <a:off x="9089136" y="2880360"/>
            <a:ext cx="21762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5" name="Shape 59"/>
          <p:cNvSpPr/>
          <p:nvPr/>
        </p:nvSpPr>
        <p:spPr>
          <a:xfrm>
            <a:off x="9089136" y="3054096"/>
            <a:ext cx="73152" cy="731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6" name="Text 60"/>
          <p:cNvSpPr/>
          <p:nvPr/>
        </p:nvSpPr>
        <p:spPr>
          <a:xfrm>
            <a:off x="9235440" y="2999232"/>
            <a:ext cx="20299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Pabrikasi skala terbatas (pilot production) produk inovasi.</a:t>
            </a:r>
            <a:endParaRPr lang="en-US" sz="950" dirty="0"/>
          </a:p>
        </p:txBody>
      </p:sp>
      <p:sp>
        <p:nvSpPr>
          <p:cNvPr id="67" name="Shape 61"/>
          <p:cNvSpPr/>
          <p:nvPr/>
        </p:nvSpPr>
        <p:spPr>
          <a:xfrm>
            <a:off x="9089136" y="3529584"/>
            <a:ext cx="73152" cy="731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8" name="Text 62"/>
          <p:cNvSpPr/>
          <p:nvPr/>
        </p:nvSpPr>
        <p:spPr>
          <a:xfrm>
            <a:off x="9235440" y="3474720"/>
            <a:ext cx="20299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produk inovasi ke etalase e-Katalog Lokal Pemkot.</a:t>
            </a:r>
            <a:endParaRPr lang="en-US" sz="950" dirty="0"/>
          </a:p>
        </p:txBody>
      </p:sp>
      <p:sp>
        <p:nvSpPr>
          <p:cNvPr id="69" name="Shape 63"/>
          <p:cNvSpPr/>
          <p:nvPr/>
        </p:nvSpPr>
        <p:spPr>
          <a:xfrm>
            <a:off x="9089136" y="4005072"/>
            <a:ext cx="73152" cy="731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0" name="Text 64"/>
          <p:cNvSpPr/>
          <p:nvPr/>
        </p:nvSpPr>
        <p:spPr>
          <a:xfrm>
            <a:off x="9235440" y="3950208"/>
            <a:ext cx="20299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Kerjasama lisensi teknologi dan royalti paten bersama industri.</a:t>
            </a:r>
            <a:endParaRPr lang="en-US" sz="950" dirty="0"/>
          </a:p>
        </p:txBody>
      </p:sp>
      <p:sp>
        <p:nvSpPr>
          <p:cNvPr id="71" name="Shape 65"/>
          <p:cNvSpPr/>
          <p:nvPr/>
        </p:nvSpPr>
        <p:spPr>
          <a:xfrm>
            <a:off x="9089136" y="4480560"/>
            <a:ext cx="73152" cy="731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2" name="Text 66"/>
          <p:cNvSpPr/>
          <p:nvPr/>
        </p:nvSpPr>
        <p:spPr>
          <a:xfrm>
            <a:off x="9235440" y="4425696"/>
            <a:ext cx="20299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Membuka captive market belanja inovasi seluruh OPD Surakarta.</a:t>
            </a:r>
            <a:endParaRPr lang="en-US" sz="950" dirty="0"/>
          </a:p>
        </p:txBody>
      </p:sp>
      <p:sp>
        <p:nvSpPr>
          <p:cNvPr id="73" name="Shape 67"/>
          <p:cNvSpPr/>
          <p:nvPr/>
        </p:nvSpPr>
        <p:spPr>
          <a:xfrm>
            <a:off x="9043416" y="5047488"/>
            <a:ext cx="2267712" cy="347472"/>
          </a:xfrm>
          <a:prstGeom prst="rect">
            <a:avLst/>
          </a:prstGeom>
          <a:solidFill>
            <a:srgbClr val="FAF5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4" name="Text 68"/>
          <p:cNvSpPr/>
          <p:nvPr/>
        </p:nvSpPr>
        <p:spPr>
          <a:xfrm>
            <a:off x="9070848" y="5065776"/>
            <a:ext cx="22128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5+ PRODUK INOVASI TEMBUS e-KATALOG / THN</a:t>
            </a:r>
            <a:endParaRPr lang="en-US" sz="750" dirty="0"/>
          </a:p>
        </p:txBody>
      </p:sp>
      <p:sp>
        <p:nvSpPr>
          <p:cNvPr id="75" name="Shape 69"/>
          <p:cNvSpPr/>
          <p:nvPr/>
        </p:nvSpPr>
        <p:spPr>
          <a:xfrm>
            <a:off x="731520" y="5669280"/>
            <a:ext cx="10728655" cy="50292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76" name="Text 70"/>
          <p:cNvSpPr/>
          <p:nvPr/>
        </p:nvSpPr>
        <p:spPr>
          <a:xfrm>
            <a:off x="914400" y="5724144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KONSISTENSI 4 PILAR: Solo Technopark bukan sekadar gedung pertemuan atau kantor bersama, melainkan ekosistem terpadu yang memadukan talenta, riset kampus, fasilitas canggih, dan akses pasar industri.</a:t>
            </a:r>
            <a:endParaRPr lang="en-US" sz="1050" dirty="0"/>
          </a:p>
        </p:txBody>
      </p:sp>
      <p:sp>
        <p:nvSpPr>
          <p:cNvPr id="77" name="Shape 71"/>
          <p:cNvSpPr/>
          <p:nvPr/>
        </p:nvSpPr>
        <p:spPr>
          <a:xfrm>
            <a:off x="731520" y="63550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8" name="Text 72"/>
          <p:cNvSpPr/>
          <p:nvPr/>
        </p:nvSpPr>
        <p:spPr>
          <a:xfrm>
            <a:off x="731520" y="6419088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PEMERINTAH KOTA SURAKARTA  •  BADAN RISET DAN INOVASI DAERAH (BRIDA)  •  ROADMAP 2026–2030</a:t>
            </a:r>
            <a:endParaRPr lang="en-US" sz="750" dirty="0"/>
          </a:p>
        </p:txBody>
      </p:sp>
      <p:sp>
        <p:nvSpPr>
          <p:cNvPr id="79" name="Text 73"/>
          <p:cNvSpPr/>
          <p:nvPr/>
        </p:nvSpPr>
        <p:spPr>
          <a:xfrm>
            <a:off x="7772400" y="6419088"/>
            <a:ext cx="368777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EDISI ZEN ENTERPRISE ULTRA (18 SLIDES)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9144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ALUR KOMERSIALISASI INOVASI // DARI LABORATORIUM KE PASAR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9601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5 TAHAPAN HILIRISASI RISET SOLO TECHNOPARK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1024128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Mengatasi Valley of Death Inovasi melalui Fasilitasi Terpadu Kesiapan Teknologi TRL 1 hingga TRL 9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515600" y="43891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/  18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08760"/>
            <a:ext cx="2029968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508760"/>
            <a:ext cx="2029968" cy="73152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1691640"/>
            <a:ext cx="5943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71907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508760" y="173736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1–3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68680" y="208483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KURASI IDE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68680" y="2359152"/>
            <a:ext cx="1783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Seleksi Riset Potensial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68680" y="2670048"/>
            <a:ext cx="175564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2871216"/>
            <a:ext cx="73152" cy="7315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2816352"/>
            <a:ext cx="16642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proposal riset dosen &amp; mahasiswa.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68680" y="3529584"/>
            <a:ext cx="73152" cy="7315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7552" y="3474720"/>
            <a:ext cx="16642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Validasi kebaruan dan perlindungan HKI/Paten.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68680" y="4187952"/>
            <a:ext cx="73152" cy="7315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7552" y="4133088"/>
            <a:ext cx="16642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Penyelarasan dengan kebutuhan industri lokal.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41248" y="5010912"/>
            <a:ext cx="1810512" cy="384048"/>
          </a:xfrm>
          <a:prstGeom prst="rect">
            <a:avLst/>
          </a:prstGeom>
          <a:solidFill>
            <a:srgbClr val="EFF6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9536" y="5029200"/>
            <a:ext cx="1773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 DOKUMEN PATEN &amp; HKI RESMI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2779776" y="3200400"/>
            <a:ext cx="13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907792" y="1508760"/>
            <a:ext cx="2029968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07792" y="1508760"/>
            <a:ext cx="2029968" cy="7315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44952" y="1691640"/>
            <a:ext cx="5943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44952" y="171907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685032" y="173736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4–5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044952" y="208483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VALIDASI LAB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3044952" y="2359152"/>
            <a:ext cx="1783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Uji Fungsi Terbatas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044952" y="2670048"/>
            <a:ext cx="175564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44952" y="2871216"/>
            <a:ext cx="73152" cy="73152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163824" y="2816352"/>
            <a:ext cx="16642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Pengujian komponen di laboratorium canggih STP.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044952" y="3529584"/>
            <a:ext cx="73152" cy="73152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163824" y="3474720"/>
            <a:ext cx="16642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Simulasi performa &amp; optimasi rekayasa mesin.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044952" y="4187952"/>
            <a:ext cx="73152" cy="73152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163824" y="4133088"/>
            <a:ext cx="16642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Verifikasi standar teknis dasar kelayakan.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017520" y="5010912"/>
            <a:ext cx="1810512" cy="384048"/>
          </a:xfrm>
          <a:prstGeom prst="rect">
            <a:avLst/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5808" y="5029200"/>
            <a:ext cx="1773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 HASIL UJI LAB &amp; SIMULASI CAD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956048" y="3200400"/>
            <a:ext cx="13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084064" y="1508760"/>
            <a:ext cx="2029968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84064" y="1508760"/>
            <a:ext cx="2029968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221224" y="1691640"/>
            <a:ext cx="5943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21224" y="171907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861304" y="173736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6–7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221224" y="208483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PROTOTYPING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5221224" y="2359152"/>
            <a:ext cx="1783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Rekayasa Produk Nyata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221224" y="2670048"/>
            <a:ext cx="175564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221224" y="2871216"/>
            <a:ext cx="73152" cy="7315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340096" y="2816352"/>
            <a:ext cx="16642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Fabrikasi purwarupa skala industri di Fablab.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221224" y="3529584"/>
            <a:ext cx="73152" cy="7315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340096" y="3474720"/>
            <a:ext cx="16642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coba operasional pada lingkungan kerja nyata.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5221224" y="4187952"/>
            <a:ext cx="73152" cy="7315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40096" y="4133088"/>
            <a:ext cx="16642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Penyempurnaan desain ergonomi &amp; biaya produksi.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5193792" y="5010912"/>
            <a:ext cx="1810512" cy="384048"/>
          </a:xfrm>
          <a:prstGeom prst="rect">
            <a:avLst/>
          </a:prstGeom>
          <a:solidFill>
            <a:srgbClr val="EFF6FF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2080" y="5029200"/>
            <a:ext cx="1773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 PURWARUPA FISIK TRL 7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132320" y="3200400"/>
            <a:ext cx="13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7260336" y="1508760"/>
            <a:ext cx="2029968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60336" y="1508760"/>
            <a:ext cx="202996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97496" y="1691640"/>
            <a:ext cx="594360" cy="292608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97496" y="171907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8037576" y="173736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8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7397496" y="208483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UJI PASAR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7397496" y="2359152"/>
            <a:ext cx="1783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Sertifikasi &amp; Pasar Terbatas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7397496" y="2670048"/>
            <a:ext cx="175564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397496" y="2871216"/>
            <a:ext cx="73152" cy="7315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516368" y="2816352"/>
            <a:ext cx="16642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klinis/kelayakan resmi (BBPK, Kemenkes, SNI).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7397496" y="3529584"/>
            <a:ext cx="73152" cy="7315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516368" y="3474720"/>
            <a:ext cx="16642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Piloting produk pada 3–5 pengguna percontohan.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7397496" y="4187952"/>
            <a:ext cx="73152" cy="7315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516368" y="4133088"/>
            <a:ext cx="16642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Perhitungan kelayakan harga jual dan margin.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7370064" y="5010912"/>
            <a:ext cx="1810512" cy="384048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388352" y="5029200"/>
            <a:ext cx="1773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 SERTIFIKASI SNI &amp; IZIN EDAR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9308592" y="3200400"/>
            <a:ext cx="13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9436608" y="1508760"/>
            <a:ext cx="2029968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436608" y="1508760"/>
            <a:ext cx="2029968" cy="731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573768" y="1691640"/>
            <a:ext cx="594360" cy="292608"/>
          </a:xfrm>
          <a:prstGeom prst="rect">
            <a:avLst/>
          </a:prstGeom>
          <a:solidFill>
            <a:srgbClr val="F0FDF4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573768" y="1719072"/>
            <a:ext cx="594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10213848" y="173736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9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9573768" y="208483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KOMERSIALISASI</a:t>
            </a:r>
            <a:endParaRPr lang="en-US" sz="1150" dirty="0"/>
          </a:p>
        </p:txBody>
      </p:sp>
      <p:sp>
        <p:nvSpPr>
          <p:cNvPr id="81" name="Text 79"/>
          <p:cNvSpPr/>
          <p:nvPr/>
        </p:nvSpPr>
        <p:spPr>
          <a:xfrm>
            <a:off x="9573768" y="2359152"/>
            <a:ext cx="1783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Produksi Massal &amp; Lisensi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9573768" y="2670048"/>
            <a:ext cx="175564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573768" y="2871216"/>
            <a:ext cx="73152" cy="7315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9692640" y="2816352"/>
            <a:ext cx="16642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Penayangan produk pada e-Katalog Lokal Pemkot.</a:t>
            </a:r>
            <a:endParaRPr lang="en-US" sz="950" dirty="0"/>
          </a:p>
        </p:txBody>
      </p:sp>
      <p:sp>
        <p:nvSpPr>
          <p:cNvPr id="85" name="Shape 83"/>
          <p:cNvSpPr/>
          <p:nvPr/>
        </p:nvSpPr>
        <p:spPr>
          <a:xfrm>
            <a:off x="9573768" y="3529584"/>
            <a:ext cx="73152" cy="7315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692640" y="3474720"/>
            <a:ext cx="16642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Kerjasama lisensi royalti atau spin-off startup.</a:t>
            </a:r>
            <a:endParaRPr lang="en-US" sz="950" dirty="0"/>
          </a:p>
        </p:txBody>
      </p:sp>
      <p:sp>
        <p:nvSpPr>
          <p:cNvPr id="87" name="Shape 85"/>
          <p:cNvSpPr/>
          <p:nvPr/>
        </p:nvSpPr>
        <p:spPr>
          <a:xfrm>
            <a:off x="9573768" y="4187952"/>
            <a:ext cx="73152" cy="7315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692640" y="4133088"/>
            <a:ext cx="16642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Penetrasi pasar swasta dan ekspor regional.</a:t>
            </a:r>
            <a:endParaRPr lang="en-US" sz="950" dirty="0"/>
          </a:p>
        </p:txBody>
      </p:sp>
      <p:sp>
        <p:nvSpPr>
          <p:cNvPr id="89" name="Shape 87"/>
          <p:cNvSpPr/>
          <p:nvPr/>
        </p:nvSpPr>
        <p:spPr>
          <a:xfrm>
            <a:off x="9546336" y="5010912"/>
            <a:ext cx="1810512" cy="384048"/>
          </a:xfrm>
          <a:prstGeom prst="rect">
            <a:avLst/>
          </a:prstGeom>
          <a:solidFill>
            <a:srgbClr val="F0FDF4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564624" y="5029200"/>
            <a:ext cx="1773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 LISTING e-KATALOG &amp; KONTRAK</a:t>
            </a:r>
            <a:endParaRPr lang="en-US" sz="750" dirty="0"/>
          </a:p>
        </p:txBody>
      </p:sp>
      <p:sp>
        <p:nvSpPr>
          <p:cNvPr id="91" name="Shape 89"/>
          <p:cNvSpPr/>
          <p:nvPr/>
        </p:nvSpPr>
        <p:spPr>
          <a:xfrm>
            <a:off x="731520" y="5669280"/>
            <a:ext cx="10728655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14400" y="5724144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MENJAWAB LEMBAH KEMATIAN INOVASI: Dengan pipeline terstruktur ini, hasil riset dosen dan mahasiswa Solo Raya tidak lagi mandek di perpustakaan kampus, melainkan secara bertahap dibimbing hingga terbit izin edar dan masuk ke pasar komersial.</a:t>
            </a:r>
            <a:endParaRPr lang="en-US" sz="1050" dirty="0"/>
          </a:p>
        </p:txBody>
      </p:sp>
      <p:sp>
        <p:nvSpPr>
          <p:cNvPr id="93" name="Shape 91"/>
          <p:cNvSpPr/>
          <p:nvPr/>
        </p:nvSpPr>
        <p:spPr>
          <a:xfrm>
            <a:off x="731520" y="63550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31520" y="6419088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PEMERINTAH KOTA SURAKARTA  •  BADAN RISET DAN INOVASI DAERAH (BRIDA)  •  ROADMAP 2026–2030</a:t>
            </a:r>
            <a:endParaRPr lang="en-US" sz="750" dirty="0"/>
          </a:p>
        </p:txBody>
      </p:sp>
      <p:sp>
        <p:nvSpPr>
          <p:cNvPr id="95" name="Text 93"/>
          <p:cNvSpPr/>
          <p:nvPr/>
        </p:nvSpPr>
        <p:spPr>
          <a:xfrm>
            <a:off x="7772400" y="6419088"/>
            <a:ext cx="368777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EDISI ZEN ENTERPRISE ULTRA (18 SLIDES)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9144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PORTOFOLIO INOVASI RIIL // BUKTI IMPLEMENTASI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9601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SHOWCASE PRODUK HILIRISASI &amp; FASILITAS CANGGIH KAWASAN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1024128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Nyata Hasil Riset yang Telah Digunakan Industri dan Infrastruktur Laboratorium Pendukung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515600" y="43891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/  18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08760"/>
            <a:ext cx="5212080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508760"/>
            <a:ext cx="5212080" cy="7315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6916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PRODUK INOVASI UNGGULAN TERUJI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2011680"/>
            <a:ext cx="475488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51560" y="2084832"/>
            <a:ext cx="1005840" cy="201168"/>
          </a:xfrm>
          <a:prstGeom prst="rect">
            <a:avLst/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2103120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AGRO-TECH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121408" y="2066544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Agri IoT &amp; Monitoring Tanah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663440" y="2066544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8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51560" y="2322576"/>
            <a:ext cx="4526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 &amp; Kelompok Tani  •  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kelembaban tanah &amp; cuaca terintegrasi smartphone, hemat air 40%.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60120" y="2688336"/>
            <a:ext cx="475488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51560" y="2761488"/>
            <a:ext cx="1005840" cy="201168"/>
          </a:xfrm>
          <a:prstGeom prst="rect">
            <a:avLst/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1560" y="2779776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ALKES / MEDIS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121408" y="274320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Kursi Roda Cerdas Kontrol Sinyal Otak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63440" y="274320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7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51560" y="2999232"/>
            <a:ext cx="4526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Poltekkes &amp; RSUD  •  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Alat bantu disabilitas motorik berat berbasis sensor EEG dan navigasi AI.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60120" y="3364992"/>
            <a:ext cx="475488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51560" y="3438144"/>
            <a:ext cx="1005840" cy="201168"/>
          </a:xfrm>
          <a:prstGeom prst="rect">
            <a:avLst/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51560" y="3456432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IKM PANGAN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121408" y="3419856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Mesin Sortasi Biji Kopi Presisi Tinggi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663440" y="3419856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9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51560" y="3675888"/>
            <a:ext cx="4526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Fak. Teknik UMS &amp; IKM  •  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Mesin sortasi optik otomatis meningkatkan kapasitas sortir IKM kopi 300%.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60120" y="4041648"/>
            <a:ext cx="475488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51560" y="4114800"/>
            <a:ext cx="1005840" cy="201168"/>
          </a:xfrm>
          <a:prstGeom prst="rect">
            <a:avLst/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51560" y="4133088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FARMASI HERBAL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121408" y="4096512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Ekstrak Herbal Terstandar Antioksidan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663440" y="4096512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8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51560" y="4352544"/>
            <a:ext cx="4526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Unisri &amp; Industri Jamu  •  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Formulasi jamu modern berizin BPOM siap ekspor ke kawasan Asia Tenggara.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60120" y="4718304"/>
            <a:ext cx="475488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51560" y="4791456"/>
            <a:ext cx="1005840" cy="201168"/>
          </a:xfrm>
          <a:prstGeom prst="rect">
            <a:avLst/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51560" y="4809744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BIOMEDIS 3D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2121408" y="477316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Implan Tulang Titan Kustomisasi 3D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663440" y="4773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7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51560" y="5029200"/>
            <a:ext cx="4526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Konsorsium Medis Solo  •  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 medis presisi dibuat dengan 3D Metal Printer di Fablab STP.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48095" y="1508760"/>
            <a:ext cx="5212080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48095" y="1508760"/>
            <a:ext cx="5212080" cy="731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76695" y="16916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FASILITAS LABORATORIUM CANGGIH KAWASAN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476695" y="2011680"/>
            <a:ext cx="475488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13855" y="2066544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Fablab &amp; Studio Desain Digital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10180015" y="2066544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Utilisasi 85%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613855" y="2304288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Metal/Resin Printer, Laser Cutting, dan Workstation CAD/CAM canggih.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76695" y="2688336"/>
            <a:ext cx="475488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13855" y="274320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Machining &amp; CNC Center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10180015" y="274320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Utilisasi 90%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613855" y="2980944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Mesin CNC Milling 5-Axis dan Bubut Presisi untuk cetakan mold &amp; suku cadang alkes.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476695" y="3364992"/>
            <a:ext cx="475488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13855" y="3419856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Agro-Biotech &amp; Food Testing Lab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10180015" y="3419856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Utilisasi 75%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613855" y="3657600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Laboratorium pengujian nutrisi makanan, sertifikasi halal, dan olahan pangan IKM.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476695" y="4041648"/>
            <a:ext cx="475488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613855" y="409651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&amp; Digital Animation Studio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10180015" y="4096512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Utilisasi 80%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613855" y="4334256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Didukung Garena &amp; Shopee: Motion capture studio, render farm, dan coding game.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476695" y="4718304"/>
            <a:ext cx="475488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613855" y="477316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 &amp; Gas Skill Center (OGSCI)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10180015" y="477316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Utilisasi 92%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613855" y="5010912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Pusat diklat &amp; sertifikasi pengelasan bawah air (underwater welding) internasional.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31520" y="5669280"/>
            <a:ext cx="10728655" cy="50292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14400" y="5724144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INFRASTRUKTUR KELAS DUNIA: Seluruh fasilitas laboratorium di atas telah beroperasi penuh dan siap melayani permintaan rekayasa industri nasional, pelatihan vokasi, serta pengujian mutu produk tenant.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731520" y="63550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1520" y="6419088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PEMERINTAH KOTA SURAKARTA  •  BADAN RISET DAN INOVASI DAERAH (BRIDA)  •  ROADMAP 2026–2030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7772400" y="6419088"/>
            <a:ext cx="368777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EDISI ZEN ENTERPRISE ULTRA (18 SLIDES)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9144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KOLABORASI MULTI-STAKEHOLDER // JARINGAN MITRA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9601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EKOSISTEM HEXAHELIX: 95+ MITRA STRATEGIS GLOBAL &amp; NASIONAL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1024128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Membangun Ekosistem Berkelanjutan Murni Berbasis Kerjasama Tanpa Beban Belanja Modal APBD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515600" y="43891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/  18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08760"/>
            <a:ext cx="3456432" cy="1965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508760"/>
            <a:ext cx="3456432" cy="73152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673352"/>
            <a:ext cx="438912" cy="438912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87552" y="1746504"/>
            <a:ext cx="292608" cy="29260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98448" y="1655064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AKADEMISI (KAMPUS)</a:t>
            </a:r>
            <a:endParaRPr lang="en-US" sz="920" dirty="0"/>
          </a:p>
        </p:txBody>
      </p:sp>
      <p:sp>
        <p:nvSpPr>
          <p:cNvPr id="12" name="Shape 9"/>
          <p:cNvSpPr/>
          <p:nvPr/>
        </p:nvSpPr>
        <p:spPr>
          <a:xfrm>
            <a:off x="2779776" y="1645920"/>
            <a:ext cx="1261872" cy="237744"/>
          </a:xfrm>
          <a:prstGeom prst="rect">
            <a:avLst/>
          </a:prstGeom>
          <a:solidFill>
            <a:srgbClr val="EFF6FF"/>
          </a:solidFill>
          <a:ln w="9525">
            <a:solidFill>
              <a:srgbClr val="1E3A8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779776" y="1664208"/>
            <a:ext cx="1261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Kampus Mitra</a:t>
            </a:r>
            <a:endParaRPr lang="en-US" sz="820" dirty="0"/>
          </a:p>
        </p:txBody>
      </p:sp>
      <p:sp>
        <p:nvSpPr>
          <p:cNvPr id="14" name="Text 11"/>
          <p:cNvSpPr/>
          <p:nvPr/>
        </p:nvSpPr>
        <p:spPr>
          <a:xfrm>
            <a:off x="914400" y="2011680"/>
            <a:ext cx="30906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Penyuplai riset terapan, dosen pakar, dan talenta mahasiswa tugas akhir.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914400" y="2423160"/>
            <a:ext cx="30906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2468880"/>
            <a:ext cx="3090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Mitra Tergabung: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914400" y="2651760"/>
            <a:ext cx="30906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UNS, UMS, ISI Surakarta, Unisri, Poltek Solo, ATMI, Undip, UGM, ITB.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370832" y="1508760"/>
            <a:ext cx="3456432" cy="1965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70832" y="1508760"/>
            <a:ext cx="3456432" cy="7315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553712" y="1673352"/>
            <a:ext cx="438912" cy="438912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26864" y="1746504"/>
            <a:ext cx="292608" cy="292608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937760" y="1655064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BISNIS &amp; INDUSTRI</a:t>
            </a:r>
            <a:endParaRPr lang="en-US" sz="920" dirty="0"/>
          </a:p>
        </p:txBody>
      </p:sp>
      <p:sp>
        <p:nvSpPr>
          <p:cNvPr id="23" name="Shape 19"/>
          <p:cNvSpPr/>
          <p:nvPr/>
        </p:nvSpPr>
        <p:spPr>
          <a:xfrm>
            <a:off x="6419088" y="1645920"/>
            <a:ext cx="1261872" cy="237744"/>
          </a:xfrm>
          <a:prstGeom prst="rect">
            <a:avLst/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419088" y="1664208"/>
            <a:ext cx="1261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Korporasi Mitra</a:t>
            </a:r>
            <a:endParaRPr lang="en-US" sz="820" dirty="0"/>
          </a:p>
        </p:txBody>
      </p:sp>
      <p:sp>
        <p:nvSpPr>
          <p:cNvPr id="25" name="Text 21"/>
          <p:cNvSpPr/>
          <p:nvPr/>
        </p:nvSpPr>
        <p:spPr>
          <a:xfrm>
            <a:off x="4553712" y="2011680"/>
            <a:ext cx="30906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Offtaker lulusan vokasi, penyedia kurikulum industri, dan investor tenant.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4553712" y="2423160"/>
            <a:ext cx="30906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553712" y="2468880"/>
            <a:ext cx="3090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Mitra Tergabung: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4553712" y="2651760"/>
            <a:ext cx="30906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Shopee, Garena, Indosat, ACER, Microsoft, Bukalapak, GoTo, Petrokimia.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8010144" y="1508760"/>
            <a:ext cx="3456432" cy="1965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10144" y="1508760"/>
            <a:ext cx="3456432" cy="731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8193024" y="1673352"/>
            <a:ext cx="438912" cy="438912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66176" y="1746504"/>
            <a:ext cx="292608" cy="292608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8577072" y="1655064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KOMUNITAS INOVATOR</a:t>
            </a:r>
            <a:endParaRPr lang="en-US" sz="920" dirty="0"/>
          </a:p>
        </p:txBody>
      </p:sp>
      <p:sp>
        <p:nvSpPr>
          <p:cNvPr id="34" name="Shape 29"/>
          <p:cNvSpPr/>
          <p:nvPr/>
        </p:nvSpPr>
        <p:spPr>
          <a:xfrm>
            <a:off x="10058400" y="1645920"/>
            <a:ext cx="1261872" cy="237744"/>
          </a:xfrm>
          <a:prstGeom prst="rect">
            <a:avLst/>
          </a:prstGeom>
          <a:solidFill>
            <a:srgbClr val="F0FDF4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10058400" y="1664208"/>
            <a:ext cx="1261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Komunitas Aktif</a:t>
            </a:r>
            <a:endParaRPr lang="en-US" sz="820" dirty="0"/>
          </a:p>
        </p:txBody>
      </p:sp>
      <p:sp>
        <p:nvSpPr>
          <p:cNvPr id="36" name="Text 31"/>
          <p:cNvSpPr/>
          <p:nvPr/>
        </p:nvSpPr>
        <p:spPr>
          <a:xfrm>
            <a:off x="8193024" y="2011680"/>
            <a:ext cx="30906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Aktivasi event kreatif, hackathon berkala, dan jejaring wirausaha pemula.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8193024" y="2423160"/>
            <a:ext cx="30906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8193024" y="2468880"/>
            <a:ext cx="3090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Mitra Tergabung:</a:t>
            </a:r>
            <a:endParaRPr lang="en-US" sz="800" dirty="0"/>
          </a:p>
        </p:txBody>
      </p:sp>
      <p:sp>
        <p:nvSpPr>
          <p:cNvPr id="39" name="Text 34"/>
          <p:cNvSpPr/>
          <p:nvPr/>
        </p:nvSpPr>
        <p:spPr>
          <a:xfrm>
            <a:off x="8193024" y="2651760"/>
            <a:ext cx="30906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Creative City Network, Komunitas Robotik, Solo Developer, MakerSpace.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731520" y="3566160"/>
            <a:ext cx="3456432" cy="1965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731520" y="3566160"/>
            <a:ext cx="3456432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914400" y="3730752"/>
            <a:ext cx="438912" cy="438912"/>
          </a:xfrm>
          <a:prstGeom prst="rect">
            <a:avLst/>
          </a:prstGeom>
          <a:solidFill>
            <a:srgbClr val="FFFBEB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7552" y="3803904"/>
            <a:ext cx="292608" cy="292608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1298448" y="3712464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PEMERINTAH &amp; REGULATOR</a:t>
            </a:r>
            <a:endParaRPr lang="en-US" sz="920" dirty="0"/>
          </a:p>
        </p:txBody>
      </p:sp>
      <p:sp>
        <p:nvSpPr>
          <p:cNvPr id="45" name="Shape 39"/>
          <p:cNvSpPr/>
          <p:nvPr/>
        </p:nvSpPr>
        <p:spPr>
          <a:xfrm>
            <a:off x="2779776" y="3703320"/>
            <a:ext cx="1261872" cy="237744"/>
          </a:xfrm>
          <a:prstGeom prst="rect">
            <a:avLst/>
          </a:prstGeom>
          <a:solidFill>
            <a:srgbClr val="FFFBEB"/>
          </a:solidFill>
          <a:ln w="9525">
            <a:solidFill>
              <a:srgbClr val="D97706"/>
            </a:solidFill>
            <a:prstDash val="solid"/>
          </a:ln>
        </p:spPr>
      </p:sp>
      <p:sp>
        <p:nvSpPr>
          <p:cNvPr id="46" name="Text 40"/>
          <p:cNvSpPr/>
          <p:nvPr/>
        </p:nvSpPr>
        <p:spPr>
          <a:xfrm>
            <a:off x="2779776" y="3721608"/>
            <a:ext cx="1261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Instansi Terkait</a:t>
            </a:r>
            <a:endParaRPr lang="en-US" sz="820" dirty="0"/>
          </a:p>
        </p:txBody>
      </p:sp>
      <p:sp>
        <p:nvSpPr>
          <p:cNvPr id="47" name="Text 41"/>
          <p:cNvSpPr/>
          <p:nvPr/>
        </p:nvSpPr>
        <p:spPr>
          <a:xfrm>
            <a:off x="914400" y="4069080"/>
            <a:ext cx="30906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Penyedia regulasi afirmatif, sertifikasi paten, dan standardisasi produk.</a:t>
            </a:r>
            <a:endParaRPr lang="en-US" sz="950" dirty="0"/>
          </a:p>
        </p:txBody>
      </p:sp>
      <p:sp>
        <p:nvSpPr>
          <p:cNvPr id="48" name="Shape 42"/>
          <p:cNvSpPr/>
          <p:nvPr/>
        </p:nvSpPr>
        <p:spPr>
          <a:xfrm>
            <a:off x="914400" y="4480560"/>
            <a:ext cx="30906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914400" y="4526280"/>
            <a:ext cx="3090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Mitra Tergabung:</a:t>
            </a:r>
            <a:endParaRPr lang="en-US" sz="800" dirty="0"/>
          </a:p>
        </p:txBody>
      </p:sp>
      <p:sp>
        <p:nvSpPr>
          <p:cNvPr id="50" name="Text 44"/>
          <p:cNvSpPr/>
          <p:nvPr/>
        </p:nvSpPr>
        <p:spPr>
          <a:xfrm>
            <a:off x="914400" y="4709160"/>
            <a:ext cx="30906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BRIN, Kemenperin, Kemenkop UKM, Kemendiktisaintek, Bappeda, Dinas Koperasi.</a:t>
            </a:r>
            <a:endParaRPr lang="en-US" sz="950" dirty="0"/>
          </a:p>
        </p:txBody>
      </p:sp>
      <p:sp>
        <p:nvSpPr>
          <p:cNvPr id="51" name="Shape 45"/>
          <p:cNvSpPr/>
          <p:nvPr/>
        </p:nvSpPr>
        <p:spPr>
          <a:xfrm>
            <a:off x="4370832" y="3566160"/>
            <a:ext cx="3456432" cy="1965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Shape 46"/>
          <p:cNvSpPr/>
          <p:nvPr/>
        </p:nvSpPr>
        <p:spPr>
          <a:xfrm>
            <a:off x="4370832" y="3566160"/>
            <a:ext cx="3456432" cy="731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4553712" y="3730752"/>
            <a:ext cx="438912" cy="438912"/>
          </a:xfrm>
          <a:prstGeom prst="rect">
            <a:avLst/>
          </a:prstGeom>
          <a:solidFill>
            <a:srgbClr val="FAF5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26864" y="3803904"/>
            <a:ext cx="292608" cy="292608"/>
          </a:xfrm>
          <a:prstGeom prst="rect">
            <a:avLst/>
          </a:prstGeom>
        </p:spPr>
      </p:pic>
      <p:sp>
        <p:nvSpPr>
          <p:cNvPr id="55" name="Text 48"/>
          <p:cNvSpPr/>
          <p:nvPr/>
        </p:nvSpPr>
        <p:spPr>
          <a:xfrm>
            <a:off x="4937760" y="3712464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LEMBAGA KEUANGAN</a:t>
            </a:r>
            <a:endParaRPr lang="en-US" sz="920" dirty="0"/>
          </a:p>
        </p:txBody>
      </p:sp>
      <p:sp>
        <p:nvSpPr>
          <p:cNvPr id="56" name="Shape 49"/>
          <p:cNvSpPr/>
          <p:nvPr/>
        </p:nvSpPr>
        <p:spPr>
          <a:xfrm>
            <a:off x="6419088" y="3703320"/>
            <a:ext cx="1261872" cy="237744"/>
          </a:xfrm>
          <a:prstGeom prst="rect">
            <a:avLst/>
          </a:prstGeom>
          <a:solidFill>
            <a:srgbClr val="FAF5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57" name="Text 50"/>
          <p:cNvSpPr/>
          <p:nvPr/>
        </p:nvSpPr>
        <p:spPr>
          <a:xfrm>
            <a:off x="6419088" y="3721608"/>
            <a:ext cx="1261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Bank &amp; Investor</a:t>
            </a:r>
            <a:endParaRPr lang="en-US" sz="820" dirty="0"/>
          </a:p>
        </p:txBody>
      </p:sp>
      <p:sp>
        <p:nvSpPr>
          <p:cNvPr id="58" name="Text 51"/>
          <p:cNvSpPr/>
          <p:nvPr/>
        </p:nvSpPr>
        <p:spPr>
          <a:xfrm>
            <a:off x="4553712" y="4069080"/>
            <a:ext cx="30906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Akses permodalan modal kerja, KUR inovasi, dan literasi transaksi digital.</a:t>
            </a:r>
            <a:endParaRPr lang="en-US" sz="950" dirty="0"/>
          </a:p>
        </p:txBody>
      </p:sp>
      <p:sp>
        <p:nvSpPr>
          <p:cNvPr id="59" name="Shape 52"/>
          <p:cNvSpPr/>
          <p:nvPr/>
        </p:nvSpPr>
        <p:spPr>
          <a:xfrm>
            <a:off x="4553712" y="4480560"/>
            <a:ext cx="30906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0" name="Text 53"/>
          <p:cNvSpPr/>
          <p:nvPr/>
        </p:nvSpPr>
        <p:spPr>
          <a:xfrm>
            <a:off x="4553712" y="4526280"/>
            <a:ext cx="3090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Mitra Tergabung:</a:t>
            </a:r>
            <a:endParaRPr lang="en-US" sz="800" dirty="0"/>
          </a:p>
        </p:txBody>
      </p:sp>
      <p:sp>
        <p:nvSpPr>
          <p:cNvPr id="61" name="Text 54"/>
          <p:cNvSpPr/>
          <p:nvPr/>
        </p:nvSpPr>
        <p:spPr>
          <a:xfrm>
            <a:off x="4553712" y="4709160"/>
            <a:ext cx="30906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Indonesia Solo, OJK Solo Raya, Bank Jateng, BRI, Mandiri, Angel Investors.</a:t>
            </a:r>
            <a:endParaRPr lang="en-US" sz="950" dirty="0"/>
          </a:p>
        </p:txBody>
      </p:sp>
      <p:sp>
        <p:nvSpPr>
          <p:cNvPr id="62" name="Shape 55"/>
          <p:cNvSpPr/>
          <p:nvPr/>
        </p:nvSpPr>
        <p:spPr>
          <a:xfrm>
            <a:off x="8010144" y="3566160"/>
            <a:ext cx="3456432" cy="1965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Shape 56"/>
          <p:cNvSpPr/>
          <p:nvPr/>
        </p:nvSpPr>
        <p:spPr>
          <a:xfrm>
            <a:off x="8010144" y="3566160"/>
            <a:ext cx="345643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4" name="Shape 57"/>
          <p:cNvSpPr/>
          <p:nvPr/>
        </p:nvSpPr>
        <p:spPr>
          <a:xfrm>
            <a:off x="8193024" y="3730752"/>
            <a:ext cx="438912" cy="438912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65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66176" y="3803904"/>
            <a:ext cx="292608" cy="292608"/>
          </a:xfrm>
          <a:prstGeom prst="rect">
            <a:avLst/>
          </a:prstGeom>
        </p:spPr>
      </p:pic>
      <p:sp>
        <p:nvSpPr>
          <p:cNvPr id="66" name="Text 58"/>
          <p:cNvSpPr/>
          <p:nvPr/>
        </p:nvSpPr>
        <p:spPr>
          <a:xfrm>
            <a:off x="8577072" y="3712464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&amp; AGREGATOR</a:t>
            </a:r>
            <a:endParaRPr lang="en-US" sz="920" dirty="0"/>
          </a:p>
        </p:txBody>
      </p:sp>
      <p:sp>
        <p:nvSpPr>
          <p:cNvPr id="67" name="Shape 59"/>
          <p:cNvSpPr/>
          <p:nvPr/>
        </p:nvSpPr>
        <p:spPr>
          <a:xfrm>
            <a:off x="10058400" y="3703320"/>
            <a:ext cx="1261872" cy="237744"/>
          </a:xfrm>
          <a:prstGeom prst="rect">
            <a:avLst/>
          </a:prstGeom>
          <a:solidFill>
            <a:srgbClr val="FEF2F2"/>
          </a:solidFill>
          <a:ln w="9525">
            <a:solidFill>
              <a:srgbClr val="DC2626"/>
            </a:solidFill>
            <a:prstDash val="solid"/>
          </a:ln>
        </p:spPr>
      </p:sp>
      <p:sp>
        <p:nvSpPr>
          <p:cNvPr id="68" name="Text 60"/>
          <p:cNvSpPr/>
          <p:nvPr/>
        </p:nvSpPr>
        <p:spPr>
          <a:xfrm>
            <a:off x="10058400" y="3721608"/>
            <a:ext cx="1261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Jaringan Media</a:t>
            </a:r>
            <a:endParaRPr lang="en-US" sz="820" dirty="0"/>
          </a:p>
        </p:txBody>
      </p:sp>
      <p:sp>
        <p:nvSpPr>
          <p:cNvPr id="69" name="Text 61"/>
          <p:cNvSpPr/>
          <p:nvPr/>
        </p:nvSpPr>
        <p:spPr>
          <a:xfrm>
            <a:off x="8193024" y="4069080"/>
            <a:ext cx="30906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Amplifikasi branding Solo sebagai Kota Inovasi dan promosi produk tenant.</a:t>
            </a:r>
            <a:endParaRPr lang="en-US" sz="950" dirty="0"/>
          </a:p>
        </p:txBody>
      </p:sp>
      <p:sp>
        <p:nvSpPr>
          <p:cNvPr id="70" name="Shape 62"/>
          <p:cNvSpPr/>
          <p:nvPr/>
        </p:nvSpPr>
        <p:spPr>
          <a:xfrm>
            <a:off x="8193024" y="4480560"/>
            <a:ext cx="30906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3"/>
          <p:cNvSpPr/>
          <p:nvPr/>
        </p:nvSpPr>
        <p:spPr>
          <a:xfrm>
            <a:off x="8193024" y="4526280"/>
            <a:ext cx="3090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Mitra Tergabung:</a:t>
            </a:r>
            <a:endParaRPr lang="en-US" sz="800" dirty="0"/>
          </a:p>
        </p:txBody>
      </p:sp>
      <p:sp>
        <p:nvSpPr>
          <p:cNvPr id="72" name="Text 64"/>
          <p:cNvSpPr/>
          <p:nvPr/>
        </p:nvSpPr>
        <p:spPr>
          <a:xfrm>
            <a:off x="8193024" y="4709160"/>
            <a:ext cx="309067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Solopos, Radar Solo, Tribun Solo, RRI Surakarta, Sindikasi Media Nasional.</a:t>
            </a:r>
            <a:endParaRPr lang="en-US" sz="950" dirty="0"/>
          </a:p>
        </p:txBody>
      </p:sp>
      <p:sp>
        <p:nvSpPr>
          <p:cNvPr id="73" name="Shape 65"/>
          <p:cNvSpPr/>
          <p:nvPr/>
        </p:nvSpPr>
        <p:spPr>
          <a:xfrm>
            <a:off x="731520" y="5669280"/>
            <a:ext cx="10728655" cy="50292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74" name="Text 66"/>
          <p:cNvSpPr/>
          <p:nvPr/>
        </p:nvSpPr>
        <p:spPr>
          <a:xfrm>
            <a:off x="914400" y="5724144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KOLABORASI TANPA APBD: Lebih dari 95 mitra strategis di atas hadir membawa investasi, peralatan laboratorium, dan kurikulum industri secara mandiri tanpa membebani pagu APBD Kota Surakarta sepeser pun.</a:t>
            </a:r>
            <a:endParaRPr lang="en-US" sz="1050" dirty="0"/>
          </a:p>
        </p:txBody>
      </p:sp>
      <p:sp>
        <p:nvSpPr>
          <p:cNvPr id="75" name="Shape 67"/>
          <p:cNvSpPr/>
          <p:nvPr/>
        </p:nvSpPr>
        <p:spPr>
          <a:xfrm>
            <a:off x="731520" y="63550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6" name="Text 68"/>
          <p:cNvSpPr/>
          <p:nvPr/>
        </p:nvSpPr>
        <p:spPr>
          <a:xfrm>
            <a:off x="731520" y="6419088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PEMERINTAH KOTA SURAKARTA  •  BADAN RISET DAN INOVASI DAERAH (BRIDA)  •  ROADMAP 2026–2030</a:t>
            </a:r>
            <a:endParaRPr lang="en-US" sz="750" dirty="0"/>
          </a:p>
        </p:txBody>
      </p:sp>
      <p:sp>
        <p:nvSpPr>
          <p:cNvPr id="77" name="Text 69"/>
          <p:cNvSpPr/>
          <p:nvPr/>
        </p:nvSpPr>
        <p:spPr>
          <a:xfrm>
            <a:off x="7772400" y="6419088"/>
            <a:ext cx="368777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EDISI ZEN ENTERPRISE ULTRA (18 SLIDES)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9144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DIAGNOSA STRATEGIS DAERAH // PROBLEM STATEMENT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9601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DIAGNOSA 5 GAP STRUKTURAL &amp; BOTTLENECK EKSISTING STP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1024128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Identifikasi Hambatan Utama yang Menahan Akselerasi Kemandirian dan Optimalisasi Dampak STP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515600" y="43891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/  18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08760"/>
            <a:ext cx="10728655" cy="731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508760"/>
            <a:ext cx="109728" cy="7315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1618488"/>
            <a:ext cx="822960" cy="256032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163677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920240" y="1618488"/>
            <a:ext cx="8961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TATA KELOLA SDM &amp; REMUNERASI PROFESIONAL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1892808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Akar Masalah: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 penggajian birokrasi kaku menyulitkan retensi mentor teknologi &amp; manajer bisnis kelas dunia.   </a:t>
            </a:r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Dampak Nyata: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Turn-over tenaga ahli tinggi; pengoperasian lab canggih (CNC/Biotech) sering terkendala ketiadaan operator ahli.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1520" y="2313432"/>
            <a:ext cx="10728655" cy="731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2313432"/>
            <a:ext cx="109728" cy="7315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2423160"/>
            <a:ext cx="822960" cy="256032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2441448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02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920240" y="2423160"/>
            <a:ext cx="8961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KEMANDIRIAN FINANSIAL &amp; SUBSIDI OPERASIONAL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60120" y="2697480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Akar Masalah: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Rasio kemandirian finansial saat ini masih di bawah 45%, operasional dasar masih bergantung pada belanja rutin APBD.   </a:t>
            </a:r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Dampak Nyata: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Kapasitas ekspansi program terbatas pada besaran pagu anggaran daerah tahunan yang terus berfluktuasi.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1520" y="3118104"/>
            <a:ext cx="10728655" cy="731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3118104"/>
            <a:ext cx="109728" cy="7315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0120" y="3227832"/>
            <a:ext cx="822960" cy="256032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" y="3246120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03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920240" y="3227832"/>
            <a:ext cx="8961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UTILISASI ASET LAHAN TIDUR &amp; REGULASI SEWA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0120" y="3502152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Akar Masalah: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adanya regulasi fleksibilitas sewa lahan jangka panjang (10-25 tahun) yang memberikan kepastian hukum bagi investor.   </a:t>
            </a:r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Dampak Nyata: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Lahan strategis seluas ribuan meter persegi belum termonetisasi; investor swasta menunda pembangunan fasilitas fisik.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1520" y="3922776"/>
            <a:ext cx="10728655" cy="731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1520" y="3922776"/>
            <a:ext cx="109728" cy="7315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60120" y="4032504"/>
            <a:ext cx="822960" cy="256032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0120" y="4050792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04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920240" y="4032504"/>
            <a:ext cx="8961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HILIRISASI RISET KAMPUS BELUM TERINTEGRASI PASAR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60120" y="4306824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Akar Masalah: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Lebih dari 80% riset dosen dan inovasi mahasiswa Solo Raya mandek pada laporan perpustakaan (TRL 3-4).   </a:t>
            </a:r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Dampak Nyata: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Kebutuhan teknologi industri manufaktur dan alkes di Solo Raya tetap dipasok oleh produk impor luar negeri.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31520" y="4727448"/>
            <a:ext cx="10728655" cy="731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31520" y="4727448"/>
            <a:ext cx="109728" cy="7315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60120" y="4837176"/>
            <a:ext cx="822960" cy="256032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0120" y="4855464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05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920240" y="4837176"/>
            <a:ext cx="8961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ACCESS &amp; SERAPAN PRODUK TENANT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60120" y="5111496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Akar Masalah: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teknologi buatan tenant binaan STP belum diprioritaskan dalam sistem belanja pengadaan barang/jasa dinas Pemkot.   </a:t>
            </a:r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Dampak Nyata: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 inovasi kesulitan mendapatkan "First Paying Client" yang krusial untuk membuktikan rekam jejak pasar.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31520" y="5669280"/>
            <a:ext cx="10728655" cy="50292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5724144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KESIMPULAN AUDIT MASALAH: Hambatan terbesar akselerasi Solo Technopark saat ini murni terletak pada sumbatan regulasi kepegawaian, skema sewa aset jangka panjang, dan ketiadaan perlindungan serapan pasar lokal.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731520" y="63550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" y="6419088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PEMERINTAH KOTA SURAKARTA  •  BADAN RISET DAN INOVASI DAERAH (BRIDA)  •  ROADMAP 2026–2030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7772400" y="6419088"/>
            <a:ext cx="368777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EDISI ZEN ENTERPRISE ULTRA (18 SLIDES)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9144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 TEROBOSAN // SOLUTION STATEMENT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9601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LIMA SOLUSI TEROBOSAN STRATEGIS &amp; QUICK WINS 30 HARI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1024128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Jawaban Konkret untuk Mengatasi 5 GAP Struktural Menuju Kemandirian Penuh BLUD 2030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515600" y="43891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/  18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08760"/>
            <a:ext cx="10728655" cy="731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508760"/>
            <a:ext cx="109728" cy="7315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1618488"/>
            <a:ext cx="914400" cy="256032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1636776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011680" y="1618488"/>
            <a:ext cx="8961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REKRUTMEN MANAJEMEN PROFESIONAL NON-PNS DENGAN REMUNERASI BLUD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60120" y="1892808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Terobosan Strategis: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Penerbitan Keputusan Pemimpin BLUD tentang Struktur Organisasi Fleksibel dan Pola Insentif Kinerja berbasis standar korporasi.   </a:t>
            </a:r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Win 30 Hari: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Rekrutmen terbuka 3 Manajer Inkubasi &amp; Kemitraan Industri ex-korporasi teknologi dalam 30 hari pertama.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1520" y="2313432"/>
            <a:ext cx="10728655" cy="731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2313432"/>
            <a:ext cx="109728" cy="7315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2423160"/>
            <a:ext cx="914400" cy="256032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244144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02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011680" y="2423160"/>
            <a:ext cx="8961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DIVERSIFIKASI BISNIS KE 6 KLASTER PENDAPATAN KOMERSIAL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60120" y="2697480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Terobosan Strategis: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Restrukturisasi tarif layanan laboratorium, sertifikasi vokasi industri, dan optimalisasi sewa fasilitas MICE &amp; Edukasi.   </a:t>
            </a:r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Win 30 Hari: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Pemberlakuan e-Tarif Layanan STP baru yang kompetitif untuk 45 jenis uji laboratorium dan fabrikasi.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1520" y="3118104"/>
            <a:ext cx="10728655" cy="731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3118104"/>
            <a:ext cx="109728" cy="7315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0120" y="3227832"/>
            <a:ext cx="914400" cy="256032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" y="3246120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03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011680" y="3227832"/>
            <a:ext cx="8961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PERATURAN WALIKOTA TENTANG FLEKSIBILITAS KERJASAMA LAHAN 10–25 TAHUN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60120" y="3502152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Terobosan Strategis: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Penyusunan Perwali yang memberikan kepastian hukum skema Bangun Guna Serah (BGS) dan Long-Term Revenue Sharing.   </a:t>
            </a:r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Win 30 Hari: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Harmonisasi draf naskah Perwali bersama Bagian Hukum Setda &amp; BPKAD Surakarta dalam 30 hari pertama.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1520" y="3922776"/>
            <a:ext cx="10728655" cy="731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1520" y="3922776"/>
            <a:ext cx="109728" cy="7315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60120" y="4032504"/>
            <a:ext cx="914400" cy="256032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0120" y="4050792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04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011680" y="4032504"/>
            <a:ext cx="8961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SURAT EDARAN WALIKOTA PEMBENTUKAN KONSORSIUM RISET 5 KAMPUS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60120" y="4306824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Terobosan Strategis: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Mewajibkan 30% anggaran riset terapan kampus Solo Raya (UNS, UMS, ISI, Unisri, Poltek) dialokasikan untuk pemecahan masalah industri di STP.   </a:t>
            </a:r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Win 30 Hari: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Penandatanganan Nota Kesepahaman Bersama (MoU) 5 Rektor di hadapan Walikota Surakarta.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31520" y="4727448"/>
            <a:ext cx="10728655" cy="731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31520" y="4727448"/>
            <a:ext cx="109728" cy="7315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60120" y="4837176"/>
            <a:ext cx="914400" cy="256032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0120" y="485546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05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2011680" y="4837176"/>
            <a:ext cx="8961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INSTRUKSI WALIKOTA AFIRMASI e-KATALOG LOKAL BELANJA INOVASI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960120" y="5111496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Terobosan Strategis: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Menginstruksikan seluruh OPD Pemkot memprioritaskan belanja produk hasil riset tenant binaan STP melalui e-Katalog Lokal.   </a:t>
            </a:r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Win 30 Hari: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5 produk inovasi unggulan (Smart Agri IoT, Kursi Roda AI, Alkes) ke etalase e-Katalog Lokal.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31520" y="5669280"/>
            <a:ext cx="10728655" cy="50292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5724144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PRINSIP ZERO APBD BURDEN: Kelima solusi terobosan di atas tidak menuntut penambahan pagu belanja modal APBD, melainkan membuka keran kemandirian melalui kepastian regulasi kepemimpinan Walikota.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731520" y="63550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" y="6419088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PEMERINTAH KOTA SURAKARTA  •  BADAN RISET DAN INOVASI DAERAH (BRIDA)  •  ROADMAP 2026–2030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7772400" y="6419088"/>
            <a:ext cx="368777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EDISI ZEN ENTERPRISE ULTRA (18 SLIDES)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9144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PENTAHAPAN STRATEGIS // ROADMAP 5 TAHUN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9601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TIGA FASE TRANSFORMASI SOLO TECHNOPARK (2026–2030)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1024128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Tahapan Terukur Menuju Kemandirian Finansial Penuh dan Pengakuan sebagai Hub Inovasi Nasional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515600" y="43891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/  18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08760"/>
            <a:ext cx="3456432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508760"/>
            <a:ext cx="3456432" cy="73152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691640"/>
            <a:ext cx="29992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 (2026–2027)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3272" y="2011680"/>
            <a:ext cx="329184" cy="32918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463040" y="196596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KONSOLIDASI &amp; DEREGULASI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960120" y="2395728"/>
            <a:ext cx="2999232" cy="457200"/>
          </a:xfrm>
          <a:prstGeom prst="rect">
            <a:avLst/>
          </a:prstGeom>
          <a:solidFill>
            <a:srgbClr val="EFF6FF"/>
          </a:solidFill>
          <a:ln w="9525">
            <a:solidFill>
              <a:srgbClr val="1E3A8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51560" y="2423160"/>
            <a:ext cx="281635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PENDAPATAN: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051560" y="2596896"/>
            <a:ext cx="28163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8,20 M → Rp 12,85 M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960120" y="3026664"/>
            <a:ext cx="82296" cy="8229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115568" y="29718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Penerbitan 3 Regulasi Kunci (Inkwal e-Katalog, Perwali Lahan, SE Konsorsium).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60120" y="3529584"/>
            <a:ext cx="82296" cy="8229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15568" y="34747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Penetapan struktur organisasi baru &amp; rekrutmen manajer profesional.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960120" y="4032504"/>
            <a:ext cx="82296" cy="8229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115568" y="39776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Optimalisasi utilisasi 5 fasilitas laboratorium canggih hingga 85%.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60120" y="4535424"/>
            <a:ext cx="82296" cy="8229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115568" y="44805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Revitalisasi infrastruktur digital &amp; pemetaan aset lahan tidur kawasan.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960120" y="5038344"/>
            <a:ext cx="82296" cy="8229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15568" y="49834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Rasio kemandirian finansial mencapai 50% dari total kebutuhan operasional.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370832" y="1508760"/>
            <a:ext cx="3456432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70832" y="1508760"/>
            <a:ext cx="3456432" cy="7315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99432" y="1691640"/>
            <a:ext cx="29992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 (2028–2029)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4599432" y="1938528"/>
            <a:ext cx="475488" cy="475488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72584" y="2011680"/>
            <a:ext cx="329184" cy="329184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102352" y="196596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AKSELERASI &amp; BREAK-EVEN POINT</a:t>
            </a:r>
            <a:endParaRPr lang="en-US" sz="1250" dirty="0"/>
          </a:p>
        </p:txBody>
      </p:sp>
      <p:sp>
        <p:nvSpPr>
          <p:cNvPr id="32" name="Shape 28"/>
          <p:cNvSpPr/>
          <p:nvPr/>
        </p:nvSpPr>
        <p:spPr>
          <a:xfrm>
            <a:off x="4599432" y="2395728"/>
            <a:ext cx="2999232" cy="457200"/>
          </a:xfrm>
          <a:prstGeom prst="rect">
            <a:avLst/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4690872" y="2423160"/>
            <a:ext cx="281635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PENDAPATAN (BEP):</a:t>
            </a:r>
            <a:endParaRPr lang="en-US" sz="800" dirty="0"/>
          </a:p>
        </p:txBody>
      </p:sp>
      <p:sp>
        <p:nvSpPr>
          <p:cNvPr id="34" name="Text 30"/>
          <p:cNvSpPr/>
          <p:nvPr/>
        </p:nvSpPr>
        <p:spPr>
          <a:xfrm>
            <a:off x="4690872" y="2596896"/>
            <a:ext cx="28163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15,60 M → Rp 18,50 M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4599432" y="3026664"/>
            <a:ext cx="82296" cy="82296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4754880" y="29718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PENCAPAIAN BREAK-EVEN POINT (BEP) PENUH PADA AKHIR TAHUN 2029.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4599432" y="3529584"/>
            <a:ext cx="82296" cy="82296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754880" y="34747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Realisasi groundbreaking 2 gedung riset industri kemitraan lahan BLUD.</a:t>
            </a:r>
            <a:endParaRPr lang="en-US" sz="1050" dirty="0"/>
          </a:p>
        </p:txBody>
      </p:sp>
      <p:sp>
        <p:nvSpPr>
          <p:cNvPr id="39" name="Shape 35"/>
          <p:cNvSpPr/>
          <p:nvPr/>
        </p:nvSpPr>
        <p:spPr>
          <a:xfrm>
            <a:off x="4599432" y="4032504"/>
            <a:ext cx="82296" cy="82296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4754880" y="39776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Komersialisasi massal 10 produk riset unggulan konsorsium kampus.</a:t>
            </a:r>
            <a:endParaRPr lang="en-US" sz="1050" dirty="0"/>
          </a:p>
        </p:txBody>
      </p:sp>
      <p:sp>
        <p:nvSpPr>
          <p:cNvPr id="41" name="Shape 37"/>
          <p:cNvSpPr/>
          <p:nvPr/>
        </p:nvSpPr>
        <p:spPr>
          <a:xfrm>
            <a:off x="4599432" y="4535424"/>
            <a:ext cx="82296" cy="82296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4754880" y="44805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Ekspansi program diklat vokasi industri bersertifikasi internasional.</a:t>
            </a:r>
            <a:endParaRPr lang="en-US" sz="1050" dirty="0"/>
          </a:p>
        </p:txBody>
      </p:sp>
      <p:sp>
        <p:nvSpPr>
          <p:cNvPr id="43" name="Shape 39"/>
          <p:cNvSpPr/>
          <p:nvPr/>
        </p:nvSpPr>
        <p:spPr>
          <a:xfrm>
            <a:off x="4599432" y="5038344"/>
            <a:ext cx="82296" cy="82296"/>
          </a:xfrm>
          <a:prstGeom prst="ellipse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4754880" y="49834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biaya operasional rutin dibiayai mandiri tanpa subsidi APBD.</a:t>
            </a:r>
            <a:endParaRPr lang="en-US" sz="1050" dirty="0"/>
          </a:p>
        </p:txBody>
      </p:sp>
      <p:sp>
        <p:nvSpPr>
          <p:cNvPr id="45" name="Shape 41"/>
          <p:cNvSpPr/>
          <p:nvPr/>
        </p:nvSpPr>
        <p:spPr>
          <a:xfrm>
            <a:off x="8010144" y="1508760"/>
            <a:ext cx="3456432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8010144" y="1508760"/>
            <a:ext cx="3456432" cy="731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8238744" y="1691640"/>
            <a:ext cx="29992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 (2030)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8238744" y="1938528"/>
            <a:ext cx="475488" cy="475488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11896" y="2011680"/>
            <a:ext cx="329184" cy="329184"/>
          </a:xfrm>
          <a:prstGeom prst="rect">
            <a:avLst/>
          </a:prstGeom>
        </p:spPr>
      </p:pic>
      <p:sp>
        <p:nvSpPr>
          <p:cNvPr id="50" name="Text 45"/>
          <p:cNvSpPr/>
          <p:nvPr/>
        </p:nvSpPr>
        <p:spPr>
          <a:xfrm>
            <a:off x="8741664" y="196596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MANDIRI PENUH &amp; EKSPANSI</a:t>
            </a:r>
            <a:endParaRPr lang="en-US" sz="1250" dirty="0"/>
          </a:p>
        </p:txBody>
      </p:sp>
      <p:sp>
        <p:nvSpPr>
          <p:cNvPr id="51" name="Shape 46"/>
          <p:cNvSpPr/>
          <p:nvPr/>
        </p:nvSpPr>
        <p:spPr>
          <a:xfrm>
            <a:off x="8238744" y="2395728"/>
            <a:ext cx="2999232" cy="457200"/>
          </a:xfrm>
          <a:prstGeom prst="rect">
            <a:avLst/>
          </a:prstGeom>
          <a:solidFill>
            <a:srgbClr val="F0FDF4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8330184" y="2423160"/>
            <a:ext cx="281635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PENDAPATAN (SURPLUS):</a:t>
            </a:r>
            <a:endParaRPr lang="en-US" sz="800" dirty="0"/>
          </a:p>
        </p:txBody>
      </p:sp>
      <p:sp>
        <p:nvSpPr>
          <p:cNvPr id="53" name="Text 48"/>
          <p:cNvSpPr/>
          <p:nvPr/>
        </p:nvSpPr>
        <p:spPr>
          <a:xfrm>
            <a:off x="8330184" y="2596896"/>
            <a:ext cx="28163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23,47 Miliar / Tahun</a:t>
            </a:r>
            <a:endParaRPr lang="en-US" sz="1100" dirty="0"/>
          </a:p>
        </p:txBody>
      </p:sp>
      <p:sp>
        <p:nvSpPr>
          <p:cNvPr id="54" name="Shape 49"/>
          <p:cNvSpPr/>
          <p:nvPr/>
        </p:nvSpPr>
        <p:spPr>
          <a:xfrm>
            <a:off x="8238744" y="3026664"/>
            <a:ext cx="82296" cy="8229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394192" y="29718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Pencapaian surplus operasional bersih BLUD sebesar Rp 4,97 Miliar.</a:t>
            </a:r>
            <a:endParaRPr lang="en-US" sz="1050" dirty="0"/>
          </a:p>
        </p:txBody>
      </p:sp>
      <p:sp>
        <p:nvSpPr>
          <p:cNvPr id="56" name="Shape 51"/>
          <p:cNvSpPr/>
          <p:nvPr/>
        </p:nvSpPr>
        <p:spPr>
          <a:xfrm>
            <a:off x="8238744" y="3529584"/>
            <a:ext cx="82296" cy="8229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8394192" y="34747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Technopark diakui sebagai Top-3 KST Terbaik di Tingkat Nasional.</a:t>
            </a:r>
            <a:endParaRPr lang="en-US" sz="1050" dirty="0"/>
          </a:p>
        </p:txBody>
      </p:sp>
      <p:sp>
        <p:nvSpPr>
          <p:cNvPr id="58" name="Shape 53"/>
          <p:cNvSpPr/>
          <p:nvPr/>
        </p:nvSpPr>
        <p:spPr>
          <a:xfrm>
            <a:off x="8238744" y="4032504"/>
            <a:ext cx="82296" cy="8229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8394192" y="39776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Ekspansi layanan sertifikasi &amp; pengujian ke skala regional Jawa Tengah.</a:t>
            </a:r>
            <a:endParaRPr lang="en-US" sz="1050" dirty="0"/>
          </a:p>
        </p:txBody>
      </p:sp>
      <p:sp>
        <p:nvSpPr>
          <p:cNvPr id="60" name="Shape 55"/>
          <p:cNvSpPr/>
          <p:nvPr/>
        </p:nvSpPr>
        <p:spPr>
          <a:xfrm>
            <a:off x="8238744" y="4535424"/>
            <a:ext cx="82296" cy="8229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8394192" y="44805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Penyetoran dividen PAD ke kas daerah Pemkot Surakarta secara berkala.</a:t>
            </a:r>
            <a:endParaRPr lang="en-US" sz="1050" dirty="0"/>
          </a:p>
        </p:txBody>
      </p:sp>
      <p:sp>
        <p:nvSpPr>
          <p:cNvPr id="62" name="Shape 57"/>
          <p:cNvSpPr/>
          <p:nvPr/>
        </p:nvSpPr>
        <p:spPr>
          <a:xfrm>
            <a:off x="8238744" y="5038344"/>
            <a:ext cx="82296" cy="8229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8394192" y="49834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Kawasan mandiri energi dan pusat ekosistem ekonomi sirkular modern.</a:t>
            </a:r>
            <a:endParaRPr lang="en-US" sz="1050" dirty="0"/>
          </a:p>
        </p:txBody>
      </p:sp>
      <p:sp>
        <p:nvSpPr>
          <p:cNvPr id="64" name="Shape 59"/>
          <p:cNvSpPr/>
          <p:nvPr/>
        </p:nvSpPr>
        <p:spPr>
          <a:xfrm>
            <a:off x="731520" y="5669280"/>
            <a:ext cx="10728655" cy="50292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914400" y="5724144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TRAJEKTORI PASTI: Roadmap 2026–2030 ini bukan angan-angan, melainkan rencana bertahap dengan milestone terukur yang mengarahkan Solo Technopark mencapai titik impas kemandirian pada tahun 2029.</a:t>
            </a:r>
            <a:endParaRPr lang="en-US" sz="1050" dirty="0"/>
          </a:p>
        </p:txBody>
      </p:sp>
      <p:sp>
        <p:nvSpPr>
          <p:cNvPr id="66" name="Shape 61"/>
          <p:cNvSpPr/>
          <p:nvPr/>
        </p:nvSpPr>
        <p:spPr>
          <a:xfrm>
            <a:off x="731520" y="63550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31520" y="6419088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PEMERINTAH KOTA SURAKARTA  •  BADAN RISET DAN INOVASI DAERAH (BRIDA)  •  ROADMAP 2026–2030</a:t>
            </a:r>
            <a:endParaRPr lang="en-US" sz="750" dirty="0"/>
          </a:p>
        </p:txBody>
      </p:sp>
      <p:sp>
        <p:nvSpPr>
          <p:cNvPr id="68" name="Text 63"/>
          <p:cNvSpPr/>
          <p:nvPr/>
        </p:nvSpPr>
        <p:spPr>
          <a:xfrm>
            <a:off x="7772400" y="6419088"/>
            <a:ext cx="368777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EDISI ZEN ENTERPRISE ULTRA (18 SLIDES)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9144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TRAJEKTORI KEMANDIRIAN BLUD // TARGET FINANSIAL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9601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RE-SETTING TARGET PENDAPATAN BLUD MENUJU BEP 2029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1024128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Lonjakan Pendapatan dari Rp 8,20 M (2026) Menuju Rp 23,47 M (2030) dengan Titik Impas di 2029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515600" y="43891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/  18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731520" y="1508760"/>
          <a:ext cx="6217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1188720" y="2788920"/>
            <a:ext cx="3291840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dash"/>
          </a:ln>
        </p:spPr>
      </p:sp>
      <p:sp>
        <p:nvSpPr>
          <p:cNvPr id="9" name="Shape 6"/>
          <p:cNvSpPr/>
          <p:nvPr/>
        </p:nvSpPr>
        <p:spPr>
          <a:xfrm>
            <a:off x="1188720" y="2523744"/>
            <a:ext cx="3291840" cy="237744"/>
          </a:xfrm>
          <a:prstGeom prst="rect">
            <a:avLst/>
          </a:prstGeom>
          <a:solidFill>
            <a:srgbClr val="F0FDF4"/>
          </a:solidFill>
          <a:ln w="9525">
            <a:solidFill>
              <a:srgbClr val="BBF7D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234440" y="254203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AMBANG BEP MANDIRI: Rp 18,50 M (Dicapai 2029)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7253935" y="1508760"/>
            <a:ext cx="4206240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253935" y="1508760"/>
            <a:ext cx="91440" cy="123444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452360" y="16184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LOMPATAN FINANSIAL +212,8%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452360" y="182880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23,47 M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7452360" y="219456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Pertumbuhan pendapatan BLUD lebih dari 3 kali lipat dalam 5 tahun, dipicu oleh beroperasinya kemitraan sewa lahan dan hilirisasi produk riset.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253935" y="2862072"/>
            <a:ext cx="4206240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253935" y="2862072"/>
            <a:ext cx="91440" cy="1234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52360" y="297180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TITIK IMPAS MANDIRI (BEP)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452360" y="318211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Tahun 2029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7452360" y="3547872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Pada tahun 2029, pendapatan mandiri sebesar Rp 18,50 Miliar telah menutup 100% biaya operasional rutin (gaji non-PNS, listrik lab, dan pemeliharaan).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53935" y="4215384"/>
            <a:ext cx="4206240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253935" y="4215384"/>
            <a:ext cx="91440" cy="1234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452360" y="4325112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EFISIENSI BELANJA APBD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452360" y="4535424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10,2 M / Thn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7452360" y="4901184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Pelepasan subsidi operasional secara bertahap menghemat belanja Pemkot hingga Rp 10,2 M/tahun yang dapat direalokasikan untuk program kesejahteraan warga.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731520" y="5669280"/>
            <a:ext cx="10728655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14400" y="5724144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AKUNTABILITAS FISKAL: Lintasan pertumbuhan ini disusun berdasarkan kontrak berjalan, re-setting tarif pengujian lab, dan proyeksi konservatif pemanfaatan aset lahan yang siap eksekusi.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31520" y="63550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31520" y="6419088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PEMERINTAH KOTA SURAKARTA  •  BADAN RISET DAN INOVASI DAERAH (BRIDA)  •  ROADMAP 2026–2030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7772400" y="6419088"/>
            <a:ext cx="368777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EDISI ZEN ENTERPRISE ULTRA (18 SLIDES)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9144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STRUKTUR REVENUE STREAM // ANALISIS PORTOFOLIO 2030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9601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KOMPOSISI 6 KLASTER PENDAPATAN &amp; TOP 5 KATALISATOR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1024128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Diversifikasi Sumber Penerimaan untuk Memastikan Stabilitas Keuangan Tanpa Ketergantungan Tunggal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515600" y="43891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/  18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731520" y="1508760"/>
          <a:ext cx="51206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1920240" y="283464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2030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23,47 M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56655" y="1508760"/>
            <a:ext cx="5303520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156655" y="1508760"/>
            <a:ext cx="5303520" cy="73152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385255" y="169164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KATALISATOR PENDAPATAN TERTINGGI 2030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385255" y="2011680"/>
            <a:ext cx="48463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73952" y="2121408"/>
            <a:ext cx="384048" cy="384048"/>
          </a:xfrm>
          <a:prstGeom prst="rect">
            <a:avLst/>
          </a:prstGeom>
          <a:solidFill>
            <a:srgbClr val="EFF6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73952" y="217627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949440" y="2084832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Sewa Lahan Kampus Satelit Industri (Zona Utara)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0195560" y="2084832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6,50 M / Thn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949440" y="2340864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Kontribusi Porsi: 27,7% terhadap total pendapatan STP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6385255" y="2688336"/>
            <a:ext cx="48463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73952" y="2798064"/>
            <a:ext cx="384048" cy="384048"/>
          </a:xfrm>
          <a:prstGeom prst="rect">
            <a:avLst/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73952" y="285292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949440" y="2761488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Sewa Gedung Komersial &amp; Office IT (Zona Tengah)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195560" y="2761488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3,20 M / Thn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949440" y="3017520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Kontribusi Porsi: 13,6% terhadap total pendapatan STP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6385255" y="3364992"/>
            <a:ext cx="48463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473952" y="3474720"/>
            <a:ext cx="384048" cy="384048"/>
          </a:xfrm>
          <a:prstGeom prst="rect">
            <a:avLst/>
          </a:prstGeom>
          <a:solidFill>
            <a:srgbClr val="EFF6FF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73952" y="352958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949440" y="3438144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Kelas Diklat Industri Vokasi &amp; Migas (OGSCI)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0195560" y="3438144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2,80 M / Thn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949440" y="3694176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Kontribusi Porsi: 11,9% terhadap total pendapatan STP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385255" y="4041648"/>
            <a:ext cx="48463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73952" y="4151376"/>
            <a:ext cx="384048" cy="384048"/>
          </a:xfrm>
          <a:prstGeom prst="rect">
            <a:avLst/>
          </a:prstGeom>
          <a:solidFill>
            <a:srgbClr val="EFF6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73952" y="420624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6949440" y="4114800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Jasa Machining CNC Presisi &amp; Fablab 3D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10195560" y="4114800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1,85 M / Thn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6949440" y="437083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Kontribusi Porsi: 7,9% terhadap total pendapatan STP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385255" y="4718304"/>
            <a:ext cx="48463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473952" y="4828032"/>
            <a:ext cx="384048" cy="384048"/>
          </a:xfrm>
          <a:prstGeom prst="rect">
            <a:avLst/>
          </a:prstGeom>
          <a:solidFill>
            <a:srgbClr val="EFF6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473952" y="488289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6949440" y="4791456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Sewa Coworking Space &amp; Akselerasi Startup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10195560" y="4791456"/>
            <a:ext cx="960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1,40 M / Thn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6949440" y="504748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Kontribusi Porsi: 6,0% terhadap total pendapatan STP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731520" y="5669280"/>
            <a:ext cx="10728655" cy="50292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914400" y="5724144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STABILITAS FINANSIAL: 5 katalisator terbesar di atas menyumbang 67,1% total penerimaan. Kombinasi sewa lahan jangka panjang (penerimaan pasti) dan jasa teknologi (pertumbuhan dinamis) menjamin arus kas BLUD sangat sehat.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731520" y="63550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31520" y="6419088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PEMERINTAH KOTA SURAKARTA  •  BADAN RISET DAN INOVASI DAERAH (BRIDA)  •  ROADMAP 2026–2030</a:t>
            </a:r>
            <a:endParaRPr lang="en-US" sz="750" dirty="0"/>
          </a:p>
        </p:txBody>
      </p:sp>
      <p:sp>
        <p:nvSpPr>
          <p:cNvPr id="46" name="Text 43"/>
          <p:cNvSpPr/>
          <p:nvPr/>
        </p:nvSpPr>
        <p:spPr>
          <a:xfrm>
            <a:off x="7772400" y="6419088"/>
            <a:ext cx="368777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EDISI ZEN ENTERPRISE ULTRA (18 SLIDES)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9144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 FINANSIAL // THE ANCHOR REVENUE ENGINE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9601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 KLASTER A: KERJASAMA PEMANFAATAN LAHAN &amp; ASET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1024128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 Pendapatan Jangkar Senilai Rp 12.825.000.000 (54,6% dari Total Target Mandiri 2030)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515600" y="43891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 /  18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08760"/>
            <a:ext cx="4206240" cy="402336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" y="178308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17830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KLASTER A // ANCHOR ENGINE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005840" y="21031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PEMANFAATAN LAHAN &amp; GEDUNG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05840" y="28346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12.825.000.000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1005840" y="33375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Kontribusi: 54,6% dari Total Target Mandiri STP 2030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005840" y="3657600"/>
            <a:ext cx="3657600" cy="0"/>
          </a:xfrm>
          <a:prstGeom prst="line">
            <a:avLst/>
          </a:prstGeom>
          <a:noFill/>
          <a:ln w="12700">
            <a:solidFill>
              <a:srgbClr val="1E40A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05840" y="3794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Karakteristik Finansial: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05840" y="402336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Pendapatan Pasif Pasti: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Kontrak sewa multi-tahun (10–25 thn) memberikan stabilitas penerimaan tanpa biaya variabel harian.
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Zero APBD Burden: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Pembangunan fisik gedung R&amp;D dibiayai 100% oleh mitra industri swasta.
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Kunci Keberhasilan: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Membutuhkan payung hukum Perwali Fleksibilitas Kerjasama Lahan BLUD.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166360" y="1508760"/>
            <a:ext cx="6293815" cy="8961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166360" y="1508760"/>
            <a:ext cx="91440" cy="89611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76672" y="1600200"/>
            <a:ext cx="1508760" cy="201168"/>
          </a:xfrm>
          <a:prstGeom prst="rect">
            <a:avLst/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76672" y="1618488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ZONA UTARA (1,2 HA)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6949440" y="1581912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Sewa Lahan Kampus Satelit Industri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9601200" y="158191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6.500.000.000 / Thn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376672" y="1856232"/>
            <a:ext cx="5897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Porsi: 50,7% Klaster A  •  Pemanfaatan lahan tidur 1,2 Ha untuk pendirian gedung pusat riset &amp; pengembangan permanen oleh 2 korporasi teknologi global dengan sewa 20 tahun.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166360" y="2514600"/>
            <a:ext cx="6293815" cy="8961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166360" y="2514600"/>
            <a:ext cx="91440" cy="89611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376672" y="2606040"/>
            <a:ext cx="1508760" cy="201168"/>
          </a:xfrm>
          <a:prstGeom prst="rect">
            <a:avLst/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376672" y="2624328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ZONA TENGAH (15 TENANT)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6949440" y="2587752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Sewa Gedung Perkantoran IT &amp; Retail Inovasi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9601200" y="258775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3.200.000.000 / Thn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376672" y="2862072"/>
            <a:ext cx="5897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Porsi: 25,0% Klaster A  •  Penyewaan ruang kantor siap pakai untuk 15 perusahaan software house, konsultan IT nasional, dan showroom produk teknologi tenant.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166360" y="3520440"/>
            <a:ext cx="6293815" cy="8961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166360" y="3520440"/>
            <a:ext cx="91440" cy="89611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376672" y="3611880"/>
            <a:ext cx="1508760" cy="201168"/>
          </a:xfrm>
          <a:prstGeom prst="rect">
            <a:avLst/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376672" y="3630168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KEMITRAAN MICE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6949440" y="3593592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Kerjasama Operasional MICE &amp; Fasilitas Kawasan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9601200" y="359359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1.850.000.000 / Thn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376672" y="3867912"/>
            <a:ext cx="5897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Porsi: 14,4% Klaster A  •  Skema bagi hasil operasional gedung serbaguna, arena pertemuan, dan fasilitas penunjang kawasan bersama operator event management profesional.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5166360" y="4526280"/>
            <a:ext cx="6293815" cy="8961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166360" y="4526280"/>
            <a:ext cx="91440" cy="89611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76672" y="4617720"/>
            <a:ext cx="1508760" cy="201168"/>
          </a:xfrm>
          <a:prstGeom prst="rect">
            <a:avLst/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376672" y="4636008"/>
            <a:ext cx="1508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ADVERTISING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6949440" y="4599432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Ruang Terbuka &amp; Digital Signage Advertising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9601200" y="4599432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1.275.000.000 / Thn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5376672" y="4873752"/>
            <a:ext cx="5897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Porsi: 9,9% Klaster A  •  Monetisasi videotron digital LED luar ruang di gerbang kawasan STP, penamaan gedung (naming rights), dan booth sponsor tahunan mitra korporasi.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731520" y="5669280"/>
            <a:ext cx="10728655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914400" y="5724144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PONDASI FINANSIAL UTAMA: Penerbitan regulasi fleksibilitas kerjasama lahan jangka panjang adalah "kunci pembuka gerbang" pendapatan Rp 12,82 Miliar ini. Begitu regulasi terbit, pendapatan mandiri STP langsung melonjak drastis.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731520" y="63550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31520" y="6419088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PEMERINTAH KOTA SURAKARTA  •  BADAN RISET DAN INOVASI DAERAH (BRIDA)  •  ROADMAP 2026–2030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7772400" y="6419088"/>
            <a:ext cx="368777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EDISI ZEN ENTERPRISE ULTRA (18 SLIDES)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9144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 FINANSIAL // SERVICE &amp; INNOVATION REVENUE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9601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 KLASTER B–F: LAYANAN INOVASI &amp; JASA TEKNOLOGI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1024128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Pendapatan Berbasis Jasa, Sertifikasi, dan Pengujian Senilai Rp 10.643.158.831 (45,4% dari Total Target)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515600" y="43891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 /  18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08760"/>
            <a:ext cx="10728655" cy="731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508760"/>
            <a:ext cx="109728" cy="73152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1618488"/>
            <a:ext cx="1005840" cy="256032"/>
          </a:xfrm>
          <a:prstGeom prst="rect">
            <a:avLst/>
          </a:prstGeom>
          <a:solidFill>
            <a:srgbClr val="EFF6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163677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KLASTER B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103120" y="1618488"/>
            <a:ext cx="6217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DIKLAT VOKASI &amp; SERTIFIKASI KOMPETENSI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412480" y="1618488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3.920.000.000  (16,7%)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1911096"/>
            <a:ext cx="10241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Rincian Layanan Unggulan: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Diklat Industri Vokasi (Migas, Underwater Welding, Otomasi PLC), Sertifikasi BNSP &amp; Internasional, In-House Training Korporasi.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2313432"/>
            <a:ext cx="10728655" cy="731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2313432"/>
            <a:ext cx="109728" cy="7315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2423160"/>
            <a:ext cx="1005840" cy="256032"/>
          </a:xfrm>
          <a:prstGeom prst="rect">
            <a:avLst/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2441448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KLASTER C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103120" y="2423160"/>
            <a:ext cx="6217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FABRIKASI PRESISI &amp; PENGUJIAN LABORATORIUM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412480" y="242316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2.450.000.000  (10,4%)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60120" y="2715768"/>
            <a:ext cx="10241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Rincian Layanan Unggulan: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Jasa Pemesinan CNC 5-Axis presisi, Fablab 3D Printing Logam &amp; Resin, Uji Mutu Bahan Pangan &amp; Ekstrak Herbal, Kalibrasi Alat Industri.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3118104"/>
            <a:ext cx="10728655" cy="731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" y="3118104"/>
            <a:ext cx="109728" cy="7315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" y="3227832"/>
            <a:ext cx="1005840" cy="256032"/>
          </a:xfrm>
          <a:prstGeom prst="rect">
            <a:avLst/>
          </a:prstGeom>
          <a:solidFill>
            <a:srgbClr val="F0FDF4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" y="324612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KLASTER D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103120" y="3227832"/>
            <a:ext cx="6217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INKUBASI BISNIS &amp; SEWA CO-WORKING SPACE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12480" y="3227832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1.750.000.000  (7,5%)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60120" y="3520440"/>
            <a:ext cx="10241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Rincian Layanan Unggulan: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Sewa ruang tenant startup, Dedicated Desk Co-working Space, Virtual Office UMKM, Manajemen Fee Akselerasi Bisnis Teknologi.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31520" y="3922776"/>
            <a:ext cx="10728655" cy="731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1520" y="3922776"/>
            <a:ext cx="109728" cy="7315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60120" y="4032504"/>
            <a:ext cx="1005840" cy="256032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" y="405079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KLASTER 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103120" y="4032504"/>
            <a:ext cx="6217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KONSULTANSI TEKNOLOGI &amp; RISET INDUSTRI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412480" y="4032504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1.400.000.000  (6,0%)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60120" y="4325112"/>
            <a:ext cx="10241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Rincian Layanan Unggulan: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 Kelayakan Teknis Industri, Reverse Engineering Mesin Manufaktur, Royalti Lisensi Paten Inovasi Kampus, Audit Energi &amp; IoT.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31520" y="4727448"/>
            <a:ext cx="10728655" cy="731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4727448"/>
            <a:ext cx="109728" cy="7315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60120" y="4837176"/>
            <a:ext cx="1005840" cy="256032"/>
          </a:xfrm>
          <a:prstGeom prst="rect">
            <a:avLst/>
          </a:prstGeom>
          <a:solidFill>
            <a:srgbClr val="FAF5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0120" y="485546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KLASTER F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2103120" y="4837176"/>
            <a:ext cx="6217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MICE &amp; WISATA EDUKASI TEKNOLOGI DAERAH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412480" y="4837176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1.123.158.831  (4,8%)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60120" y="5129784"/>
            <a:ext cx="10241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Rincian Layanan Unggulan: 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Tiket Wisata Edukasi Sains &amp; Teknologi untuk Pelajar se-Jateng &amp; DIY, Sewa Auditorium Seminar Nasional, Penyelenggaraan Expo Teknologi.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31520" y="5669280"/>
            <a:ext cx="10728655" cy="50292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5724144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TARGET PENDAPATAN MANDIRI 2030 (Klaster A + Klaster B s.d. F): Rp 23.468.158.831 (100% Bebas Subsidi Belanja Operasional APBD Surakarta).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31520" y="63550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1520" y="6419088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PEMERINTAH KOTA SURAKARTA  •  BADAN RISET DAN INOVASI DAERAH (BRIDA)  •  ROADMAP 2026–2030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7772400" y="6419088"/>
            <a:ext cx="368777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EDISI ZEN ENTERPRISE ULTRA (18 SLIDES)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9144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KONTRIBUSI NYATA // DAMPAK PEMBANGUNAN DAERAH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9601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 DIMENSI DAMPAK SOLO TECHNOPARK UNTUK KOTA SURAKARTA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1024128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Kuantitatif dan Kualitatif Keberhasilan Pembangunan Ekosistem Inovasi 2026–2030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515600" y="43891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 /  18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08760"/>
            <a:ext cx="3456432" cy="1965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508760"/>
            <a:ext cx="3456432" cy="73152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655064"/>
            <a:ext cx="438912" cy="438912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87552" y="1728216"/>
            <a:ext cx="292608" cy="29260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25880" y="1655064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DAMPAK EKONOMI DAERAH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914400" y="201168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18,5 Miliar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2880360" y="2057400"/>
            <a:ext cx="1143000" cy="219456"/>
          </a:xfrm>
          <a:prstGeom prst="rect">
            <a:avLst/>
          </a:prstGeom>
          <a:solidFill>
            <a:srgbClr val="EFF6FF"/>
          </a:solidFill>
          <a:ln w="9525">
            <a:solidFill>
              <a:srgbClr val="1E3A8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880360" y="2075688"/>
            <a:ext cx="1143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+300% MULTIPLIER EFFECT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914400" y="2377440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Omzet Komulatif Tenant Inovasi 2030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914400" y="2624328"/>
            <a:ext cx="30906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2697480"/>
            <a:ext cx="3090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Menciptakan perputaran ekonomi baru di Surakarta melalui komersialisasi produk inovasi teknologi dan pembentukan startup lokal.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370832" y="1508760"/>
            <a:ext cx="3456432" cy="1965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70832" y="1508760"/>
            <a:ext cx="3456432" cy="7315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553712" y="1655064"/>
            <a:ext cx="438912" cy="438912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26864" y="1728216"/>
            <a:ext cx="292608" cy="292608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965192" y="1655064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SERAPAN TENAGA KERJA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4553712" y="201168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1.500 Talenta / Thn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6519672" y="2057400"/>
            <a:ext cx="1143000" cy="219456"/>
          </a:xfrm>
          <a:prstGeom prst="rect">
            <a:avLst/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519672" y="2075688"/>
            <a:ext cx="1143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85%+ LULUSAN TERSERAP</a:t>
            </a:r>
            <a:endParaRPr lang="en-US" sz="700" dirty="0"/>
          </a:p>
        </p:txBody>
      </p:sp>
      <p:sp>
        <p:nvSpPr>
          <p:cNvPr id="26" name="Text 22"/>
          <p:cNvSpPr/>
          <p:nvPr/>
        </p:nvSpPr>
        <p:spPr>
          <a:xfrm>
            <a:off x="4553712" y="2377440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Terserap Industri dengan Upah Layak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4553712" y="2624328"/>
            <a:ext cx="30906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4553712" y="2697480"/>
            <a:ext cx="3090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85%+ lulusan diklat vokasi STP langsung terserap di industri teknologi nasional dan manufaktur presisi, menekan angka pengangguran terbuka.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8010144" y="1508760"/>
            <a:ext cx="3456432" cy="1965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10144" y="1508760"/>
            <a:ext cx="3456432" cy="731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8193024" y="1655064"/>
            <a:ext cx="438912" cy="438912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66176" y="1728216"/>
            <a:ext cx="292608" cy="292608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8604504" y="1655064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FISKAL &amp; PAD DAERAH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8193024" y="201168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10,2 Miliar / Thn</a:t>
            </a:r>
            <a:endParaRPr lang="en-US" sz="1700" dirty="0"/>
          </a:p>
        </p:txBody>
      </p:sp>
      <p:sp>
        <p:nvSpPr>
          <p:cNvPr id="35" name="Shape 30"/>
          <p:cNvSpPr/>
          <p:nvPr/>
        </p:nvSpPr>
        <p:spPr>
          <a:xfrm>
            <a:off x="10158984" y="2057400"/>
            <a:ext cx="1143000" cy="219456"/>
          </a:xfrm>
          <a:prstGeom prst="rect">
            <a:avLst/>
          </a:prstGeom>
          <a:solidFill>
            <a:srgbClr val="F0FDF4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10158984" y="2075688"/>
            <a:ext cx="1143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NOL SUBSIDI APBD 2029</a:t>
            </a:r>
            <a:endParaRPr lang="en-US" sz="700" dirty="0"/>
          </a:p>
        </p:txBody>
      </p:sp>
      <p:sp>
        <p:nvSpPr>
          <p:cNvPr id="37" name="Text 32"/>
          <p:cNvSpPr/>
          <p:nvPr/>
        </p:nvSpPr>
        <p:spPr>
          <a:xfrm>
            <a:off x="8193024" y="2377440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Efisiensi Belanja APBD Pasca-BEP</a:t>
            </a:r>
            <a:endParaRPr lang="en-US" sz="850" dirty="0"/>
          </a:p>
        </p:txBody>
      </p:sp>
      <p:sp>
        <p:nvSpPr>
          <p:cNvPr id="38" name="Shape 33"/>
          <p:cNvSpPr/>
          <p:nvPr/>
        </p:nvSpPr>
        <p:spPr>
          <a:xfrm>
            <a:off x="8193024" y="2624328"/>
            <a:ext cx="30906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8193024" y="2697480"/>
            <a:ext cx="3090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APBD tidak lagi terbebani subsidi operasional STP; kas daerah justru menerima kontribusi PAD melalui pajak dan retribusi kegiatan komersial.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731520" y="3566160"/>
            <a:ext cx="3456432" cy="1965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731520" y="3566160"/>
            <a:ext cx="3456432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914400" y="3712464"/>
            <a:ext cx="438912" cy="438912"/>
          </a:xfrm>
          <a:prstGeom prst="rect">
            <a:avLst/>
          </a:prstGeom>
          <a:solidFill>
            <a:srgbClr val="FFFBEB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4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7552" y="3785616"/>
            <a:ext cx="292608" cy="292608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1325880" y="3712464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EKOSISTEM INOVASI &amp; HKI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914400" y="406908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Paten &amp; Cipta</a:t>
            </a:r>
            <a:endParaRPr lang="en-US" sz="1700" dirty="0"/>
          </a:p>
        </p:txBody>
      </p:sp>
      <p:sp>
        <p:nvSpPr>
          <p:cNvPr id="46" name="Shape 40"/>
          <p:cNvSpPr/>
          <p:nvPr/>
        </p:nvSpPr>
        <p:spPr>
          <a:xfrm>
            <a:off x="2880360" y="4114800"/>
            <a:ext cx="1143000" cy="219456"/>
          </a:xfrm>
          <a:prstGeom prst="rect">
            <a:avLst/>
          </a:prstGeom>
          <a:solidFill>
            <a:srgbClr val="FFFBEB"/>
          </a:solidFill>
          <a:ln w="9525">
            <a:solidFill>
              <a:srgbClr val="D97706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2880360" y="4133088"/>
            <a:ext cx="1143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RUJUKAN INOVASI JATENG</a:t>
            </a:r>
            <a:endParaRPr lang="en-US" sz="700" dirty="0"/>
          </a:p>
        </p:txBody>
      </p:sp>
      <p:sp>
        <p:nvSpPr>
          <p:cNvPr id="48" name="Text 42"/>
          <p:cNvSpPr/>
          <p:nvPr/>
        </p:nvSpPr>
        <p:spPr>
          <a:xfrm>
            <a:off x="914400" y="4434840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Didaftarkan &amp; Dilisensikan ke Industri</a:t>
            </a:r>
            <a:endParaRPr lang="en-US" sz="850" dirty="0"/>
          </a:p>
        </p:txBody>
      </p:sp>
      <p:sp>
        <p:nvSpPr>
          <p:cNvPr id="49" name="Shape 43"/>
          <p:cNvSpPr/>
          <p:nvPr/>
        </p:nvSpPr>
        <p:spPr>
          <a:xfrm>
            <a:off x="914400" y="4681728"/>
            <a:ext cx="30906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4"/>
          <p:cNvSpPr/>
          <p:nvPr/>
        </p:nvSpPr>
        <p:spPr>
          <a:xfrm>
            <a:off x="914400" y="4754880"/>
            <a:ext cx="3090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menjadi rujukan pendaftaran dan komersialisasi kekayaan intelektual (HKI) perguruan tinggi dan inovator lokal di Jawa Tengah.</a:t>
            </a:r>
            <a:endParaRPr lang="en-US" sz="1000" dirty="0"/>
          </a:p>
        </p:txBody>
      </p:sp>
      <p:sp>
        <p:nvSpPr>
          <p:cNvPr id="51" name="Shape 45"/>
          <p:cNvSpPr/>
          <p:nvPr/>
        </p:nvSpPr>
        <p:spPr>
          <a:xfrm>
            <a:off x="4370832" y="3566160"/>
            <a:ext cx="3456432" cy="1965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Shape 46"/>
          <p:cNvSpPr/>
          <p:nvPr/>
        </p:nvSpPr>
        <p:spPr>
          <a:xfrm>
            <a:off x="4370832" y="3566160"/>
            <a:ext cx="3456432" cy="731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4553712" y="3712464"/>
            <a:ext cx="438912" cy="438912"/>
          </a:xfrm>
          <a:prstGeom prst="rect">
            <a:avLst/>
          </a:prstGeom>
          <a:solidFill>
            <a:srgbClr val="FAF5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26864" y="3785616"/>
            <a:ext cx="292608" cy="292608"/>
          </a:xfrm>
          <a:prstGeom prst="rect">
            <a:avLst/>
          </a:prstGeom>
        </p:spPr>
      </p:pic>
      <p:sp>
        <p:nvSpPr>
          <p:cNvPr id="55" name="Text 48"/>
          <p:cNvSpPr/>
          <p:nvPr/>
        </p:nvSpPr>
        <p:spPr>
          <a:xfrm>
            <a:off x="4965192" y="3712464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BRANDING KOTA INOVATIF</a:t>
            </a:r>
            <a:endParaRPr lang="en-US" sz="1000" dirty="0"/>
          </a:p>
        </p:txBody>
      </p:sp>
      <p:sp>
        <p:nvSpPr>
          <p:cNvPr id="56" name="Text 49"/>
          <p:cNvSpPr/>
          <p:nvPr/>
        </p:nvSpPr>
        <p:spPr>
          <a:xfrm>
            <a:off x="4553712" y="406908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Top-3 KST Nasional</a:t>
            </a:r>
            <a:endParaRPr lang="en-US" sz="1700" dirty="0"/>
          </a:p>
        </p:txBody>
      </p:sp>
      <p:sp>
        <p:nvSpPr>
          <p:cNvPr id="57" name="Shape 50"/>
          <p:cNvSpPr/>
          <p:nvPr/>
        </p:nvSpPr>
        <p:spPr>
          <a:xfrm>
            <a:off x="6519672" y="4114800"/>
            <a:ext cx="1143000" cy="219456"/>
          </a:xfrm>
          <a:prstGeom prst="rect">
            <a:avLst/>
          </a:prstGeom>
          <a:solidFill>
            <a:srgbClr val="FAF5FF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58" name="Text 51"/>
          <p:cNvSpPr/>
          <p:nvPr/>
        </p:nvSpPr>
        <p:spPr>
          <a:xfrm>
            <a:off x="6519672" y="4133088"/>
            <a:ext cx="1143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 INTERNASIONAL</a:t>
            </a:r>
            <a:endParaRPr lang="en-US" sz="700" dirty="0"/>
          </a:p>
        </p:txBody>
      </p:sp>
      <p:sp>
        <p:nvSpPr>
          <p:cNvPr id="59" name="Text 52"/>
          <p:cNvSpPr/>
          <p:nvPr/>
        </p:nvSpPr>
        <p:spPr>
          <a:xfrm>
            <a:off x="4553712" y="4434840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Rujukan Nasional &amp; Internasional</a:t>
            </a:r>
            <a:endParaRPr lang="en-US" sz="850" dirty="0"/>
          </a:p>
        </p:txBody>
      </p:sp>
      <p:sp>
        <p:nvSpPr>
          <p:cNvPr id="60" name="Shape 53"/>
          <p:cNvSpPr/>
          <p:nvPr/>
        </p:nvSpPr>
        <p:spPr>
          <a:xfrm>
            <a:off x="4553712" y="4681728"/>
            <a:ext cx="30906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4"/>
          <p:cNvSpPr/>
          <p:nvPr/>
        </p:nvSpPr>
        <p:spPr>
          <a:xfrm>
            <a:off x="4553712" y="4754880"/>
            <a:ext cx="3090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Meningkatkan citra Kota Surakarta dari kota budaya-heritage menjadi kota modern yang memadukan budaya luhur dengan inovasi teknologi masa depan.</a:t>
            </a:r>
            <a:endParaRPr lang="en-US" sz="1000" dirty="0"/>
          </a:p>
        </p:txBody>
      </p:sp>
      <p:sp>
        <p:nvSpPr>
          <p:cNvPr id="62" name="Shape 55"/>
          <p:cNvSpPr/>
          <p:nvPr/>
        </p:nvSpPr>
        <p:spPr>
          <a:xfrm>
            <a:off x="8010144" y="3566160"/>
            <a:ext cx="3456432" cy="1965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Shape 56"/>
          <p:cNvSpPr/>
          <p:nvPr/>
        </p:nvSpPr>
        <p:spPr>
          <a:xfrm>
            <a:off x="8010144" y="3566160"/>
            <a:ext cx="345643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4" name="Shape 57"/>
          <p:cNvSpPr/>
          <p:nvPr/>
        </p:nvSpPr>
        <p:spPr>
          <a:xfrm>
            <a:off x="8193024" y="3712464"/>
            <a:ext cx="438912" cy="438912"/>
          </a:xfrm>
          <a:prstGeom prst="rect">
            <a:avLst/>
          </a:prstGeom>
          <a:solidFill>
            <a:srgbClr val="FEF2F2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65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66176" y="3785616"/>
            <a:ext cx="292608" cy="292608"/>
          </a:xfrm>
          <a:prstGeom prst="rect">
            <a:avLst/>
          </a:prstGeom>
        </p:spPr>
      </p:pic>
      <p:sp>
        <p:nvSpPr>
          <p:cNvPr id="66" name="Text 58"/>
          <p:cNvSpPr/>
          <p:nvPr/>
        </p:nvSpPr>
        <p:spPr>
          <a:xfrm>
            <a:off x="8604504" y="3712464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INKLUSI &amp; EDUKASI WARGA</a:t>
            </a:r>
            <a:endParaRPr lang="en-US" sz="1000" dirty="0"/>
          </a:p>
        </p:txBody>
      </p:sp>
      <p:sp>
        <p:nvSpPr>
          <p:cNvPr id="67" name="Text 59"/>
          <p:cNvSpPr/>
          <p:nvPr/>
        </p:nvSpPr>
        <p:spPr>
          <a:xfrm>
            <a:off x="8193024" y="406908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25.000 Pelajar / Thn</a:t>
            </a:r>
            <a:endParaRPr lang="en-US" sz="1700" dirty="0"/>
          </a:p>
        </p:txBody>
      </p:sp>
      <p:sp>
        <p:nvSpPr>
          <p:cNvPr id="68" name="Shape 60"/>
          <p:cNvSpPr/>
          <p:nvPr/>
        </p:nvSpPr>
        <p:spPr>
          <a:xfrm>
            <a:off x="10158984" y="4114800"/>
            <a:ext cx="1143000" cy="219456"/>
          </a:xfrm>
          <a:prstGeom prst="rect">
            <a:avLst/>
          </a:prstGeom>
          <a:solidFill>
            <a:srgbClr val="FEF2F2"/>
          </a:solidFill>
          <a:ln w="9525">
            <a:solidFill>
              <a:srgbClr val="DC2626"/>
            </a:solidFill>
            <a:prstDash val="solid"/>
          </a:ln>
        </p:spPr>
      </p:sp>
      <p:sp>
        <p:nvSpPr>
          <p:cNvPr id="69" name="Text 61"/>
          <p:cNvSpPr/>
          <p:nvPr/>
        </p:nvSpPr>
        <p:spPr>
          <a:xfrm>
            <a:off x="10158984" y="4133088"/>
            <a:ext cx="1143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AKSES LITERASI GRATIS</a:t>
            </a:r>
            <a:endParaRPr lang="en-US" sz="700" dirty="0"/>
          </a:p>
        </p:txBody>
      </p:sp>
      <p:sp>
        <p:nvSpPr>
          <p:cNvPr id="70" name="Text 62"/>
          <p:cNvSpPr/>
          <p:nvPr/>
        </p:nvSpPr>
        <p:spPr>
          <a:xfrm>
            <a:off x="8193024" y="4434840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Penerima Manfaat Edukasi Sains</a:t>
            </a:r>
            <a:endParaRPr lang="en-US" sz="850" dirty="0"/>
          </a:p>
        </p:txBody>
      </p:sp>
      <p:sp>
        <p:nvSpPr>
          <p:cNvPr id="71" name="Shape 63"/>
          <p:cNvSpPr/>
          <p:nvPr/>
        </p:nvSpPr>
        <p:spPr>
          <a:xfrm>
            <a:off x="8193024" y="4681728"/>
            <a:ext cx="3090672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2" name="Text 64"/>
          <p:cNvSpPr/>
          <p:nvPr/>
        </p:nvSpPr>
        <p:spPr>
          <a:xfrm>
            <a:off x="8193024" y="4754880"/>
            <a:ext cx="3090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Membuka akses gratis literasi digital, kunjungan laboratorium sains, dan pelatihan coding dasar bagi anak-anak keluarga kurang mampu di Surakarta.</a:t>
            </a:r>
            <a:endParaRPr lang="en-US" sz="1000" dirty="0"/>
          </a:p>
        </p:txBody>
      </p:sp>
      <p:sp>
        <p:nvSpPr>
          <p:cNvPr id="73" name="Shape 65"/>
          <p:cNvSpPr/>
          <p:nvPr/>
        </p:nvSpPr>
        <p:spPr>
          <a:xfrm>
            <a:off x="731520" y="5669280"/>
            <a:ext cx="10728655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4" name="Text 66"/>
          <p:cNvSpPr/>
          <p:nvPr/>
        </p:nvSpPr>
        <p:spPr>
          <a:xfrm>
            <a:off x="914400" y="5724144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TECHNOPARK UNTUK WARGA: Sukses transformasi ini bukan diukur dari megahnya gedung, melainkan dari berapa banyak anak muda Solo yang mendapat kerja layak dan berapa banyak wirausaha baru yang lahir.</a:t>
            </a:r>
            <a:endParaRPr lang="en-US" sz="1050" dirty="0"/>
          </a:p>
        </p:txBody>
      </p:sp>
      <p:sp>
        <p:nvSpPr>
          <p:cNvPr id="75" name="Shape 67"/>
          <p:cNvSpPr/>
          <p:nvPr/>
        </p:nvSpPr>
        <p:spPr>
          <a:xfrm>
            <a:off x="731520" y="63550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6" name="Text 68"/>
          <p:cNvSpPr/>
          <p:nvPr/>
        </p:nvSpPr>
        <p:spPr>
          <a:xfrm>
            <a:off x="731520" y="6419088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PEMERINTAH KOTA SURAKARTA  •  BADAN RISET DAN INOVASI DAERAH (BRIDA)  •  ROADMAP 2026–2030</a:t>
            </a:r>
            <a:endParaRPr lang="en-US" sz="750" dirty="0"/>
          </a:p>
        </p:txBody>
      </p:sp>
      <p:sp>
        <p:nvSpPr>
          <p:cNvPr id="77" name="Text 69"/>
          <p:cNvSpPr/>
          <p:nvPr/>
        </p:nvSpPr>
        <p:spPr>
          <a:xfrm>
            <a:off x="7772400" y="6419088"/>
            <a:ext cx="368777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EDISI ZEN ENTERPRISE ULTRA (18 SLIDES)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9144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DUKUNGAN KEPEMIMPINAN // PAYUNG REGULASI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9601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PERMOHONAN KEBIJAKAN NON-ANGGARAN KEPADA WALIKOTA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1024128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Kami Tidak Memohon Tambahan Pagu APBD — Kami Memohon 3 Payung Regulasi Kepemimpinan Walikota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515600" y="43891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 /  18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08760"/>
            <a:ext cx="3456432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508760"/>
            <a:ext cx="3456432" cy="7315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1691640"/>
            <a:ext cx="493776" cy="493776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3272" y="1764792"/>
            <a:ext cx="347472" cy="34747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63040" y="1691640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PRIORITAS UTAMA // QUICK WIN 30 HARI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1463040" y="1938528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INSTRUKSI WALIKOTA AFIRMASI e-KATALOG LOKAL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60120" y="2514600"/>
            <a:ext cx="29992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Mengarahkan seluruh OPD Pemkot Surakarta untuk memprioritaskan belanja produk teknologi, layanan digital, dan barang hasil riset tenant binaan STP melalui etalase e-Katalog Lokal.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60120" y="3383280"/>
            <a:ext cx="299923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97280" y="347472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DAMPAK KONKRET: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097280" y="3703320"/>
            <a:ext cx="27249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Membuka captive market pasti senilai Rp 2,25 Miliar/Tahun di 2030 bagi 80+ produk inovasi tenant tanpa menambah anggaran APBD.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960120" y="4480560"/>
            <a:ext cx="2999232" cy="8686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51560" y="4535424"/>
            <a:ext cx="1645920" cy="201168"/>
          </a:xfrm>
          <a:prstGeom prst="rect">
            <a:avLst/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51560" y="4553712"/>
            <a:ext cx="1645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MEKANISME: INSTRUKSI WALIKOTA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1051560" y="4791456"/>
            <a:ext cx="2816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Penerbitan 1 lembar Instruksi Walikota. Draf telah siap harmonisasi bersama Bagian Hukum Setda &amp; BPKAD. Siap tuntas dalam 30 hari pertama.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370832" y="1508760"/>
            <a:ext cx="3456432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370832" y="1508760"/>
            <a:ext cx="3456432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99432" y="1691640"/>
            <a:ext cx="493776" cy="493776"/>
          </a:xfrm>
          <a:prstGeom prst="rect">
            <a:avLst/>
          </a:prstGeom>
          <a:solidFill>
            <a:srgbClr val="FFFBEB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72584" y="1764792"/>
            <a:ext cx="347472" cy="347472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5102352" y="1691640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INVESTASI JANGKA PANJANG (10–25 TAHUN)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5102352" y="1938528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REGULASI FLEKSIBILITAS KERJASAMA LAHAN BLUD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4599432" y="2514600"/>
            <a:ext cx="29992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Penyusunan Peraturan Walikota yang memberikan kepastian hukum skema Long-Term Revenue Sharing dan sewa lahan jangka panjang (10–25 tahun) yang kompetitif bagi investor teknologi global di kawasan STP.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4599432" y="3383280"/>
            <a:ext cx="299923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736592" y="347472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DAMPAK KONKRET: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4736592" y="3703320"/>
            <a:ext cx="27249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Menarik 3–5 investor korporasi baru kelas dunia tanpa membebani belanja modal APBD daerah (Prinsip Zero APBD Burden).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4599432" y="4480560"/>
            <a:ext cx="2999232" cy="8686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690872" y="4535424"/>
            <a:ext cx="1645920" cy="201168"/>
          </a:xfrm>
          <a:prstGeom prst="rect">
            <a:avLst/>
          </a:prstGeom>
          <a:solidFill>
            <a:srgbClr val="FFFBEB"/>
          </a:solidFill>
          <a:ln w="9525">
            <a:solidFill>
              <a:srgbClr val="D9770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4690872" y="4553712"/>
            <a:ext cx="1645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MEKANISME: PERATURAN WALIKOTA</a:t>
            </a:r>
            <a:endParaRPr lang="en-US" sz="700" dirty="0"/>
          </a:p>
        </p:txBody>
      </p:sp>
      <p:sp>
        <p:nvSpPr>
          <p:cNvPr id="34" name="Text 30"/>
          <p:cNvSpPr/>
          <p:nvPr/>
        </p:nvSpPr>
        <p:spPr>
          <a:xfrm>
            <a:off x="4690872" y="4791456"/>
            <a:ext cx="2816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Harmonisasi Perwali Pola Kerjasama Lahan bersama BPKAD, Bagian Hukum, dan Inspektorat Kota Surakarta.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8010144" y="1508760"/>
            <a:ext cx="3456432" cy="4023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8010144" y="1508760"/>
            <a:ext cx="3456432" cy="731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8238744" y="1691640"/>
            <a:ext cx="493776" cy="493776"/>
          </a:xfrm>
          <a:prstGeom prst="rect">
            <a:avLst/>
          </a:prstGeom>
          <a:solidFill>
            <a:srgbClr val="F0FDF4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3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11896" y="1764792"/>
            <a:ext cx="347472" cy="347472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8741664" y="1691640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SINERGI KAMPUS SOLO RAYA</a:t>
            </a:r>
            <a:endParaRPr lang="en-US" sz="850" dirty="0"/>
          </a:p>
        </p:txBody>
      </p:sp>
      <p:sp>
        <p:nvSpPr>
          <p:cNvPr id="40" name="Text 35"/>
          <p:cNvSpPr/>
          <p:nvPr/>
        </p:nvSpPr>
        <p:spPr>
          <a:xfrm>
            <a:off x="8741664" y="1938528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SURAT EDARAN KONSORSIUM RISET DAERAH</a:t>
            </a:r>
            <a:endParaRPr lang="en-US" sz="1200" dirty="0"/>
          </a:p>
        </p:txBody>
      </p:sp>
      <p:sp>
        <p:nvSpPr>
          <p:cNvPr id="41" name="Text 36"/>
          <p:cNvSpPr/>
          <p:nvPr/>
        </p:nvSpPr>
        <p:spPr>
          <a:xfrm>
            <a:off x="8238744" y="2514600"/>
            <a:ext cx="29992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Mendorong 5 perguruan tinggi ternama (UNS, UMS, ISI, Unisri, Poltek) mengarahkan minimal 30% dana riset terapan dosen dan tugas akhir mahasiswa untuk memecahkan problem kota dan industri di STP.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8238744" y="3383280"/>
            <a:ext cx="299923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8375904" y="347472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DAMPAK KONKRET:</a:t>
            </a:r>
            <a:endParaRPr lang="en-US" sz="850" dirty="0"/>
          </a:p>
        </p:txBody>
      </p:sp>
      <p:sp>
        <p:nvSpPr>
          <p:cNvPr id="44" name="Text 39"/>
          <p:cNvSpPr/>
          <p:nvPr/>
        </p:nvSpPr>
        <p:spPr>
          <a:xfrm>
            <a:off x="8375904" y="3703320"/>
            <a:ext cx="27249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Kampus mitra aktif, 30 klaster riset terapan berbasis problem kota, dan minimal 10 paten terhilirisasi ke industri per tahun.</a:t>
            </a:r>
            <a:endParaRPr lang="en-US" sz="1000" dirty="0"/>
          </a:p>
        </p:txBody>
      </p:sp>
      <p:sp>
        <p:nvSpPr>
          <p:cNvPr id="45" name="Shape 40"/>
          <p:cNvSpPr/>
          <p:nvPr/>
        </p:nvSpPr>
        <p:spPr>
          <a:xfrm>
            <a:off x="8238744" y="4480560"/>
            <a:ext cx="2999232" cy="8686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8330184" y="4535424"/>
            <a:ext cx="1645920" cy="201168"/>
          </a:xfrm>
          <a:prstGeom prst="rect">
            <a:avLst/>
          </a:prstGeom>
          <a:solidFill>
            <a:srgbClr val="F0FDF4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8330184" y="4553712"/>
            <a:ext cx="1645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MEKANISME: SURAT EDARAN WALIKOTA</a:t>
            </a:r>
            <a:endParaRPr lang="en-US" sz="700" dirty="0"/>
          </a:p>
        </p:txBody>
      </p:sp>
      <p:sp>
        <p:nvSpPr>
          <p:cNvPr id="48" name="Text 43"/>
          <p:cNvSpPr/>
          <p:nvPr/>
        </p:nvSpPr>
        <p:spPr>
          <a:xfrm>
            <a:off x="8330184" y="4791456"/>
            <a:ext cx="2816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Penerbitan Surat Edaran Walikota Surakarta dan penandatanganan kesepakatan bersama (MoU) 5 Rektor Kampus se-Solo Raya.</a:t>
            </a:r>
            <a:endParaRPr lang="en-US" sz="950" dirty="0"/>
          </a:p>
        </p:txBody>
      </p:sp>
      <p:sp>
        <p:nvSpPr>
          <p:cNvPr id="49" name="Shape 44"/>
          <p:cNvSpPr/>
          <p:nvPr/>
        </p:nvSpPr>
        <p:spPr>
          <a:xfrm>
            <a:off x="731520" y="5669280"/>
            <a:ext cx="10728655" cy="50292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914400" y="5724144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KOMITMEN KAMI: Cukup dengan 3 payung regulasi Walikota di atas, UPTD KST Solo Technopark siap bergerak cepat, mandiri, dan menuntaskan target Rp 23,47 Miliar tanpa subsidi APBD.</a:t>
            </a:r>
            <a:endParaRPr lang="en-US" sz="1050" dirty="0"/>
          </a:p>
        </p:txBody>
      </p:sp>
      <p:sp>
        <p:nvSpPr>
          <p:cNvPr id="51" name="Shape 46"/>
          <p:cNvSpPr/>
          <p:nvPr/>
        </p:nvSpPr>
        <p:spPr>
          <a:xfrm>
            <a:off x="731520" y="63550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731520" y="6419088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PEMERINTAH KOTA SURAKARTA  •  BADAN RISET DAN INOVASI DAERAH (BRIDA)  •  ROADMAP 2026–2030</a:t>
            </a:r>
            <a:endParaRPr lang="en-US" sz="750" dirty="0"/>
          </a:p>
        </p:txBody>
      </p:sp>
      <p:sp>
        <p:nvSpPr>
          <p:cNvPr id="53" name="Text 48"/>
          <p:cNvSpPr/>
          <p:nvPr/>
        </p:nvSpPr>
        <p:spPr>
          <a:xfrm>
            <a:off x="7772400" y="6419088"/>
            <a:ext cx="368777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EDISI ZEN ENTERPRISE ULTRA (18 SLIDES)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9144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KOMITMEN EKSEKUSI CEPAT // AKUNTABILITAS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9601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RENCANA AKSI 100 HARI PERTAMA: QUICK WINS PASCA-ARAHAN WALIKOTA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1024128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Terukur, Matriks Penanggung Jawab, dan Output Nyata dalam 100 Hari Pasca-Persetujuan Kebijakan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515600" y="43891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 /  18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463040"/>
            <a:ext cx="10728655" cy="38404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1517904"/>
            <a:ext cx="402336" cy="402336"/>
          </a:xfrm>
          <a:prstGeom prst="rect">
            <a:avLst/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41832" y="1591056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34440" y="1554480"/>
            <a:ext cx="10058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EKSEKUTIF 100 HARI: DARI PENANDATANGANAN REGULASI HINGGA KONTRAK PERDANA KEMITRAAN INDUSTRI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965960"/>
          <a:ext cx="1072865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023360"/>
                <a:gridCol w="2103120"/>
                <a:gridCol w="34134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PERIODE</a:t>
                      </a:r>
                      <a:endParaRPr lang="en-US" sz="95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AGENDA STRATEGIS</a:t>
                      </a:r>
                      <a:endParaRPr lang="en-US" sz="95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PENANGGUNG JAWAB (PIC)</a:t>
                      </a:r>
                      <a:endParaRPr lang="en-US" sz="95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OUTPUT KONKRET &amp; TARGET KEBERHASILAN</a:t>
                      </a:r>
                      <a:endParaRPr lang="en-US" sz="95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</a:rPr>
                        <a:t>Hari 1–10</a:t>
                      </a:r>
                      <a:endParaRPr lang="en-US" sz="10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Penyusunan Draf Regulasi &amp; Harmonisasi Awal: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Finalisasi draf Inkwal e-Katalog, draf SE Konsorsium Riset, dan reviu skema aset lahan BLUD.</a:t>
                      </a:r>
                      <a:endParaRPr lang="en-US" sz="10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Kepala UPTD STP &amp;</a:t>
                      </a:r>
                      <a:endParaRPr lang="en-US" sz="10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Tim Hukum BRIDA</a:t>
                      </a:r>
                      <a:endParaRPr lang="en-US" sz="10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3 Draf naskah regulasi siap harmonisasi Bagian Hukum Setda &amp; BPKAD.</a:t>
                      </a:r>
                      <a:endParaRPr lang="en-US" sz="10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</a:rPr>
                        <a:t>Hari 11–30</a:t>
                      </a:r>
                      <a:endParaRPr lang="en-US" sz="10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</a:rPr>
                        <a:t>Harmonisasi &amp; Penerbitan Instruksi Walikota (QUICK WIN UTAMA):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</a:rPr>
                        <a:t>Pembahasan harmonisasi bersama Setda &amp; BPKAD; Penandatanganan Inkwal e-Katalog Afirmatif.</a:t>
                      </a:r>
                      <a:endParaRPr lang="en-US" sz="10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Bagian Hukum, BPKAD,</a:t>
                      </a:r>
                      <a:endParaRPr lang="en-US" sz="10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BRIDA, &amp; STP</a:t>
                      </a:r>
                      <a:endParaRPr lang="en-US" sz="10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</a:rPr>
                        <a:t>Inkwal resmi ditandatangani Walikota Surakarta; Sosialisasi perdana ke seluruh Kepala OPD Pemkot.</a:t>
                      </a:r>
                      <a:endParaRPr lang="en-US" sz="10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</a:rPr>
                        <a:t>Hari 31–50</a:t>
                      </a:r>
                      <a:endParaRPr lang="en-US" sz="10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Kurasi Produk Inovasi &amp; Integrasi Sistem e-Katalog: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Kurasi 5 produk inovasi unggulan kampus/tenant untuk onboarding perdana ke etalase e-Katalog Lokal.</a:t>
                      </a:r>
                      <a:endParaRPr lang="en-US" sz="10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UPTD STP &amp; Bagian</a:t>
                      </a:r>
                      <a:endParaRPr lang="en-US" sz="10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PBJ Setda Solo</a:t>
                      </a:r>
                      <a:endParaRPr lang="en-US" sz="10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Katalog 5 Produk Unggulan Hilirisasi STP tayang aktif (Smart Agri IoT, Alkes, Mesin Sortasi).</a:t>
                      </a:r>
                      <a:endParaRPr lang="en-US" sz="10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</a:rPr>
                        <a:t>Hari 51–60</a:t>
                      </a:r>
                      <a:endParaRPr lang="en-US" sz="10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Showcase Produk &amp; Komitmen Serapan Perdana OPD: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Demonstrasi produk inovasi di hadapan Walikota, Sekda, dan OPD terkait di Solo Technopark.</a:t>
                      </a:r>
                      <a:endParaRPr lang="en-US" sz="10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Kepala BRIDA &amp;</a:t>
                      </a:r>
                      <a:endParaRPr lang="en-US" sz="10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Kepala UPTD STP</a:t>
                      </a:r>
                      <a:endParaRPr lang="en-US" sz="10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Demonstrasi produk di hadapan media &amp; komitmen serapan perdana oleh 3 OPD percontohan.</a:t>
                      </a:r>
                      <a:endParaRPr lang="en-US" sz="10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</a:rPr>
                        <a:t>Hari 61–80</a:t>
                      </a:r>
                      <a:endParaRPr lang="en-US" sz="10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Inisiasi Konsorsium Riset 5 Perguruan Tinggi: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</a:rPr>
                        <a:t>Rapat koordinasi tindak lanjut Surat Edaran Walikota bersama pimpinan LPPM UNS, UMS, ISI, Poltek.</a:t>
                      </a:r>
                      <a:endParaRPr lang="en-US" sz="10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BRIDA Kota Surakarta</a:t>
                      </a:r>
                      <a:endParaRPr lang="en-US" sz="10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&amp; Konsorsium Kampus</a:t>
                      </a:r>
                      <a:endParaRPr lang="en-US" sz="10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MoU Pra-Konsorsium bersama 5 Rektor Solo Raya; Terpetakan 30 tema riset terapan prioritas.</a:t>
                      </a:r>
                      <a:endParaRPr lang="en-US" sz="10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9669"/>
                          </a:solidFill>
                        </a:rPr>
                        <a:t>Hari 81–100</a:t>
                      </a:r>
                      <a:endParaRPr lang="en-US" sz="10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9669"/>
                          </a:solidFill>
                        </a:rPr>
                        <a:t>Launching Resmi Konsorsium &amp; Kick-off Kemitraan: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9669"/>
                          </a:solidFill>
                        </a:rPr>
                        <a:t>Penandatanganan MoU Riset Terapan bersama Kadin/Apindo &amp; kontrak kemitraan industri mandiri.</a:t>
                      </a:r>
                      <a:endParaRPr lang="en-US" sz="10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Walikota Surakarta,</a:t>
                      </a:r>
                      <a:endParaRPr lang="en-US" sz="1000" dirty="0"/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</a:rPr>
                        <a:t>Rektor, &amp; Mitra Industri</a:t>
                      </a:r>
                      <a:endParaRPr lang="en-US" sz="10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59669"/>
                          </a:solidFill>
                        </a:rPr>
                        <a:t>Penandatanganan MoU Riset Terapan &amp; Peresmian kelas diklat industri mandiri perdana.</a:t>
                      </a:r>
                      <a:endParaRPr lang="en-US" sz="1000" dirty="0"/>
                    </a:p>
                  </a:txBody>
                  <a:tcPr marL="91440" marR="91440" marT="54864" marB="54864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731520" y="5669280"/>
            <a:ext cx="10728655" cy="50292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14400" y="5724144"/>
            <a:ext cx="1036289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MONITORING: Evaluasi progres dilaksanakan mingguan bersama BRIDA dan dilaporkan berkala setiap 30 hari langsung kepada Walikota Surakarta untuk memastikan seluruh quick wins tercapai 100%.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731520" y="6355080"/>
            <a:ext cx="1072865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31520" y="6419088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PEMERINTAH KOTA SURAKARTA  •  BADAN RISET DAN INOVASI DAERAH (BRIDA)  •  ROADMAP 2026–2030</a:t>
            </a:r>
            <a:endParaRPr lang="en-US" sz="750" dirty="0"/>
          </a:p>
        </p:txBody>
      </p:sp>
      <p:sp>
        <p:nvSpPr>
          <p:cNvPr id="16" name="Text 12"/>
          <p:cNvSpPr/>
          <p:nvPr/>
        </p:nvSpPr>
        <p:spPr>
          <a:xfrm>
            <a:off x="7772400" y="6419088"/>
            <a:ext cx="368777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EDISI ZEN ENTERPRISE ULTRA (18 SLIDES)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Roadmap Transformasi Solo Technopark 2026-2030 (Swiss Enterprise Ultra 18S Polished)</dc:title>
  <dc:subject>PptxGenJS Presentation</dc:subject>
  <dc:creator>Pemerintah Kota Surakarta - BRIDA &amp; UPTD KST Solo Technopark</dc:creator>
  <cp:lastModifiedBy>Pemerintah Kota Surakarta - BRIDA &amp; UPTD KST Solo Technopark</cp:lastModifiedBy>
  <cp:revision>1</cp:revision>
  <dcterms:created xsi:type="dcterms:W3CDTF">2026-09-11T07:37:34Z</dcterms:created>
  <dcterms:modified xsi:type="dcterms:W3CDTF">2026-09-11T07:37:34Z</dcterms:modified>
</cp:coreProperties>
</file>