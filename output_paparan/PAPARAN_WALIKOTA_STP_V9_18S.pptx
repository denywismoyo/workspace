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Pendapatan BLUD (Miliar Rp)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.00 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 (Baseline)</c:v>
                  </c:pt>
                  <c:pt idx="1">
                    <c:v>2027 (Konsolidasi)</c:v>
                  </c:pt>
                  <c:pt idx="2">
                    <c:v>2028 (Akselerasi)</c:v>
                  </c:pt>
                  <c:pt idx="3">
                    <c:v>2029 (BEP Mandiri)</c:v>
                  </c:pt>
                  <c:pt idx="4">
                    <c:v>2030 (Surplus Penuh)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</c:v>
                </c:pt>
                <c:pt idx="1">
                  <c:v>12.85</c:v>
                </c:pt>
                <c:pt idx="2">
                  <c:v>15.6</c:v>
                </c:pt>
                <c:pt idx="3">
                  <c:v>18.5</c:v>
                </c:pt>
                <c:pt idx="4">
                  <c:v>23.47</c:v>
                </c:pt>
              </c:numCache>
            </c:numRef>
          </c:val>
        </c:ser>
        <c:dLbls>
          <c:numFmt formatCode="#,##0.00 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Proporsi Pendapatan 2030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bubble3D val="0"/>
            <c:spPr>
              <a:solidFill>
                <a:srgbClr val="1E40AF"/>
              </a:solidFill>
              <a:effectLst/>
            </c:spPr>
          </c:dPt>
          <c:dPt>
            <c:idx val="2"/>
            <c:bubble3D val="0"/>
            <c:spPr>
              <a:solidFill>
                <a:srgbClr val="0284C7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bubble3D val="0"/>
            <c:spPr>
              <a:solidFill>
                <a:srgbClr val="05966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Klaster A: Kerjasama Lahan (54,6%)</c:v>
                </c:pt>
                <c:pt idx="1">
                  <c:v>Klaster B: Diklat Vokasi (16,7%)</c:v>
                </c:pt>
                <c:pt idx="2">
                  <c:v>Klaster C: Fabrikasi &amp; Lab (10,4%)</c:v>
                </c:pt>
                <c:pt idx="3">
                  <c:v>Klaster D: Inkubasi Startup (7,5%)</c:v>
                </c:pt>
                <c:pt idx="4">
                  <c:v>Klaster E: Riset Industri (6,0%)</c:v>
                </c:pt>
                <c:pt idx="5">
                  <c:v>Klaster F: MICE &amp; Wisata Tekno (4,8%)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54.6</c:v>
                </c:pt>
                <c:pt idx="1">
                  <c:v>16.7</c:v>
                </c:pt>
                <c:pt idx="2">
                  <c:v>10.4</c:v>
                </c:pt>
                <c:pt idx="3">
                  <c:v>7.5</c:v>
                </c:pt>
                <c:pt idx="4">
                  <c:v>6</c:v>
                </c:pt>
                <c:pt idx="5">
                  <c:v>4.8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94360"/>
            <a:ext cx="49377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STRATEGIS PEMERINTAH KOTA SURAKARTA 2026–2030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SOLO TECHNOPARK: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FISKAL &amp; PUSAT INOVASI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Strategis UPTD KST Solo Technopark Menuju Kemandirian Penuh BLUD 2029 Tanpa Subsidi APBD,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Hilirisasi Riset Terapan Konsorsium Perguruan Tinggi, dan Penciptaan Multiplier Effect Bagi Warga Surakarta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10728655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566160"/>
            <a:ext cx="2542032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566160"/>
            <a:ext cx="2542032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49040"/>
            <a:ext cx="475488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3822192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4206240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23,47 M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14400" y="464515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PENDAPATAN 2030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" y="4919472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Lompatan +212,8% dari baseline 2026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14400" y="5413248"/>
            <a:ext cx="2176272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543153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MANDIRI PENUH +212%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456432" y="3566160"/>
            <a:ext cx="2542032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56432" y="3566160"/>
            <a:ext cx="254203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39312" y="3749040"/>
            <a:ext cx="475488" cy="475488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2464" y="3822192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39312" y="4206240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300" dirty="0"/>
          </a:p>
        </p:txBody>
      </p:sp>
      <p:sp>
        <p:nvSpPr>
          <p:cNvPr id="22" name="Text 18"/>
          <p:cNvSpPr/>
          <p:nvPr/>
        </p:nvSpPr>
        <p:spPr>
          <a:xfrm>
            <a:off x="3639312" y="464515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BREAK-EVEN POINT (BEP)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639312" y="4919472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Mandiri operasional non-APBD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639312" y="5413248"/>
            <a:ext cx="2176272" cy="256032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39312" y="543153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NOL SUBSIDI APBD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6181344" y="3566160"/>
            <a:ext cx="2542032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81344" y="3566160"/>
            <a:ext cx="254203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64224" y="3749040"/>
            <a:ext cx="475488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7376" y="3822192"/>
            <a:ext cx="329184" cy="3291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64224" y="4206240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95+ Mitra</a:t>
            </a:r>
            <a:endParaRPr lang="en-US" sz="2300" dirty="0"/>
          </a:p>
        </p:txBody>
      </p:sp>
      <p:sp>
        <p:nvSpPr>
          <p:cNvPr id="31" name="Text 26"/>
          <p:cNvSpPr/>
          <p:nvPr/>
        </p:nvSpPr>
        <p:spPr>
          <a:xfrm>
            <a:off x="6364224" y="464515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KEMITRAAN GLOBAL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6364224" y="4919472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Shopee, Garena, Indosat, ACER, 5 Kampus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6364224" y="5413248"/>
            <a:ext cx="2176272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364224" y="543153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SKEMA HEXAHELIX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8906256" y="3566160"/>
            <a:ext cx="2542032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906256" y="3566160"/>
            <a:ext cx="25420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089136" y="3749040"/>
            <a:ext cx="475488" cy="475488"/>
          </a:xfrm>
          <a:prstGeom prst="rect">
            <a:avLst/>
          </a:prstGeom>
          <a:solidFill>
            <a:srgbClr val="FAF5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62288" y="3822192"/>
            <a:ext cx="329184" cy="32918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089136" y="4206240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18,5 M</a:t>
            </a:r>
            <a:endParaRPr lang="en-US" sz="2300" dirty="0"/>
          </a:p>
        </p:txBody>
      </p:sp>
      <p:sp>
        <p:nvSpPr>
          <p:cNvPr id="40" name="Text 34"/>
          <p:cNvSpPr/>
          <p:nvPr/>
        </p:nvSpPr>
        <p:spPr>
          <a:xfrm>
            <a:off x="9089136" y="464515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EKONOMI DAERAH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9089136" y="4919472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Omzet tenant lokal &amp; 1.500 naker/thn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9089136" y="5413248"/>
            <a:ext cx="2176272" cy="256032"/>
          </a:xfrm>
          <a:prstGeom prst="rect">
            <a:avLst/>
          </a:prstGeom>
          <a:solidFill>
            <a:srgbClr val="FAF5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089136" y="543153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1.500 NAKER / THN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731520" y="5943600"/>
            <a:ext cx="10728655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31520" y="5971032"/>
            <a:ext cx="10728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PENYAJI: Kepala UPTD STP &amp; BRIDA Kota Surakarta   •   AUDIENS: Walikota Surakarta   •   DOKUMEN: Paparan Eksekutif Master Plan 2026–2030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TATA KELOLA PEMERINTAHAN // REGULASI KELEMBAGAAN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KEDUDUKAN HUKUM UPTD KST SOLO TECHNOPARK DI BAWAH BRIDA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Struktural Berdasarkan Peraturan Walikota Surakarta No. 15 Tahun 2022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3456432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64208"/>
            <a:ext cx="1554480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8249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DAERAH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60120" y="1965960"/>
            <a:ext cx="475488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272" y="203911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19659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BRIDA KOTA SURAKARTA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417320" y="22128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INDUK KEBIJAKAN &amp; PENGARAH STRATEGIS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60120" y="2468880"/>
            <a:ext cx="29992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Lembaga teknis daerah yang memayungi arah riset, inovasi, dan hilirisasi teknologi sesuai visi Walikota.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60120" y="3035808"/>
            <a:ext cx="299923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0120" y="3182112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31272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Regulasi: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Menetapkan pedoman prioritas riset terapan pemecah masalah perkotaan.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60120" y="3767328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371246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Pengarah Program: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seluruh aset dan fasilitas STP selaras dengan RPJMD Surakarta.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0120" y="435254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4297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Kinerja: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akuntabilitas ilmiah, dampak sosio-ekonomi, dan tata kelola inovasi.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60120" y="4937760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568" y="48828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Hukum: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No. 10/2021 &amp; Perwali Surakarta No. 14/2022 tentang Susunan Organisasi BRIDA.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70832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70832" y="1508760"/>
            <a:ext cx="345643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99432" y="1664208"/>
            <a:ext cx="1554480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99432" y="168249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KAWASAN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99432" y="1965960"/>
            <a:ext cx="475488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2584" y="2039112"/>
            <a:ext cx="329184" cy="32918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056632" y="19659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056632" y="22128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BISNIS &amp; TEKNOLOGI BLUD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599432" y="2468880"/>
            <a:ext cx="29992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Pelaksana Teknis Daerah yang mengoperasikan ekosistem inovasi, inkubasi, dan kemitraan industri.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599432" y="3035808"/>
            <a:ext cx="299923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99432" y="3182112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54880" y="31272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BLUD: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Pola Pengelolaan Keuangan BLUD Penuh (Permendagri 79/2018).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599432" y="3767328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754880" y="371246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Kawasan: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9 gedung tematik, 5 laboratorium canggih, dan 13 hektar kawasan STP.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4599432" y="435254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54880" y="4297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Industri: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Menjalin kontrak komersial business-to-business (B2B) secara lincah dan mandiri.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4599432" y="4937760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54880" y="48828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Akselerasi Startup: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Menginkubasi 20+ wirausaha baru berbasis teknologi setiap tahun.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8010144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010144" y="1508760"/>
            <a:ext cx="345643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238744" y="1664208"/>
            <a:ext cx="1554480" cy="219456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238744" y="168249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SINERGI BLUD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8238744" y="1965960"/>
            <a:ext cx="475488" cy="475488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1896" y="2039112"/>
            <a:ext cx="329184" cy="329184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8695944" y="19659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SINERGI TATA KELOLA BLUD</a:t>
            </a:r>
            <a:endParaRPr lang="en-US" sz="1250" dirty="0"/>
          </a:p>
        </p:txBody>
      </p:sp>
      <p:sp>
        <p:nvSpPr>
          <p:cNvPr id="50" name="Text 45"/>
          <p:cNvSpPr/>
          <p:nvPr/>
        </p:nvSpPr>
        <p:spPr>
          <a:xfrm>
            <a:off x="8695944" y="22128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KEUNGGULAN OPERASIONAL &amp; EFISIENSI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8238744" y="2468880"/>
            <a:ext cx="29992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Harmonisasi kepatuhan birokrasi daerah dengan kecepatan eksekusi standar industri kelas dunia.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8238744" y="3035808"/>
            <a:ext cx="299923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238744" y="318211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8394192" y="31272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Rekrutmen Fleksibel: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Berhak merekrut tenaga profesional non-PNS dengan standar remunerasi pasar.</a:t>
            </a:r>
            <a:endParaRPr lang="en-US" sz="1050" dirty="0"/>
          </a:p>
        </p:txBody>
      </p:sp>
      <p:sp>
        <p:nvSpPr>
          <p:cNvPr id="55" name="Shape 50"/>
          <p:cNvSpPr/>
          <p:nvPr/>
        </p:nvSpPr>
        <p:spPr>
          <a:xfrm>
            <a:off x="8238744" y="3767328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8394192" y="371246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 Cepat: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pengadaan barang/jasa langsung tanpa birokrasi lelang APBD berbelit.</a:t>
            </a:r>
            <a:endParaRPr lang="en-US" sz="1050" dirty="0"/>
          </a:p>
        </p:txBody>
      </p:sp>
      <p:sp>
        <p:nvSpPr>
          <p:cNvPr id="57" name="Shape 52"/>
          <p:cNvSpPr/>
          <p:nvPr/>
        </p:nvSpPr>
        <p:spPr>
          <a:xfrm>
            <a:off x="8238744" y="435254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394192" y="4297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Reinvestasi SiLPA: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Pendapatan jasa layanan dapat langsung digunakan kembali untuk belanja operasional.</a:t>
            </a:r>
            <a:endParaRPr lang="en-US" sz="1050" dirty="0"/>
          </a:p>
        </p:txBody>
      </p:sp>
      <p:sp>
        <p:nvSpPr>
          <p:cNvPr id="59" name="Shape 54"/>
          <p:cNvSpPr/>
          <p:nvPr/>
        </p:nvSpPr>
        <p:spPr>
          <a:xfrm>
            <a:off x="8238744" y="493776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8394192" y="48828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Akuntabilitas Ganda: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Diaudit rutin oleh Kantor Akuntan Publik (KAP) independen, Inspektorat, dan BPK.</a:t>
            </a:r>
            <a:endParaRPr lang="en-US" sz="1050" dirty="0"/>
          </a:p>
        </p:txBody>
      </p:sp>
      <p:sp>
        <p:nvSpPr>
          <p:cNvPr id="61" name="Shape 56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KOMITMEN TATA KELOLA: Kedudukan UPTD di bawah BRIDA menjamin keselarasan ilmiah dengan program prioritas Kota Surakarta, sementara status BLUD memberikan kelincahan komersial penuh untuk bermitra cepat dengan industri global.</a:t>
            </a:r>
            <a:endParaRPr lang="en-US" sz="1050" dirty="0"/>
          </a:p>
        </p:txBody>
      </p:sp>
      <p:sp>
        <p:nvSpPr>
          <p:cNvPr id="63" name="Shape 58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65" name="Text 60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PENGEMBANGAN DAERAH // CHAIN OF IMPACT TRIPARTIT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DAMPAK SOLO TECHNOPARK UNTUK WARGA SURAKARTA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Menjembatani Hasil Riset Laboratorium Menjadi Nilai Ekonomi Riil dan Lapangan Kerja Daerah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3456432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64208"/>
            <a:ext cx="2999232" cy="237744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82496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// DIRECT OUTPUT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60120" y="1993392"/>
            <a:ext cx="475488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272" y="2066544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20116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LAYANAN LANGSUNG STP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2423160"/>
            <a:ext cx="2999232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2478024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 &amp; Layanan Riil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60120" y="302666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Pengoperasian 9 gedung, 5 lab canggih, dan 13 hektar kawasan.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60120" y="352958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5568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 talenta muda Surakarta dilatih &amp; disertifikasi industri per tahun.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60120" y="403250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startup teknologi baru diinkubasi &amp; difasilitasi akses pendanaan.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60120" y="453542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4480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inovasi riset kampus diuji coba dan dibuatkan prototipe layak pasar.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60120" y="503834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5568" y="4983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aktif dengan Shopee, Garena, Indosat, ACER, dan 5 Kampus.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215384" y="32004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370832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70832" y="1508760"/>
            <a:ext cx="345643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99432" y="1664208"/>
            <a:ext cx="2999232" cy="237744"/>
          </a:xfrm>
          <a:prstGeom prst="rect">
            <a:avLst/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99432" y="1682496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// INTERMEDIARY OUTCOME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99432" y="1993392"/>
            <a:ext cx="475488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2584" y="2066544"/>
            <a:ext cx="329184" cy="32918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056632" y="20116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EKOSISTEM &amp; INDUSTRI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599432" y="2423160"/>
            <a:ext cx="2999232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690872" y="2478024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Serapan Kerja &amp; Investasi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599432" y="302666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5488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serapan kerja lulusan vokasi mencapai 85%+ dalam 6 bulan.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599432" y="352958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75488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Masuknya investasi korporasi teknologi global ke Solo (Zero APBD Burden).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599432" y="403250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754880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omzet tenant inovasi hingga mencapai Rp 18,5 Miliar di 2030.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4599432" y="453542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754880" y="4480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pendapatan mandiri BLUD menuju target Rp 23,47 Miliar.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599432" y="503834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54880" y="4983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Terbentuknya jejaring rantai pasok industri manufaktur dan digital lokal.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7854696" y="32004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8010144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010144" y="1508760"/>
            <a:ext cx="345643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238744" y="1664208"/>
            <a:ext cx="2999232" cy="23774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238744" y="1682496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// SYSTEMIC IMPACT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8238744" y="1993392"/>
            <a:ext cx="475488" cy="475488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1896" y="2066544"/>
            <a:ext cx="329184" cy="329184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8695944" y="20116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KESEJAHTERAAN WARGA KOTA</a:t>
            </a:r>
            <a:endParaRPr lang="en-US" sz="1250" dirty="0"/>
          </a:p>
        </p:txBody>
      </p:sp>
      <p:sp>
        <p:nvSpPr>
          <p:cNvPr id="54" name="Shape 49"/>
          <p:cNvSpPr/>
          <p:nvPr/>
        </p:nvSpPr>
        <p:spPr>
          <a:xfrm>
            <a:off x="8238744" y="2423160"/>
            <a:ext cx="2999232" cy="384048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330184" y="2478024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Multi-Efek Kota Surakarta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8238744" y="302666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394192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ekonomi Solo dari sektor pariwisata-tekstil ke ekonomi inovasi.</a:t>
            </a:r>
            <a:endParaRPr lang="en-US" sz="1050" dirty="0"/>
          </a:p>
        </p:txBody>
      </p:sp>
      <p:sp>
        <p:nvSpPr>
          <p:cNvPr id="58" name="Shape 53"/>
          <p:cNvSpPr/>
          <p:nvPr/>
        </p:nvSpPr>
        <p:spPr>
          <a:xfrm>
            <a:off x="8238744" y="352958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8394192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angka pengangguran usia produktif dan peningkatan upah layak.</a:t>
            </a:r>
            <a:endParaRPr lang="en-US" sz="1050" dirty="0"/>
          </a:p>
        </p:txBody>
      </p:sp>
      <p:sp>
        <p:nvSpPr>
          <p:cNvPr id="60" name="Shape 55"/>
          <p:cNvSpPr/>
          <p:nvPr/>
        </p:nvSpPr>
        <p:spPr>
          <a:xfrm>
            <a:off x="8238744" y="403250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8394192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Pendapatan Asli Daerah (PAD) melalui retribusi dan pajak daerah.</a:t>
            </a:r>
            <a:endParaRPr lang="en-US" sz="1050" dirty="0"/>
          </a:p>
        </p:txBody>
      </p:sp>
      <p:sp>
        <p:nvSpPr>
          <p:cNvPr id="62" name="Shape 57"/>
          <p:cNvSpPr/>
          <p:nvPr/>
        </p:nvSpPr>
        <p:spPr>
          <a:xfrm>
            <a:off x="8238744" y="453542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394192" y="4480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diakui sebagai Hub Inovasi &amp; Riset Terapan Terdepan di Jawa Tengah.</a:t>
            </a:r>
            <a:endParaRPr lang="en-US" sz="1050" dirty="0"/>
          </a:p>
        </p:txBody>
      </p:sp>
      <p:sp>
        <p:nvSpPr>
          <p:cNvPr id="64" name="Shape 59"/>
          <p:cNvSpPr/>
          <p:nvPr/>
        </p:nvSpPr>
        <p:spPr>
          <a:xfrm>
            <a:off x="8238744" y="503834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8394192" y="4983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Kemandirian fiskal Pemkot Surakarta: APBD dapat dialihkan untuk bansos.</a:t>
            </a:r>
            <a:endParaRPr lang="en-US" sz="1050" dirty="0"/>
          </a:p>
        </p:txBody>
      </p:sp>
      <p:sp>
        <p:nvSpPr>
          <p:cNvPr id="66" name="Shape 61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KEBERDAMPAKAN: Setiap rupiah belanja operasional dan pemanfaatan aset Solo Technopark wajib bermuara pada kesejahteraan nyata, daya saing talenta muda, dan pembukaan lapangan kerja berkualitas bagi warga Surakarta.</a:t>
            </a:r>
            <a:endParaRPr lang="en-US" sz="1050" dirty="0"/>
          </a:p>
        </p:txBody>
      </p:sp>
      <p:sp>
        <p:nvSpPr>
          <p:cNvPr id="68" name="Shape 63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70" name="Text 65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KEPASTIAN HUKUM // REGULASI &amp; KEPATUHAN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LANDASAN YURIDIS KOKOH &amp; 4 FLEKSIBILITAS PENGELOLAAN BLUD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Menjamin Kepatuhan Tata Kelola Pemerintahan Sekaligus Kelincahan Kemitraan Komersial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41148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411480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HIRARKI REGULASI PENGUAT BLUD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2066544"/>
            <a:ext cx="402336" cy="402336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272" y="213969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20299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Perpres No. 106 Tahun 2017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371600" y="226771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Kawasan Sains &amp; Teknologi Nasional sebagai pusat riset terapan dan hilirisasi inovasi daerah.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60120" y="2907792"/>
            <a:ext cx="402336" cy="402336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272" y="29809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287121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Permendagri No. 79 Tahun 2018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37160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Pedoman Teknis BLUD: Memberikan fleksibilitas penuh pengelolaan keuangan, pendapatan, belanja, dan tarif.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960120" y="3749040"/>
            <a:ext cx="402336" cy="402336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3272" y="382219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71246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Peraturan Walikota Surakarta No. 15/2022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371600" y="39502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Kedudukan, Susunan Organisasi, Tugas, Fungsi, dan Tata Kerja UPTD KST Solo Technopark pada BRIDA.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60120" y="4590288"/>
            <a:ext cx="402336" cy="402336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3272" y="466344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45537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Peraturan Walikota Surakarta No. 38/2022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371600" y="47914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Pola Pengelolaan Keuangan BLUD Penuh pada UPTD KST Solo Technopark.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059375" y="1508760"/>
            <a:ext cx="31089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059375" y="1508760"/>
            <a:ext cx="310896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242255" y="1673352"/>
            <a:ext cx="438912" cy="438912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15407" y="174650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53735" y="16550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FLEKSIBILITAS TARIF LAYANAN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653735" y="18745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Penetapan Tarif Berdasarkan Nilai Pasar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5242255" y="2130552"/>
            <a:ext cx="2743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242255" y="2221992"/>
            <a:ext cx="73152" cy="7315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379415" y="218541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Tarif: Ditetapkan langsung via SK Kepala UPTD/Perwali tanpa perlu pembahasan APBD tahunan.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242255" y="2788920"/>
            <a:ext cx="73152" cy="7315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379415" y="275234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Bisnis: Tarif kompetitif mengikuti dinamika pasar untuk 45+ jenis uji lab &amp; sewa fasilitas.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351215" y="1508760"/>
            <a:ext cx="31089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351215" y="1508760"/>
            <a:ext cx="31089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534095" y="1673352"/>
            <a:ext cx="438912" cy="43891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7247" y="1746504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945575" y="16550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FLEKSIBILITAS BELANJA &amp; SiLPA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8945575" y="18745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Reinvestasi Pendapatan Mandiri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8534095" y="2130552"/>
            <a:ext cx="2743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534095" y="2221992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8671255" y="218541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Rekening Otonom: Seluruh penerimaan disetor ke kas BLUD dan dapat langsung dibelanjakan mandiri.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8534095" y="2788920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8671255" y="275234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Operasional: Reinvestasi instan untuk pemeliharaan lab presisi dan bahan uji tanpa jeda birokrasi.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5059375" y="3566160"/>
            <a:ext cx="31089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5059375" y="3566160"/>
            <a:ext cx="31089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5242255" y="3730752"/>
            <a:ext cx="438912" cy="438912"/>
          </a:xfrm>
          <a:prstGeom prst="rect">
            <a:avLst/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15407" y="3803904"/>
            <a:ext cx="292608" cy="29260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5653735" y="37124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KERJASAMA LAHAN &amp; ASET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5653735" y="39319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Kemitraan Jangka Panjang (10-25 Tahun)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5242255" y="4187952"/>
            <a:ext cx="2743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5242255" y="4279392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5379415" y="424281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Fleksibel: Monetisasi lahan tidur melalui skema Bangun Guna Serah (BGS) &amp; Long-Term Revenue Sharing.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5242255" y="4846320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5379415" y="480974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APBD: Pembangunan gedung riset dan fasilitas baru 100% didanai mitra korporasi swasta global.</a:t>
            </a:r>
            <a:endParaRPr lang="en-US" sz="950" dirty="0"/>
          </a:p>
        </p:txBody>
      </p:sp>
      <p:sp>
        <p:nvSpPr>
          <p:cNvPr id="59" name="Shape 50"/>
          <p:cNvSpPr/>
          <p:nvPr/>
        </p:nvSpPr>
        <p:spPr>
          <a:xfrm>
            <a:off x="8351215" y="3566160"/>
            <a:ext cx="31089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8351215" y="3566160"/>
            <a:ext cx="3108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8534095" y="3730752"/>
            <a:ext cx="438912" cy="438912"/>
          </a:xfrm>
          <a:prstGeom prst="rect">
            <a:avLst/>
          </a:prstGeom>
          <a:solidFill>
            <a:srgbClr val="FAF5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07247" y="3803904"/>
            <a:ext cx="292608" cy="292608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8945575" y="37124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PENGADAAN &amp; SDM PROFESIONAL</a:t>
            </a:r>
            <a:endParaRPr lang="en-US" sz="1000" dirty="0"/>
          </a:p>
        </p:txBody>
      </p:sp>
      <p:sp>
        <p:nvSpPr>
          <p:cNvPr id="64" name="Text 54"/>
          <p:cNvSpPr/>
          <p:nvPr/>
        </p:nvSpPr>
        <p:spPr>
          <a:xfrm>
            <a:off x="8945575" y="39319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Kelincahan Standar Industri Swasta</a:t>
            </a:r>
            <a:endParaRPr lang="en-US" sz="850" dirty="0"/>
          </a:p>
        </p:txBody>
      </p:sp>
      <p:sp>
        <p:nvSpPr>
          <p:cNvPr id="65" name="Shape 55"/>
          <p:cNvSpPr/>
          <p:nvPr/>
        </p:nvSpPr>
        <p:spPr>
          <a:xfrm>
            <a:off x="8534095" y="4187952"/>
            <a:ext cx="2743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6" name="Shape 56"/>
          <p:cNvSpPr/>
          <p:nvPr/>
        </p:nvSpPr>
        <p:spPr>
          <a:xfrm>
            <a:off x="8534095" y="4279392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57"/>
          <p:cNvSpPr/>
          <p:nvPr/>
        </p:nvSpPr>
        <p:spPr>
          <a:xfrm>
            <a:off x="8671255" y="424281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 Non-PNS: Hak merekrut tenaga ahli dan praktisi industri global dengan standar remunerasi pasar.</a:t>
            </a:r>
            <a:endParaRPr lang="en-US" sz="950" dirty="0"/>
          </a:p>
        </p:txBody>
      </p:sp>
      <p:sp>
        <p:nvSpPr>
          <p:cNvPr id="68" name="Shape 58"/>
          <p:cNvSpPr/>
          <p:nvPr/>
        </p:nvSpPr>
        <p:spPr>
          <a:xfrm>
            <a:off x="8534095" y="484632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59"/>
          <p:cNvSpPr/>
          <p:nvPr/>
        </p:nvSpPr>
        <p:spPr>
          <a:xfrm>
            <a:off x="8671255" y="480974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 Cepat: Mekanisme pengadaan barang/jasa teknologi langsung tanpa hambatan lelang birokratis.</a:t>
            </a:r>
            <a:endParaRPr lang="en-US" sz="950" dirty="0"/>
          </a:p>
        </p:txBody>
      </p:sp>
      <p:sp>
        <p:nvSpPr>
          <p:cNvPr id="70" name="Shape 60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1" name="Text 61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YURIDIS: Payung hukum BLUD Solo Technopark telah sah dan berkekuatan hukum penuh. Tantangan utama saat ini bukan pada ketiadaan izin, melainkan pada eksekusi regulasi turunan pemanfaatan aset dan kemitraan lahan.</a:t>
            </a:r>
            <a:endParaRPr lang="en-US" sz="1050" dirty="0"/>
          </a:p>
        </p:txBody>
      </p:sp>
      <p:sp>
        <p:nvSpPr>
          <p:cNvPr id="72" name="Shape 6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63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74" name="Text 64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STRATEGIS KAWASAN SAINS &amp; TEKNOLOGI // PERPRES 106/2017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PILAR LAYANAN TERPADU SOLO TECHNOPARK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Nasional Pengembangan KST sebagai Mesin Hilirisasi dan Pertumbuhan Ekonomi Daerah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25420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2542032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19072"/>
            <a:ext cx="475488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1792224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157984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INKUBASI BISNIS TEKNOLOGI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56032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Mencetak Wirausaha Berbasis Inovasi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14400" y="2880360"/>
            <a:ext cx="21762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3054096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999232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Akselerasi 20+ tenant startup digital &amp; manufaktur per tahun.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14400" y="3529584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47472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intensif oleh praktisi industri global (Shopee, Garena).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4400" y="4005072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395020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Fasilitasi legalitas PT/CV, HKI/Paten, dan sertifikasi SNI/Halal.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14400" y="4480560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60704" y="4425696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pendanaan investor melalui Demo Day &amp; Business Matching.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68680" y="5047488"/>
            <a:ext cx="2267712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6112" y="506577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20+ STARTUP DIGITAL &amp; MANUFAKTUR / THN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456432" y="1508760"/>
            <a:ext cx="25420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56432" y="1508760"/>
            <a:ext cx="254203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39312" y="1719072"/>
            <a:ext cx="475488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2464" y="1792224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639312" y="2157984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PELATIHAN VOKASI &amp; SERTIFIKASI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639312" y="256032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Upskilling Talenta Masa Depan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3639312" y="2880360"/>
            <a:ext cx="21762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639312" y="3054096"/>
            <a:ext cx="73152" cy="7315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785616" y="2999232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Diklat vokasi industri: Otomasi, Pengelasan Underwater, &amp; AI.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639312" y="3529584"/>
            <a:ext cx="73152" cy="7315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85616" y="347472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standar BNSP &amp; internasional (AWS, Cisco, TUV).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639312" y="4005072"/>
            <a:ext cx="73152" cy="7315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785616" y="395020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1.500 talenta muda tersertifikasi per tahun.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639312" y="4480560"/>
            <a:ext cx="73152" cy="7315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785616" y="4425696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keterserapan kerja lulusan ke industri mencapai 85%+.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593592" y="5047488"/>
            <a:ext cx="2267712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621024" y="506577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1.500 TALENTA TERSERTIFIKASI / THN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6181344" y="1508760"/>
            <a:ext cx="25420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181344" y="1508760"/>
            <a:ext cx="254203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364224" y="1719072"/>
            <a:ext cx="475488" cy="475488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7376" y="1792224"/>
            <a:ext cx="329184" cy="329184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364224" y="2157984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TERAPAN &amp; INOVASI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6364224" y="256032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Menjembatani Kampus ke Industri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6364224" y="2880360"/>
            <a:ext cx="21762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364224" y="3054096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510528" y="2999232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Konsorsium riset terapan bersama 5 kampus ternama Solo Raya.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6364224" y="3529584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510528" y="347472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Fasilitasi uji laboratorium, reverse engineering, &amp; CAD/CAM.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6364224" y="4005072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510528" y="395020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 Fablab, Precision Machining, dan Biotech Lab.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6364224" y="4480560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510528" y="4425696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riset terapan: Alkes, Smart Agri IoT, &amp; Mesin Pengolah.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6318504" y="5047488"/>
            <a:ext cx="2267712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345936" y="506577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30+ KLASTER RISET INDUSTRI &amp; KAMPUS</a:t>
            </a:r>
            <a:endParaRPr lang="en-US" sz="750" dirty="0"/>
          </a:p>
        </p:txBody>
      </p:sp>
      <p:sp>
        <p:nvSpPr>
          <p:cNvPr id="58" name="Shape 53"/>
          <p:cNvSpPr/>
          <p:nvPr/>
        </p:nvSpPr>
        <p:spPr>
          <a:xfrm>
            <a:off x="8906256" y="1508760"/>
            <a:ext cx="25420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8906256" y="1508760"/>
            <a:ext cx="25420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9089136" y="1719072"/>
            <a:ext cx="475488" cy="475488"/>
          </a:xfrm>
          <a:prstGeom prst="rect">
            <a:avLst/>
          </a:prstGeom>
          <a:solidFill>
            <a:srgbClr val="FAF5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62288" y="1792224"/>
            <a:ext cx="329184" cy="329184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9089136" y="2157984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HILIRISASI &amp; KOMERSIALISASI</a:t>
            </a:r>
            <a:endParaRPr lang="en-US" sz="1100" dirty="0"/>
          </a:p>
        </p:txBody>
      </p:sp>
      <p:sp>
        <p:nvSpPr>
          <p:cNvPr id="63" name="Text 57"/>
          <p:cNvSpPr/>
          <p:nvPr/>
        </p:nvSpPr>
        <p:spPr>
          <a:xfrm>
            <a:off x="9089136" y="256032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Membawa Prototipe ke Pasar Nyata</a:t>
            </a:r>
            <a:endParaRPr lang="en-US" sz="850" dirty="0"/>
          </a:p>
        </p:txBody>
      </p:sp>
      <p:sp>
        <p:nvSpPr>
          <p:cNvPr id="64" name="Shape 58"/>
          <p:cNvSpPr/>
          <p:nvPr/>
        </p:nvSpPr>
        <p:spPr>
          <a:xfrm>
            <a:off x="9089136" y="2880360"/>
            <a:ext cx="21762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9089136" y="305409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9235440" y="2999232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Pabrikasi skala terbatas (pilot production) produk inovasi.</a:t>
            </a:r>
            <a:endParaRPr lang="en-US" sz="950" dirty="0"/>
          </a:p>
        </p:txBody>
      </p:sp>
      <p:sp>
        <p:nvSpPr>
          <p:cNvPr id="67" name="Shape 61"/>
          <p:cNvSpPr/>
          <p:nvPr/>
        </p:nvSpPr>
        <p:spPr>
          <a:xfrm>
            <a:off x="9089136" y="35295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9235440" y="347472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produk inovasi ke etalase e-Katalog Lokal Pemkot.</a:t>
            </a:r>
            <a:endParaRPr lang="en-US" sz="950" dirty="0"/>
          </a:p>
        </p:txBody>
      </p:sp>
      <p:sp>
        <p:nvSpPr>
          <p:cNvPr id="69" name="Shape 63"/>
          <p:cNvSpPr/>
          <p:nvPr/>
        </p:nvSpPr>
        <p:spPr>
          <a:xfrm>
            <a:off x="9089136" y="4005072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9235440" y="395020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Kerjasama lisensi teknologi dan royalti paten bersama industri.</a:t>
            </a:r>
            <a:endParaRPr lang="en-US" sz="950" dirty="0"/>
          </a:p>
        </p:txBody>
      </p:sp>
      <p:sp>
        <p:nvSpPr>
          <p:cNvPr id="71" name="Shape 65"/>
          <p:cNvSpPr/>
          <p:nvPr/>
        </p:nvSpPr>
        <p:spPr>
          <a:xfrm>
            <a:off x="9089136" y="448056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66"/>
          <p:cNvSpPr/>
          <p:nvPr/>
        </p:nvSpPr>
        <p:spPr>
          <a:xfrm>
            <a:off x="9235440" y="4425696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captive market belanja inovasi seluruh OPD Surakarta.</a:t>
            </a:r>
            <a:endParaRPr lang="en-US" sz="950" dirty="0"/>
          </a:p>
        </p:txBody>
      </p:sp>
      <p:sp>
        <p:nvSpPr>
          <p:cNvPr id="73" name="Shape 67"/>
          <p:cNvSpPr/>
          <p:nvPr/>
        </p:nvSpPr>
        <p:spPr>
          <a:xfrm>
            <a:off x="9043416" y="5047488"/>
            <a:ext cx="2267712" cy="347472"/>
          </a:xfrm>
          <a:prstGeom prst="rect">
            <a:avLst/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68"/>
          <p:cNvSpPr/>
          <p:nvPr/>
        </p:nvSpPr>
        <p:spPr>
          <a:xfrm>
            <a:off x="9070848" y="506577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5+ PRODUK INOVASI TEMBUS e-KATALOG / THN</a:t>
            </a:r>
            <a:endParaRPr lang="en-US" sz="750" dirty="0"/>
          </a:p>
        </p:txBody>
      </p:sp>
      <p:sp>
        <p:nvSpPr>
          <p:cNvPr id="75" name="Shape 69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KONSISTENSI 4 PILAR: Solo Technopark bukan sekadar gedung pertemuan atau kantor bersama, melainkan ekosistem terpadu yang memadukan talenta, riset kampus, fasilitas canggih, dan akses pasar industri.</a:t>
            </a:r>
            <a:endParaRPr lang="en-US" sz="1050" dirty="0"/>
          </a:p>
        </p:txBody>
      </p:sp>
      <p:sp>
        <p:nvSpPr>
          <p:cNvPr id="77" name="Shape 71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2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79" name="Text 73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KOMERSIALISASI INOVASI // DARI LABORATORIUM KE PASAR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5 TAHAPAN HILIRISASI RISET SOLO TECHNOPARK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Mengatasi Valley of Death Inovasi melalui Fasilitasi Terpadu Kesiapan Teknologi TRL 1 hingga TRL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2029968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2029968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91640"/>
            <a:ext cx="5943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1907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73736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1–3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2084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KURASI IDE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235915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Seleksi Riset Potensial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2670048"/>
            <a:ext cx="1755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871216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816352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proposal riset dosen &amp; mahasiswa.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3529584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474720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kebaruan dan perlindungan HKI/Paten.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4187952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13308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Penyelarasan dengan kebutuhan industri lokal.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1248" y="5010912"/>
            <a:ext cx="1810512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50292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DOKUMEN PATEN &amp; HKI RESMI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79776" y="32004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07792" y="1508760"/>
            <a:ext cx="2029968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07792" y="1508760"/>
            <a:ext cx="2029968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44952" y="1691640"/>
            <a:ext cx="5943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4952" y="171907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85032" y="173736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4–5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44952" y="2084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LAB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044952" y="235915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Fungsi Terbatas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44952" y="2670048"/>
            <a:ext cx="1755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44952" y="2871216"/>
            <a:ext cx="73152" cy="7315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2816352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komponen di laboratorium canggih STP.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044952" y="3529584"/>
            <a:ext cx="73152" cy="7315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63824" y="3474720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performa &amp; optimasi rekayasa mesin.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44952" y="4187952"/>
            <a:ext cx="73152" cy="7315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63824" y="413308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standar teknis dasar kelayakan.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17520" y="5010912"/>
            <a:ext cx="1810512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5808" y="50292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HASIL UJI LAB &amp; SIMULASI CAD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56048" y="32004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84064" y="1508760"/>
            <a:ext cx="2029968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84064" y="1508760"/>
            <a:ext cx="2029968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21224" y="1691640"/>
            <a:ext cx="5943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21224" y="171907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61304" y="173736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6–7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21224" y="2084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PROTOTYPING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221224" y="235915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Produk Nyata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221224" y="2670048"/>
            <a:ext cx="1755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21224" y="2871216"/>
            <a:ext cx="73152" cy="73152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40096" y="2816352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Fabrikasi purwarupa skala industri di Fablab.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221224" y="3529584"/>
            <a:ext cx="73152" cy="73152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0096" y="3474720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operasional pada lingkungan kerja nyata.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21224" y="4187952"/>
            <a:ext cx="73152" cy="73152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40096" y="413308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Penyempurnaan desain ergonomi &amp; biaya produksi.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193792" y="5010912"/>
            <a:ext cx="1810512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2080" y="50292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PURWARUPA FISIK TRL 7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132320" y="32004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260336" y="1508760"/>
            <a:ext cx="2029968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60336" y="1508760"/>
            <a:ext cx="202996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97496" y="1691640"/>
            <a:ext cx="59436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97496" y="171907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037576" y="173736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397496" y="2084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PASAR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397496" y="235915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Sertifikasi &amp; Pasar Terbatas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397496" y="2670048"/>
            <a:ext cx="1755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7496" y="2871216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16368" y="2816352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klinis/kelayakan resmi (BBPK, Kemenkes, SNI).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397496" y="3529584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16368" y="3474720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Piloting produk pada 3–5 pengguna percontohan.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397496" y="4187952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16368" y="413308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kelayakan harga jual dan margin.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370064" y="5010912"/>
            <a:ext cx="1810512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88352" y="50292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SERTIFIKASI SNI &amp; IZIN EDAR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308592" y="32004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9436608" y="1508760"/>
            <a:ext cx="2029968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36608" y="1508760"/>
            <a:ext cx="2029968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73768" y="1691640"/>
            <a:ext cx="594360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573768" y="171907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0213848" y="173736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9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9573768" y="2084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KOMERSIALISASI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9573768" y="235915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Produksi Massal &amp; Lisensi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9573768" y="2670048"/>
            <a:ext cx="1755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573768" y="2871216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692640" y="2816352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Penayangan produk pada e-Katalog Lokal Pemkot.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573768" y="3529584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692640" y="3474720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Kerjasama lisensi royalti atau spin-off startup.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573768" y="4187952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692640" y="413308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Penetrasi pasar swasta dan ekspor regional.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546336" y="5010912"/>
            <a:ext cx="1810512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564624" y="50292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LISTING e-KATALOG &amp; KONTRAK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LEMBAH KEMATIAN INOVASI: Dengan pipeline terstruktur ini, hasil riset dosen dan mahasiswa Solo Raya tidak lagi mandek di perpustakaan kampus, melainkan secara bertahap dibimbing hingga terbit izin edar dan masuk ke pasar komersial.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INOVASI RIIL // BUKTI IMPLEMENTASI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PRODUK HILIRISASI &amp; FASILITAS CANGGIH KAWASAN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Nyata Hasil Riset yang Telah Digunakan Industri dan Infrastruktur Laboratorium Pendukung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521208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521208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916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PRODUK INOVASI UNGGULAN TERUJI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2011680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084832"/>
            <a:ext cx="100584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031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AGRO-TECH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121408" y="20665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 IoT &amp; Monitoring Tanah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20665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322576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 &amp; Kelompok Tani  •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kelembaban tanah &amp; cuaca terintegrasi smartphone, hemat air 40%.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2688336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61488"/>
            <a:ext cx="100584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77977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ALKES / MEDIS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21408" y="2743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Kursi Roda Cerdas Kontrol Sinyal Otak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743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2999232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Poltekkes &amp; RSUD  •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bantu disabilitas motorik berat berbasis sensor EEG dan navigasi AI.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0120" y="3364992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3438144"/>
            <a:ext cx="100584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4564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IKM PANGAN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121408" y="34198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Sortasi Biji Kopi Presisi Tinggi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419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3675888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Fak. Teknik UMS &amp; IKM  •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sortasi optik otomatis meningkatkan kapasitas sortir IKM kopi 300%.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0120" y="4041648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114800"/>
            <a:ext cx="100584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13308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FARMASI HERBAL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121408" y="40965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Ekstrak Herbal Terstandar Antioksidan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40965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" y="4352544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Unisri &amp; Industri Jamu  •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Formulasi jamu modern berizin BPOM siap ekspor ke kawasan Asia Tenggara.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0120" y="4718304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" y="4791456"/>
            <a:ext cx="100584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480974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BIOMEDIS 3D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121408" y="47731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 Tulang Titan Kustomisasi 3D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1560" y="502920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Konsorsium Medis Solo  •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 medis presisi dibuat dengan 3D Metal Printer di Fablab STP.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48095" y="1508760"/>
            <a:ext cx="521208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48095" y="1508760"/>
            <a:ext cx="52120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76695" y="16916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FASILITAS LABORATORIUM CANGGIH KAWASAN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76695" y="2011680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3855" y="20665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Fablab &amp; Studio Desain Digital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180015" y="20665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Utilisasi 85%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13855" y="23042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Metal/Resin Printer, Laser Cutting, dan Workstation CAD/CAM canggih.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76695" y="2688336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13855" y="2743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Machining &amp; CNC Center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180015" y="2743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Utilisasi 90%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13855" y="298094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CNC Milling 5-Axis dan Bubut Presisi untuk cetakan mold &amp; suku cadang alkes.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76695" y="3364992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13855" y="34198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Agro-Biotech &amp; Food Testing Lab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180015" y="3419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Utilisasi 75%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13855" y="36576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Laboratorium pengujian nutrisi makanan, sertifikasi halal, dan olahan pangan IKM.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76695" y="4041648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13855" y="40965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&amp; Digital Animation Studio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180015" y="40965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Utilisasi 80%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13855" y="433425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Didukung Garena &amp; Shopee: Motion capture studio, render farm, dan coding game.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76695" y="4718304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13855" y="4773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Skill Center (OGSCI)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0180015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Utilisasi 92%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13855" y="50109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diklat &amp; sertifikasi pengelasan bawah air (underwater welding) internasional.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KELAS DUNIA: Seluruh fasilitas laboratorium di atas telah beroperasi penuh dan siap melayani permintaan rekayasa industri nasional, pelatihan vokasi, serta pengujian mutu produk tenant.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 MULTI-STAKEHOLDER // JARINGAN MITRA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HEXAHELIX: 95+ MITRA STRATEGIS GLOBAL &amp; NASIONAL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Ekosistem Berkelanjutan Murni Berbasis Kerjasama Tanpa Beban Belanja Modal APBD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3456432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73352"/>
            <a:ext cx="438912" cy="438912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1746504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16550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AKADEMISI (KAMPUS)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2779776" y="1645920"/>
            <a:ext cx="1261872" cy="237744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79776" y="166420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Kampus Mitra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914400" y="201168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Penyuplai riset terapan, dosen pakar, dan talenta mahasiswa tugas akhir.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14400" y="2423160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246888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Tergabung: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14400" y="2651760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UNS, UMS, ISI Surakarta, Unisri, Poltek Solo, ATMI, Undip, UGM, ITB.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70832" y="15087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70832" y="1508760"/>
            <a:ext cx="345643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53712" y="1673352"/>
            <a:ext cx="438912" cy="438912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864" y="1746504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937760" y="16550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BISNIS &amp; INDUSTRI</a:t>
            </a:r>
            <a:endParaRPr lang="en-US" sz="920" dirty="0"/>
          </a:p>
        </p:txBody>
      </p:sp>
      <p:sp>
        <p:nvSpPr>
          <p:cNvPr id="23" name="Shape 19"/>
          <p:cNvSpPr/>
          <p:nvPr/>
        </p:nvSpPr>
        <p:spPr>
          <a:xfrm>
            <a:off x="6419088" y="1645920"/>
            <a:ext cx="1261872" cy="237744"/>
          </a:xfrm>
          <a:prstGeom prst="rect">
            <a:avLst/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19088" y="166420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Korporasi Mitra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4553712" y="201168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Offtaker lulusan vokasi, penyedia kurikulum industri, dan investor tenant.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553712" y="2423160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53712" y="246888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Tergabung: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553712" y="2651760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Shopee, Garena, Indosat, ACER, Microsoft, Bukalapak, GoTo, Petrokimia.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010144" y="15087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10144" y="1508760"/>
            <a:ext cx="345643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193024" y="1673352"/>
            <a:ext cx="438912" cy="43891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6176" y="1746504"/>
            <a:ext cx="292608" cy="29260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577072" y="16550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KOMUNITAS INOVATOR</a:t>
            </a:r>
            <a:endParaRPr lang="en-US" sz="920" dirty="0"/>
          </a:p>
        </p:txBody>
      </p:sp>
      <p:sp>
        <p:nvSpPr>
          <p:cNvPr id="34" name="Shape 29"/>
          <p:cNvSpPr/>
          <p:nvPr/>
        </p:nvSpPr>
        <p:spPr>
          <a:xfrm>
            <a:off x="10058400" y="1645920"/>
            <a:ext cx="1261872" cy="237744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058400" y="166420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Komunitas Aktif</a:t>
            </a:r>
            <a:endParaRPr lang="en-US" sz="820" dirty="0"/>
          </a:p>
        </p:txBody>
      </p:sp>
      <p:sp>
        <p:nvSpPr>
          <p:cNvPr id="36" name="Text 31"/>
          <p:cNvSpPr/>
          <p:nvPr/>
        </p:nvSpPr>
        <p:spPr>
          <a:xfrm>
            <a:off x="8193024" y="201168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Aktivasi event kreatif, hackathon berkala, dan jejaring wirausaha pemula.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8193024" y="2423160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193024" y="246888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Tergabung: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8193024" y="2651760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Creative City Network, Komunitas Robotik, Solo Developer, MakerSpace.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731520" y="35661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31520" y="3566160"/>
            <a:ext cx="34564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914400" y="3730752"/>
            <a:ext cx="438912" cy="438912"/>
          </a:xfrm>
          <a:prstGeom prst="rect">
            <a:avLst/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552" y="3803904"/>
            <a:ext cx="292608" cy="29260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298448" y="37124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&amp; REGULATOR</a:t>
            </a:r>
            <a:endParaRPr lang="en-US" sz="920" dirty="0"/>
          </a:p>
        </p:txBody>
      </p:sp>
      <p:sp>
        <p:nvSpPr>
          <p:cNvPr id="45" name="Shape 39"/>
          <p:cNvSpPr/>
          <p:nvPr/>
        </p:nvSpPr>
        <p:spPr>
          <a:xfrm>
            <a:off x="2779776" y="3703320"/>
            <a:ext cx="1261872" cy="237744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2779776" y="372160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Instansi Terkait</a:t>
            </a:r>
            <a:endParaRPr lang="en-US" sz="820" dirty="0"/>
          </a:p>
        </p:txBody>
      </p:sp>
      <p:sp>
        <p:nvSpPr>
          <p:cNvPr id="47" name="Text 41"/>
          <p:cNvSpPr/>
          <p:nvPr/>
        </p:nvSpPr>
        <p:spPr>
          <a:xfrm>
            <a:off x="914400" y="406908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Penyedia regulasi afirmatif, sertifikasi paten, dan standardisasi produk.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914400" y="4480560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914400" y="452628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Tergabung: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914400" y="4709160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BRIN, Kemenperin, Kemenkop UKM, Kemendiktisaintek, Bappeda, Dinas Koperasi.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4370832" y="35661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4370832" y="3566160"/>
            <a:ext cx="34564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4553712" y="3730752"/>
            <a:ext cx="438912" cy="438912"/>
          </a:xfrm>
          <a:prstGeom prst="rect">
            <a:avLst/>
          </a:prstGeom>
          <a:solidFill>
            <a:srgbClr val="FAF5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6864" y="3803904"/>
            <a:ext cx="292608" cy="292608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4937760" y="37124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KEUANGAN</a:t>
            </a:r>
            <a:endParaRPr lang="en-US" sz="920" dirty="0"/>
          </a:p>
        </p:txBody>
      </p:sp>
      <p:sp>
        <p:nvSpPr>
          <p:cNvPr id="56" name="Shape 49"/>
          <p:cNvSpPr/>
          <p:nvPr/>
        </p:nvSpPr>
        <p:spPr>
          <a:xfrm>
            <a:off x="6419088" y="3703320"/>
            <a:ext cx="1261872" cy="237744"/>
          </a:xfrm>
          <a:prstGeom prst="rect">
            <a:avLst/>
          </a:prstGeom>
          <a:solidFill>
            <a:srgbClr val="FAF5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6419088" y="372160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Bank &amp; Investor</a:t>
            </a:r>
            <a:endParaRPr lang="en-US" sz="820" dirty="0"/>
          </a:p>
        </p:txBody>
      </p:sp>
      <p:sp>
        <p:nvSpPr>
          <p:cNvPr id="58" name="Text 51"/>
          <p:cNvSpPr/>
          <p:nvPr/>
        </p:nvSpPr>
        <p:spPr>
          <a:xfrm>
            <a:off x="4553712" y="406908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permodalan modal kerja, KUR inovasi, dan literasi transaksi digital.</a:t>
            </a:r>
            <a:endParaRPr lang="en-US" sz="950" dirty="0"/>
          </a:p>
        </p:txBody>
      </p:sp>
      <p:sp>
        <p:nvSpPr>
          <p:cNvPr id="59" name="Shape 52"/>
          <p:cNvSpPr/>
          <p:nvPr/>
        </p:nvSpPr>
        <p:spPr>
          <a:xfrm>
            <a:off x="4553712" y="4480560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4553712" y="452628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Tergabung:</a:t>
            </a:r>
            <a:endParaRPr lang="en-US" sz="800" dirty="0"/>
          </a:p>
        </p:txBody>
      </p:sp>
      <p:sp>
        <p:nvSpPr>
          <p:cNvPr id="61" name="Text 54"/>
          <p:cNvSpPr/>
          <p:nvPr/>
        </p:nvSpPr>
        <p:spPr>
          <a:xfrm>
            <a:off x="4553712" y="4709160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Indonesia Solo, OJK Solo Raya, Bank Jateng, BRI, Mandiri, Angel Investors.</a:t>
            </a:r>
            <a:endParaRPr lang="en-US" sz="950" dirty="0"/>
          </a:p>
        </p:txBody>
      </p:sp>
      <p:sp>
        <p:nvSpPr>
          <p:cNvPr id="62" name="Shape 55"/>
          <p:cNvSpPr/>
          <p:nvPr/>
        </p:nvSpPr>
        <p:spPr>
          <a:xfrm>
            <a:off x="8010144" y="35661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8010144" y="3566160"/>
            <a:ext cx="345643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8193024" y="3730752"/>
            <a:ext cx="438912" cy="43891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66176" y="3803904"/>
            <a:ext cx="292608" cy="292608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8577072" y="37124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&amp; AGREGATOR</a:t>
            </a:r>
            <a:endParaRPr lang="en-US" sz="920" dirty="0"/>
          </a:p>
        </p:txBody>
      </p:sp>
      <p:sp>
        <p:nvSpPr>
          <p:cNvPr id="67" name="Shape 59"/>
          <p:cNvSpPr/>
          <p:nvPr/>
        </p:nvSpPr>
        <p:spPr>
          <a:xfrm>
            <a:off x="10058400" y="3703320"/>
            <a:ext cx="1261872" cy="23774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10058400" y="372160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Jaringan Media</a:t>
            </a:r>
            <a:endParaRPr lang="en-US" sz="820" dirty="0"/>
          </a:p>
        </p:txBody>
      </p:sp>
      <p:sp>
        <p:nvSpPr>
          <p:cNvPr id="69" name="Text 61"/>
          <p:cNvSpPr/>
          <p:nvPr/>
        </p:nvSpPr>
        <p:spPr>
          <a:xfrm>
            <a:off x="8193024" y="406908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Amplifikasi branding Solo sebagai Kota Inovasi dan promosi produk tenant.</a:t>
            </a:r>
            <a:endParaRPr lang="en-US" sz="950" dirty="0"/>
          </a:p>
        </p:txBody>
      </p:sp>
      <p:sp>
        <p:nvSpPr>
          <p:cNvPr id="70" name="Shape 62"/>
          <p:cNvSpPr/>
          <p:nvPr/>
        </p:nvSpPr>
        <p:spPr>
          <a:xfrm>
            <a:off x="8193024" y="4480560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8193024" y="452628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Tergabung:</a:t>
            </a:r>
            <a:endParaRPr lang="en-US" sz="800" dirty="0"/>
          </a:p>
        </p:txBody>
      </p:sp>
      <p:sp>
        <p:nvSpPr>
          <p:cNvPr id="72" name="Text 64"/>
          <p:cNvSpPr/>
          <p:nvPr/>
        </p:nvSpPr>
        <p:spPr>
          <a:xfrm>
            <a:off x="8193024" y="4709160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Solopos, Radar Solo, Tribun Solo, RRI Surakarta, Sindikasi Media Nasional.</a:t>
            </a:r>
            <a:endParaRPr lang="en-US" sz="950" dirty="0"/>
          </a:p>
        </p:txBody>
      </p:sp>
      <p:sp>
        <p:nvSpPr>
          <p:cNvPr id="73" name="Shape 65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TANPA APBD: Lebih dari 95 mitra strategis di atas hadir membawa investasi, peralatan laboratorium, dan kurikulum industri secara mandiri tanpa membebani pagu APBD Kota Surakarta sepeser pun.</a:t>
            </a:r>
            <a:endParaRPr lang="en-US" sz="1050" dirty="0"/>
          </a:p>
        </p:txBody>
      </p:sp>
      <p:sp>
        <p:nvSpPr>
          <p:cNvPr id="75" name="Shape 67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68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77" name="Text 69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DIAGNOSA STRATEGIS DAERAH // PROBLEM STATEMENT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DIAGNOSA 5 GAP STRUKTURAL &amp; BOTTLENECK EKSISTING STP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Hambatan Utama yang Menahan Akselerasi Kemandirian dan Optimalisasi Dampak STP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109728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18488"/>
            <a:ext cx="82296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3677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161848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SDM &amp; REMUNERASI PROFESIONAL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8928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penggajian birokrasi kaku menyulitkan retensi mentor teknologi &amp; manajer bisnis kelas dunia.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Nyata: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Turn-over tenaga ahli tinggi; pengoperasian lab canggih (CNC/Biotech) sering terkendala ketiadaan operator ahli.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313432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313432"/>
            <a:ext cx="109728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423160"/>
            <a:ext cx="82296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4414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20240" y="242316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FINANSIAL &amp; SUBSIDI OPERASIONAL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697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 kemandirian finansial saat ini masih di bawah 45%, operasional dasar masih bergantung pada belanja rutin APBD.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Nyata: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ekspansi program terbatas pada besaran pagu anggaran daerah tahunan yang terus berfluktuasi.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118104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118104"/>
            <a:ext cx="109728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227832"/>
            <a:ext cx="82296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2461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20240" y="322783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UTILISASI ASET LAHAN TIDUR &amp; REGULASI SEWA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50215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adanya regulasi fleksibilitas sewa lahan jangka panjang (10-25 tahun) yang memberikan kepastian hukum bagi investor.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Nyata: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Lahan strategis seluas ribuan meter persegi belum termonetisasi; investor swasta menunda pembangunan fasilitas fisik.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922776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922776"/>
            <a:ext cx="109728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4032504"/>
            <a:ext cx="82296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05079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20240" y="403250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HILIRISASI RISET KAMPUS BELUM TERINTEGRASI PASAR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306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dari 80% riset dosen dan inovasi mahasiswa Solo Raya mandek pada laporan perpustakaan (TRL 3-4).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Nyata: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teknologi industri manufaktur dan alkes di Solo Raya tetap dipasok oleh produk impor luar negeri.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727448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727448"/>
            <a:ext cx="109728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4837176"/>
            <a:ext cx="82296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85546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920240" y="483717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ACCESS &amp; SERAPAN PRODUK TENANT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511149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teknologi buatan tenant binaan STP belum diprioritaskan dalam sistem belanja pengadaan barang/jasa dinas Pemkot.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Nyata: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inovasi kesulitan mendapatkan "First Paying Client" yang krusial untuk membuktikan rekam jejak pasar.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AUDIT MASALAH: Hambatan terbesar akselerasi Solo Technopark saat ini murni terletak pada sumbatan regulasi kepegawaian, skema sewa aset jangka panjang, dan ketiadaan perlindungan serapan pasar lokal.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TEROBOSAN // SOLUTION STATEMENT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SOLUSI TEROBOSAN STRATEGIS &amp; QUICK WINS 30 HARI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Konkret untuk Mengatasi 5 GAP Struktural Menuju Kemandirian Penuh BLUD 2030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109728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18488"/>
            <a:ext cx="914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367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0" y="161848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REKRUTMEN MANAJEMEN PROFESIONAL NON-PNS DENGAN REMUNERASI BLUD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18928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Terobosan Strategis: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Penerbitan Keputusan Pemimpin BLUD tentang Struktur Organisasi Fleksibel dan Pola Insentif Kinerja berbasis standar korporasi.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30 Hari: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Rekrutmen terbuka 3 Manajer Inkubasi &amp; Kemitraan Industri ex-korporasi teknologi dalam 30 hari pertama.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313432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313432"/>
            <a:ext cx="109728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423160"/>
            <a:ext cx="914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4414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0" y="242316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DIVERSIFIKASI BISNIS KE 6 KLASTER PENDAPATAN KOMERSIAL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97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Terobosan Strategis: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Restrukturisasi tarif layanan laboratorium, sertifikasi vokasi industri, dan optimalisasi sewa fasilitas MICE &amp; Edukasi.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30 Hari: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Pemberlakuan e-Tarif Layanan STP baru yang kompetitif untuk 45 jenis uji laboratorium dan fabrikasi.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118104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118104"/>
            <a:ext cx="109728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227832"/>
            <a:ext cx="914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24612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11680" y="322783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PERATURAN WALIKOTA TENTANG FLEKSIBILITAS KERJASAMA LAHAN 10–25 TAHUN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50215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Terobosan Strategis: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Perwali yang memberikan kepastian hukum skema Bangun Guna Serah (BGS) dan Long-Term Revenue Sharing.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30 Hari: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Harmonisasi draf naskah Perwali bersama Bagian Hukum Setda &amp; BPKAD Surakarta dalam 30 hari pertama.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922776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922776"/>
            <a:ext cx="109728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4032504"/>
            <a:ext cx="914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0507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11680" y="403250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SURAT EDARAN WALIKOTA PEMBENTUKAN KONSORSIUM RISET 5 KAMPUS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4306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Terobosan Strategis: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Mewajibkan 30% anggaran riset terapan kampus Solo Raya (UNS, UMS, ISI, Unisri, Poltek) dialokasikan untuk pemecahan masalah industri di STP.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30 Hari: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Penandatanganan Nota Kesepahaman Bersama (MoU) 5 Rektor di hadapan Walikota Surakarta.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727448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727448"/>
            <a:ext cx="109728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4837176"/>
            <a:ext cx="9144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8554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05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11680" y="483717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INSTRUKSI WALIKOTA AFIRMASI e-KATALOG LOKAL BELANJA INOVASI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511149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Terobosan Strategis: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Menginstruksikan seluruh OPD Pemkot memprioritaskan belanja produk hasil riset tenant binaan STP melalui e-Katalog Lokal.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30 Hari: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5 produk inovasi unggulan (Smart Agri IoT, Kursi Roda AI, Alkes) ke etalase e-Katalog Lokal.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ZERO APBD BURDEN: Kelima solusi terobosan di atas tidak menuntut penambahan pagu belanja modal APBD, melainkan membuka keran kemandirian melalui kepastian regulasi kepemimpinan Walikota.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PENTAHAPAN STRATEGIS // ROADMAP 5 TAHUN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FASE TRANSFORMASI SOLO TECHNOPARK (2026–2030)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Tahapan Terukur Menuju Kemandirian Finansial Penuh dan Pengakuan sebagai Hub Inovasi Nasional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3456432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91640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(2026–2027)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272" y="2011680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965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KONSOLIDASI &amp; DEREGULASI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60120" y="2395728"/>
            <a:ext cx="2999232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423160"/>
            <a:ext cx="2816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PENDAPATAN: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51560" y="2596896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8,20 M → Rp 12,85 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60120" y="302666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Penerbitan 3 Regulasi Kunci (Inkwal e-Katalog, Perwali Lahan, SE Konsorsium).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60120" y="352958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5568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struktur organisasi baru &amp; rekrutmen manajer profesional.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60120" y="403250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Optimalisasi utilisasi 5 fasilitas laboratorium canggih hingga 85%.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60120" y="453542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4480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Revitalisasi infrastruktur digital &amp; pemetaan aset lahan tidur kawasan.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60120" y="5038344"/>
            <a:ext cx="82296" cy="822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5568" y="4983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 kemandirian finansial mencapai 50% dari total kebutuhan operasional.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370832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70832" y="1508760"/>
            <a:ext cx="345643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99432" y="1691640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(2028–2029)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99432" y="1938528"/>
            <a:ext cx="475488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2584" y="2011680"/>
            <a:ext cx="329184" cy="32918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102352" y="1965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AKSELERASI &amp; BREAK-EVEN POINT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599432" y="2395728"/>
            <a:ext cx="2999232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690872" y="2423160"/>
            <a:ext cx="2816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PENDAPATAN (BEP):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690872" y="2596896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15,60 M → Rp 18,50 M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99432" y="302666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5488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PENCAPAIAN BREAK-EVEN POINT (BEP) PENUH PADA AKHIR TAHUN 2029.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599432" y="352958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75488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Realisasi groundbreaking 2 gedung riset industri kemitraan lahan BLUD.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4599432" y="403250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54880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Komersialisasi massal 10 produk riset unggulan konsorsium kampus.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4599432" y="453542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54880" y="4480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program diklat vokasi industri bersertifikasi internasional.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4599432" y="5038344"/>
            <a:ext cx="82296" cy="8229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754880" y="4983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biaya operasional rutin dibiayai mandiri tanpa subsidi APBD.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8010144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010144" y="1508760"/>
            <a:ext cx="345643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238744" y="1691640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(2030)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8238744" y="1938528"/>
            <a:ext cx="475488" cy="475488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1896" y="2011680"/>
            <a:ext cx="329184" cy="329184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8741664" y="1965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MANDIRI PENUH &amp; EKSPANSI</a:t>
            </a:r>
            <a:endParaRPr lang="en-US" sz="1250" dirty="0"/>
          </a:p>
        </p:txBody>
      </p:sp>
      <p:sp>
        <p:nvSpPr>
          <p:cNvPr id="51" name="Shape 46"/>
          <p:cNvSpPr/>
          <p:nvPr/>
        </p:nvSpPr>
        <p:spPr>
          <a:xfrm>
            <a:off x="8238744" y="2395728"/>
            <a:ext cx="2999232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330184" y="2423160"/>
            <a:ext cx="2816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PENDAPATAN (SURPLUS):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8330184" y="2596896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23,47 Miliar / Tahun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8238744" y="302666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394192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Pencapaian surplus operasional bersih BLUD sebesar Rp 4,97 Miliar.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8238744" y="352958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394192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Technopark diakui sebagai Top-3 KST Terbaik di Tingkat Nasional.</a:t>
            </a:r>
            <a:endParaRPr lang="en-US" sz="1050" dirty="0"/>
          </a:p>
        </p:txBody>
      </p:sp>
      <p:sp>
        <p:nvSpPr>
          <p:cNvPr id="58" name="Shape 53"/>
          <p:cNvSpPr/>
          <p:nvPr/>
        </p:nvSpPr>
        <p:spPr>
          <a:xfrm>
            <a:off x="8238744" y="403250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8394192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layanan sertifikasi &amp; pengujian ke skala regional Jawa Tengah.</a:t>
            </a:r>
            <a:endParaRPr lang="en-US" sz="1050" dirty="0"/>
          </a:p>
        </p:txBody>
      </p:sp>
      <p:sp>
        <p:nvSpPr>
          <p:cNvPr id="60" name="Shape 55"/>
          <p:cNvSpPr/>
          <p:nvPr/>
        </p:nvSpPr>
        <p:spPr>
          <a:xfrm>
            <a:off x="8238744" y="453542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8394192" y="4480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Penyetoran dividen PAD ke kas daerah Pemkot Surakarta secara berkala.</a:t>
            </a:r>
            <a:endParaRPr lang="en-US" sz="1050" dirty="0"/>
          </a:p>
        </p:txBody>
      </p:sp>
      <p:sp>
        <p:nvSpPr>
          <p:cNvPr id="62" name="Shape 57"/>
          <p:cNvSpPr/>
          <p:nvPr/>
        </p:nvSpPr>
        <p:spPr>
          <a:xfrm>
            <a:off x="8238744" y="503834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394192" y="4983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Kawasan mandiri energi dan pusat ekosistem ekonomi sirkular modern.</a:t>
            </a:r>
            <a:endParaRPr lang="en-US" sz="1050" dirty="0"/>
          </a:p>
        </p:txBody>
      </p:sp>
      <p:sp>
        <p:nvSpPr>
          <p:cNvPr id="64" name="Shape 59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TRAJEKTORI PASTI: Roadmap 2026–2030 ini bukan angan-angan, melainkan rencana bertahap dengan milestone terukur yang mengarahkan Solo Technopark mencapai titik impas kemandirian pada tahun 2029.</a:t>
            </a:r>
            <a:endParaRPr lang="en-US" sz="1050" dirty="0"/>
          </a:p>
        </p:txBody>
      </p:sp>
      <p:sp>
        <p:nvSpPr>
          <p:cNvPr id="66" name="Shape 61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TRAJEKTORI KEMANDIRIAN BLUD // TARGET FINANSIAL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RE-SETTING TARGET PENDAPATAN BLUD MENUJU BEP 2029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Lonjakan Pendapatan dari Rp 8,20 M (2026) Menuju Rp 23,47 M (2030) dengan Titik Impas di 2029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508760"/>
          <a:ext cx="6217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1188720" y="2788920"/>
            <a:ext cx="329184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188720" y="2523744"/>
            <a:ext cx="3291840" cy="237744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2542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AMBANG BEP MANDIRI: Rp 18,50 M (Dicapai 2029)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253935" y="1508760"/>
            <a:ext cx="4206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53935" y="1508760"/>
            <a:ext cx="91440" cy="12344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16184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LOMPATAN FINANSIAL +212,8%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52360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23,47 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52360" y="2194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 pendapatan BLUD lebih dari 3 kali lipat dalam 5 tahun, dipicu oleh beroperasinya kemitraan sewa lahan dan hilirisasi produk riset.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53935" y="2862072"/>
            <a:ext cx="4206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53935" y="2862072"/>
            <a:ext cx="9144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29718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TITIK IMPAS MANDIRI (BEP)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452360" y="3182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 2029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52360" y="35478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tahun 2029, pendapatan mandiri sebesar Rp 18,50 Miliar telah menutup 100% biaya operasional rutin (gaji non-PNS, listrik lab, dan pemeliharaan).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253935" y="4215384"/>
            <a:ext cx="4206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53935" y="4215384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4325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 BELANJA APBD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452360" y="45354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10,2 M / Thn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452360" y="49011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Pelepasan subsidi operasional secara bertahap menghemat belanja Pemkot hingga Rp 10,2 M/tahun yang dapat direalokasikan untuk program kesejahteraan warga.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AKUNTABILITAS FISKAL: Lintasan pertumbuhan ini disusun berdasarkan kontrak berjalan, re-setting tarif pengujian lab, dan proyeksi konservatif pemanfaatan aset lahan yang siap eksekusi.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REVENUE STREAM // ANALISIS PORTOFOLIO 2030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KOMPOSISI 6 KLASTER PENDAPATAN &amp; TOP 5 KATALISATOR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Sumber Penerimaan untuk Memastikan Stabilitas Keuangan Tanpa Ketergantungan Tunggal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50876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920240" y="2834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2030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23,47 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56655" y="1508760"/>
            <a:ext cx="530352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56655" y="1508760"/>
            <a:ext cx="530352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85255" y="16916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KATALISATOR PENDAPATAN TERTINGGI 2030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85255" y="2011680"/>
            <a:ext cx="4846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73952" y="2121408"/>
            <a:ext cx="384048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73952" y="217627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49440" y="20848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Lahan Kampus Satelit Industri (Zona Utara)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195560" y="20848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6,50 M / Thn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49440" y="2340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Porsi: 27,7% terhadap total pendapatan STP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385255" y="2688336"/>
            <a:ext cx="4846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73952" y="2798064"/>
            <a:ext cx="384048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285292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49440" y="27614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Gedung Komersial &amp; Office IT (Zona Tengah)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195560" y="27614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3,20 M / Thn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49440" y="30175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Porsi: 13,6% terhadap total pendapatan STP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385255" y="3364992"/>
            <a:ext cx="4846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73952" y="3474720"/>
            <a:ext cx="384048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73952" y="352958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949440" y="343814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Diklat Industri Vokasi &amp; Migas (OGSCI)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195560" y="343814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2,80 M / Thn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949440" y="36941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Porsi: 11,9% terhadap total pendapatan STP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385255" y="4041648"/>
            <a:ext cx="4846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73952" y="4151376"/>
            <a:ext cx="384048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73952" y="420624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949440" y="41148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Jasa Machining CNC Presisi &amp; Fablab 3D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195560" y="41148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1,85 M / Thn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949440" y="43708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Porsi: 7,9% terhadap total pendapatan STP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385255" y="4718304"/>
            <a:ext cx="4846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73952" y="4828032"/>
            <a:ext cx="384048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73952" y="488289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949440" y="479145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Coworking Space &amp; Akselerasi Startup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0195560" y="479145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1,40 M / Thn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49440" y="50474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Porsi: 6,0% terhadap total pendapatan STP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STABILITAS FINANSIAL: 5 katalisator terbesar di atas menyumbang 67,1% total penerimaan. Kombinasi sewa lahan jangka panjang (penerimaan pasti) dan jasa teknologi (pertumbuhan dinamis) menjamin arus kas BLUD sangat sehat.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FINANSIAL // THE ANCHOR REVENUE ENGINE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 KLASTER A: KERJASAMA PEMANFAATAN LAHAN &amp; ASET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Pendapatan Jangkar Senilai Rp 12.825.000.000 (54,6% dari Total Target Mandiri 2030)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4206240" cy="4023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17830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83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A // ANCHOR ENGINE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0584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PEMANFAATAN LAHAN &amp; GEDUNG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12.825.000.000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0584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Kontribusi: 54,6% dari Total Target Mandiri STP 2030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05840" y="3657600"/>
            <a:ext cx="3657600" cy="0"/>
          </a:xfrm>
          <a:prstGeom prst="line">
            <a:avLst/>
          </a:prstGeom>
          <a:noFill/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Karakteristik Finansial: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05840" y="4023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Pendapatan Pasif Pasti: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sewa multi-tahun (10–25 thn) memberikan stabilitas penerimaan tanpa biaya variabel harian.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APBD Burden: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Pembangunan fisik gedung R&amp;D dibiayai 100% oleh mitra industri swasta.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Kunci Keberhasilan: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Membutuhkan payung hukum Perwali Fleksibilitas Kerjasama Lahan BLUD.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66360" y="1508760"/>
            <a:ext cx="6293815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66360" y="1508760"/>
            <a:ext cx="91440" cy="89611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76672" y="1600200"/>
            <a:ext cx="150876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76672" y="161848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UTARA (1,2 HA)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949440" y="15819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Lahan Kampus Satelit Industri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601200" y="158191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6.500.000.000 / Thn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76672" y="1856232"/>
            <a:ext cx="5897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Porsi: 50,7% Klaster A  •  Pemanfaatan lahan tidur 1,2 Ha untuk pendirian gedung pusat riset &amp; pengembangan permanen oleh 2 korporasi teknologi global dengan sewa 20 tahun.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166360" y="2514600"/>
            <a:ext cx="6293815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66360" y="2514600"/>
            <a:ext cx="91440" cy="89611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76672" y="2606040"/>
            <a:ext cx="150876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76672" y="262432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TENGAH (15 TENANT)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949440" y="25877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Gedung Perkantoran IT &amp; Retail Inovasi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601200" y="258775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3.200.000.000 / Thn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376672" y="2862072"/>
            <a:ext cx="5897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Porsi: 25,0% Klaster A  •  Penyewaan ruang kantor siap pakai untuk 15 perusahaan software house, konsultan IT nasional, dan showroom produk teknologi tenant.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166360" y="3520440"/>
            <a:ext cx="6293815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166360" y="3520440"/>
            <a:ext cx="91440" cy="89611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76672" y="3611880"/>
            <a:ext cx="150876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76672" y="363016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KEMITRAAN MICE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949440" y="35935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Kerjasama Operasional MICE &amp; Fasilitas Kawasan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9601200" y="35935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1.850.000.000 / Thn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376672" y="3867912"/>
            <a:ext cx="5897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Porsi: 14,4% Klaster A  •  Skema bagi hasil operasional gedung serbaguna, arena pertemuan, dan fasilitas penunjang kawasan bersama operator event management profesional.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166360" y="4526280"/>
            <a:ext cx="6293815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166360" y="4526280"/>
            <a:ext cx="91440" cy="89611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76672" y="4617720"/>
            <a:ext cx="150876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76672" y="463600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ADVERTISING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949440" y="459943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 Terbuka &amp; Digital Signage Advertising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601200" y="459943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1.275.000.000 / Thn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376672" y="4873752"/>
            <a:ext cx="5897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Porsi: 9,9% Klaster A  •  Monetisasi videotron digital LED luar ruang di gerbang kawasan STP, penamaan gedung (naming rights), dan booth sponsor tahunan mitra korporasi.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PONDASI FINANSIAL UTAMA: Penerbitan regulasi fleksibilitas kerjasama lahan jangka panjang adalah "kunci pembuka gerbang" pendapatan Rp 12,82 Miliar ini. Begitu regulasi terbit, pendapatan mandiri STP langsung melonjak drastis.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FINANSIAL // SERVICE &amp; INNOVATION REVENUE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 KLASTER B–F: LAYANAN INOVASI &amp; JASA TEKNOLOGI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Pendapatan Berbasis Jasa, Sertifikasi, dan Pengujian Senilai Rp 10.643.158.831 (45,4% dari Total Target)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109728" cy="7315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18488"/>
            <a:ext cx="10058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3677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0" y="161848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DIKLAT VOKASI &amp; SERTIFIKASI KOMPETENSI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1618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3.920.000.000  (16,7%)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911096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Layanan Unggulan: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Diklat Industri Vokasi (Migas, Underwater Welding, Otomasi PLC), Sertifikasi BNSP &amp; Internasional, In-House Training Korporasi.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13432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313432"/>
            <a:ext cx="109728" cy="7315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423160"/>
            <a:ext cx="10058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4414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03120" y="242316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FABRIKASI PRESISI &amp; PENGUJIAN LABORATORIUM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24231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2.450.000.000  (10,4%)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715768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Layanan Unggulan: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Jasa Pemesinan CNC 5-Axis presisi, Fablab 3D Printing Logam &amp; Resin, Uji Mutu Bahan Pangan &amp; Ekstrak Herbal, Kalibrasi Alat Industri.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118104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118104"/>
            <a:ext cx="109728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3227832"/>
            <a:ext cx="100584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2461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03120" y="322783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INKUBASI BISNIS &amp; SEWA CO-WORKING SPACE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32278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1.750.000.000  (7,5%)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520440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Layanan Unggulan: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Sewa ruang tenant startup, Dedicated Desk Co-working Space, Virtual Office UMKM, Manajemen Fee Akselerasi Bisnis Teknologi.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922776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922776"/>
            <a:ext cx="109728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4032504"/>
            <a:ext cx="100584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0507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03120" y="403250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KONSULTANSI TEKNOLOGI &amp; RISET INDUSTRI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40325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1.400.000.000  (6,0%)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4325112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Layanan Unggulan: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Kelayakan Teknis Industri, Reverse Engineering Mesin Manufaktur, Royalti Lisensi Paten Inovasi Kampus, Audit Energi &amp; IoT.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727448"/>
            <a:ext cx="10728655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4727448"/>
            <a:ext cx="109728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4837176"/>
            <a:ext cx="1005840" cy="256032"/>
          </a:xfrm>
          <a:prstGeom prst="rect">
            <a:avLst/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85546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F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483717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 &amp; WISATA EDUKASI TEKNOLOGI DAERAH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48371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1.123.158.831  (4,8%)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0120" y="512978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Layanan Unggulan: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Tiket Wisata Edukasi Sains &amp; Teknologi untuk Pelajar se-Jateng &amp; DIY, Sewa Auditorium Seminar Nasional, Penyelenggaraan Expo Teknologi.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TARGET PENDAPATAN MANDIRI 2030 (Klaster A + Klaster B s.d. F): Rp 23.468.158.831 (100% Bebas Subsidi Belanja Operasional APBD Surakarta).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KONTRIBUSI NYATA // DAMPAK PEMBANGUNAN DAERAH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DIMENSI DAMPAK SOLO TECHNOPARK UNTUK KOTA SURAKARTA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Kuantitatif dan Kualitatif Keberhasilan Pembangunan Ekosistem Inovasi 2026–2030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3456432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55064"/>
            <a:ext cx="420624" cy="420624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172821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65506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DAMPAK EKONOMI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889504" y="1655064"/>
            <a:ext cx="1115568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89504" y="167335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+300% MULTIPLIER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914400" y="198424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18,5 Miliar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14400" y="233172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Omzet Komulatif Tenant Inovasi 2030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914400" y="2569464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642616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Menciptakan perputaran ekonomi baru di Surakarta melalui komersialisasi produk inovasi teknologi dan pembentukan startup lokal.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70832" y="15087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70832" y="1508760"/>
            <a:ext cx="345643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53712" y="1655064"/>
            <a:ext cx="420624" cy="420624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864" y="1728216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919472" y="165506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SERAPAN KERJA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528816" y="1655064"/>
            <a:ext cx="1115568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28816" y="167335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 LULUS TERSERAP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4553712" y="198424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1.500 Talenta / Tahun</a:t>
            </a:r>
            <a:endParaRPr lang="en-US" sz="1650" dirty="0"/>
          </a:p>
        </p:txBody>
      </p:sp>
      <p:sp>
        <p:nvSpPr>
          <p:cNvPr id="26" name="Text 22"/>
          <p:cNvSpPr/>
          <p:nvPr/>
        </p:nvSpPr>
        <p:spPr>
          <a:xfrm>
            <a:off x="4553712" y="233172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Terserap Industri dengan Upah Layak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553712" y="2569464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53712" y="2642616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 lulusan diklat vokasi STP langsung terserap di industri teknologi nasional dan manufaktur presisi, menekan angka pengangguran terbuka.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010144" y="15087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10144" y="1508760"/>
            <a:ext cx="345643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193024" y="1655064"/>
            <a:ext cx="420624" cy="420624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6176" y="1728216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558784" y="165506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FISKAL &amp; PAD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10168128" y="1655064"/>
            <a:ext cx="1115568" cy="219456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168128" y="167335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NOL SUBSIDI 2029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8193024" y="198424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10,2 Miliar / Tahun</a:t>
            </a:r>
            <a:endParaRPr lang="en-US" sz="1650" dirty="0"/>
          </a:p>
        </p:txBody>
      </p:sp>
      <p:sp>
        <p:nvSpPr>
          <p:cNvPr id="37" name="Text 32"/>
          <p:cNvSpPr/>
          <p:nvPr/>
        </p:nvSpPr>
        <p:spPr>
          <a:xfrm>
            <a:off x="8193024" y="233172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 Belanja APBD Pasca-BEP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8193024" y="2569464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193024" y="2642616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APBD tidak lagi terbebani subsidi operasional STP; kas daerah justru menerima kontribusi PAD melalui pajak dan retribusi kegiatan komersial.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731520" y="35661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31520" y="3566160"/>
            <a:ext cx="34564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914400" y="3712464"/>
            <a:ext cx="420624" cy="420624"/>
          </a:xfrm>
          <a:prstGeom prst="rect">
            <a:avLst/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552" y="3785616"/>
            <a:ext cx="274320" cy="27432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280160" y="371246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EKOSISTEM HKI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2889504" y="3712464"/>
            <a:ext cx="1115568" cy="219456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2889504" y="373075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RUJUKAN INOVASI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914400" y="404164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Paten &amp; Hak Cipta</a:t>
            </a:r>
            <a:endParaRPr lang="en-US" sz="1650" dirty="0"/>
          </a:p>
        </p:txBody>
      </p:sp>
      <p:sp>
        <p:nvSpPr>
          <p:cNvPr id="48" name="Text 42"/>
          <p:cNvSpPr/>
          <p:nvPr/>
        </p:nvSpPr>
        <p:spPr>
          <a:xfrm>
            <a:off x="914400" y="438912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Didaftarkan &amp; Dilisensikan ke Industri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914400" y="4626864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914400" y="4700016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menjadi rujukan pendaftaran dan komersialisasi kekayaan intelektual (HKI) perguruan tinggi dan inovator lokal di Jawa Tengah.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4370832" y="35661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4370832" y="3566160"/>
            <a:ext cx="34564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4553712" y="3712464"/>
            <a:ext cx="420624" cy="420624"/>
          </a:xfrm>
          <a:prstGeom prst="rect">
            <a:avLst/>
          </a:prstGeom>
          <a:solidFill>
            <a:srgbClr val="FAF5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6864" y="3785616"/>
            <a:ext cx="274320" cy="274320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4919472" y="371246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BRANDING KOTA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6528816" y="3712464"/>
            <a:ext cx="1115568" cy="219456"/>
          </a:xfrm>
          <a:prstGeom prst="rect">
            <a:avLst/>
          </a:prstGeom>
          <a:solidFill>
            <a:srgbClr val="FAF5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6528816" y="373075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GLOBAL</a:t>
            </a:r>
            <a:endParaRPr lang="en-US" sz="750" dirty="0"/>
          </a:p>
        </p:txBody>
      </p:sp>
      <p:sp>
        <p:nvSpPr>
          <p:cNvPr id="58" name="Text 51"/>
          <p:cNvSpPr/>
          <p:nvPr/>
        </p:nvSpPr>
        <p:spPr>
          <a:xfrm>
            <a:off x="4553712" y="404164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KST Nasional</a:t>
            </a:r>
            <a:endParaRPr lang="en-US" sz="1650" dirty="0"/>
          </a:p>
        </p:txBody>
      </p:sp>
      <p:sp>
        <p:nvSpPr>
          <p:cNvPr id="59" name="Text 52"/>
          <p:cNvSpPr/>
          <p:nvPr/>
        </p:nvSpPr>
        <p:spPr>
          <a:xfrm>
            <a:off x="4553712" y="438912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Rujukan Nasional &amp; Internasional</a:t>
            </a:r>
            <a:endParaRPr lang="en-US" sz="850" dirty="0"/>
          </a:p>
        </p:txBody>
      </p:sp>
      <p:sp>
        <p:nvSpPr>
          <p:cNvPr id="60" name="Shape 53"/>
          <p:cNvSpPr/>
          <p:nvPr/>
        </p:nvSpPr>
        <p:spPr>
          <a:xfrm>
            <a:off x="4553712" y="4626864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4553712" y="4700016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citra Kota Surakarta dari kota budaya-heritage menjadi kota modern yang memadukan budaya luhur dengan inovasi teknologi masa depan.</a:t>
            </a:r>
            <a:endParaRPr lang="en-US" sz="950" dirty="0"/>
          </a:p>
        </p:txBody>
      </p:sp>
      <p:sp>
        <p:nvSpPr>
          <p:cNvPr id="62" name="Shape 55"/>
          <p:cNvSpPr/>
          <p:nvPr/>
        </p:nvSpPr>
        <p:spPr>
          <a:xfrm>
            <a:off x="8010144" y="3566160"/>
            <a:ext cx="345643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8010144" y="3566160"/>
            <a:ext cx="345643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8193024" y="3712464"/>
            <a:ext cx="420624" cy="420624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66176" y="3785616"/>
            <a:ext cx="274320" cy="274320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8558784" y="371246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INKLUSI WARGA</a:t>
            </a:r>
            <a:endParaRPr lang="en-US" sz="950" dirty="0"/>
          </a:p>
        </p:txBody>
      </p:sp>
      <p:sp>
        <p:nvSpPr>
          <p:cNvPr id="67" name="Shape 59"/>
          <p:cNvSpPr/>
          <p:nvPr/>
        </p:nvSpPr>
        <p:spPr>
          <a:xfrm>
            <a:off x="10168128" y="3712464"/>
            <a:ext cx="1115568" cy="219456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10168128" y="373075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LITERASI GRATIS</a:t>
            </a:r>
            <a:endParaRPr lang="en-US" sz="750" dirty="0"/>
          </a:p>
        </p:txBody>
      </p:sp>
      <p:sp>
        <p:nvSpPr>
          <p:cNvPr id="69" name="Text 61"/>
          <p:cNvSpPr/>
          <p:nvPr/>
        </p:nvSpPr>
        <p:spPr>
          <a:xfrm>
            <a:off x="8193024" y="404164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25.000 Pelajar / Tahun</a:t>
            </a:r>
            <a:endParaRPr lang="en-US" sz="1650" dirty="0"/>
          </a:p>
        </p:txBody>
      </p:sp>
      <p:sp>
        <p:nvSpPr>
          <p:cNvPr id="70" name="Text 62"/>
          <p:cNvSpPr/>
          <p:nvPr/>
        </p:nvSpPr>
        <p:spPr>
          <a:xfrm>
            <a:off x="8193024" y="438912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Penerima Manfaat Edukasi Sains</a:t>
            </a:r>
            <a:endParaRPr lang="en-US" sz="850" dirty="0"/>
          </a:p>
        </p:txBody>
      </p:sp>
      <p:sp>
        <p:nvSpPr>
          <p:cNvPr id="71" name="Shape 63"/>
          <p:cNvSpPr/>
          <p:nvPr/>
        </p:nvSpPr>
        <p:spPr>
          <a:xfrm>
            <a:off x="8193024" y="4626864"/>
            <a:ext cx="3090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8193024" y="4700016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akses gratis literasi digital, kunjungan laboratorium sains, dan pelatihan coding dasar bagi anak-anak keluarga kurang mampu di Surakarta.</a:t>
            </a:r>
            <a:endParaRPr lang="en-US" sz="950" dirty="0"/>
          </a:p>
        </p:txBody>
      </p:sp>
      <p:sp>
        <p:nvSpPr>
          <p:cNvPr id="73" name="Shape 65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TECHNOPARK UNTUK WARGA: Sukses transformasi ini bukan diukur dari megahnya gedung, melainkan dari berapa banyak anak muda Solo yang mendapat kerja layak dan berapa banyak wirausaha baru yang lahir.</a:t>
            </a:r>
            <a:endParaRPr lang="en-US" sz="1050" dirty="0"/>
          </a:p>
        </p:txBody>
      </p:sp>
      <p:sp>
        <p:nvSpPr>
          <p:cNvPr id="75" name="Shape 67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68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77" name="Text 69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DUKUNGAN KEPEMIMPINAN // PAYUNG REGULASI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PERMOHONAN KEBIJAKAN NON-ANGGARAN KEPADA WALIKOTA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Tidak Memohon Tambahan Pagu APBD — Kami Memohon 3 Payung Regulasi Kepemimpinan Walikota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345643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493776" cy="493776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272" y="176479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6916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 UTAMA // QUICK WIN 30 HARI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463040" y="19385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INSTRUKSI WALIKOTA AFIRMASI e-KATALOG LOKAL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251460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Mengarahkan seluruh OPD Pemkot Surakarta untuk memprioritaskan belanja produk teknologi, layanan digital, dan barang hasil riset tenant binaan STP melalui etalase e-Katalog Lokal.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60120" y="3383280"/>
            <a:ext cx="29992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347472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DAMPAK KONKRET: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" y="3703320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captive market pasti senilai Rp 2,25 Miliar/Tahun di 2030 bagi 80+ produk inovasi tenant tanpa menambah anggaran APBD.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60120" y="4480560"/>
            <a:ext cx="2999232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1560" y="4535424"/>
            <a:ext cx="164592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45537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MEKANISME: INSTRUKSI WALIKOTA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4791456"/>
            <a:ext cx="2816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Penerbitan 1 lembar Instruksi Walikota. Draf telah siap harmonisasi bersama Bagian Hukum Setda &amp; BPKAD. Siap tuntas dalam 30 hari pertama.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370832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70832" y="1508760"/>
            <a:ext cx="34564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99432" y="1691640"/>
            <a:ext cx="493776" cy="493776"/>
          </a:xfrm>
          <a:prstGeom prst="rect">
            <a:avLst/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2584" y="1764792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02352" y="16916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 JANGKA PANJANG (10–25 TAHUN)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102352" y="19385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REGULASI FLEKSIBILITAS KERJASAMA LAHAN BLUD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99432" y="251460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Peraturan Walikota yang memberikan kepastian hukum skema Long-Term Revenue Sharing dan sewa lahan jangka panjang (10–25 tahun) yang kompetitif bagi investor teknologi global di kawasan STP.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99432" y="3383280"/>
            <a:ext cx="29992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36592" y="347472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DAMPAK KONKRET: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736592" y="3703320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Menarik 3–5 investor korporasi baru kelas dunia tanpa membebani belanja modal APBD daerah (Prinsip Zero APBD Burden).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599432" y="4480560"/>
            <a:ext cx="2999232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690872" y="4535424"/>
            <a:ext cx="1645920" cy="20116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690872" y="45537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MEKANISME: PERATURAN WALIKOTA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4690872" y="4791456"/>
            <a:ext cx="2816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Harmonisasi Perwali Pola Kerjasama Lahan bersama BPKAD, Bagian Hukum, dan Inspektorat Kota Surakarta.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8010144" y="1508760"/>
            <a:ext cx="3456432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010144" y="1508760"/>
            <a:ext cx="345643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238744" y="1691640"/>
            <a:ext cx="493776" cy="493776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1896" y="1764792"/>
            <a:ext cx="347472" cy="34747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741664" y="16916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SINERGI KAMPUS SOLO RAYA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8741664" y="19385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SURAT EDARAN KONSORSIUM RISET DAERAH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8238744" y="251460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Mendorong 5 perguruan tinggi ternama (UNS, UMS, ISI, Unisri, Poltek) mengarahkan minimal 30% dana riset terapan dosen dan tugas akhir mahasiswa untuk memecahkan problem kota dan industri di STP.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238744" y="3383280"/>
            <a:ext cx="29992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375904" y="347472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DAMPAK KONKRET: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8375904" y="3703320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Kampus mitra aktif, 30 klaster riset terapan berbasis problem kota, dan minimal 10 paten terhilirisasi ke industri per tahun.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8238744" y="4480560"/>
            <a:ext cx="2999232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330184" y="4535424"/>
            <a:ext cx="1645920" cy="201168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330184" y="45537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MEKANISME: SURAT EDARAN WALIKOTA</a:t>
            </a:r>
            <a:endParaRPr lang="en-US" sz="700" dirty="0"/>
          </a:p>
        </p:txBody>
      </p:sp>
      <p:sp>
        <p:nvSpPr>
          <p:cNvPr id="48" name="Text 43"/>
          <p:cNvSpPr/>
          <p:nvPr/>
        </p:nvSpPr>
        <p:spPr>
          <a:xfrm>
            <a:off x="8330184" y="4791456"/>
            <a:ext cx="2816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Penerbitan Surat Edaran Walikota Surakarta dan penandatanganan kesepakatan bersama (MoU) 5 Rektor Kampus se-Solo Raya.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KOMITMEN KAMI: Cukup dengan 3 payung regulasi Walikota di atas, UPTD KST Solo Technopark siap bergerak cepat, mandiri, dan menuntaskan target Rp 23,47 Miliar tanpa subsidi APBD.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9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KOMITMEN EKSEKUSI CEPAT // AKUNTABILITAS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9601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AKSI 100 HARI PERTAMA: QUICK WINS PASCA-ARAHAN WALIKOTA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Terukur, Matriks Penanggung Jawab, dan Output Nyata dalam 100 Hari Pasca-Persetujuan Kebijakan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/ 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10728655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517904"/>
            <a:ext cx="402336" cy="402336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159105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5544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EKSEKUTIF 100 HARI: DARI PENANDATANGANAN REGULASI HINGGA KONTRAK PERDANA KEMITRAAN INDUSTRI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72865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2103120"/>
                <a:gridCol w="34134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PERIODE</a:t>
                      </a:r>
                      <a:endParaRPr lang="en-US" sz="95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AGENDA STRATEGIS</a:t>
                      </a:r>
                      <a:endParaRPr lang="en-US" sz="95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PENANGGUNG JAWAB (PIC)</a:t>
                      </a:r>
                      <a:endParaRPr lang="en-US" sz="95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OUTPUT KONKRET &amp; TARGET KEBERHASILAN</a:t>
                      </a:r>
                      <a:endParaRPr lang="en-US" sz="95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Hari 1–10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Penyusunan Draf Regulasi &amp; Harmonisasi Awal: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Finalisasi draf Inkwal e-Katalog, draf SE Konsorsium Riset, dan reviu skema aset lahan BLUD.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Kepala UPTD STP &amp;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Tim Hukum BRIDA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 Draf naskah regulasi siap harmonisasi Bagian Hukum Setda &amp; BPKAD.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Hari 11–30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Harmonisasi &amp; Penerbitan Instruksi Walikota (QUICK WIN UTAMA):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Pembahasan harmonisasi bersama Setda &amp; BPKAD; Penandatanganan Inkwal e-Katalog Afirmatif.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Bagian Hukum, BPKAD,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BRIDA, &amp; STP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Inkwal resmi ditandatangani Walikota Surakarta; Sosialisasi perdana ke seluruh Kepala OPD Pemkot.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Hari 31–50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Kurasi Produk Inovasi &amp; Integrasi Sistem e-Katalog: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Kurasi 5 produk inovasi unggulan kampus/tenant untuk onboarding perdana ke etalase e-Katalog Lokal.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UPTD STP &amp; Bagian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PBJ Setda Solo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Katalog 5 Produk Unggulan Hilirisasi STP tayang aktif (Smart Agri IoT, Alkes, Mesin Sortasi).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Hari 51–60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Showcase Produk &amp; Komitmen Serapan Perdana OPD: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Demonstrasi produk inovasi di hadapan Walikota, Sekda, dan OPD terkait di Solo Technopark.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Kepala BRIDA &amp;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Kepala UPTD STP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Demonstrasi produk di hadapan media &amp; komitmen serapan perdana oleh 3 OPD percontohan.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Hari 61–80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Inisiasi Konsorsium Riset 5 Perguruan Tinggi: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Rapat koordinasi tindak lanjut Surat Edaran Walikota bersama pimpinan LPPM UNS, UMS, ISI, Poltek.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BRIDA Kota Surakarta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&amp; Konsorsium Kampus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MoU Pra-Konsorsium bersama 5 Rektor Solo Raya; Terpetakan 30 tema riset terapan prioritas.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Hari 81–100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Launching Resmi Konsorsium &amp; Kick-off Kemitraan: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Penandatanganan MoU Riset Terapan bersama Kadin/Apindo &amp; kontrak kemitraan industri mandiri.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Walikota Surakarta,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Rektor, &amp; Mitra Industri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Penandatanganan MoU Riset Terapan &amp; Peresmian kelas diklat industri mandiri perdana.</a:t>
                      </a:r>
                      <a:endParaRPr lang="en-US" sz="10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5724144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MONITORING: Evaluasi progres dilaksanakan mingguan bersama BRIDA dan dilaporkan berkala setiap 30 hari langsung kepada Walikota Surakarta untuk memastikan seluruh quick wins tercapai 100%.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64190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7772400" y="6419088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ZEN ENTERPRISE ULTRA (18 SLIDES)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Transformasi Solo Technopark 2026-2030 (Swiss Enterprise Ultra 18S Polished)</dc:title>
  <dc:subject>PptxGenJS Presentation</dc:subject>
  <dc:creator>Pemerintah Kota Surakarta - BRIDA &amp; UPTD KST Solo Technopark</dc:creator>
  <cp:lastModifiedBy>Pemerintah Kota Surakarta - BRIDA &amp; UPTD KST Solo Technopark</cp:lastModifiedBy>
  <cp:revision>1</cp:revision>
  <dcterms:created xsi:type="dcterms:W3CDTF">2026-09-11T07:58:48Z</dcterms:created>
  <dcterms:modified xsi:type="dcterms:W3CDTF">2026-09-11T07:58:48Z</dcterms:modified>
</cp:coreProperties>
</file>