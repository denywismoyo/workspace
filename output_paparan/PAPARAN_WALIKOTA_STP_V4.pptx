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Posisi kelembagaan kita sangat jelas dan terstruktur, Bapak Walikota. BRIDA adalah arsitek kebijakan—merumuskan arah, memonitor dampak, dan mengorkestrasi ekosistem Iptek kota. Solo Technopark adalah insinyur pelaksana—menguji teknologi, melatih SDM, menginkubasi startup, dan menghubungkan riset kampus ke pasar industri. Dan pada ujung rantai ini, yang merasakan manfaat langsung adalah warga Solo—mendapat pekerjaan, UMKM mereka naik kelas, dan produk lokal bisa bersaing.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bicara angka dan target, Bapak Walikota, perlu kami tegaskan: fondasi hukum kita sangat kuat. Permendagri 79/2018 memberi kita fleksibilitas BLUD—artinya kita bisa bergerak lincah bermitra dengan Shopee, Garena, atau OGSCI tanpa terjebak rigiditas pengadaan APBD. Perpres 106/2017 memberi mandat nasional: kita harus inkubasi startup, fasilitasi spin-off perusahaan berbasis riset. Dan Perwali 15 serta 38/2022 dari Bapak sendiri telah mengokohkan posisi STP sebagai delivery unit profesional di bawah BRIDA.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pilar ini bukan sekadar daftar layanan, Bapak Walikota. Ini adalah ekosistem yang saling mengunci. Di pilar vokasi, kita melatih keahlian langka seperti underwater welding—keahlian yang satu pesertanya bisa langsung terserap industri migas dengan gaji di atas Rp 15 juta per bulan. Di inkubasi, kita tidak sekadar menampung startup, kita mendampinginya hingga produknya masuk pasar. Dan semuanya berjalan bersama, membentuk satu ekosistem yang mengubah potensi menjadi nilai ekonomi nyata bagi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menghapus fenomena riset lemari arsip—di mana penelitian kampus hebat tapi berakhir hanya sebagai tumpukan laporan jurnal. Pipeline hilirisasi kami memutus kebuntuan itu. Riset dosen UNS tentang mesin sortasi kopi? Kita ambil, kita uji prototipenya di lab presisi STP, kita bantu urus patennya, kita carikan investor atau offtaker industrinya. Inilah nilai sejati Solo Technopark: jembatan dari ilmu pengetahuan menuju perputaran uang dan lapangan kerja bagi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membuat Solo Technopark unik adalah ekosistem hexahelix-nya—melibatkan akademisi, industri, pemerintah, komunitas, media, hingga mitra internasional. Dan satu hal yang paling membanggakan: 95 lebih korporasi kelas dunia telah memercayakan fasilitas dan proyeknya di sini—Shopee, Garena, Mandiri, GoTo, Indosat—tanpa satu rupiah pun dari APBD Kota Surakarta. Ini adalah bukti nyata kepercayaan swasta global terhadap visi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berdiri di sini dengan kejujuran penuh, Bapak Walikota. Lima gap ini adalah tantangan nyata yang kami identifikasi sendiri. Pendapatan kita masih terlalu bergantung sewa lahan dan satu program unggulan. Riset kampus belum terhubung ke pasar. Promosi produk inovasi kita masih lemah regulasinya. Namun kami tidak datang hanya dengan masalah—kami hadir dengan 5 solusi terobosan yang terukur dan ada satu yang sangat bergantung pada 1 lembar Instruksi Walikota: e-Katalog Lokal yang mengarahkan OPD Pemkot menyerap produk binaan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rancang dalam tiga fase yang saling membangun. 2026–2027 adalah fase pondasi: tata kelola BLUD diperkuat, lab kita terakreditasi, dan kita mulai ekspansi kerjasama OGSCI dan SMK GoGlobal. 2028–2029 adalah fase akselerasi: SBU terbentuk dan mulai mandiri seperti entitas bisnis profesional. Puncaknya, 2030, Solo Technopark beroperasi sebagai holding company inovasi daerah yang sepenuhnya mandiri—mengharumkan nama Surakarta di panggung teknologi nasional bahkan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komitmen terukur kami, Bapak Walikota. Angka-angka ini bukan proyeksi asal-asalan—setiap rupiah memiliki sumber yang teridentifikasi. Pendorong terbesar adalah program OGSCI yang akan menyumbang Rp 6,25 Miliar di 2030—itu sendirian sudah hampir menyamai total pendapatan STP tahun 2026. Ditambah program Startup Binaan yang kami proyeksi menghasilkan Rp 2 Miliar, dan e-Katalog yang membutuhkan Instruksi Walikota untuk membuka pasar Rp 2,25 Miliar. Dengan diversifikasi ini, STP akan menjadi BLUD yang sepenuhnya mandiri pada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slide ini adalah bukti transparansi kami. Setiap mata anggaran dari Rp 23,47 Miliar sudah teridentifikasi sumbernya. Ini bukan angka anggan-anggan—ini adalah komitmen yang sudah terverifikasi bersama mitra-mitra kami. Satu hal yang menarik perhatian: Startup Binaan yang kami proyeksi Rp 2 Miliar di 2030 adalah cerminan dari keberhasilan inkubasi—artinya startup yang kami bina sudah memberi kontribusi balik kepada STP. Ini adalah siklus ekosistem yang sehat.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ukuran keberhasilan tertinggi kami bukan saldo rekening BLUD, melainkan enam dimensi dampak ini: seberapa banyak warga Solo mendapat pekerjaan, seberapa banyak UMKM naik kelas, seberapa banyak riset kampus menjadi produk nyata di pasar. Indikator-indikator ini yang setiap bulan kami pantau bersama BRIDA. Karena pada akhirnya, semua program yang kami jalankan harus bisa dijawab dengan satu pertanyaan sederhana: apakah warga Solo hidupnya lebih baik karena Solo Technopark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8686800" cy="109728"/>
          </a:xfrm>
          <a:prstGeom prst="rect">
            <a:avLst/>
          </a:prstGeom>
          <a:solidFill>
            <a:srgbClr val="0EA5E9"/>
          </a:solidFill>
          <a:ln/>
        </p:spPr>
      </p:sp>
      <p:sp>
        <p:nvSpPr>
          <p:cNvPr id="3" name="Shape 1"/>
          <p:cNvSpPr/>
          <p:nvPr/>
        </p:nvSpPr>
        <p:spPr>
          <a:xfrm>
            <a:off x="8686800" y="0"/>
            <a:ext cx="3504895" cy="109728"/>
          </a:xfrm>
          <a:prstGeom prst="rect">
            <a:avLst/>
          </a:prstGeom>
          <a:solidFill>
            <a:srgbClr val="F59E0B"/>
          </a:solidFill>
          <a:ln/>
        </p:spPr>
      </p:sp>
      <p:sp>
        <p:nvSpPr>
          <p:cNvPr id="4" name="Shape 2"/>
          <p:cNvSpPr/>
          <p:nvPr/>
        </p:nvSpPr>
        <p:spPr>
          <a:xfrm>
            <a:off x="822960" y="594360"/>
            <a:ext cx="4389120" cy="347472"/>
          </a:xfrm>
          <a:prstGeom prst="roundRect">
            <a:avLst>
              <a:gd name="adj" fmla="val 21053"/>
            </a:avLst>
          </a:prstGeom>
          <a:solidFill>
            <a:srgbClr val="0A192F"/>
          </a:solidFill>
          <a:ln w="15240">
            <a:solidFill>
              <a:srgbClr val="0EA5E9"/>
            </a:solidFill>
            <a:prstDash val="solid"/>
          </a:ln>
        </p:spPr>
      </p:sp>
      <p:sp>
        <p:nvSpPr>
          <p:cNvPr id="5" name="Text 3"/>
          <p:cNvSpPr/>
          <p:nvPr/>
        </p:nvSpPr>
        <p:spPr>
          <a:xfrm>
            <a:off x="822960" y="594360"/>
            <a:ext cx="4389120" cy="347472"/>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PEMERINTAH KOTA SURAKARTA  •  BRIDA</a:t>
            </a:r>
            <a:endParaRPr lang="en-US" sz="1000" dirty="0"/>
          </a:p>
        </p:txBody>
      </p:sp>
      <p:sp>
        <p:nvSpPr>
          <p:cNvPr id="6" name="Shape 4"/>
          <p:cNvSpPr/>
          <p:nvPr/>
        </p:nvSpPr>
        <p:spPr>
          <a:xfrm>
            <a:off x="5349240" y="594360"/>
            <a:ext cx="2926080" cy="347472"/>
          </a:xfrm>
          <a:prstGeom prst="roundRect">
            <a:avLst>
              <a:gd name="adj" fmla="val 21053"/>
            </a:avLst>
          </a:prstGeom>
          <a:solidFill>
            <a:srgbClr val="0A192F"/>
          </a:solidFill>
          <a:ln w="15240">
            <a:solidFill>
              <a:srgbClr val="F59E0B"/>
            </a:solidFill>
            <a:prstDash val="solid"/>
          </a:ln>
        </p:spPr>
      </p:sp>
      <p:sp>
        <p:nvSpPr>
          <p:cNvPr id="7" name="Text 5"/>
          <p:cNvSpPr/>
          <p:nvPr/>
        </p:nvSpPr>
        <p:spPr>
          <a:xfrm>
            <a:off x="5349240" y="594360"/>
            <a:ext cx="2926080" cy="347472"/>
          </a:xfrm>
          <a:prstGeom prst="rect">
            <a:avLst/>
          </a:prstGeom>
          <a:noFill/>
          <a:ln/>
        </p:spPr>
        <p:txBody>
          <a:bodyPr wrap="square" rtlCol="0" anchor="ctr"/>
          <a:lstStyle/>
          <a:p>
            <a:pPr algn="ctr" indent="0" marL="0">
              <a:buNone/>
            </a:pPr>
            <a:r>
              <a:rPr lang="en-US" sz="1000" b="1" dirty="0">
                <a:solidFill>
                  <a:srgbClr val="F59E0B"/>
                </a:solidFill>
                <a:latin typeface="Arial" pitchFamily="34" charset="0"/>
                <a:ea typeface="Arial" pitchFamily="34" charset="-122"/>
                <a:cs typeface="Arial" pitchFamily="34" charset="-120"/>
              </a:rPr>
              <a:t>ROADMAP STRATEGIS 2026–2030</a:t>
            </a:r>
            <a:endParaRPr lang="en-US" sz="1000" dirty="0"/>
          </a:p>
        </p:txBody>
      </p:sp>
      <p:sp>
        <p:nvSpPr>
          <p:cNvPr id="8" name="Text 6"/>
          <p:cNvSpPr/>
          <p:nvPr/>
        </p:nvSpPr>
        <p:spPr>
          <a:xfrm>
            <a:off x="822960" y="1234440"/>
            <a:ext cx="10545775" cy="160020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SOLO TECHNOPARK: DARI KAWASAN SAINS</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MENUJU MESIN IMPACT DAERAH</a:t>
            </a:r>
            <a:endParaRPr lang="en-US" sz="3200" dirty="0"/>
          </a:p>
        </p:txBody>
      </p:sp>
      <p:sp>
        <p:nvSpPr>
          <p:cNvPr id="9" name="Text 7"/>
          <p:cNvSpPr/>
          <p:nvPr/>
        </p:nvSpPr>
        <p:spPr>
          <a:xfrm>
            <a:off x="822960" y="2880360"/>
            <a:ext cx="10545775" cy="548640"/>
          </a:xfrm>
          <a:prstGeom prst="rect">
            <a:avLst/>
          </a:prstGeom>
          <a:noFill/>
          <a:ln/>
        </p:spPr>
        <p:txBody>
          <a:bodyPr wrap="square" rtlCol="0" anchor="ctr"/>
          <a:lstStyle/>
          <a:p>
            <a:pPr indent="0" marL="0">
              <a:buNone/>
            </a:pPr>
            <a:r>
              <a:rPr lang="en-US" sz="1350" i="1" dirty="0">
                <a:solidFill>
                  <a:srgbClr val="FDE68A"/>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350" dirty="0"/>
          </a:p>
        </p:txBody>
      </p:sp>
      <p:sp>
        <p:nvSpPr>
          <p:cNvPr id="10" name="Shape 8"/>
          <p:cNvSpPr/>
          <p:nvPr/>
        </p:nvSpPr>
        <p:spPr>
          <a:xfrm>
            <a:off x="822960" y="3547872"/>
            <a:ext cx="10545775" cy="18288"/>
          </a:xfrm>
          <a:prstGeom prst="rect">
            <a:avLst/>
          </a:prstGeom>
          <a:solidFill>
            <a:srgbClr val="1E3A5F"/>
          </a:solidFill>
          <a:ln/>
        </p:spPr>
      </p:sp>
      <p:sp>
        <p:nvSpPr>
          <p:cNvPr id="11" name="Shape 9"/>
          <p:cNvSpPr/>
          <p:nvPr/>
        </p:nvSpPr>
        <p:spPr>
          <a:xfrm>
            <a:off x="822960" y="3794760"/>
            <a:ext cx="3337560" cy="2286000"/>
          </a:xfrm>
          <a:prstGeom prst="roundRect">
            <a:avLst>
              <a:gd name="adj" fmla="val 3200"/>
            </a:avLst>
          </a:prstGeom>
          <a:solidFill>
            <a:srgbClr val="0A192F"/>
          </a:solidFill>
          <a:ln w="12700">
            <a:solidFill>
              <a:srgbClr val="1E3A5F"/>
            </a:solidFill>
            <a:prstDash val="solid"/>
          </a:ln>
        </p:spPr>
      </p:sp>
      <p:sp>
        <p:nvSpPr>
          <p:cNvPr id="12" name="Shape 10"/>
          <p:cNvSpPr/>
          <p:nvPr/>
        </p:nvSpPr>
        <p:spPr>
          <a:xfrm>
            <a:off x="822960" y="3794760"/>
            <a:ext cx="73152" cy="228600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1051560" y="3931920"/>
            <a:ext cx="2971800" cy="320040"/>
          </a:xfrm>
          <a:prstGeom prst="rect">
            <a:avLst/>
          </a:prstGeom>
          <a:noFill/>
          <a:ln/>
        </p:spPr>
        <p:txBody>
          <a:bodyPr wrap="square" rtlCol="0" anchor="ctr"/>
          <a:lstStyle/>
          <a:p>
            <a:pPr indent="0" marL="0">
              <a:buNone/>
            </a:pPr>
            <a:r>
              <a:rPr lang="en-US" sz="1000" b="1" dirty="0">
                <a:solidFill>
                  <a:srgbClr val="0EA5E9"/>
                </a:solidFill>
                <a:latin typeface="Arial" pitchFamily="34" charset="0"/>
                <a:ea typeface="Arial" pitchFamily="34" charset="-122"/>
                <a:cs typeface="Arial" pitchFamily="34" charset="-120"/>
              </a:rPr>
              <a:t>🎯  PARADIGMA BARU</a:t>
            </a:r>
            <a:endParaRPr lang="en-US" sz="1000" dirty="0"/>
          </a:p>
        </p:txBody>
      </p:sp>
      <p:sp>
        <p:nvSpPr>
          <p:cNvPr id="14" name="Text 12"/>
          <p:cNvSpPr/>
          <p:nvPr/>
        </p:nvSpPr>
        <p:spPr>
          <a:xfrm>
            <a:off x="1051560"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Bukan Sekadar Gedung Fisik</a:t>
            </a:r>
            <a:endParaRPr lang="en-US" sz="1250" dirty="0"/>
          </a:p>
        </p:txBody>
      </p:sp>
      <p:sp>
        <p:nvSpPr>
          <p:cNvPr id="15" name="Text 13"/>
          <p:cNvSpPr/>
          <p:nvPr/>
        </p:nvSpPr>
        <p:spPr>
          <a:xfrm>
            <a:off x="1051560"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Beralih dari pengelola lahan/sewa menjadi DELIVERY UNIT inovasi BRIDA yang menghasilkan IMPACT nyata bagi masyarakat dan industri.</a:t>
            </a:r>
            <a:endParaRPr lang="en-US" sz="1020" dirty="0"/>
          </a:p>
        </p:txBody>
      </p:sp>
      <p:sp>
        <p:nvSpPr>
          <p:cNvPr id="16" name="Shape 14"/>
          <p:cNvSpPr/>
          <p:nvPr/>
        </p:nvSpPr>
        <p:spPr>
          <a:xfrm>
            <a:off x="4425696" y="3794760"/>
            <a:ext cx="3337560" cy="2286000"/>
          </a:xfrm>
          <a:prstGeom prst="roundRect">
            <a:avLst>
              <a:gd name="adj" fmla="val 3200"/>
            </a:avLst>
          </a:prstGeom>
          <a:solidFill>
            <a:srgbClr val="0A192F"/>
          </a:solidFill>
          <a:ln w="12700">
            <a:solidFill>
              <a:srgbClr val="1E3A5F"/>
            </a:solidFill>
            <a:prstDash val="solid"/>
          </a:ln>
        </p:spPr>
      </p:sp>
      <p:sp>
        <p:nvSpPr>
          <p:cNvPr id="17" name="Shape 15"/>
          <p:cNvSpPr/>
          <p:nvPr/>
        </p:nvSpPr>
        <p:spPr>
          <a:xfrm>
            <a:off x="4425696" y="3794760"/>
            <a:ext cx="73152" cy="2286000"/>
          </a:xfrm>
          <a:prstGeom prst="roundRect">
            <a:avLst>
              <a:gd name="adj" fmla="val 50000"/>
            </a:avLst>
          </a:prstGeom>
          <a:solidFill>
            <a:srgbClr val="F59E0B"/>
          </a:solidFill>
          <a:ln w="12700">
            <a:solidFill>
              <a:srgbClr val="F59E0B"/>
            </a:solidFill>
            <a:prstDash val="solid"/>
          </a:ln>
        </p:spPr>
      </p:sp>
      <p:sp>
        <p:nvSpPr>
          <p:cNvPr id="18" name="Text 16"/>
          <p:cNvSpPr/>
          <p:nvPr/>
        </p:nvSpPr>
        <p:spPr>
          <a:xfrm>
            <a:off x="4654296" y="3931920"/>
            <a:ext cx="29718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KEMANDIRIAN PENUH</a:t>
            </a:r>
            <a:endParaRPr lang="en-US" sz="1000" dirty="0"/>
          </a:p>
        </p:txBody>
      </p:sp>
      <p:sp>
        <p:nvSpPr>
          <p:cNvPr id="19" name="Text 17"/>
          <p:cNvSpPr/>
          <p:nvPr/>
        </p:nvSpPr>
        <p:spPr>
          <a:xfrm>
            <a:off x="4654296"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BLUD Mandiri Tanpa APBD</a:t>
            </a:r>
            <a:endParaRPr lang="en-US" sz="1250" dirty="0"/>
          </a:p>
        </p:txBody>
      </p:sp>
      <p:sp>
        <p:nvSpPr>
          <p:cNvPr id="20" name="Text 18"/>
          <p:cNvSpPr/>
          <p:nvPr/>
        </p:nvSpPr>
        <p:spPr>
          <a:xfrm>
            <a:off x="4654296"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1020" dirty="0"/>
          </a:p>
        </p:txBody>
      </p:sp>
      <p:sp>
        <p:nvSpPr>
          <p:cNvPr id="21" name="Shape 19"/>
          <p:cNvSpPr/>
          <p:nvPr/>
        </p:nvSpPr>
        <p:spPr>
          <a:xfrm>
            <a:off x="8028432" y="3794760"/>
            <a:ext cx="3337560" cy="2286000"/>
          </a:xfrm>
          <a:prstGeom prst="roundRect">
            <a:avLst>
              <a:gd name="adj" fmla="val 3200"/>
            </a:avLst>
          </a:prstGeom>
          <a:solidFill>
            <a:srgbClr val="0A192F"/>
          </a:solidFill>
          <a:ln w="12700">
            <a:solidFill>
              <a:srgbClr val="1E3A5F"/>
            </a:solidFill>
            <a:prstDash val="solid"/>
          </a:ln>
        </p:spPr>
      </p:sp>
      <p:sp>
        <p:nvSpPr>
          <p:cNvPr id="22" name="Shape 20"/>
          <p:cNvSpPr/>
          <p:nvPr/>
        </p:nvSpPr>
        <p:spPr>
          <a:xfrm>
            <a:off x="8028432" y="3794760"/>
            <a:ext cx="73152" cy="2286000"/>
          </a:xfrm>
          <a:prstGeom prst="roundRect">
            <a:avLst>
              <a:gd name="adj" fmla="val 50000"/>
            </a:avLst>
          </a:prstGeom>
          <a:solidFill>
            <a:srgbClr val="10B981"/>
          </a:solidFill>
          <a:ln w="12700">
            <a:solidFill>
              <a:srgbClr val="10B981"/>
            </a:solidFill>
            <a:prstDash val="solid"/>
          </a:ln>
        </p:spPr>
      </p:sp>
      <p:sp>
        <p:nvSpPr>
          <p:cNvPr id="23" name="Text 21"/>
          <p:cNvSpPr/>
          <p:nvPr/>
        </p:nvSpPr>
        <p:spPr>
          <a:xfrm>
            <a:off x="8257032" y="3931920"/>
            <a:ext cx="2971800" cy="32004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  HEXAHELIX &amp; DAMPAK</a:t>
            </a:r>
            <a:endParaRPr lang="en-US" sz="1000" dirty="0"/>
          </a:p>
        </p:txBody>
      </p:sp>
      <p:sp>
        <p:nvSpPr>
          <p:cNvPr id="24" name="Text 22"/>
          <p:cNvSpPr/>
          <p:nvPr/>
        </p:nvSpPr>
        <p:spPr>
          <a:xfrm>
            <a:off x="8257032" y="4251960"/>
            <a:ext cx="2971800" cy="36576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95+ Mitra Korporasi Dunia</a:t>
            </a:r>
            <a:endParaRPr lang="en-US" sz="1250" dirty="0"/>
          </a:p>
        </p:txBody>
      </p:sp>
      <p:sp>
        <p:nvSpPr>
          <p:cNvPr id="25" name="Text 23"/>
          <p:cNvSpPr/>
          <p:nvPr/>
        </p:nvSpPr>
        <p:spPr>
          <a:xfrm>
            <a:off x="8257032" y="4663440"/>
            <a:ext cx="2971800" cy="1280160"/>
          </a:xfrm>
          <a:prstGeom prst="rect">
            <a:avLst/>
          </a:prstGeom>
          <a:noFill/>
          <a:ln/>
        </p:spPr>
        <p:txBody>
          <a:bodyPr wrap="square" rtlCol="0" anchor="ctr"/>
          <a:lstStyle/>
          <a:p>
            <a:pPr indent="0" marL="0">
              <a:lnSpc>
                <a:spcPts val="1500"/>
              </a:lnSpc>
              <a:buNone/>
            </a:pPr>
            <a:r>
              <a:rPr lang="en-US" sz="1020" dirty="0">
                <a:solidFill>
                  <a:srgbClr val="94A3B8"/>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1020" dirty="0"/>
          </a:p>
        </p:txBody>
      </p:sp>
      <p:sp>
        <p:nvSpPr>
          <p:cNvPr id="26" name="Text 24"/>
          <p:cNvSpPr/>
          <p:nvPr/>
        </p:nvSpPr>
        <p:spPr>
          <a:xfrm>
            <a:off x="822960" y="6327648"/>
            <a:ext cx="10545775" cy="29260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Bahan Paparan Resmi Rancangan Teknokratik UPTD KST Solo Technopark  •  Disampaikan kepada Walikota Surakarta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TATA KELOLA PEMERINTAHAN &amp;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KEDUDUKAN KELEMBAGAAN &amp; RANTAI DAMPAK (CHAIN OF IMPACT)</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Sinergi Kokoh: BRIDA sebagai Otak Kebijakan, STP sebagai Tangan Eksekutor, Masyarakat sebagai Penerima Manfaat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02 / 12</a:t>
            </a:r>
            <a:endParaRPr lang="en-US" sz="900" dirty="0"/>
          </a:p>
        </p:txBody>
      </p:sp>
      <p:sp>
        <p:nvSpPr>
          <p:cNvPr id="11" name="Text 9"/>
          <p:cNvSpPr/>
          <p:nvPr/>
        </p:nvSpPr>
        <p:spPr>
          <a:xfrm>
            <a:off x="731520" y="1234440"/>
            <a:ext cx="10728655" cy="228600"/>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RANTAI DAMPAK KELEMBAGAAN (CHAIN OF IMPACT)</a:t>
            </a:r>
            <a:endParaRPr lang="en-US" sz="900" dirty="0"/>
          </a:p>
        </p:txBody>
      </p:sp>
      <p:sp>
        <p:nvSpPr>
          <p:cNvPr id="12" name="Shape 10"/>
          <p:cNvSpPr/>
          <p:nvPr/>
        </p:nvSpPr>
        <p:spPr>
          <a:xfrm>
            <a:off x="594360" y="1481328"/>
            <a:ext cx="2926080" cy="932688"/>
          </a:xfrm>
          <a:prstGeom prst="roundRect">
            <a:avLst>
              <a:gd name="adj" fmla="val 7843"/>
            </a:avLst>
          </a:prstGeom>
          <a:solidFill>
            <a:srgbClr val="0D213F"/>
          </a:solidFill>
          <a:ln w="25400">
            <a:solidFill>
              <a:srgbClr val="0EA5E9"/>
            </a:solidFill>
            <a:prstDash val="solid"/>
          </a:ln>
        </p:spPr>
      </p:sp>
      <p:sp>
        <p:nvSpPr>
          <p:cNvPr id="13" name="Shape 11"/>
          <p:cNvSpPr/>
          <p:nvPr/>
        </p:nvSpPr>
        <p:spPr>
          <a:xfrm>
            <a:off x="594360" y="1481328"/>
            <a:ext cx="2926080" cy="64008"/>
          </a:xfrm>
          <a:prstGeom prst="rect">
            <a:avLst/>
          </a:prstGeom>
          <a:solidFill>
            <a:srgbClr val="0EA5E9"/>
          </a:solidFill>
          <a:ln/>
        </p:spPr>
      </p:sp>
      <p:sp>
        <p:nvSpPr>
          <p:cNvPr id="14" name="Text 12"/>
          <p:cNvSpPr/>
          <p:nvPr/>
        </p:nvSpPr>
        <p:spPr>
          <a:xfrm>
            <a:off x="594360" y="1563624"/>
            <a:ext cx="2926080" cy="411480"/>
          </a:xfrm>
          <a:prstGeom prst="rect">
            <a:avLst/>
          </a:prstGeom>
          <a:noFill/>
          <a:ln/>
        </p:spPr>
        <p:txBody>
          <a:bodyPr wrap="square" rtlCol="0" anchor="ctr"/>
          <a:lstStyle/>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BRIDA</a:t>
            </a:r>
            <a:endParaRPr lang="en-US" sz="1100" dirty="0"/>
          </a:p>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KOTA SURAKARTA</a:t>
            </a:r>
            <a:endParaRPr lang="en-US" sz="1100" dirty="0"/>
          </a:p>
        </p:txBody>
      </p:sp>
      <p:sp>
        <p:nvSpPr>
          <p:cNvPr id="15" name="Text 13"/>
          <p:cNvSpPr/>
          <p:nvPr/>
        </p:nvSpPr>
        <p:spPr>
          <a:xfrm>
            <a:off x="594360" y="1965960"/>
            <a:ext cx="2926080" cy="201168"/>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Otak &amp; Regulator Kebijakan</a:t>
            </a:r>
            <a:endParaRPr lang="en-US" sz="850" dirty="0"/>
          </a:p>
        </p:txBody>
      </p:sp>
      <p:sp>
        <p:nvSpPr>
          <p:cNvPr id="16" name="Shape 14"/>
          <p:cNvSpPr/>
          <p:nvPr/>
        </p:nvSpPr>
        <p:spPr>
          <a:xfrm>
            <a:off x="3520440" y="1929384"/>
            <a:ext cx="320040" cy="73152"/>
          </a:xfrm>
          <a:prstGeom prst="rect">
            <a:avLst/>
          </a:prstGeom>
          <a:solidFill>
            <a:srgbClr val="0EA5E9"/>
          </a:solidFill>
          <a:ln/>
        </p:spPr>
      </p:sp>
      <p:sp>
        <p:nvSpPr>
          <p:cNvPr id="17" name="Shape 15"/>
          <p:cNvSpPr/>
          <p:nvPr/>
        </p:nvSpPr>
        <p:spPr>
          <a:xfrm>
            <a:off x="3817620" y="1892808"/>
            <a:ext cx="73152" cy="256032"/>
          </a:xfrm>
          <a:prstGeom prst="rect">
            <a:avLst/>
          </a:prstGeom>
          <a:solidFill>
            <a:srgbClr val="0EA5E9"/>
          </a:solidFill>
          <a:ln/>
        </p:spPr>
      </p:sp>
      <p:sp>
        <p:nvSpPr>
          <p:cNvPr id="18" name="Text 16"/>
          <p:cNvSpPr/>
          <p:nvPr/>
        </p:nvSpPr>
        <p:spPr>
          <a:xfrm>
            <a:off x="3493008" y="1664208"/>
            <a:ext cx="512064" cy="292608"/>
          </a:xfrm>
          <a:prstGeom prst="rect">
            <a:avLst/>
          </a:prstGeom>
          <a:noFill/>
          <a:ln/>
        </p:spPr>
        <p:txBody>
          <a:bodyPr wrap="square" rtlCol="0" anchor="ctr"/>
          <a:lstStyle/>
          <a:p>
            <a:pPr algn="ctr" indent="0" marL="0">
              <a:buNone/>
            </a:pPr>
            <a:r>
              <a:rPr lang="en-US" sz="650" dirty="0">
                <a:solidFill>
                  <a:srgbClr val="38BDF8"/>
                </a:solidFill>
                <a:latin typeface="Arial" pitchFamily="34" charset="0"/>
                <a:ea typeface="Arial" pitchFamily="34" charset="-122"/>
                <a:cs typeface="Arial" pitchFamily="34" charset="-120"/>
              </a:rPr>
              <a:t>Regulasi &amp; Arahan</a:t>
            </a:r>
            <a:endParaRPr lang="en-US" sz="650" dirty="0"/>
          </a:p>
        </p:txBody>
      </p:sp>
      <p:sp>
        <p:nvSpPr>
          <p:cNvPr id="19" name="Shape 17"/>
          <p:cNvSpPr/>
          <p:nvPr/>
        </p:nvSpPr>
        <p:spPr>
          <a:xfrm>
            <a:off x="3977640" y="1481328"/>
            <a:ext cx="2926080" cy="932688"/>
          </a:xfrm>
          <a:prstGeom prst="roundRect">
            <a:avLst>
              <a:gd name="adj" fmla="val 7843"/>
            </a:avLst>
          </a:prstGeom>
          <a:solidFill>
            <a:srgbClr val="0D213F"/>
          </a:solidFill>
          <a:ln w="25400">
            <a:solidFill>
              <a:srgbClr val="F59E0B"/>
            </a:solidFill>
            <a:prstDash val="solid"/>
          </a:ln>
        </p:spPr>
      </p:sp>
      <p:sp>
        <p:nvSpPr>
          <p:cNvPr id="20" name="Shape 18"/>
          <p:cNvSpPr/>
          <p:nvPr/>
        </p:nvSpPr>
        <p:spPr>
          <a:xfrm>
            <a:off x="3977640" y="1481328"/>
            <a:ext cx="2926080" cy="64008"/>
          </a:xfrm>
          <a:prstGeom prst="rect">
            <a:avLst/>
          </a:prstGeom>
          <a:solidFill>
            <a:srgbClr val="F59E0B"/>
          </a:solidFill>
          <a:ln/>
        </p:spPr>
      </p:sp>
      <p:sp>
        <p:nvSpPr>
          <p:cNvPr id="21" name="Text 19"/>
          <p:cNvSpPr/>
          <p:nvPr/>
        </p:nvSpPr>
        <p:spPr>
          <a:xfrm>
            <a:off x="3977640" y="1563624"/>
            <a:ext cx="2926080" cy="411480"/>
          </a:xfrm>
          <a:prstGeom prst="rect">
            <a:avLst/>
          </a:prstGeom>
          <a:noFill/>
          <a:ln/>
        </p:spPr>
        <p:txBody>
          <a:bodyPr wrap="square" rtlCol="0" anchor="ctr"/>
          <a:lstStyle/>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UPTD KST</a:t>
            </a:r>
            <a:endParaRPr lang="en-US" sz="1100" dirty="0"/>
          </a:p>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SOLO TECHNOPARK</a:t>
            </a:r>
            <a:endParaRPr lang="en-US" sz="1100" dirty="0"/>
          </a:p>
        </p:txBody>
      </p:sp>
      <p:sp>
        <p:nvSpPr>
          <p:cNvPr id="22" name="Text 20"/>
          <p:cNvSpPr/>
          <p:nvPr/>
        </p:nvSpPr>
        <p:spPr>
          <a:xfrm>
            <a:off x="3977640" y="1965960"/>
            <a:ext cx="292608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Tangan Eksekutor &amp; Delivery Unit</a:t>
            </a:r>
            <a:endParaRPr lang="en-US" sz="850" dirty="0"/>
          </a:p>
        </p:txBody>
      </p:sp>
      <p:sp>
        <p:nvSpPr>
          <p:cNvPr id="23" name="Shape 21"/>
          <p:cNvSpPr/>
          <p:nvPr/>
        </p:nvSpPr>
        <p:spPr>
          <a:xfrm>
            <a:off x="6903720" y="1929384"/>
            <a:ext cx="320040" cy="73152"/>
          </a:xfrm>
          <a:prstGeom prst="rect">
            <a:avLst/>
          </a:prstGeom>
          <a:solidFill>
            <a:srgbClr val="F59E0B"/>
          </a:solidFill>
          <a:ln/>
        </p:spPr>
      </p:sp>
      <p:sp>
        <p:nvSpPr>
          <p:cNvPr id="24" name="Shape 22"/>
          <p:cNvSpPr/>
          <p:nvPr/>
        </p:nvSpPr>
        <p:spPr>
          <a:xfrm>
            <a:off x="7200900" y="1892808"/>
            <a:ext cx="73152" cy="256032"/>
          </a:xfrm>
          <a:prstGeom prst="rect">
            <a:avLst/>
          </a:prstGeom>
          <a:solidFill>
            <a:srgbClr val="F59E0B"/>
          </a:solidFill>
          <a:ln/>
        </p:spPr>
      </p:sp>
      <p:sp>
        <p:nvSpPr>
          <p:cNvPr id="25" name="Text 23"/>
          <p:cNvSpPr/>
          <p:nvPr/>
        </p:nvSpPr>
        <p:spPr>
          <a:xfrm>
            <a:off x="6876288" y="1664208"/>
            <a:ext cx="512064" cy="292608"/>
          </a:xfrm>
          <a:prstGeom prst="rect">
            <a:avLst/>
          </a:prstGeom>
          <a:noFill/>
          <a:ln/>
        </p:spPr>
        <p:txBody>
          <a:bodyPr wrap="square" rtlCol="0" anchor="ctr"/>
          <a:lstStyle/>
          <a:p>
            <a:pPr algn="ctr" indent="0" marL="0">
              <a:buNone/>
            </a:pPr>
            <a:r>
              <a:rPr lang="en-US" sz="650" dirty="0">
                <a:solidFill>
                  <a:srgbClr val="F59E0B"/>
                </a:solidFill>
                <a:latin typeface="Arial" pitchFamily="34" charset="0"/>
                <a:ea typeface="Arial" pitchFamily="34" charset="-122"/>
                <a:cs typeface="Arial" pitchFamily="34" charset="-120"/>
              </a:rPr>
              <a:t>Layanan &amp; Inovasi</a:t>
            </a:r>
            <a:endParaRPr lang="en-US" sz="650" dirty="0"/>
          </a:p>
        </p:txBody>
      </p:sp>
      <p:sp>
        <p:nvSpPr>
          <p:cNvPr id="26" name="Shape 24"/>
          <p:cNvSpPr/>
          <p:nvPr/>
        </p:nvSpPr>
        <p:spPr>
          <a:xfrm>
            <a:off x="7360920" y="1481328"/>
            <a:ext cx="3866083" cy="932688"/>
          </a:xfrm>
          <a:prstGeom prst="roundRect">
            <a:avLst>
              <a:gd name="adj" fmla="val 7843"/>
            </a:avLst>
          </a:prstGeom>
          <a:solidFill>
            <a:srgbClr val="063A28"/>
          </a:solidFill>
          <a:ln w="25400">
            <a:solidFill>
              <a:srgbClr val="10B981"/>
            </a:solidFill>
            <a:prstDash val="solid"/>
          </a:ln>
        </p:spPr>
      </p:sp>
      <p:sp>
        <p:nvSpPr>
          <p:cNvPr id="27" name="Shape 25"/>
          <p:cNvSpPr/>
          <p:nvPr/>
        </p:nvSpPr>
        <p:spPr>
          <a:xfrm>
            <a:off x="7360920" y="1481328"/>
            <a:ext cx="3866083" cy="64008"/>
          </a:xfrm>
          <a:prstGeom prst="rect">
            <a:avLst/>
          </a:prstGeom>
          <a:solidFill>
            <a:srgbClr val="10B981"/>
          </a:solidFill>
          <a:ln/>
        </p:spPr>
      </p:sp>
      <p:sp>
        <p:nvSpPr>
          <p:cNvPr id="28" name="Text 26"/>
          <p:cNvSpPr/>
          <p:nvPr/>
        </p:nvSpPr>
        <p:spPr>
          <a:xfrm>
            <a:off x="7360920" y="1563624"/>
            <a:ext cx="3866083" cy="411480"/>
          </a:xfrm>
          <a:prstGeom prst="rect">
            <a:avLst/>
          </a:prstGeom>
          <a:noFill/>
          <a:ln/>
        </p:spPr>
        <p:txBody>
          <a:bodyPr wrap="square" rtlCol="0" anchor="ctr"/>
          <a:lstStyle/>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WARGA SOLO</a:t>
            </a:r>
            <a:endParaRPr lang="en-US" sz="1100" dirty="0"/>
          </a:p>
          <a:p>
            <a:pPr algn="ctr" indent="0" marL="0">
              <a:lnSpc>
                <a:spcPts val="1400"/>
              </a:lnSpc>
              <a:buNone/>
            </a:pPr>
            <a:r>
              <a:rPr lang="en-US" sz="1100" b="1" dirty="0">
                <a:solidFill>
                  <a:srgbClr val="FFFFFF"/>
                </a:solidFill>
                <a:latin typeface="Arial" pitchFamily="34" charset="0"/>
                <a:ea typeface="Arial" pitchFamily="34" charset="-122"/>
                <a:cs typeface="Arial" pitchFamily="34" charset="-120"/>
              </a:rPr>
              <a:t>&amp; DUNIA USAHA</a:t>
            </a:r>
            <a:endParaRPr lang="en-US" sz="1100" dirty="0"/>
          </a:p>
        </p:txBody>
      </p:sp>
      <p:sp>
        <p:nvSpPr>
          <p:cNvPr id="29" name="Text 27"/>
          <p:cNvSpPr/>
          <p:nvPr/>
        </p:nvSpPr>
        <p:spPr>
          <a:xfrm>
            <a:off x="7360920" y="1965960"/>
            <a:ext cx="3866083"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Penerima Manfaat Utama (Benefisiari)</a:t>
            </a:r>
            <a:endParaRPr lang="en-US" sz="850" dirty="0"/>
          </a:p>
        </p:txBody>
      </p:sp>
      <p:sp>
        <p:nvSpPr>
          <p:cNvPr id="30" name="Shape 28"/>
          <p:cNvSpPr/>
          <p:nvPr/>
        </p:nvSpPr>
        <p:spPr>
          <a:xfrm>
            <a:off x="594360" y="2578608"/>
            <a:ext cx="3401568" cy="2651760"/>
          </a:xfrm>
          <a:prstGeom prst="roundRect">
            <a:avLst>
              <a:gd name="adj" fmla="val 2759"/>
            </a:avLst>
          </a:prstGeom>
          <a:solidFill>
            <a:srgbClr val="0A192F"/>
          </a:solidFill>
          <a:ln w="12700">
            <a:solidFill>
              <a:srgbClr val="1E3A5F"/>
            </a:solidFill>
            <a:prstDash val="solid"/>
          </a:ln>
        </p:spPr>
      </p:sp>
      <p:sp>
        <p:nvSpPr>
          <p:cNvPr id="31" name="Shape 29"/>
          <p:cNvSpPr/>
          <p:nvPr/>
        </p:nvSpPr>
        <p:spPr>
          <a:xfrm>
            <a:off x="594360" y="2578608"/>
            <a:ext cx="73152" cy="2651760"/>
          </a:xfrm>
          <a:prstGeom prst="roundRect">
            <a:avLst>
              <a:gd name="adj" fmla="val 50000"/>
            </a:avLst>
          </a:prstGeom>
          <a:solidFill>
            <a:srgbClr val="0EA5E9"/>
          </a:solidFill>
          <a:ln w="12700">
            <a:solidFill>
              <a:srgbClr val="0EA5E9"/>
            </a:solidFill>
            <a:prstDash val="solid"/>
          </a:ln>
        </p:spPr>
      </p:sp>
      <p:sp>
        <p:nvSpPr>
          <p:cNvPr id="32" name="Shape 30"/>
          <p:cNvSpPr/>
          <p:nvPr/>
        </p:nvSpPr>
        <p:spPr>
          <a:xfrm>
            <a:off x="731520" y="2715768"/>
            <a:ext cx="3108960" cy="548640"/>
          </a:xfrm>
          <a:prstGeom prst="roundRect">
            <a:avLst>
              <a:gd name="adj" fmla="val 10000"/>
            </a:avLst>
          </a:prstGeom>
          <a:solidFill>
            <a:srgbClr val="0D213F"/>
          </a:solidFill>
          <a:ln w="12700">
            <a:solidFill>
              <a:srgbClr val="0EA5E9"/>
            </a:solidFill>
            <a:prstDash val="solid"/>
          </a:ln>
        </p:spPr>
      </p:sp>
      <p:sp>
        <p:nvSpPr>
          <p:cNvPr id="33" name="Text 31"/>
          <p:cNvSpPr/>
          <p:nvPr/>
        </p:nvSpPr>
        <p:spPr>
          <a:xfrm>
            <a:off x="777240" y="2743200"/>
            <a:ext cx="3017520"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BRIDA KOTA SURAKARTA</a:t>
            </a:r>
            <a:endParaRPr lang="en-US" sz="1050" dirty="0"/>
          </a:p>
        </p:txBody>
      </p:sp>
      <p:sp>
        <p:nvSpPr>
          <p:cNvPr id="34" name="Text 32"/>
          <p:cNvSpPr/>
          <p:nvPr/>
        </p:nvSpPr>
        <p:spPr>
          <a:xfrm>
            <a:off x="777240" y="2990088"/>
            <a:ext cx="301752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Otak &amp; Regulator Kebijakan</a:t>
            </a:r>
            <a:endParaRPr lang="en-US" sz="850" dirty="0"/>
          </a:p>
        </p:txBody>
      </p:sp>
      <p:sp>
        <p:nvSpPr>
          <p:cNvPr id="35" name="Text 33"/>
          <p:cNvSpPr/>
          <p:nvPr/>
        </p:nvSpPr>
        <p:spPr>
          <a:xfrm>
            <a:off x="822960" y="3291840"/>
            <a:ext cx="2926080" cy="17830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Merumuskan arah kebijakan riset &amp; inovasi daerah</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Penyusunan kajian teknokratik &amp; roadmap strategis</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Orkestrasi ekosistem Iptek antar-OPD &amp; kampus</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Monitoring dan evaluasi dampak sosial-ekonomi</a:t>
            </a:r>
            <a:endParaRPr lang="en-US" sz="980" dirty="0"/>
          </a:p>
        </p:txBody>
      </p:sp>
      <p:sp>
        <p:nvSpPr>
          <p:cNvPr id="36" name="Shape 34"/>
          <p:cNvSpPr/>
          <p:nvPr/>
        </p:nvSpPr>
        <p:spPr>
          <a:xfrm>
            <a:off x="4105656" y="2578608"/>
            <a:ext cx="3401568" cy="2651760"/>
          </a:xfrm>
          <a:prstGeom prst="roundRect">
            <a:avLst>
              <a:gd name="adj" fmla="val 2759"/>
            </a:avLst>
          </a:prstGeom>
          <a:solidFill>
            <a:srgbClr val="0A192F"/>
          </a:solidFill>
          <a:ln w="12700">
            <a:solidFill>
              <a:srgbClr val="1E3A5F"/>
            </a:solidFill>
            <a:prstDash val="solid"/>
          </a:ln>
        </p:spPr>
      </p:sp>
      <p:sp>
        <p:nvSpPr>
          <p:cNvPr id="37" name="Shape 35"/>
          <p:cNvSpPr/>
          <p:nvPr/>
        </p:nvSpPr>
        <p:spPr>
          <a:xfrm>
            <a:off x="4105656" y="2578608"/>
            <a:ext cx="73152" cy="2651760"/>
          </a:xfrm>
          <a:prstGeom prst="roundRect">
            <a:avLst>
              <a:gd name="adj" fmla="val 50000"/>
            </a:avLst>
          </a:prstGeom>
          <a:solidFill>
            <a:srgbClr val="F59E0B"/>
          </a:solidFill>
          <a:ln w="12700">
            <a:solidFill>
              <a:srgbClr val="F59E0B"/>
            </a:solidFill>
            <a:prstDash val="solid"/>
          </a:ln>
        </p:spPr>
      </p:sp>
      <p:sp>
        <p:nvSpPr>
          <p:cNvPr id="38" name="Shape 36"/>
          <p:cNvSpPr/>
          <p:nvPr/>
        </p:nvSpPr>
        <p:spPr>
          <a:xfrm>
            <a:off x="4242816" y="2715768"/>
            <a:ext cx="3108960" cy="548640"/>
          </a:xfrm>
          <a:prstGeom prst="roundRect">
            <a:avLst>
              <a:gd name="adj" fmla="val 10000"/>
            </a:avLst>
          </a:prstGeom>
          <a:solidFill>
            <a:srgbClr val="0D213F"/>
          </a:solidFill>
          <a:ln w="12700">
            <a:solidFill>
              <a:srgbClr val="F59E0B"/>
            </a:solidFill>
            <a:prstDash val="solid"/>
          </a:ln>
        </p:spPr>
      </p:sp>
      <p:sp>
        <p:nvSpPr>
          <p:cNvPr id="39" name="Text 37"/>
          <p:cNvSpPr/>
          <p:nvPr/>
        </p:nvSpPr>
        <p:spPr>
          <a:xfrm>
            <a:off x="4288536" y="2743200"/>
            <a:ext cx="3017520"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UPTD KST SOLO TECHNOPARK</a:t>
            </a:r>
            <a:endParaRPr lang="en-US" sz="1050" dirty="0"/>
          </a:p>
        </p:txBody>
      </p:sp>
      <p:sp>
        <p:nvSpPr>
          <p:cNvPr id="40" name="Text 38"/>
          <p:cNvSpPr/>
          <p:nvPr/>
        </p:nvSpPr>
        <p:spPr>
          <a:xfrm>
            <a:off x="4288536" y="2990088"/>
            <a:ext cx="301752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Tangan Eksekutor &amp; Delivery Unit</a:t>
            </a:r>
            <a:endParaRPr lang="en-US" sz="850" dirty="0"/>
          </a:p>
        </p:txBody>
      </p:sp>
      <p:sp>
        <p:nvSpPr>
          <p:cNvPr id="41" name="Text 39"/>
          <p:cNvSpPr/>
          <p:nvPr/>
        </p:nvSpPr>
        <p:spPr>
          <a:xfrm>
            <a:off x="4334256" y="3291840"/>
            <a:ext cx="2926080" cy="17830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Penyelenggaraan diklat vokasi &amp; sertifikasi industri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Inkubasi bisnis, alih teknologi &amp; komersialisasi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Uji coba prototipe lab presisi &amp; penetrant testing</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Pengelolaan bisnis BLUD profesional &amp; kemitraan</a:t>
            </a:r>
            <a:endParaRPr lang="en-US" sz="980" dirty="0"/>
          </a:p>
        </p:txBody>
      </p:sp>
      <p:sp>
        <p:nvSpPr>
          <p:cNvPr id="42" name="Shape 40"/>
          <p:cNvSpPr/>
          <p:nvPr/>
        </p:nvSpPr>
        <p:spPr>
          <a:xfrm>
            <a:off x="7616952" y="2578608"/>
            <a:ext cx="3401568" cy="2651760"/>
          </a:xfrm>
          <a:prstGeom prst="roundRect">
            <a:avLst>
              <a:gd name="adj" fmla="val 2759"/>
            </a:avLst>
          </a:prstGeom>
          <a:solidFill>
            <a:srgbClr val="0A192F"/>
          </a:solidFill>
          <a:ln w="12700">
            <a:solidFill>
              <a:srgbClr val="1E3A5F"/>
            </a:solidFill>
            <a:prstDash val="solid"/>
          </a:ln>
        </p:spPr>
      </p:sp>
      <p:sp>
        <p:nvSpPr>
          <p:cNvPr id="43" name="Shape 41"/>
          <p:cNvSpPr/>
          <p:nvPr/>
        </p:nvSpPr>
        <p:spPr>
          <a:xfrm>
            <a:off x="7616952" y="2578608"/>
            <a:ext cx="73152" cy="2651760"/>
          </a:xfrm>
          <a:prstGeom prst="roundRect">
            <a:avLst>
              <a:gd name="adj" fmla="val 50000"/>
            </a:avLst>
          </a:prstGeom>
          <a:solidFill>
            <a:srgbClr val="10B981"/>
          </a:solidFill>
          <a:ln w="12700">
            <a:solidFill>
              <a:srgbClr val="10B981"/>
            </a:solidFill>
            <a:prstDash val="solid"/>
          </a:ln>
        </p:spPr>
      </p:sp>
      <p:sp>
        <p:nvSpPr>
          <p:cNvPr id="44" name="Shape 42"/>
          <p:cNvSpPr/>
          <p:nvPr/>
        </p:nvSpPr>
        <p:spPr>
          <a:xfrm>
            <a:off x="7754112" y="2715768"/>
            <a:ext cx="3108960" cy="548640"/>
          </a:xfrm>
          <a:prstGeom prst="roundRect">
            <a:avLst>
              <a:gd name="adj" fmla="val 10000"/>
            </a:avLst>
          </a:prstGeom>
          <a:solidFill>
            <a:srgbClr val="0D213F"/>
          </a:solidFill>
          <a:ln w="12700">
            <a:solidFill>
              <a:srgbClr val="10B981"/>
            </a:solidFill>
            <a:prstDash val="solid"/>
          </a:ln>
        </p:spPr>
      </p:sp>
      <p:sp>
        <p:nvSpPr>
          <p:cNvPr id="45" name="Text 43"/>
          <p:cNvSpPr/>
          <p:nvPr/>
        </p:nvSpPr>
        <p:spPr>
          <a:xfrm>
            <a:off x="7799832" y="2743200"/>
            <a:ext cx="3017520" cy="25603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MASYARAKAT &amp; DUNIA USAHA</a:t>
            </a:r>
            <a:endParaRPr lang="en-US" sz="1050" dirty="0"/>
          </a:p>
        </p:txBody>
      </p:sp>
      <p:sp>
        <p:nvSpPr>
          <p:cNvPr id="46" name="Text 44"/>
          <p:cNvSpPr/>
          <p:nvPr/>
        </p:nvSpPr>
        <p:spPr>
          <a:xfrm>
            <a:off x="7799832" y="2990088"/>
            <a:ext cx="301752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Penerima Manfaat Utama (Benefisiari)</a:t>
            </a:r>
            <a:endParaRPr lang="en-US" sz="850" dirty="0"/>
          </a:p>
        </p:txBody>
      </p:sp>
      <p:sp>
        <p:nvSpPr>
          <p:cNvPr id="47" name="Text 45"/>
          <p:cNvSpPr/>
          <p:nvPr/>
        </p:nvSpPr>
        <p:spPr>
          <a:xfrm>
            <a:off x="7845552" y="3291840"/>
            <a:ext cx="2926080" cy="1783080"/>
          </a:xfrm>
          <a:prstGeom prst="rect">
            <a:avLst/>
          </a:prstGeom>
          <a:noFill/>
          <a:ln/>
        </p:spPr>
        <p:txBody>
          <a:bodyPr wrap="square" rtlCol="0" anchor="ctr"/>
          <a:lstStyle/>
          <a:p>
            <a:pPr indent="0" marL="0">
              <a:lnSpc>
                <a:spcPts val="1400"/>
              </a:lnSpc>
              <a:buNone/>
            </a:pPr>
            <a:r>
              <a:rPr lang="en-US" sz="980" dirty="0">
                <a:solidFill>
                  <a:srgbClr val="94A3B8"/>
                </a:solidFill>
                <a:latin typeface="Arial" pitchFamily="34" charset="0"/>
                <a:ea typeface="Arial" pitchFamily="34" charset="-122"/>
                <a:cs typeface="Arial" pitchFamily="34" charset="-120"/>
              </a:rPr>
              <a:t>•  SDM lokal kompeten &amp; tersertifikasi kerja industri</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UMKM &amp; startup teknologi tumbuh mandiri omzetnya</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Produk inovasi kampus terserap pasar &amp; e-Katalog</a:t>
            </a:r>
            <a:endParaRPr lang="en-US" sz="980" dirty="0"/>
          </a:p>
          <a:p>
            <a:pPr indent="0" marL="0">
              <a:lnSpc>
                <a:spcPts val="1400"/>
              </a:lnSpc>
              <a:buNone/>
            </a:pPr>
            <a:endParaRPr lang="en-US" sz="980" dirty="0"/>
          </a:p>
          <a:p>
            <a:pPr indent="0" marL="0">
              <a:lnSpc>
                <a:spcPts val="1400"/>
              </a:lnSpc>
              <a:buNone/>
            </a:pPr>
            <a:r>
              <a:rPr lang="en-US" sz="980" dirty="0">
                <a:solidFill>
                  <a:srgbClr val="94A3B8"/>
                </a:solidFill>
                <a:latin typeface="Arial" pitchFamily="34" charset="0"/>
                <a:ea typeface="Arial" pitchFamily="34" charset="-122"/>
                <a:cs typeface="Arial" pitchFamily="34" charset="-120"/>
              </a:rPr>
              <a:t>•  Masuknya investasi swasta &amp; serapan kerja baru</a:t>
            </a:r>
            <a:endParaRPr lang="en-US" sz="980" dirty="0"/>
          </a:p>
        </p:txBody>
      </p:sp>
      <p:sp>
        <p:nvSpPr>
          <p:cNvPr id="48" name="Shape 46"/>
          <p:cNvSpPr/>
          <p:nvPr/>
        </p:nvSpPr>
        <p:spPr>
          <a:xfrm>
            <a:off x="731520" y="5349240"/>
            <a:ext cx="10728655" cy="868680"/>
          </a:xfrm>
          <a:prstGeom prst="roundRect">
            <a:avLst>
              <a:gd name="adj" fmla="val 8421"/>
            </a:avLst>
          </a:prstGeom>
          <a:solidFill>
            <a:srgbClr val="0D213F"/>
          </a:solidFill>
          <a:ln w="12700">
            <a:solidFill>
              <a:srgbClr val="1E3A5F"/>
            </a:solidFill>
            <a:prstDash val="solid"/>
          </a:ln>
        </p:spPr>
      </p:sp>
      <p:sp>
        <p:nvSpPr>
          <p:cNvPr id="49" name="Text 47"/>
          <p:cNvSpPr/>
          <p:nvPr/>
        </p:nvSpPr>
        <p:spPr>
          <a:xfrm>
            <a:off x="914400" y="5440680"/>
            <a:ext cx="10362895"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LANDASAN HUKUM KELEMBAGAAN KOTA SURAKARTA:</a:t>
            </a:r>
            <a:endParaRPr lang="en-US" sz="900" dirty="0"/>
          </a:p>
        </p:txBody>
      </p:sp>
      <p:sp>
        <p:nvSpPr>
          <p:cNvPr id="50" name="Text 48"/>
          <p:cNvSpPr/>
          <p:nvPr/>
        </p:nvSpPr>
        <p:spPr>
          <a:xfrm>
            <a:off x="914400" y="5687568"/>
            <a:ext cx="10362895" cy="457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Perwali Surakarta No. 15 Tahun 2022: Penetapan kedudukan UPTD KST Solo Technopark sebagai unit pelaksana teknis BRIDA.</a:t>
            </a: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Perwali Surakarta No. 38 Tahun 2022: Penetapan Pola Tata Kelola Badan Layanan Umum Daerah (BLUD) UPTD KST Solo Technopark.</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LANDASAN REGULASI &amp; TATA KELOLA</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FONDASI HUKUM YANG KOKOH: MANDAT &amp; FLEKSIBILITAS BLUD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Tiga Pilar Regulasi yang Memberi Kewenangan, Fleksibilitas Bisnis Sehat, dan Arah Strategis KST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03 / 12</a:t>
            </a:r>
            <a:endParaRPr lang="en-US" sz="900" dirty="0"/>
          </a:p>
        </p:txBody>
      </p:sp>
      <p:sp>
        <p:nvSpPr>
          <p:cNvPr id="11" name="Shape 9"/>
          <p:cNvSpPr/>
          <p:nvPr/>
        </p:nvSpPr>
        <p:spPr>
          <a:xfrm>
            <a:off x="731520" y="1325880"/>
            <a:ext cx="3474720" cy="402336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40233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914400" y="1508760"/>
            <a:ext cx="310896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PERMENDAGRI 79/2018</a:t>
            </a:r>
            <a:endParaRPr lang="en-US" sz="1100" dirty="0"/>
          </a:p>
        </p:txBody>
      </p:sp>
      <p:sp>
        <p:nvSpPr>
          <p:cNvPr id="15" name="Text 13"/>
          <p:cNvSpPr/>
          <p:nvPr/>
        </p:nvSpPr>
        <p:spPr>
          <a:xfrm>
            <a:off x="914400" y="1783080"/>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Tata Kelola Keuangan BLUD</a:t>
            </a:r>
            <a:endParaRPr lang="en-US" sz="850" dirty="0"/>
          </a:p>
        </p:txBody>
      </p:sp>
      <p:sp>
        <p:nvSpPr>
          <p:cNvPr id="16" name="Shape 14"/>
          <p:cNvSpPr/>
          <p:nvPr/>
        </p:nvSpPr>
        <p:spPr>
          <a:xfrm>
            <a:off x="914400" y="2148840"/>
            <a:ext cx="3108960" cy="1325880"/>
          </a:xfrm>
          <a:prstGeom prst="roundRect">
            <a:avLst>
              <a:gd name="adj" fmla="val 2759"/>
            </a:avLst>
          </a:prstGeom>
          <a:solidFill>
            <a:srgbClr val="070D18"/>
          </a:solidFill>
          <a:ln w="12700">
            <a:solidFill>
              <a:srgbClr val="1E3A5F"/>
            </a:solidFill>
            <a:prstDash val="solid"/>
          </a:ln>
        </p:spPr>
      </p:sp>
      <p:sp>
        <p:nvSpPr>
          <p:cNvPr id="17" name="Text 15"/>
          <p:cNvSpPr/>
          <p:nvPr/>
        </p:nvSpPr>
        <p:spPr>
          <a:xfrm>
            <a:off x="100584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80" dirty="0"/>
          </a:p>
        </p:txBody>
      </p:sp>
      <p:sp>
        <p:nvSpPr>
          <p:cNvPr id="18" name="Text 16"/>
          <p:cNvSpPr/>
          <p:nvPr/>
        </p:nvSpPr>
        <p:spPr>
          <a:xfrm>
            <a:off x="91440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Keleluasaan bermitra dengan swasta tanpa birokrasi kaku APBD</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Mengelola dan memutar pendapatan fungsional jasa secara mandiri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Rekrutmen tenaga ahli &amp; instruktur profesional sesuai kebutuhan pasar</a:t>
            </a:r>
            <a:endParaRPr lang="en-US" sz="920" dirty="0"/>
          </a:p>
        </p:txBody>
      </p:sp>
      <p:sp>
        <p:nvSpPr>
          <p:cNvPr id="19" name="Shape 17"/>
          <p:cNvSpPr/>
          <p:nvPr/>
        </p:nvSpPr>
        <p:spPr>
          <a:xfrm>
            <a:off x="4343400" y="1325880"/>
            <a:ext cx="3474720" cy="402336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402336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526280" y="1508760"/>
            <a:ext cx="3108960" cy="502920"/>
          </a:xfrm>
          <a:prstGeom prst="roundRect">
            <a:avLst>
              <a:gd name="adj" fmla="val 9091"/>
            </a:avLst>
          </a:prstGeom>
          <a:solidFill>
            <a:srgbClr val="0D213F"/>
          </a:solidFill>
          <a:ln w="12700">
            <a:solidFill>
              <a:srgbClr val="F59E0B"/>
            </a:solidFill>
            <a:prstDash val="solid"/>
          </a:ln>
        </p:spPr>
      </p:sp>
      <p:sp>
        <p:nvSpPr>
          <p:cNvPr id="22" name="Text 20"/>
          <p:cNvSpPr/>
          <p:nvPr/>
        </p:nvSpPr>
        <p:spPr>
          <a:xfrm>
            <a:off x="452628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PERPRES 106/2017</a:t>
            </a:r>
            <a:endParaRPr lang="en-US" sz="1100" dirty="0"/>
          </a:p>
        </p:txBody>
      </p:sp>
      <p:sp>
        <p:nvSpPr>
          <p:cNvPr id="23" name="Text 21"/>
          <p:cNvSpPr/>
          <p:nvPr/>
        </p:nvSpPr>
        <p:spPr>
          <a:xfrm>
            <a:off x="4526280" y="1783080"/>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Kawasan Sains &amp; Teknologi (KST)</a:t>
            </a:r>
            <a:endParaRPr lang="en-US" sz="850" dirty="0"/>
          </a:p>
        </p:txBody>
      </p:sp>
      <p:sp>
        <p:nvSpPr>
          <p:cNvPr id="24" name="Shape 22"/>
          <p:cNvSpPr/>
          <p:nvPr/>
        </p:nvSpPr>
        <p:spPr>
          <a:xfrm>
            <a:off x="4526280" y="2148840"/>
            <a:ext cx="3108960" cy="1325880"/>
          </a:xfrm>
          <a:prstGeom prst="roundRect">
            <a:avLst>
              <a:gd name="adj" fmla="val 2759"/>
            </a:avLst>
          </a:prstGeom>
          <a:solidFill>
            <a:srgbClr val="070D18"/>
          </a:solidFill>
          <a:ln w="12700">
            <a:solidFill>
              <a:srgbClr val="1E3A5F"/>
            </a:solidFill>
            <a:prstDash val="solid"/>
          </a:ln>
        </p:spPr>
      </p:sp>
      <p:sp>
        <p:nvSpPr>
          <p:cNvPr id="25" name="Text 23"/>
          <p:cNvSpPr/>
          <p:nvPr/>
        </p:nvSpPr>
        <p:spPr>
          <a:xfrm>
            <a:off x="461772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80" dirty="0"/>
          </a:p>
        </p:txBody>
      </p:sp>
      <p:sp>
        <p:nvSpPr>
          <p:cNvPr id="26" name="Text 24"/>
          <p:cNvSpPr/>
          <p:nvPr/>
        </p:nvSpPr>
        <p:spPr>
          <a:xfrm>
            <a:off x="452628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Mandat nasional fasilitasi hilirisasi &amp; spin-off perusahaan riset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Kewajiban menyediakan 4 pilar layanan iptek terintegrasi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Landasan kolaborasi hexahelix multi-stakeholder formal</a:t>
            </a:r>
            <a:endParaRPr lang="en-US" sz="920" dirty="0"/>
          </a:p>
        </p:txBody>
      </p:sp>
      <p:sp>
        <p:nvSpPr>
          <p:cNvPr id="27" name="Shape 25"/>
          <p:cNvSpPr/>
          <p:nvPr/>
        </p:nvSpPr>
        <p:spPr>
          <a:xfrm>
            <a:off x="7955280" y="1325880"/>
            <a:ext cx="3474720" cy="402336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402336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138160" y="1508760"/>
            <a:ext cx="3108960" cy="502920"/>
          </a:xfrm>
          <a:prstGeom prst="roundRect">
            <a:avLst>
              <a:gd name="adj" fmla="val 9091"/>
            </a:avLst>
          </a:prstGeom>
          <a:solidFill>
            <a:srgbClr val="0D213F"/>
          </a:solidFill>
          <a:ln w="12700">
            <a:solidFill>
              <a:srgbClr val="10B981"/>
            </a:solidFill>
            <a:prstDash val="solid"/>
          </a:ln>
        </p:spPr>
      </p:sp>
      <p:sp>
        <p:nvSpPr>
          <p:cNvPr id="30" name="Text 28"/>
          <p:cNvSpPr/>
          <p:nvPr/>
        </p:nvSpPr>
        <p:spPr>
          <a:xfrm>
            <a:off x="813816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138160" y="1783080"/>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138160" y="2148840"/>
            <a:ext cx="3108960" cy="1325880"/>
          </a:xfrm>
          <a:prstGeom prst="roundRect">
            <a:avLst>
              <a:gd name="adj" fmla="val 2759"/>
            </a:avLst>
          </a:prstGeom>
          <a:solidFill>
            <a:srgbClr val="070D18"/>
          </a:solidFill>
          <a:ln w="12700">
            <a:solidFill>
              <a:srgbClr val="1E3A5F"/>
            </a:solidFill>
            <a:prstDash val="solid"/>
          </a:ln>
        </p:spPr>
      </p:sp>
      <p:sp>
        <p:nvSpPr>
          <p:cNvPr id="33" name="Text 31"/>
          <p:cNvSpPr/>
          <p:nvPr/>
        </p:nvSpPr>
        <p:spPr>
          <a:xfrm>
            <a:off x="822960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80" dirty="0"/>
          </a:p>
        </p:txBody>
      </p:sp>
      <p:sp>
        <p:nvSpPr>
          <p:cNvPr id="34" name="Text 32"/>
          <p:cNvSpPr/>
          <p:nvPr/>
        </p:nvSpPr>
        <p:spPr>
          <a:xfrm>
            <a:off x="813816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Payung hukum operasional tingkat kota yang sah dan mengikat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Pembagian peran teknis yang presisi antara BRIDA dan STP</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Dasar legalitas pemanfaatan aset kawasan &amp; kerjasama industri</a:t>
            </a:r>
            <a:endParaRPr lang="en-US" sz="920" dirty="0"/>
          </a:p>
        </p:txBody>
      </p:sp>
      <p:sp>
        <p:nvSpPr>
          <p:cNvPr id="35" name="Shape 33"/>
          <p:cNvSpPr/>
          <p:nvPr/>
        </p:nvSpPr>
        <p:spPr>
          <a:xfrm>
            <a:off x="731520" y="5486400"/>
            <a:ext cx="10728655" cy="731520"/>
          </a:xfrm>
          <a:prstGeom prst="roundRect">
            <a:avLst>
              <a:gd name="adj" fmla="val 10000"/>
            </a:avLst>
          </a:prstGeom>
          <a:solidFill>
            <a:srgbClr val="0D213F"/>
          </a:solidFill>
          <a:ln w="12700">
            <a:solidFill>
              <a:srgbClr val="0EA5E9"/>
            </a:solidFill>
            <a:prstDash val="solid"/>
          </a:ln>
        </p:spPr>
      </p:sp>
      <p:sp>
        <p:nvSpPr>
          <p:cNvPr id="36" name="Text 34"/>
          <p:cNvSpPr/>
          <p:nvPr/>
        </p:nvSpPr>
        <p:spPr>
          <a:xfrm>
            <a:off x="914400" y="5486400"/>
            <a:ext cx="10362895" cy="7315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MANDAT LAYANAN PERPRES 106/2017</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EMPAT PILAR LAYANAN TERINTEGRASI: MEMENUHI MANDAT KST NASIONAL</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04 / 12</a:t>
            </a:r>
            <a:endParaRPr lang="en-US" sz="900" dirty="0"/>
          </a:p>
        </p:txBody>
      </p:sp>
      <p:sp>
        <p:nvSpPr>
          <p:cNvPr id="11" name="Shape 9"/>
          <p:cNvSpPr/>
          <p:nvPr/>
        </p:nvSpPr>
        <p:spPr>
          <a:xfrm>
            <a:off x="731520" y="1325880"/>
            <a:ext cx="5257800" cy="2148840"/>
          </a:xfrm>
          <a:prstGeom prst="roundRect">
            <a:avLst>
              <a:gd name="adj" fmla="val 3404"/>
            </a:avLst>
          </a:prstGeom>
          <a:solidFill>
            <a:srgbClr val="0A192F"/>
          </a:solidFill>
          <a:ln w="12700">
            <a:solidFill>
              <a:srgbClr val="1E3A5F"/>
            </a:solidFill>
            <a:prstDash val="solid"/>
          </a:ln>
        </p:spPr>
      </p:sp>
      <p:sp>
        <p:nvSpPr>
          <p:cNvPr id="12" name="Shape 10"/>
          <p:cNvSpPr/>
          <p:nvPr/>
        </p:nvSpPr>
        <p:spPr>
          <a:xfrm>
            <a:off x="731520" y="1325880"/>
            <a:ext cx="73152" cy="21488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35608"/>
            <a:ext cx="4983480" cy="384048"/>
          </a:xfrm>
          <a:prstGeom prst="roundRect">
            <a:avLst>
              <a:gd name="adj" fmla="val 11905"/>
            </a:avLst>
          </a:prstGeom>
          <a:solidFill>
            <a:srgbClr val="0D213F"/>
          </a:solidFill>
          <a:ln w="12700">
            <a:solidFill>
              <a:srgbClr val="0EA5E9"/>
            </a:solidFill>
            <a:prstDash val="solid"/>
          </a:ln>
        </p:spPr>
      </p:sp>
      <p:sp>
        <p:nvSpPr>
          <p:cNvPr id="14" name="Text 12"/>
          <p:cNvSpPr/>
          <p:nvPr/>
        </p:nvSpPr>
        <p:spPr>
          <a:xfrm>
            <a:off x="96012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1: LAYANAN TEKNIS (DIKLAT VOKASI INDUSTRI)</a:t>
            </a:r>
            <a:endParaRPr lang="en-US" sz="980" dirty="0"/>
          </a:p>
        </p:txBody>
      </p:sp>
      <p:sp>
        <p:nvSpPr>
          <p:cNvPr id="15" name="Text 13"/>
          <p:cNvSpPr/>
          <p:nvPr/>
        </p:nvSpPr>
        <p:spPr>
          <a:xfrm>
            <a:off x="96012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Mekanik, Otomasi &amp; Desain Manufaktur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Welding Intensif (Pengelasan Konstruksi &amp; Pipa)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OGSCI: Oil, Gas, Coal, Shipbuilding &amp; Infra Training</a:t>
            </a:r>
            <a:endParaRPr lang="en-US" sz="880" dirty="0"/>
          </a:p>
        </p:txBody>
      </p:sp>
      <p:sp>
        <p:nvSpPr>
          <p:cNvPr id="16" name="Text 14"/>
          <p:cNvSpPr/>
          <p:nvPr/>
        </p:nvSpPr>
        <p:spPr>
          <a:xfrm>
            <a:off x="34290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Underwater Wet Welding (Keahlian Langka Nasional)</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Teknologi Kendaraan Listrik (EV Conversion Lab)</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Cyber Security &amp; Artificial Intelligence Practitioner</a:t>
            </a:r>
            <a:endParaRPr lang="en-US" sz="880" dirty="0"/>
          </a:p>
        </p:txBody>
      </p:sp>
      <p:sp>
        <p:nvSpPr>
          <p:cNvPr id="17" name="Shape 15"/>
          <p:cNvSpPr/>
          <p:nvPr/>
        </p:nvSpPr>
        <p:spPr>
          <a:xfrm>
            <a:off x="6172200" y="1325880"/>
            <a:ext cx="5257800" cy="2148840"/>
          </a:xfrm>
          <a:prstGeom prst="roundRect">
            <a:avLst>
              <a:gd name="adj" fmla="val 3404"/>
            </a:avLst>
          </a:prstGeom>
          <a:solidFill>
            <a:srgbClr val="0A192F"/>
          </a:solidFill>
          <a:ln w="12700">
            <a:solidFill>
              <a:srgbClr val="1E3A5F"/>
            </a:solidFill>
            <a:prstDash val="solid"/>
          </a:ln>
        </p:spPr>
      </p:sp>
      <p:sp>
        <p:nvSpPr>
          <p:cNvPr id="18" name="Shape 16"/>
          <p:cNvSpPr/>
          <p:nvPr/>
        </p:nvSpPr>
        <p:spPr>
          <a:xfrm>
            <a:off x="6172200" y="1325880"/>
            <a:ext cx="73152" cy="2148840"/>
          </a:xfrm>
          <a:prstGeom prst="roundRect">
            <a:avLst>
              <a:gd name="adj" fmla="val 50000"/>
            </a:avLst>
          </a:prstGeom>
          <a:solidFill>
            <a:srgbClr val="F59E0B"/>
          </a:solidFill>
          <a:ln w="12700">
            <a:solidFill>
              <a:srgbClr val="F59E0B"/>
            </a:solidFill>
            <a:prstDash val="solid"/>
          </a:ln>
        </p:spPr>
      </p:sp>
      <p:sp>
        <p:nvSpPr>
          <p:cNvPr id="19" name="Shape 17"/>
          <p:cNvSpPr/>
          <p:nvPr/>
        </p:nvSpPr>
        <p:spPr>
          <a:xfrm>
            <a:off x="6309360" y="1435608"/>
            <a:ext cx="4983480" cy="384048"/>
          </a:xfrm>
          <a:prstGeom prst="roundRect">
            <a:avLst>
              <a:gd name="adj" fmla="val 11905"/>
            </a:avLst>
          </a:prstGeom>
          <a:solidFill>
            <a:srgbClr val="0D213F"/>
          </a:solidFill>
          <a:ln w="12700">
            <a:solidFill>
              <a:srgbClr val="F59E0B"/>
            </a:solidFill>
            <a:prstDash val="solid"/>
          </a:ln>
        </p:spPr>
      </p:sp>
      <p:sp>
        <p:nvSpPr>
          <p:cNvPr id="20" name="Text 18"/>
          <p:cNvSpPr/>
          <p:nvPr/>
        </p:nvSpPr>
        <p:spPr>
          <a:xfrm>
            <a:off x="640080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2: PENGEMBANGAN TEKNOLOGI (REKAYASA MANUFAKTUR)</a:t>
            </a:r>
            <a:endParaRPr lang="en-US" sz="980" dirty="0"/>
          </a:p>
        </p:txBody>
      </p:sp>
      <p:sp>
        <p:nvSpPr>
          <p:cNvPr id="21" name="Text 19"/>
          <p:cNvSpPr/>
          <p:nvPr/>
        </p:nvSpPr>
        <p:spPr>
          <a:xfrm>
            <a:off x="64008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Jasa Layanan Rekayasa Industri &amp; Permesinan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Produksi Komponen Presisi (Precision Parts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Pembuatan &amp; Uji Prototipe IKM/UKM Kota Surakarta</a:t>
            </a:r>
            <a:endParaRPr lang="en-US" sz="880" dirty="0"/>
          </a:p>
        </p:txBody>
      </p:sp>
      <p:sp>
        <p:nvSpPr>
          <p:cNvPr id="22" name="Text 20"/>
          <p:cNvSpPr/>
          <p:nvPr/>
        </p:nvSpPr>
        <p:spPr>
          <a:xfrm>
            <a:off x="886968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Non-Destructive Testing: Uji Penetrant Testing (NDT)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Konsultasi Laboratorium Terpadu &amp; Data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Standarisasi Mutu &amp; Sertifikasi TKDN / SNI Produk</a:t>
            </a:r>
            <a:endParaRPr lang="en-US" sz="880" dirty="0"/>
          </a:p>
        </p:txBody>
      </p:sp>
      <p:sp>
        <p:nvSpPr>
          <p:cNvPr id="23" name="Shape 21"/>
          <p:cNvSpPr/>
          <p:nvPr/>
        </p:nvSpPr>
        <p:spPr>
          <a:xfrm>
            <a:off x="731520" y="3611880"/>
            <a:ext cx="5257800" cy="2148840"/>
          </a:xfrm>
          <a:prstGeom prst="roundRect">
            <a:avLst>
              <a:gd name="adj" fmla="val 3404"/>
            </a:avLst>
          </a:prstGeom>
          <a:solidFill>
            <a:srgbClr val="0A192F"/>
          </a:solidFill>
          <a:ln w="12700">
            <a:solidFill>
              <a:srgbClr val="1E3A5F"/>
            </a:solidFill>
            <a:prstDash val="solid"/>
          </a:ln>
        </p:spPr>
      </p:sp>
      <p:sp>
        <p:nvSpPr>
          <p:cNvPr id="24" name="Shape 22"/>
          <p:cNvSpPr/>
          <p:nvPr/>
        </p:nvSpPr>
        <p:spPr>
          <a:xfrm>
            <a:off x="731520" y="3611880"/>
            <a:ext cx="73152" cy="2148840"/>
          </a:xfrm>
          <a:prstGeom prst="roundRect">
            <a:avLst>
              <a:gd name="adj" fmla="val 50000"/>
            </a:avLst>
          </a:prstGeom>
          <a:solidFill>
            <a:srgbClr val="10B981"/>
          </a:solidFill>
          <a:ln w="12700">
            <a:solidFill>
              <a:srgbClr val="10B981"/>
            </a:solidFill>
            <a:prstDash val="solid"/>
          </a:ln>
        </p:spPr>
      </p:sp>
      <p:sp>
        <p:nvSpPr>
          <p:cNvPr id="25" name="Shape 23"/>
          <p:cNvSpPr/>
          <p:nvPr/>
        </p:nvSpPr>
        <p:spPr>
          <a:xfrm>
            <a:off x="868680" y="3721608"/>
            <a:ext cx="4983480" cy="384048"/>
          </a:xfrm>
          <a:prstGeom prst="roundRect">
            <a:avLst>
              <a:gd name="adj" fmla="val 11905"/>
            </a:avLst>
          </a:prstGeom>
          <a:solidFill>
            <a:srgbClr val="0D213F"/>
          </a:solidFill>
          <a:ln w="12700">
            <a:solidFill>
              <a:srgbClr val="10B981"/>
            </a:solidFill>
            <a:prstDash val="solid"/>
          </a:ln>
        </p:spPr>
      </p:sp>
      <p:sp>
        <p:nvSpPr>
          <p:cNvPr id="26" name="Text 24"/>
          <p:cNvSpPr/>
          <p:nvPr/>
        </p:nvSpPr>
        <p:spPr>
          <a:xfrm>
            <a:off x="96012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3: LAYANAN INKUBASI (HILIRISASI KE PASAR)</a:t>
            </a:r>
            <a:endParaRPr lang="en-US" sz="980" dirty="0"/>
          </a:p>
        </p:txBody>
      </p:sp>
      <p:sp>
        <p:nvSpPr>
          <p:cNvPr id="27" name="Text 25"/>
          <p:cNvSpPr/>
          <p:nvPr/>
        </p:nvSpPr>
        <p:spPr>
          <a:xfrm>
            <a:off x="96012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Pra-Inkubasi &amp; Inkubasi Bisnis Startup Berbasis Riset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Fasilitasi HKI, Paten Produk, &amp; Hak Cipta Inovator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Hilirisasi Riset Perguruan Tinggi ke Pasar Industri</a:t>
            </a:r>
            <a:endParaRPr lang="en-US" sz="880" dirty="0"/>
          </a:p>
        </p:txBody>
      </p:sp>
      <p:sp>
        <p:nvSpPr>
          <p:cNvPr id="28" name="Text 26"/>
          <p:cNvSpPr/>
          <p:nvPr/>
        </p:nvSpPr>
        <p:spPr>
          <a:xfrm>
            <a:off x="34290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National Cyber Security Hub &amp; AI Experience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Digital Technopark, Gaming Hub, &amp; GoTo UMKM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Co-Working Space, Virtual Office &amp; Akses Permodalan</a:t>
            </a:r>
            <a:endParaRPr lang="en-US" sz="880" dirty="0"/>
          </a:p>
        </p:txBody>
      </p:sp>
      <p:sp>
        <p:nvSpPr>
          <p:cNvPr id="29" name="Shape 27"/>
          <p:cNvSpPr/>
          <p:nvPr/>
        </p:nvSpPr>
        <p:spPr>
          <a:xfrm>
            <a:off x="6172200" y="3611880"/>
            <a:ext cx="5257800" cy="2148840"/>
          </a:xfrm>
          <a:prstGeom prst="roundRect">
            <a:avLst>
              <a:gd name="adj" fmla="val 3404"/>
            </a:avLst>
          </a:prstGeom>
          <a:solidFill>
            <a:srgbClr val="0A192F"/>
          </a:solidFill>
          <a:ln w="12700">
            <a:solidFill>
              <a:srgbClr val="1E3A5F"/>
            </a:solidFill>
            <a:prstDash val="solid"/>
          </a:ln>
        </p:spPr>
      </p:sp>
      <p:sp>
        <p:nvSpPr>
          <p:cNvPr id="30" name="Shape 28"/>
          <p:cNvSpPr/>
          <p:nvPr/>
        </p:nvSpPr>
        <p:spPr>
          <a:xfrm>
            <a:off x="6172200" y="3611880"/>
            <a:ext cx="73152" cy="2148840"/>
          </a:xfrm>
          <a:prstGeom prst="roundRect">
            <a:avLst>
              <a:gd name="adj" fmla="val 50000"/>
            </a:avLst>
          </a:prstGeom>
          <a:solidFill>
            <a:srgbClr val="38BDF8"/>
          </a:solidFill>
          <a:ln w="12700">
            <a:solidFill>
              <a:srgbClr val="38BDF8"/>
            </a:solidFill>
            <a:prstDash val="solid"/>
          </a:ln>
        </p:spPr>
      </p:sp>
      <p:sp>
        <p:nvSpPr>
          <p:cNvPr id="31" name="Shape 29"/>
          <p:cNvSpPr/>
          <p:nvPr/>
        </p:nvSpPr>
        <p:spPr>
          <a:xfrm>
            <a:off x="6309360" y="3721608"/>
            <a:ext cx="4983480" cy="384048"/>
          </a:xfrm>
          <a:prstGeom prst="roundRect">
            <a:avLst>
              <a:gd name="adj" fmla="val 11905"/>
            </a:avLst>
          </a:prstGeom>
          <a:solidFill>
            <a:srgbClr val="0D213F"/>
          </a:solidFill>
          <a:ln w="12700">
            <a:solidFill>
              <a:srgbClr val="38BDF8"/>
            </a:solidFill>
            <a:prstDash val="solid"/>
          </a:ln>
        </p:spPr>
      </p:sp>
      <p:sp>
        <p:nvSpPr>
          <p:cNvPr id="32" name="Text 30"/>
          <p:cNvSpPr/>
          <p:nvPr/>
        </p:nvSpPr>
        <p:spPr>
          <a:xfrm>
            <a:off x="640080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4: LAYANAN PENDUKUNG (COMMUNITY &amp; EDUCATION)</a:t>
            </a:r>
            <a:endParaRPr lang="en-US" sz="980" dirty="0"/>
          </a:p>
        </p:txBody>
      </p:sp>
      <p:sp>
        <p:nvSpPr>
          <p:cNvPr id="33" name="Text 31"/>
          <p:cNvSpPr/>
          <p:nvPr/>
        </p:nvSpPr>
        <p:spPr>
          <a:xfrm>
            <a:off x="64008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Prakerin Kerja Industri Siswa SMK Se-Solo Raya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Tempat Uji Kompetensi (TUK Mandiri) &amp; Sertifikasi JFT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Solo Science Center (Pusat Edukasi IPTEK &amp; Wisata Sains)</a:t>
            </a:r>
            <a:endParaRPr lang="en-US" sz="880" dirty="0"/>
          </a:p>
        </p:txBody>
      </p:sp>
      <p:sp>
        <p:nvSpPr>
          <p:cNvPr id="34" name="Text 32"/>
          <p:cNvSpPr/>
          <p:nvPr/>
        </p:nvSpPr>
        <p:spPr>
          <a:xfrm>
            <a:off x="886968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Pemanfaatan Sarana Kawasan, Gedung Expo &amp; MICE</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Kemitraan Komunitas Kreatif &amp; Kunjungan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Pusat Kolaborasi Multipihak Pemkot Surakarta</a:t>
            </a:r>
            <a:endParaRPr lang="en-US" sz="880" dirty="0"/>
          </a:p>
        </p:txBody>
      </p:sp>
      <p:sp>
        <p:nvSpPr>
          <p:cNvPr id="35" name="Shape 33"/>
          <p:cNvSpPr/>
          <p:nvPr/>
        </p:nvSpPr>
        <p:spPr>
          <a:xfrm>
            <a:off x="731520" y="5925312"/>
            <a:ext cx="10728655" cy="411480"/>
          </a:xfrm>
          <a:prstGeom prst="roundRect">
            <a:avLst>
              <a:gd name="adj" fmla="val 17778"/>
            </a:avLst>
          </a:prstGeom>
          <a:solidFill>
            <a:srgbClr val="0D213F"/>
          </a:solidFill>
          <a:ln w="12700">
            <a:solidFill>
              <a:srgbClr val="1E3A5F"/>
            </a:solidFill>
            <a:prstDash val="solid"/>
          </a:ln>
        </p:spPr>
      </p:sp>
      <p:sp>
        <p:nvSpPr>
          <p:cNvPr id="36" name="Text 34"/>
          <p:cNvSpPr/>
          <p:nvPr/>
        </p:nvSpPr>
        <p:spPr>
          <a:xfrm>
            <a:off x="914400" y="5925312"/>
            <a:ext cx="10362895" cy="411480"/>
          </a:xfrm>
          <a:prstGeom prst="rect">
            <a:avLst/>
          </a:prstGeom>
          <a:noFill/>
          <a:ln/>
        </p:spPr>
        <p:txBody>
          <a:bodyPr wrap="square" rtlCol="0" anchor="ctr"/>
          <a:lstStyle/>
          <a:p>
            <a:pPr algn="ctr" indent="0" marL="0">
              <a:buNone/>
            </a:pPr>
            <a:r>
              <a:rPr lang="en-US" sz="950" b="1" i="1" dirty="0">
                <a:solidFill>
                  <a:srgbClr val="F59E0B"/>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MEKANISME HILIRISASI INOVASI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PIPELINE HILIRISASI RISET: DARI LABORATORIUM MENUJU PASAR NYATA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05 / 12</a:t>
            </a:r>
            <a:endParaRPr lang="en-US" sz="900" dirty="0"/>
          </a:p>
        </p:txBody>
      </p:sp>
      <p:sp>
        <p:nvSpPr>
          <p:cNvPr id="11" name="Shape 9"/>
          <p:cNvSpPr/>
          <p:nvPr/>
        </p:nvSpPr>
        <p:spPr>
          <a:xfrm>
            <a:off x="731520" y="1280160"/>
            <a:ext cx="2057400" cy="2103120"/>
          </a:xfrm>
          <a:prstGeom prst="roundRect">
            <a:avLst>
              <a:gd name="adj" fmla="val 3556"/>
            </a:avLst>
          </a:prstGeom>
          <a:solidFill>
            <a:srgbClr val="0A192F"/>
          </a:solidFill>
          <a:ln w="12700">
            <a:solidFill>
              <a:srgbClr val="1E3A5F"/>
            </a:solidFill>
            <a:prstDash val="solid"/>
          </a:ln>
        </p:spPr>
      </p:sp>
      <p:sp>
        <p:nvSpPr>
          <p:cNvPr id="12" name="Shape 10"/>
          <p:cNvSpPr/>
          <p:nvPr/>
        </p:nvSpPr>
        <p:spPr>
          <a:xfrm>
            <a:off x="731520" y="1280160"/>
            <a:ext cx="73152" cy="210312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868680" y="1371600"/>
            <a:ext cx="731520" cy="320040"/>
          </a:xfrm>
          <a:prstGeom prst="rect">
            <a:avLst/>
          </a:prstGeom>
          <a:noFill/>
          <a:ln/>
        </p:spPr>
        <p:txBody>
          <a:bodyPr wrap="square" rtlCol="0" anchor="ctr"/>
          <a:lstStyle/>
          <a:p>
            <a:pPr indent="0" marL="0">
              <a:buNone/>
            </a:pPr>
            <a:r>
              <a:rPr lang="en-US" sz="1600" b="1" dirty="0">
                <a:solidFill>
                  <a:srgbClr val="0EA5E9"/>
                </a:solidFill>
                <a:latin typeface="Arial" pitchFamily="34" charset="0"/>
                <a:ea typeface="Arial" pitchFamily="34" charset="-122"/>
                <a:cs typeface="Arial" pitchFamily="34" charset="-120"/>
              </a:rPr>
              <a:t>01</a:t>
            </a:r>
            <a:endParaRPr lang="en-US" sz="1600" dirty="0"/>
          </a:p>
        </p:txBody>
      </p:sp>
      <p:sp>
        <p:nvSpPr>
          <p:cNvPr id="14" name="Text 12"/>
          <p:cNvSpPr/>
          <p:nvPr/>
        </p:nvSpPr>
        <p:spPr>
          <a:xfrm>
            <a:off x="1554480"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Kampus &amp; Litbang</a:t>
            </a:r>
            <a:endParaRPr lang="en-US" sz="800" dirty="0"/>
          </a:p>
        </p:txBody>
      </p:sp>
      <p:sp>
        <p:nvSpPr>
          <p:cNvPr id="15" name="Text 13"/>
          <p:cNvSpPr/>
          <p:nvPr/>
        </p:nvSpPr>
        <p:spPr>
          <a:xfrm>
            <a:off x="868680"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RISET &amp; INVENSI</a:t>
            </a:r>
            <a:endParaRPr lang="en-US" sz="1000" dirty="0"/>
          </a:p>
        </p:txBody>
      </p:sp>
      <p:sp>
        <p:nvSpPr>
          <p:cNvPr id="16" name="Text 14"/>
          <p:cNvSpPr/>
          <p:nvPr/>
        </p:nvSpPr>
        <p:spPr>
          <a:xfrm>
            <a:off x="868680"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Invensi UNS, UMS, ISI, Poltek Solo Raya. Dosen, peneliti, dan mahasiswa berinovasi.</a:t>
            </a:r>
            <a:endParaRPr lang="en-US" sz="850" dirty="0"/>
          </a:p>
        </p:txBody>
      </p:sp>
      <p:sp>
        <p:nvSpPr>
          <p:cNvPr id="17" name="Shape 15"/>
          <p:cNvSpPr/>
          <p:nvPr/>
        </p:nvSpPr>
        <p:spPr>
          <a:xfrm>
            <a:off x="2761488" y="2286000"/>
            <a:ext cx="109728" cy="73152"/>
          </a:xfrm>
          <a:prstGeom prst="rect">
            <a:avLst/>
          </a:prstGeom>
          <a:solidFill>
            <a:srgbClr val="0EA5E9"/>
          </a:solidFill>
          <a:ln/>
        </p:spPr>
      </p:sp>
      <p:sp>
        <p:nvSpPr>
          <p:cNvPr id="18" name="Shape 16"/>
          <p:cNvSpPr/>
          <p:nvPr/>
        </p:nvSpPr>
        <p:spPr>
          <a:xfrm>
            <a:off x="2852928" y="2194560"/>
            <a:ext cx="64008" cy="256032"/>
          </a:xfrm>
          <a:prstGeom prst="rect">
            <a:avLst/>
          </a:prstGeom>
          <a:solidFill>
            <a:srgbClr val="0EA5E9"/>
          </a:solidFill>
          <a:ln/>
        </p:spPr>
      </p:sp>
      <p:sp>
        <p:nvSpPr>
          <p:cNvPr id="19" name="Shape 17"/>
          <p:cNvSpPr/>
          <p:nvPr/>
        </p:nvSpPr>
        <p:spPr>
          <a:xfrm>
            <a:off x="1481328" y="1188720"/>
            <a:ext cx="402336" cy="402336"/>
          </a:xfrm>
          <a:prstGeom prst="ellipse">
            <a:avLst/>
          </a:prstGeom>
          <a:solidFill>
            <a:srgbClr val="0EA5E9"/>
          </a:solidFill>
          <a:ln w="12700">
            <a:solidFill>
              <a:srgbClr val="0EA5E9"/>
            </a:solidFill>
            <a:prstDash val="solid"/>
          </a:ln>
        </p:spPr>
      </p:sp>
      <p:sp>
        <p:nvSpPr>
          <p:cNvPr id="20" name="Text 18"/>
          <p:cNvSpPr/>
          <p:nvPr/>
        </p:nvSpPr>
        <p:spPr>
          <a:xfrm>
            <a:off x="1481328" y="1188720"/>
            <a:ext cx="402336" cy="402336"/>
          </a:xfrm>
          <a:prstGeom prst="rect">
            <a:avLst/>
          </a:prstGeom>
          <a:noFill/>
          <a:ln/>
        </p:spPr>
        <p:txBody>
          <a:bodyPr wrap="square" rtlCol="0" anchor="ctr"/>
          <a:lstStyle/>
          <a:p>
            <a:pPr algn="ctr" indent="0" marL="0">
              <a:buNone/>
            </a:pPr>
            <a:r>
              <a:rPr lang="en-US" sz="1000" b="1" dirty="0">
                <a:solidFill>
                  <a:srgbClr val="070D18"/>
                </a:solidFill>
                <a:latin typeface="Arial" pitchFamily="34" charset="0"/>
                <a:ea typeface="Arial" pitchFamily="34" charset="-122"/>
                <a:cs typeface="Arial" pitchFamily="34" charset="-120"/>
              </a:rPr>
              <a:t>01</a:t>
            </a:r>
            <a:endParaRPr lang="en-US" sz="1000" dirty="0"/>
          </a:p>
        </p:txBody>
      </p:sp>
      <p:sp>
        <p:nvSpPr>
          <p:cNvPr id="21" name="Shape 19"/>
          <p:cNvSpPr/>
          <p:nvPr/>
        </p:nvSpPr>
        <p:spPr>
          <a:xfrm>
            <a:off x="2898648" y="1280160"/>
            <a:ext cx="2057400" cy="2103120"/>
          </a:xfrm>
          <a:prstGeom prst="roundRect">
            <a:avLst>
              <a:gd name="adj" fmla="val 3556"/>
            </a:avLst>
          </a:prstGeom>
          <a:solidFill>
            <a:srgbClr val="0A192F"/>
          </a:solidFill>
          <a:ln w="12700">
            <a:solidFill>
              <a:srgbClr val="1E3A5F"/>
            </a:solidFill>
            <a:prstDash val="solid"/>
          </a:ln>
        </p:spPr>
      </p:sp>
      <p:sp>
        <p:nvSpPr>
          <p:cNvPr id="22" name="Shape 20"/>
          <p:cNvSpPr/>
          <p:nvPr/>
        </p:nvSpPr>
        <p:spPr>
          <a:xfrm>
            <a:off x="2898648" y="1280160"/>
            <a:ext cx="73152" cy="2103120"/>
          </a:xfrm>
          <a:prstGeom prst="roundRect">
            <a:avLst>
              <a:gd name="adj" fmla="val 50000"/>
            </a:avLst>
          </a:prstGeom>
          <a:solidFill>
            <a:srgbClr val="38BDF8"/>
          </a:solidFill>
          <a:ln w="12700">
            <a:solidFill>
              <a:srgbClr val="38BDF8"/>
            </a:solidFill>
            <a:prstDash val="solid"/>
          </a:ln>
        </p:spPr>
      </p:sp>
      <p:sp>
        <p:nvSpPr>
          <p:cNvPr id="23" name="Text 21"/>
          <p:cNvSpPr/>
          <p:nvPr/>
        </p:nvSpPr>
        <p:spPr>
          <a:xfrm>
            <a:off x="3035808" y="1371600"/>
            <a:ext cx="731520" cy="32004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02</a:t>
            </a:r>
            <a:endParaRPr lang="en-US" sz="1600" dirty="0"/>
          </a:p>
        </p:txBody>
      </p:sp>
      <p:sp>
        <p:nvSpPr>
          <p:cNvPr id="24" name="Text 22"/>
          <p:cNvSpPr/>
          <p:nvPr/>
        </p:nvSpPr>
        <p:spPr>
          <a:xfrm>
            <a:off x="3721608"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STP &amp; BRIDA</a:t>
            </a:r>
            <a:endParaRPr lang="en-US" sz="800" dirty="0"/>
          </a:p>
        </p:txBody>
      </p:sp>
      <p:sp>
        <p:nvSpPr>
          <p:cNvPr id="25" name="Text 23"/>
          <p:cNvSpPr/>
          <p:nvPr/>
        </p:nvSpPr>
        <p:spPr>
          <a:xfrm>
            <a:off x="3035808"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SELEKSI &amp; KURASI</a:t>
            </a:r>
            <a:endParaRPr lang="en-US" sz="1000" dirty="0"/>
          </a:p>
        </p:txBody>
      </p:sp>
      <p:sp>
        <p:nvSpPr>
          <p:cNvPr id="26" name="Text 24"/>
          <p:cNvSpPr/>
          <p:nvPr/>
        </p:nvSpPr>
        <p:spPr>
          <a:xfrm>
            <a:off x="3035808"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Kurasi komersial &amp; relevansi kebutuhan industri serta solusi tantangan kota Solo.</a:t>
            </a:r>
            <a:endParaRPr lang="en-US" sz="850" dirty="0"/>
          </a:p>
        </p:txBody>
      </p:sp>
      <p:sp>
        <p:nvSpPr>
          <p:cNvPr id="27" name="Shape 25"/>
          <p:cNvSpPr/>
          <p:nvPr/>
        </p:nvSpPr>
        <p:spPr>
          <a:xfrm>
            <a:off x="4928616" y="2286000"/>
            <a:ext cx="109728" cy="73152"/>
          </a:xfrm>
          <a:prstGeom prst="rect">
            <a:avLst/>
          </a:prstGeom>
          <a:solidFill>
            <a:srgbClr val="38BDF8"/>
          </a:solidFill>
          <a:ln/>
        </p:spPr>
      </p:sp>
      <p:sp>
        <p:nvSpPr>
          <p:cNvPr id="28" name="Shape 26"/>
          <p:cNvSpPr/>
          <p:nvPr/>
        </p:nvSpPr>
        <p:spPr>
          <a:xfrm>
            <a:off x="5020056" y="2194560"/>
            <a:ext cx="64008" cy="256032"/>
          </a:xfrm>
          <a:prstGeom prst="rect">
            <a:avLst/>
          </a:prstGeom>
          <a:solidFill>
            <a:srgbClr val="38BDF8"/>
          </a:solidFill>
          <a:ln/>
        </p:spPr>
      </p:sp>
      <p:sp>
        <p:nvSpPr>
          <p:cNvPr id="29" name="Shape 27"/>
          <p:cNvSpPr/>
          <p:nvPr/>
        </p:nvSpPr>
        <p:spPr>
          <a:xfrm>
            <a:off x="3648456" y="1188720"/>
            <a:ext cx="402336" cy="402336"/>
          </a:xfrm>
          <a:prstGeom prst="ellipse">
            <a:avLst/>
          </a:prstGeom>
          <a:solidFill>
            <a:srgbClr val="38BDF8"/>
          </a:solidFill>
          <a:ln w="12700">
            <a:solidFill>
              <a:srgbClr val="38BDF8"/>
            </a:solidFill>
            <a:prstDash val="solid"/>
          </a:ln>
        </p:spPr>
      </p:sp>
      <p:sp>
        <p:nvSpPr>
          <p:cNvPr id="30" name="Text 28"/>
          <p:cNvSpPr/>
          <p:nvPr/>
        </p:nvSpPr>
        <p:spPr>
          <a:xfrm>
            <a:off x="3648456" y="1188720"/>
            <a:ext cx="402336" cy="402336"/>
          </a:xfrm>
          <a:prstGeom prst="rect">
            <a:avLst/>
          </a:prstGeom>
          <a:noFill/>
          <a:ln/>
        </p:spPr>
        <p:txBody>
          <a:bodyPr wrap="square" rtlCol="0" anchor="ctr"/>
          <a:lstStyle/>
          <a:p>
            <a:pPr algn="ctr" indent="0" marL="0">
              <a:buNone/>
            </a:pPr>
            <a:r>
              <a:rPr lang="en-US" sz="1000" b="1" dirty="0">
                <a:solidFill>
                  <a:srgbClr val="070D18"/>
                </a:solidFill>
                <a:latin typeface="Arial" pitchFamily="34" charset="0"/>
                <a:ea typeface="Arial" pitchFamily="34" charset="-122"/>
                <a:cs typeface="Arial" pitchFamily="34" charset="-120"/>
              </a:rPr>
              <a:t>02</a:t>
            </a:r>
            <a:endParaRPr lang="en-US" sz="1000" dirty="0"/>
          </a:p>
        </p:txBody>
      </p:sp>
      <p:sp>
        <p:nvSpPr>
          <p:cNvPr id="31" name="Shape 29"/>
          <p:cNvSpPr/>
          <p:nvPr/>
        </p:nvSpPr>
        <p:spPr>
          <a:xfrm>
            <a:off x="5065776" y="1280160"/>
            <a:ext cx="2057400" cy="2103120"/>
          </a:xfrm>
          <a:prstGeom prst="roundRect">
            <a:avLst>
              <a:gd name="adj" fmla="val 3556"/>
            </a:avLst>
          </a:prstGeom>
          <a:solidFill>
            <a:srgbClr val="0A192F"/>
          </a:solidFill>
          <a:ln w="12700">
            <a:solidFill>
              <a:srgbClr val="1E3A5F"/>
            </a:solidFill>
            <a:prstDash val="solid"/>
          </a:ln>
        </p:spPr>
      </p:sp>
      <p:sp>
        <p:nvSpPr>
          <p:cNvPr id="32" name="Shape 30"/>
          <p:cNvSpPr/>
          <p:nvPr/>
        </p:nvSpPr>
        <p:spPr>
          <a:xfrm>
            <a:off x="5065776" y="1280160"/>
            <a:ext cx="73152" cy="2103120"/>
          </a:xfrm>
          <a:prstGeom prst="roundRect">
            <a:avLst>
              <a:gd name="adj" fmla="val 50000"/>
            </a:avLst>
          </a:prstGeom>
          <a:solidFill>
            <a:srgbClr val="F59E0B"/>
          </a:solidFill>
          <a:ln w="12700">
            <a:solidFill>
              <a:srgbClr val="F59E0B"/>
            </a:solidFill>
            <a:prstDash val="solid"/>
          </a:ln>
        </p:spPr>
      </p:sp>
      <p:sp>
        <p:nvSpPr>
          <p:cNvPr id="33" name="Text 31"/>
          <p:cNvSpPr/>
          <p:nvPr/>
        </p:nvSpPr>
        <p:spPr>
          <a:xfrm>
            <a:off x="5202936" y="1371600"/>
            <a:ext cx="73152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03</a:t>
            </a:r>
            <a:endParaRPr lang="en-US" sz="1600" dirty="0"/>
          </a:p>
        </p:txBody>
      </p:sp>
      <p:sp>
        <p:nvSpPr>
          <p:cNvPr id="34" name="Text 32"/>
          <p:cNvSpPr/>
          <p:nvPr/>
        </p:nvSpPr>
        <p:spPr>
          <a:xfrm>
            <a:off x="5888736"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Lab Presisi STP</a:t>
            </a:r>
            <a:endParaRPr lang="en-US" sz="800" dirty="0"/>
          </a:p>
        </p:txBody>
      </p:sp>
      <p:sp>
        <p:nvSpPr>
          <p:cNvPr id="35" name="Text 33"/>
          <p:cNvSpPr/>
          <p:nvPr/>
        </p:nvSpPr>
        <p:spPr>
          <a:xfrm>
            <a:off x="5202936"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PROTOTYPING</a:t>
            </a:r>
            <a:endParaRPr lang="en-US" sz="1000" dirty="0"/>
          </a:p>
        </p:txBody>
      </p:sp>
      <p:sp>
        <p:nvSpPr>
          <p:cNvPr id="36" name="Text 34"/>
          <p:cNvSpPr/>
          <p:nvPr/>
        </p:nvSpPr>
        <p:spPr>
          <a:xfrm>
            <a:off x="5202936"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Uji teknis, penetrant testing, validasi mutu produk, dan standarisasi SNI/TKDN.</a:t>
            </a:r>
            <a:endParaRPr lang="en-US" sz="850" dirty="0"/>
          </a:p>
        </p:txBody>
      </p:sp>
      <p:sp>
        <p:nvSpPr>
          <p:cNvPr id="37" name="Shape 35"/>
          <p:cNvSpPr/>
          <p:nvPr/>
        </p:nvSpPr>
        <p:spPr>
          <a:xfrm>
            <a:off x="7095744" y="2286000"/>
            <a:ext cx="109728" cy="73152"/>
          </a:xfrm>
          <a:prstGeom prst="rect">
            <a:avLst/>
          </a:prstGeom>
          <a:solidFill>
            <a:srgbClr val="F59E0B"/>
          </a:solidFill>
          <a:ln/>
        </p:spPr>
      </p:sp>
      <p:sp>
        <p:nvSpPr>
          <p:cNvPr id="38" name="Shape 36"/>
          <p:cNvSpPr/>
          <p:nvPr/>
        </p:nvSpPr>
        <p:spPr>
          <a:xfrm>
            <a:off x="7187184" y="2194560"/>
            <a:ext cx="64008" cy="256032"/>
          </a:xfrm>
          <a:prstGeom prst="rect">
            <a:avLst/>
          </a:prstGeom>
          <a:solidFill>
            <a:srgbClr val="F59E0B"/>
          </a:solidFill>
          <a:ln/>
        </p:spPr>
      </p:sp>
      <p:sp>
        <p:nvSpPr>
          <p:cNvPr id="39" name="Shape 37"/>
          <p:cNvSpPr/>
          <p:nvPr/>
        </p:nvSpPr>
        <p:spPr>
          <a:xfrm>
            <a:off x="5815584" y="1188720"/>
            <a:ext cx="402336" cy="402336"/>
          </a:xfrm>
          <a:prstGeom prst="ellipse">
            <a:avLst/>
          </a:prstGeom>
          <a:solidFill>
            <a:srgbClr val="F59E0B"/>
          </a:solidFill>
          <a:ln w="12700">
            <a:solidFill>
              <a:srgbClr val="F59E0B"/>
            </a:solidFill>
            <a:prstDash val="solid"/>
          </a:ln>
        </p:spPr>
      </p:sp>
      <p:sp>
        <p:nvSpPr>
          <p:cNvPr id="40" name="Text 38"/>
          <p:cNvSpPr/>
          <p:nvPr/>
        </p:nvSpPr>
        <p:spPr>
          <a:xfrm>
            <a:off x="5815584" y="1188720"/>
            <a:ext cx="402336" cy="402336"/>
          </a:xfrm>
          <a:prstGeom prst="rect">
            <a:avLst/>
          </a:prstGeom>
          <a:noFill/>
          <a:ln/>
        </p:spPr>
        <p:txBody>
          <a:bodyPr wrap="square" rtlCol="0" anchor="ctr"/>
          <a:lstStyle/>
          <a:p>
            <a:pPr algn="ctr" indent="0" marL="0">
              <a:buNone/>
            </a:pPr>
            <a:r>
              <a:rPr lang="en-US" sz="1000" b="1" dirty="0">
                <a:solidFill>
                  <a:srgbClr val="070D18"/>
                </a:solidFill>
                <a:latin typeface="Arial" pitchFamily="34" charset="0"/>
                <a:ea typeface="Arial" pitchFamily="34" charset="-122"/>
                <a:cs typeface="Arial" pitchFamily="34" charset="-120"/>
              </a:rPr>
              <a:t>03</a:t>
            </a:r>
            <a:endParaRPr lang="en-US" sz="1000" dirty="0"/>
          </a:p>
        </p:txBody>
      </p:sp>
      <p:sp>
        <p:nvSpPr>
          <p:cNvPr id="41" name="Shape 39"/>
          <p:cNvSpPr/>
          <p:nvPr/>
        </p:nvSpPr>
        <p:spPr>
          <a:xfrm>
            <a:off x="7232904" y="1280160"/>
            <a:ext cx="2057400" cy="2103120"/>
          </a:xfrm>
          <a:prstGeom prst="roundRect">
            <a:avLst>
              <a:gd name="adj" fmla="val 3556"/>
            </a:avLst>
          </a:prstGeom>
          <a:solidFill>
            <a:srgbClr val="0A192F"/>
          </a:solidFill>
          <a:ln w="12700">
            <a:solidFill>
              <a:srgbClr val="1E3A5F"/>
            </a:solidFill>
            <a:prstDash val="solid"/>
          </a:ln>
        </p:spPr>
      </p:sp>
      <p:sp>
        <p:nvSpPr>
          <p:cNvPr id="42" name="Shape 40"/>
          <p:cNvSpPr/>
          <p:nvPr/>
        </p:nvSpPr>
        <p:spPr>
          <a:xfrm>
            <a:off x="7232904" y="1280160"/>
            <a:ext cx="73152" cy="2103120"/>
          </a:xfrm>
          <a:prstGeom prst="roundRect">
            <a:avLst>
              <a:gd name="adj" fmla="val 50000"/>
            </a:avLst>
          </a:prstGeom>
          <a:solidFill>
            <a:srgbClr val="10B981"/>
          </a:solidFill>
          <a:ln w="12700">
            <a:solidFill>
              <a:srgbClr val="10B981"/>
            </a:solidFill>
            <a:prstDash val="solid"/>
          </a:ln>
        </p:spPr>
      </p:sp>
      <p:sp>
        <p:nvSpPr>
          <p:cNvPr id="43" name="Text 41"/>
          <p:cNvSpPr/>
          <p:nvPr/>
        </p:nvSpPr>
        <p:spPr>
          <a:xfrm>
            <a:off x="7370064" y="1371600"/>
            <a:ext cx="731520" cy="32004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04</a:t>
            </a:r>
            <a:endParaRPr lang="en-US" sz="1600" dirty="0"/>
          </a:p>
        </p:txBody>
      </p:sp>
      <p:sp>
        <p:nvSpPr>
          <p:cNvPr id="44" name="Text 42"/>
          <p:cNvSpPr/>
          <p:nvPr/>
        </p:nvSpPr>
        <p:spPr>
          <a:xfrm>
            <a:off x="8055864"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Inkubator STP</a:t>
            </a:r>
            <a:endParaRPr lang="en-US" sz="800" dirty="0"/>
          </a:p>
        </p:txBody>
      </p:sp>
      <p:sp>
        <p:nvSpPr>
          <p:cNvPr id="45" name="Text 43"/>
          <p:cNvSpPr/>
          <p:nvPr/>
        </p:nvSpPr>
        <p:spPr>
          <a:xfrm>
            <a:off x="7370064"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INKUBASI BISNIS</a:t>
            </a:r>
            <a:endParaRPr lang="en-US" sz="1000" dirty="0"/>
          </a:p>
        </p:txBody>
      </p:sp>
      <p:sp>
        <p:nvSpPr>
          <p:cNvPr id="46" name="Text 44"/>
          <p:cNvSpPr/>
          <p:nvPr/>
        </p:nvSpPr>
        <p:spPr>
          <a:xfrm>
            <a:off x="7370064"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Penyusunan business plan, proteksi HKI/Paten, akses permodalan &amp; jejaring offtaker.</a:t>
            </a:r>
            <a:endParaRPr lang="en-US" sz="850" dirty="0"/>
          </a:p>
        </p:txBody>
      </p:sp>
      <p:sp>
        <p:nvSpPr>
          <p:cNvPr id="47" name="Shape 45"/>
          <p:cNvSpPr/>
          <p:nvPr/>
        </p:nvSpPr>
        <p:spPr>
          <a:xfrm>
            <a:off x="9262872" y="2286000"/>
            <a:ext cx="109728" cy="73152"/>
          </a:xfrm>
          <a:prstGeom prst="rect">
            <a:avLst/>
          </a:prstGeom>
          <a:solidFill>
            <a:srgbClr val="10B981"/>
          </a:solidFill>
          <a:ln/>
        </p:spPr>
      </p:sp>
      <p:sp>
        <p:nvSpPr>
          <p:cNvPr id="48" name="Shape 46"/>
          <p:cNvSpPr/>
          <p:nvPr/>
        </p:nvSpPr>
        <p:spPr>
          <a:xfrm>
            <a:off x="9354312" y="2194560"/>
            <a:ext cx="64008" cy="256032"/>
          </a:xfrm>
          <a:prstGeom prst="rect">
            <a:avLst/>
          </a:prstGeom>
          <a:solidFill>
            <a:srgbClr val="10B981"/>
          </a:solidFill>
          <a:ln/>
        </p:spPr>
      </p:sp>
      <p:sp>
        <p:nvSpPr>
          <p:cNvPr id="49" name="Shape 47"/>
          <p:cNvSpPr/>
          <p:nvPr/>
        </p:nvSpPr>
        <p:spPr>
          <a:xfrm>
            <a:off x="7982712" y="1188720"/>
            <a:ext cx="402336" cy="402336"/>
          </a:xfrm>
          <a:prstGeom prst="ellipse">
            <a:avLst/>
          </a:prstGeom>
          <a:solidFill>
            <a:srgbClr val="10B981"/>
          </a:solidFill>
          <a:ln w="12700">
            <a:solidFill>
              <a:srgbClr val="10B981"/>
            </a:solidFill>
            <a:prstDash val="solid"/>
          </a:ln>
        </p:spPr>
      </p:sp>
      <p:sp>
        <p:nvSpPr>
          <p:cNvPr id="50" name="Text 48"/>
          <p:cNvSpPr/>
          <p:nvPr/>
        </p:nvSpPr>
        <p:spPr>
          <a:xfrm>
            <a:off x="7982712" y="1188720"/>
            <a:ext cx="402336" cy="402336"/>
          </a:xfrm>
          <a:prstGeom prst="rect">
            <a:avLst/>
          </a:prstGeom>
          <a:noFill/>
          <a:ln/>
        </p:spPr>
        <p:txBody>
          <a:bodyPr wrap="square" rtlCol="0" anchor="ctr"/>
          <a:lstStyle/>
          <a:p>
            <a:pPr algn="ctr" indent="0" marL="0">
              <a:buNone/>
            </a:pPr>
            <a:r>
              <a:rPr lang="en-US" sz="1000" b="1" dirty="0">
                <a:solidFill>
                  <a:srgbClr val="070D18"/>
                </a:solidFill>
                <a:latin typeface="Arial" pitchFamily="34" charset="0"/>
                <a:ea typeface="Arial" pitchFamily="34" charset="-122"/>
                <a:cs typeface="Arial" pitchFamily="34" charset="-120"/>
              </a:rPr>
              <a:t>04</a:t>
            </a:r>
            <a:endParaRPr lang="en-US" sz="1000" dirty="0"/>
          </a:p>
        </p:txBody>
      </p:sp>
      <p:sp>
        <p:nvSpPr>
          <p:cNvPr id="51" name="Shape 49"/>
          <p:cNvSpPr/>
          <p:nvPr/>
        </p:nvSpPr>
        <p:spPr>
          <a:xfrm>
            <a:off x="9400032" y="1280160"/>
            <a:ext cx="2057400" cy="2103120"/>
          </a:xfrm>
          <a:prstGeom prst="roundRect">
            <a:avLst>
              <a:gd name="adj" fmla="val 3556"/>
            </a:avLst>
          </a:prstGeom>
          <a:solidFill>
            <a:srgbClr val="0A192F"/>
          </a:solidFill>
          <a:ln w="12700">
            <a:solidFill>
              <a:srgbClr val="1E3A5F"/>
            </a:solidFill>
            <a:prstDash val="solid"/>
          </a:ln>
        </p:spPr>
      </p:sp>
      <p:sp>
        <p:nvSpPr>
          <p:cNvPr id="52" name="Shape 50"/>
          <p:cNvSpPr/>
          <p:nvPr/>
        </p:nvSpPr>
        <p:spPr>
          <a:xfrm>
            <a:off x="9400032" y="1280160"/>
            <a:ext cx="73152" cy="2103120"/>
          </a:xfrm>
          <a:prstGeom prst="roundRect">
            <a:avLst>
              <a:gd name="adj" fmla="val 50000"/>
            </a:avLst>
          </a:prstGeom>
          <a:solidFill>
            <a:srgbClr val="F59E0B"/>
          </a:solidFill>
          <a:ln w="12700">
            <a:solidFill>
              <a:srgbClr val="F59E0B"/>
            </a:solidFill>
            <a:prstDash val="solid"/>
          </a:ln>
        </p:spPr>
      </p:sp>
      <p:sp>
        <p:nvSpPr>
          <p:cNvPr id="53" name="Text 51"/>
          <p:cNvSpPr/>
          <p:nvPr/>
        </p:nvSpPr>
        <p:spPr>
          <a:xfrm>
            <a:off x="9537192" y="1371600"/>
            <a:ext cx="731520" cy="3200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05</a:t>
            </a:r>
            <a:endParaRPr lang="en-US" sz="1600" dirty="0"/>
          </a:p>
        </p:txBody>
      </p:sp>
      <p:sp>
        <p:nvSpPr>
          <p:cNvPr id="54" name="Text 52"/>
          <p:cNvSpPr/>
          <p:nvPr/>
        </p:nvSpPr>
        <p:spPr>
          <a:xfrm>
            <a:off x="10222992" y="1417320"/>
            <a:ext cx="1143000" cy="228600"/>
          </a:xfrm>
          <a:prstGeom prst="rect">
            <a:avLst/>
          </a:prstGeom>
          <a:noFill/>
          <a:ln/>
        </p:spPr>
        <p:txBody>
          <a:bodyPr wrap="square"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Pasar &amp; Industri</a:t>
            </a:r>
            <a:endParaRPr lang="en-US" sz="800" dirty="0"/>
          </a:p>
        </p:txBody>
      </p:sp>
      <p:sp>
        <p:nvSpPr>
          <p:cNvPr id="55" name="Text 53"/>
          <p:cNvSpPr/>
          <p:nvPr/>
        </p:nvSpPr>
        <p:spPr>
          <a:xfrm>
            <a:off x="9537192" y="1737360"/>
            <a:ext cx="182880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KOMERSIALISASI</a:t>
            </a:r>
            <a:endParaRPr lang="en-US" sz="1000" dirty="0"/>
          </a:p>
        </p:txBody>
      </p:sp>
      <p:sp>
        <p:nvSpPr>
          <p:cNvPr id="56" name="Text 54"/>
          <p:cNvSpPr/>
          <p:nvPr/>
        </p:nvSpPr>
        <p:spPr>
          <a:xfrm>
            <a:off x="9537192" y="2194560"/>
            <a:ext cx="1828800" cy="105156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Penetrasi e-Katalog Lokal OPD, captive market pemda, industri nasional &amp; ekspor.</a:t>
            </a:r>
            <a:endParaRPr lang="en-US" sz="850" dirty="0"/>
          </a:p>
        </p:txBody>
      </p:sp>
      <p:sp>
        <p:nvSpPr>
          <p:cNvPr id="57" name="Shape 55"/>
          <p:cNvSpPr/>
          <p:nvPr/>
        </p:nvSpPr>
        <p:spPr>
          <a:xfrm>
            <a:off x="10149840" y="1188720"/>
            <a:ext cx="402336" cy="402336"/>
          </a:xfrm>
          <a:prstGeom prst="ellipse">
            <a:avLst/>
          </a:prstGeom>
          <a:solidFill>
            <a:srgbClr val="F59E0B"/>
          </a:solidFill>
          <a:ln w="12700">
            <a:solidFill>
              <a:srgbClr val="F59E0B"/>
            </a:solidFill>
            <a:prstDash val="solid"/>
          </a:ln>
        </p:spPr>
      </p:sp>
      <p:sp>
        <p:nvSpPr>
          <p:cNvPr id="58" name="Text 56"/>
          <p:cNvSpPr/>
          <p:nvPr/>
        </p:nvSpPr>
        <p:spPr>
          <a:xfrm>
            <a:off x="10149840" y="1188720"/>
            <a:ext cx="402336" cy="402336"/>
          </a:xfrm>
          <a:prstGeom prst="rect">
            <a:avLst/>
          </a:prstGeom>
          <a:noFill/>
          <a:ln/>
        </p:spPr>
        <p:txBody>
          <a:bodyPr wrap="square" rtlCol="0" anchor="ctr"/>
          <a:lstStyle/>
          <a:p>
            <a:pPr algn="ctr" indent="0" marL="0">
              <a:buNone/>
            </a:pPr>
            <a:r>
              <a:rPr lang="en-US" sz="1000" b="1" dirty="0">
                <a:solidFill>
                  <a:srgbClr val="070D18"/>
                </a:solidFill>
                <a:latin typeface="Arial" pitchFamily="34" charset="0"/>
                <a:ea typeface="Arial" pitchFamily="34" charset="-122"/>
                <a:cs typeface="Arial" pitchFamily="34" charset="-120"/>
              </a:rPr>
              <a:t>05</a:t>
            </a:r>
            <a:endParaRPr lang="en-US" sz="1000" dirty="0"/>
          </a:p>
        </p:txBody>
      </p:sp>
      <p:sp>
        <p:nvSpPr>
          <p:cNvPr id="59" name="Shape 57"/>
          <p:cNvSpPr/>
          <p:nvPr/>
        </p:nvSpPr>
        <p:spPr>
          <a:xfrm>
            <a:off x="731520" y="3520440"/>
            <a:ext cx="6217920" cy="2651760"/>
          </a:xfrm>
          <a:prstGeom prst="roundRect">
            <a:avLst>
              <a:gd name="adj" fmla="val 2759"/>
            </a:avLst>
          </a:prstGeom>
          <a:solidFill>
            <a:srgbClr val="0A192F"/>
          </a:solidFill>
          <a:ln w="12700">
            <a:solidFill>
              <a:srgbClr val="1E3A5F"/>
            </a:solidFill>
            <a:prstDash val="solid"/>
          </a:ln>
        </p:spPr>
      </p:sp>
      <p:sp>
        <p:nvSpPr>
          <p:cNvPr id="60" name="Text 58"/>
          <p:cNvSpPr/>
          <p:nvPr/>
        </p:nvSpPr>
        <p:spPr>
          <a:xfrm>
            <a:off x="914400" y="3611880"/>
            <a:ext cx="5852160" cy="27432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CONTOH TEKNOLOGI YANG DIHILIRKAN &amp; DIINKUBASI DI STP (DATA RIIL)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3931920"/>
          <a:ext cx="5852160" cy="2103120"/>
        </p:xfrm>
        <a:graphic>
          <a:graphicData uri="http://schemas.openxmlformats.org/drawingml/2006/table">
            <a:tbl>
              <a:tblPr/>
              <a:tblGrid>
                <a:gridCol w="1645920"/>
                <a:gridCol w="2926080"/>
                <a:gridCol w="1280160"/>
              </a:tblGrid>
              <a:tr h="320040">
                <a:tc>
                  <a:txBody>
                    <a:bodyPr/>
                    <a:lstStyle/>
                    <a:p>
                      <a:pPr indent="0" marL="0">
                        <a:buNone/>
                      </a:pPr>
                      <a:r>
                        <a:rPr lang="en-US" sz="880" b="1" dirty="0">
                          <a:solidFill>
                            <a:srgbClr val="FFFFFF"/>
                          </a:solidFill>
                          <a:latin typeface="Arial" pitchFamily="34" charset="0"/>
                          <a:ea typeface="Arial" pitchFamily="34" charset="-122"/>
                          <a:cs typeface="Arial" pitchFamily="34" charset="-120"/>
                        </a:rPr>
                        <a:t>KLASTER TEKNOLOGI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CONTOH PRODUK INOVASI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STATUS TAHAPAN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Sortasi Biji Kopi Otomatis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Prototype Validasi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Teknologi Pertanian Presisi IoT &amp; AI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Uji Lapangan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Tetas Telur Pintar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Siap e-Katalog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Deep Tech Mobility</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Autonomous Vehicle Elektrik Kampus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F59E0B"/>
                          </a:solidFill>
                          <a:latin typeface="Arial" pitchFamily="34" charset="0"/>
                          <a:ea typeface="Arial" pitchFamily="34" charset="-122"/>
                          <a:cs typeface="Arial" pitchFamily="34" charset="-120"/>
                        </a:rPr>
                        <a:t>R&amp;D Bersama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47472">
                <a:tc>
                  <a:txBody>
                    <a:bodyPr/>
                    <a:lstStyle/>
                    <a:p>
                      <a:pPr indent="0" marL="0">
                        <a:buNone/>
                      </a:pPr>
                      <a:r>
                        <a:rPr lang="en-US" sz="880" dirty="0">
                          <a:solidFill>
                            <a:srgbClr val="94A3B8"/>
                          </a:solidFill>
                          <a:latin typeface="Arial" pitchFamily="34" charset="0"/>
                          <a:ea typeface="Arial" pitchFamily="34" charset="-122"/>
                          <a:cs typeface="Arial" pitchFamily="34" charset="-120"/>
                        </a:rPr>
                        <a:t>GovTech &amp; Pelatihan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VR Pelatihan Industri &amp; Chatbot AI OPD</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Komersial Aktif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62" name="Shape 59"/>
          <p:cNvSpPr/>
          <p:nvPr/>
        </p:nvSpPr>
        <p:spPr>
          <a:xfrm>
            <a:off x="7086600" y="3520440"/>
            <a:ext cx="4373575" cy="2651760"/>
          </a:xfrm>
          <a:prstGeom prst="roundRect">
            <a:avLst>
              <a:gd name="adj" fmla="val 2759"/>
            </a:avLst>
          </a:prstGeom>
          <a:solidFill>
            <a:srgbClr val="0A192F"/>
          </a:solidFill>
          <a:ln w="12700">
            <a:solidFill>
              <a:srgbClr val="0EA5E9"/>
            </a:solidFill>
            <a:prstDash val="solid"/>
          </a:ln>
        </p:spPr>
      </p:sp>
      <p:sp>
        <p:nvSpPr>
          <p:cNvPr id="63" name="Text 60"/>
          <p:cNvSpPr/>
          <p:nvPr/>
        </p:nvSpPr>
        <p:spPr>
          <a:xfrm>
            <a:off x="7269480" y="3611880"/>
            <a:ext cx="4007815"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EKOSISTEM FASILITAS PENDUKUNG AKTIF</a:t>
            </a:r>
            <a:endParaRPr lang="en-US" sz="950" dirty="0"/>
          </a:p>
        </p:txBody>
      </p:sp>
      <p:sp>
        <p:nvSpPr>
          <p:cNvPr id="64" name="Text 61"/>
          <p:cNvSpPr/>
          <p:nvPr/>
        </p:nvSpPr>
        <p:spPr>
          <a:xfrm>
            <a:off x="7269480" y="3950208"/>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National Cyber Security Hub</a:t>
            </a:r>
            <a:endParaRPr lang="en-US" sz="900" dirty="0"/>
          </a:p>
        </p:txBody>
      </p:sp>
      <p:sp>
        <p:nvSpPr>
          <p:cNvPr id="65" name="Text 62"/>
          <p:cNvSpPr/>
          <p:nvPr/>
        </p:nvSpPr>
        <p:spPr>
          <a:xfrm>
            <a:off x="7635240" y="4133088"/>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Pusat ketahanan digital &amp; talenta siber</a:t>
            </a:r>
            <a:endParaRPr lang="en-US" sz="800" dirty="0"/>
          </a:p>
        </p:txBody>
      </p:sp>
      <p:sp>
        <p:nvSpPr>
          <p:cNvPr id="66" name="Text 63"/>
          <p:cNvSpPr/>
          <p:nvPr/>
        </p:nvSpPr>
        <p:spPr>
          <a:xfrm>
            <a:off x="7269480" y="4370832"/>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Gaming Hub &amp; Digital Studio</a:t>
            </a:r>
            <a:endParaRPr lang="en-US" sz="900" dirty="0"/>
          </a:p>
        </p:txBody>
      </p:sp>
      <p:sp>
        <p:nvSpPr>
          <p:cNvPr id="67" name="Text 64"/>
          <p:cNvSpPr/>
          <p:nvPr/>
        </p:nvSpPr>
        <p:spPr>
          <a:xfrm>
            <a:off x="7635240" y="4553712"/>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Pengembangan game &amp; konten kreatif</a:t>
            </a:r>
            <a:endParaRPr lang="en-US" sz="800" dirty="0"/>
          </a:p>
        </p:txBody>
      </p:sp>
      <p:sp>
        <p:nvSpPr>
          <p:cNvPr id="68" name="Text 65"/>
          <p:cNvSpPr/>
          <p:nvPr/>
        </p:nvSpPr>
        <p:spPr>
          <a:xfrm>
            <a:off x="7269480" y="4791456"/>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AI Experience Center</a:t>
            </a:r>
            <a:endParaRPr lang="en-US" sz="900" dirty="0"/>
          </a:p>
        </p:txBody>
      </p:sp>
      <p:sp>
        <p:nvSpPr>
          <p:cNvPr id="69" name="Text 66"/>
          <p:cNvSpPr/>
          <p:nvPr/>
        </p:nvSpPr>
        <p:spPr>
          <a:xfrm>
            <a:off x="7635240" y="4974336"/>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Lab aplikasi kecerdasan buatan terapan</a:t>
            </a:r>
            <a:endParaRPr lang="en-US" sz="800" dirty="0"/>
          </a:p>
        </p:txBody>
      </p:sp>
      <p:sp>
        <p:nvSpPr>
          <p:cNvPr id="70" name="Text 67"/>
          <p:cNvSpPr/>
          <p:nvPr/>
        </p:nvSpPr>
        <p:spPr>
          <a:xfrm>
            <a:off x="7269480" y="5212080"/>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GoTo UMKM Center</a:t>
            </a:r>
            <a:endParaRPr lang="en-US" sz="900" dirty="0"/>
          </a:p>
        </p:txBody>
      </p:sp>
      <p:sp>
        <p:nvSpPr>
          <p:cNvPr id="71" name="Text 68"/>
          <p:cNvSpPr/>
          <p:nvPr/>
        </p:nvSpPr>
        <p:spPr>
          <a:xfrm>
            <a:off x="7635240" y="5394960"/>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Akselerasi digitalisasi pedagang lokal</a:t>
            </a:r>
            <a:endParaRPr lang="en-US" sz="800" dirty="0"/>
          </a:p>
        </p:txBody>
      </p:sp>
      <p:sp>
        <p:nvSpPr>
          <p:cNvPr id="72" name="Text 69"/>
          <p:cNvSpPr/>
          <p:nvPr/>
        </p:nvSpPr>
        <p:spPr>
          <a:xfrm>
            <a:off x="7269480" y="5632704"/>
            <a:ext cx="400781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Laboratorium Rekayasa Presisi</a:t>
            </a:r>
            <a:endParaRPr lang="en-US" sz="900" dirty="0"/>
          </a:p>
        </p:txBody>
      </p:sp>
      <p:sp>
        <p:nvSpPr>
          <p:cNvPr id="73" name="Text 70"/>
          <p:cNvSpPr/>
          <p:nvPr/>
        </p:nvSpPr>
        <p:spPr>
          <a:xfrm>
            <a:off x="7635240" y="5815584"/>
            <a:ext cx="3642055" cy="201168"/>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Fasilitas fabrikasi komponen &amp; NDT uji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JEJARING KEMITRAAN STRATEGIS</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EKOSISTEM HEXAHELIX: 95+ MITRA STRATEGIS TANPA BEBAN APBD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06 / 12</a:t>
            </a:r>
            <a:endParaRPr lang="en-US" sz="900" dirty="0"/>
          </a:p>
        </p:txBody>
      </p:sp>
      <p:sp>
        <p:nvSpPr>
          <p:cNvPr id="11" name="Shape 9"/>
          <p:cNvSpPr/>
          <p:nvPr/>
        </p:nvSpPr>
        <p:spPr>
          <a:xfrm>
            <a:off x="731520" y="1325880"/>
            <a:ext cx="3657600" cy="4892040"/>
          </a:xfrm>
          <a:prstGeom prst="roundRect">
            <a:avLst>
              <a:gd name="adj" fmla="val 2000"/>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60120" y="1463040"/>
            <a:ext cx="3200400" cy="32004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6 AKTOR KOLABORASI HEXAHELIX</a:t>
            </a:r>
            <a:endParaRPr lang="en-US" sz="1100" dirty="0"/>
          </a:p>
        </p:txBody>
      </p:sp>
      <p:sp>
        <p:nvSpPr>
          <p:cNvPr id="14" name="Shape 12"/>
          <p:cNvSpPr/>
          <p:nvPr/>
        </p:nvSpPr>
        <p:spPr>
          <a:xfrm>
            <a:off x="960120" y="1874520"/>
            <a:ext cx="3200400" cy="621792"/>
          </a:xfrm>
          <a:prstGeom prst="roundRect">
            <a:avLst>
              <a:gd name="adj" fmla="val 7353"/>
            </a:avLst>
          </a:prstGeom>
          <a:solidFill>
            <a:srgbClr val="0D213F"/>
          </a:solidFill>
          <a:ln w="12700">
            <a:solidFill>
              <a:srgbClr val="1E3A5F"/>
            </a:solidFill>
            <a:prstDash val="solid"/>
          </a:ln>
        </p:spPr>
      </p:sp>
      <p:sp>
        <p:nvSpPr>
          <p:cNvPr id="15" name="Text 13"/>
          <p:cNvSpPr/>
          <p:nvPr/>
        </p:nvSpPr>
        <p:spPr>
          <a:xfrm>
            <a:off x="1051560" y="1929384"/>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AKADEMISI</a:t>
            </a:r>
            <a:endParaRPr lang="en-US" sz="950" dirty="0"/>
          </a:p>
        </p:txBody>
      </p:sp>
      <p:sp>
        <p:nvSpPr>
          <p:cNvPr id="16" name="Text 14"/>
          <p:cNvSpPr/>
          <p:nvPr/>
        </p:nvSpPr>
        <p:spPr>
          <a:xfrm>
            <a:off x="1051560" y="2148840"/>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UNS, UMS, ISI, Poltek — Pemasok riset, invensi, dan peneliti</a:t>
            </a:r>
            <a:endParaRPr lang="en-US" sz="820" dirty="0"/>
          </a:p>
        </p:txBody>
      </p:sp>
      <p:sp>
        <p:nvSpPr>
          <p:cNvPr id="17" name="Shape 15"/>
          <p:cNvSpPr/>
          <p:nvPr/>
        </p:nvSpPr>
        <p:spPr>
          <a:xfrm>
            <a:off x="960120" y="2569464"/>
            <a:ext cx="3200400" cy="621792"/>
          </a:xfrm>
          <a:prstGeom prst="roundRect">
            <a:avLst>
              <a:gd name="adj" fmla="val 7353"/>
            </a:avLst>
          </a:prstGeom>
          <a:solidFill>
            <a:srgbClr val="0D213F"/>
          </a:solidFill>
          <a:ln w="12700">
            <a:solidFill>
              <a:srgbClr val="1E3A5F"/>
            </a:solidFill>
            <a:prstDash val="solid"/>
          </a:ln>
        </p:spPr>
      </p:sp>
      <p:sp>
        <p:nvSpPr>
          <p:cNvPr id="18" name="Text 16"/>
          <p:cNvSpPr/>
          <p:nvPr/>
        </p:nvSpPr>
        <p:spPr>
          <a:xfrm>
            <a:off x="1051560" y="2624328"/>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INDUSTRI &amp; BISNIS</a:t>
            </a:r>
            <a:endParaRPr lang="en-US" sz="950" dirty="0"/>
          </a:p>
        </p:txBody>
      </p:sp>
      <p:sp>
        <p:nvSpPr>
          <p:cNvPr id="19" name="Text 17"/>
          <p:cNvSpPr/>
          <p:nvPr/>
        </p:nvSpPr>
        <p:spPr>
          <a:xfrm>
            <a:off x="1051560" y="2843784"/>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95+ Korporasi — Offtaker, penyedia modal kerja, &amp; transfer teknologi</a:t>
            </a:r>
            <a:endParaRPr lang="en-US" sz="820" dirty="0"/>
          </a:p>
        </p:txBody>
      </p:sp>
      <p:sp>
        <p:nvSpPr>
          <p:cNvPr id="20" name="Shape 18"/>
          <p:cNvSpPr/>
          <p:nvPr/>
        </p:nvSpPr>
        <p:spPr>
          <a:xfrm>
            <a:off x="960120" y="3264408"/>
            <a:ext cx="3200400" cy="621792"/>
          </a:xfrm>
          <a:prstGeom prst="roundRect">
            <a:avLst>
              <a:gd name="adj" fmla="val 7353"/>
            </a:avLst>
          </a:prstGeom>
          <a:solidFill>
            <a:srgbClr val="0D213F"/>
          </a:solidFill>
          <a:ln w="12700">
            <a:solidFill>
              <a:srgbClr val="1E3A5F"/>
            </a:solidFill>
            <a:prstDash val="solid"/>
          </a:ln>
        </p:spPr>
      </p:sp>
      <p:sp>
        <p:nvSpPr>
          <p:cNvPr id="21" name="Text 19"/>
          <p:cNvSpPr/>
          <p:nvPr/>
        </p:nvSpPr>
        <p:spPr>
          <a:xfrm>
            <a:off x="1051560" y="3319272"/>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PEMERINTAH</a:t>
            </a:r>
            <a:endParaRPr lang="en-US" sz="950" dirty="0"/>
          </a:p>
        </p:txBody>
      </p:sp>
      <p:sp>
        <p:nvSpPr>
          <p:cNvPr id="22" name="Text 20"/>
          <p:cNvSpPr/>
          <p:nvPr/>
        </p:nvSpPr>
        <p:spPr>
          <a:xfrm>
            <a:off x="1051560" y="3538728"/>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Pemkot Solo &amp; BRIDA — Regulator, fasilitator kebijakan &amp; pembeli awal</a:t>
            </a:r>
            <a:endParaRPr lang="en-US" sz="820" dirty="0"/>
          </a:p>
        </p:txBody>
      </p:sp>
      <p:sp>
        <p:nvSpPr>
          <p:cNvPr id="23" name="Shape 21"/>
          <p:cNvSpPr/>
          <p:nvPr/>
        </p:nvSpPr>
        <p:spPr>
          <a:xfrm>
            <a:off x="960120" y="3959352"/>
            <a:ext cx="3200400" cy="621792"/>
          </a:xfrm>
          <a:prstGeom prst="roundRect">
            <a:avLst>
              <a:gd name="adj" fmla="val 7353"/>
            </a:avLst>
          </a:prstGeom>
          <a:solidFill>
            <a:srgbClr val="0D213F"/>
          </a:solidFill>
          <a:ln w="12700">
            <a:solidFill>
              <a:srgbClr val="1E3A5F"/>
            </a:solidFill>
            <a:prstDash val="solid"/>
          </a:ln>
        </p:spPr>
      </p:sp>
      <p:sp>
        <p:nvSpPr>
          <p:cNvPr id="24" name="Text 22"/>
          <p:cNvSpPr/>
          <p:nvPr/>
        </p:nvSpPr>
        <p:spPr>
          <a:xfrm>
            <a:off x="1051560" y="4014216"/>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KOMUNITAS</a:t>
            </a:r>
            <a:endParaRPr lang="en-US" sz="950" dirty="0"/>
          </a:p>
        </p:txBody>
      </p:sp>
      <p:sp>
        <p:nvSpPr>
          <p:cNvPr id="25" name="Text 23"/>
          <p:cNvSpPr/>
          <p:nvPr/>
        </p:nvSpPr>
        <p:spPr>
          <a:xfrm>
            <a:off x="1051560" y="4233672"/>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Asosiasi UMKM, SMK, Komunitas Kreatif &amp; Startup lokal</a:t>
            </a:r>
            <a:endParaRPr lang="en-US" sz="820" dirty="0"/>
          </a:p>
        </p:txBody>
      </p:sp>
      <p:sp>
        <p:nvSpPr>
          <p:cNvPr id="26" name="Shape 24"/>
          <p:cNvSpPr/>
          <p:nvPr/>
        </p:nvSpPr>
        <p:spPr>
          <a:xfrm>
            <a:off x="960120" y="4654296"/>
            <a:ext cx="3200400" cy="621792"/>
          </a:xfrm>
          <a:prstGeom prst="roundRect">
            <a:avLst>
              <a:gd name="adj" fmla="val 7353"/>
            </a:avLst>
          </a:prstGeom>
          <a:solidFill>
            <a:srgbClr val="0D213F"/>
          </a:solidFill>
          <a:ln w="12700">
            <a:solidFill>
              <a:srgbClr val="1E3A5F"/>
            </a:solidFill>
            <a:prstDash val="solid"/>
          </a:ln>
        </p:spPr>
      </p:sp>
      <p:sp>
        <p:nvSpPr>
          <p:cNvPr id="27" name="Text 25"/>
          <p:cNvSpPr/>
          <p:nvPr/>
        </p:nvSpPr>
        <p:spPr>
          <a:xfrm>
            <a:off x="1051560" y="4709160"/>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MEDIA MASSA</a:t>
            </a:r>
            <a:endParaRPr lang="en-US" sz="950" dirty="0"/>
          </a:p>
        </p:txBody>
      </p:sp>
      <p:sp>
        <p:nvSpPr>
          <p:cNvPr id="28" name="Text 26"/>
          <p:cNvSpPr/>
          <p:nvPr/>
        </p:nvSpPr>
        <p:spPr>
          <a:xfrm>
            <a:off x="1051560" y="4928616"/>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Publikasi nasional &amp; penguatan reputasi branding kota Solo</a:t>
            </a:r>
            <a:endParaRPr lang="en-US" sz="820" dirty="0"/>
          </a:p>
        </p:txBody>
      </p:sp>
      <p:sp>
        <p:nvSpPr>
          <p:cNvPr id="29" name="Shape 27"/>
          <p:cNvSpPr/>
          <p:nvPr/>
        </p:nvSpPr>
        <p:spPr>
          <a:xfrm>
            <a:off x="960120" y="5349240"/>
            <a:ext cx="3200400" cy="621792"/>
          </a:xfrm>
          <a:prstGeom prst="roundRect">
            <a:avLst>
              <a:gd name="adj" fmla="val 7353"/>
            </a:avLst>
          </a:prstGeom>
          <a:solidFill>
            <a:srgbClr val="0D213F"/>
          </a:solidFill>
          <a:ln w="12700">
            <a:solidFill>
              <a:srgbClr val="1E3A5F"/>
            </a:solidFill>
            <a:prstDash val="solid"/>
          </a:ln>
        </p:spPr>
      </p:sp>
      <p:sp>
        <p:nvSpPr>
          <p:cNvPr id="30" name="Text 28"/>
          <p:cNvSpPr/>
          <p:nvPr/>
        </p:nvSpPr>
        <p:spPr>
          <a:xfrm>
            <a:off x="1051560" y="5404104"/>
            <a:ext cx="3017520" cy="22860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INTERNASIONAL</a:t>
            </a:r>
            <a:endParaRPr lang="en-US" sz="950" dirty="0"/>
          </a:p>
        </p:txBody>
      </p:sp>
      <p:sp>
        <p:nvSpPr>
          <p:cNvPr id="31" name="Text 29"/>
          <p:cNvSpPr/>
          <p:nvPr/>
        </p:nvSpPr>
        <p:spPr>
          <a:xfrm>
            <a:off x="1051560" y="5623560"/>
            <a:ext cx="3017520" cy="310896"/>
          </a:xfrm>
          <a:prstGeom prst="rect">
            <a:avLst/>
          </a:prstGeom>
          <a:noFill/>
          <a:ln/>
        </p:spPr>
        <p:txBody>
          <a:bodyPr wrap="square" rtlCol="0" anchor="ctr"/>
          <a:lstStyle/>
          <a:p>
            <a:pPr indent="0" marL="0">
              <a:lnSpc>
                <a:spcPts val="1000"/>
              </a:lnSpc>
              <a:buNone/>
            </a:pPr>
            <a:r>
              <a:rPr lang="en-US" sz="820" dirty="0">
                <a:solidFill>
                  <a:srgbClr val="94A3B8"/>
                </a:solidFill>
                <a:latin typeface="Arial" pitchFamily="34" charset="0"/>
                <a:ea typeface="Arial" pitchFamily="34" charset="-122"/>
                <a:cs typeface="Arial" pitchFamily="34" charset="-120"/>
              </a:rPr>
              <a:t>BP3MI, OGSCI, Mitra Global — Akses sertifikasi &amp; pasar dunia</a:t>
            </a:r>
            <a:endParaRPr lang="en-US" sz="820" dirty="0"/>
          </a:p>
        </p:txBody>
      </p:sp>
      <p:sp>
        <p:nvSpPr>
          <p:cNvPr id="32" name="Shape 30"/>
          <p:cNvSpPr/>
          <p:nvPr/>
        </p:nvSpPr>
        <p:spPr>
          <a:xfrm>
            <a:off x="4572000" y="1325880"/>
            <a:ext cx="6888175" cy="3474720"/>
          </a:xfrm>
          <a:prstGeom prst="roundRect">
            <a:avLst>
              <a:gd name="adj" fmla="val 2105"/>
            </a:avLst>
          </a:prstGeom>
          <a:solidFill>
            <a:srgbClr val="0A192F"/>
          </a:solidFill>
          <a:ln w="12700">
            <a:solidFill>
              <a:srgbClr val="1E3A5F"/>
            </a:solidFill>
            <a:prstDash val="solid"/>
          </a:ln>
        </p:spPr>
      </p:sp>
      <p:sp>
        <p:nvSpPr>
          <p:cNvPr id="33" name="Text 31"/>
          <p:cNvSpPr/>
          <p:nvPr/>
        </p:nvSpPr>
        <p:spPr>
          <a:xfrm>
            <a:off x="4754880" y="1463040"/>
            <a:ext cx="6522415" cy="27432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MITRA INDUSTRI KELAS DUNIA YANG AKTIF BERINVESTASI DI STP</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6522415" cy="2834640"/>
        </p:xfrm>
        <a:graphic>
          <a:graphicData uri="http://schemas.openxmlformats.org/drawingml/2006/table">
            <a:tbl>
              <a:tblPr/>
              <a:tblGrid>
                <a:gridCol w="1828800"/>
                <a:gridCol w="1920240"/>
                <a:gridCol w="2773375"/>
              </a:tblGrid>
              <a:tr h="320040">
                <a:tc>
                  <a:txBody>
                    <a:bodyPr/>
                    <a:lstStyle/>
                    <a:p>
                      <a:pPr indent="0" marL="0">
                        <a:buNone/>
                      </a:pPr>
                      <a:r>
                        <a:rPr lang="en-US" sz="880" b="1" dirty="0">
                          <a:solidFill>
                            <a:srgbClr val="FFFFFF"/>
                          </a:solidFill>
                          <a:latin typeface="Arial" pitchFamily="34" charset="0"/>
                          <a:ea typeface="Arial" pitchFamily="34" charset="-122"/>
                          <a:cs typeface="Arial" pitchFamily="34" charset="-120"/>
                        </a:rPr>
                        <a:t>SEKTOR INDUSTRI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MITRA STRATEGIS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KONTRIBUSI NYATA BAGI KAWASAN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E-Commerce &amp; Logistik</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Shopee Indonesia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Infrastruktur UMKM Hub, Co-location, sewa Rp 544 jt/th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&amp; Kreatif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Garena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studio, beasiswa talenta digital, turnamen esports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Perbankan &amp; Fintech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Bank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Mandiri Innovation Hub, fasilitasi modal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Telekomunikasi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Indosat Ooredoo Hutchison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Laboratorium 5G, konektivitas fiber optik kawasan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84048">
                <a:tc>
                  <a:txBody>
                    <a:bodyPr/>
                    <a:lstStyle/>
                    <a:p>
                      <a:pPr indent="0" marL="0">
                        <a:buNone/>
                      </a:pPr>
                      <a:r>
                        <a:rPr lang="en-US" sz="880" dirty="0">
                          <a:solidFill>
                            <a:srgbClr val="94A3B8"/>
                          </a:solidFill>
                          <a:latin typeface="Arial" pitchFamily="34" charset="0"/>
                          <a:ea typeface="Arial" pitchFamily="34" charset="-122"/>
                          <a:cs typeface="Arial" pitchFamily="34" charset="-120"/>
                        </a:rPr>
                        <a:t>Ride-Hailing &amp; UMKM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GoTo (Gojek-Tokopedia)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GoTo UMKM Center, pelatihan onboarding merchant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11480">
                <a:tc>
                  <a:txBody>
                    <a:bodyPr/>
                    <a:lstStyle/>
                    <a:p>
                      <a:pPr indent="0" marL="0">
                        <a:buNone/>
                      </a:pPr>
                      <a:r>
                        <a:rPr lang="en-US" sz="880" dirty="0">
                          <a:solidFill>
                            <a:srgbClr val="94A3B8"/>
                          </a:solidFill>
                          <a:latin typeface="Arial" pitchFamily="34" charset="0"/>
                          <a:ea typeface="Arial" pitchFamily="34" charset="-122"/>
                          <a:cs typeface="Arial" pitchFamily="34" charset="-120"/>
                        </a:rPr>
                        <a:t>Migas &amp; Industri Berat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OGSCI Consortium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Pelatihan migas internasional: Target Rp 6,25 M (2030)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35" name="Shape 32"/>
          <p:cNvSpPr/>
          <p:nvPr/>
        </p:nvSpPr>
        <p:spPr>
          <a:xfrm>
            <a:off x="4572000" y="4937760"/>
            <a:ext cx="6888175" cy="1280160"/>
          </a:xfrm>
          <a:prstGeom prst="roundRect">
            <a:avLst>
              <a:gd name="adj" fmla="val 5714"/>
            </a:avLst>
          </a:prstGeom>
          <a:solidFill>
            <a:srgbClr val="0D213F"/>
          </a:solidFill>
          <a:ln w="12700">
            <a:solidFill>
              <a:srgbClr val="10B981"/>
            </a:solidFill>
            <a:prstDash val="solid"/>
          </a:ln>
        </p:spPr>
      </p:sp>
      <p:sp>
        <p:nvSpPr>
          <p:cNvPr id="36" name="Text 33"/>
          <p:cNvSpPr/>
          <p:nvPr/>
        </p:nvSpPr>
        <p:spPr>
          <a:xfrm>
            <a:off x="4754880" y="5029200"/>
            <a:ext cx="6522415" cy="274320"/>
          </a:xfrm>
          <a:prstGeom prst="rect">
            <a:avLst/>
          </a:prstGeom>
          <a:noFill/>
          <a:ln/>
        </p:spPr>
        <p:txBody>
          <a:bodyPr wrap="square" rtlCol="0" anchor="ctr"/>
          <a:lstStyle/>
          <a:p>
            <a:pPr indent="0" marL="0">
              <a:buNone/>
            </a:pPr>
            <a:r>
              <a:rPr lang="en-US" sz="980" b="1" dirty="0">
                <a:solidFill>
                  <a:srgbClr val="10B981"/>
                </a:solidFill>
                <a:latin typeface="Arial" pitchFamily="34" charset="0"/>
                <a:ea typeface="Arial" pitchFamily="34" charset="-122"/>
                <a:cs typeface="Arial" pitchFamily="34" charset="-120"/>
              </a:rPr>
              <a:t>💎  PRINSIP ZERO APBD BURDEN: SELURUH FASILITAS CANGGIH DIBANGUN OLEH INVESTASI SWASTA</a:t>
            </a:r>
            <a:endParaRPr lang="en-US" sz="980" dirty="0"/>
          </a:p>
        </p:txBody>
      </p:sp>
      <p:sp>
        <p:nvSpPr>
          <p:cNvPr id="37" name="Text 34"/>
          <p:cNvSpPr/>
          <p:nvPr/>
        </p:nvSpPr>
        <p:spPr>
          <a:xfrm>
            <a:off x="4754880" y="5321808"/>
            <a:ext cx="6522415" cy="77724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melainkan murni melalui skema Public-Private Partnership (PPP). Pemkot menyediakan wahana dan arah kebijakan, korporasi global menanamkan investasi teknologi.</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DIAGNOSTIK &amp; STRATEGI PERCEPATAN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GAP ANALYSIS JUJUR &amp; 5 TEROBOSAN SOLUSI 2026–2030</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Audit Transparan: Mengidentifikasi Titik Lemah Eksisting dan Menetapkan Solusi Terobosan Terukur</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07 / 12</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28655" cy="4023360"/>
        </p:xfrm>
        <a:graphic>
          <a:graphicData uri="http://schemas.openxmlformats.org/drawingml/2006/table">
            <a:tbl>
              <a:tblPr/>
              <a:tblGrid>
                <a:gridCol w="548640"/>
                <a:gridCol w="2286000"/>
                <a:gridCol w="3291840"/>
                <a:gridCol w="4602175"/>
              </a:tblGrid>
              <a:tr h="347472">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NO</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GAP EKSISTING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AKAR PERMASALAHAN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5 SOLUSI TEROBOSAN STRATEGIS 2026–2030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1</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Jenis Pelatihan Masih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Keterbatasan instruktur ahli internal &amp; sarana diklat berbasis industri masa depan.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Gandeng korporasi global (OGSCI, Kemenperin) buka kelas spesialis: Welder Bawah Air, AI Engineer, Teknisi Baterai EV, &amp; Drone Operator.</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2</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R&amp;D Belum Mengarah Hilirisasi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Riset kampus berjalan terisolasi, kurang terpetakan, dan belum berorientasi pasar komersial.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Bentuk Technology Transfer Office (TTO) &amp; kurasi riset kampus UNS/UMS berbasis kebutuhan industri nyata dan problem kota.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3</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Investasi Kawasan Terbatas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Lahan kosong belum optimal dikerjasamakan; promosi investor teknologi belum sistematis.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Zonasi investasi teknologi terpadu &amp; skema Long-Term Revenue Sharing (10–25 tahun) bagi investor swasta global.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13232">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4</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Kemandirian Finansial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Pendapatan masih bertumpu pada sewa lahan; hardware lab belum menghasilkan revenue optimal.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FFFFFF"/>
                          </a:solidFill>
                          <a:latin typeface="Arial" pitchFamily="34" charset="0"/>
                          <a:ea typeface="Arial" pitchFamily="34" charset="-122"/>
                          <a:cs typeface="Arial" pitchFamily="34" charset="-120"/>
                        </a:rPr>
                        <a:t>Diversifikasi 6 revenue stream: Uji NDT Penetrant, TUK/JFT mandiri, Rekayasa Manufaktur, Co-Working, &amp;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r h="749808">
                <a:tc>
                  <a:txBody>
                    <a:bodyPr/>
                    <a:lstStyle/>
                    <a:p>
                      <a:pPr algn="ctr" indent="0" marL="0">
                        <a:buNone/>
                      </a:pPr>
                      <a:r>
                        <a:rPr lang="en-US" sz="880" b="1" dirty="0">
                          <a:solidFill>
                            <a:srgbClr val="EF4444"/>
                          </a:solidFill>
                          <a:latin typeface="Arial" pitchFamily="34" charset="0"/>
                          <a:ea typeface="Arial" pitchFamily="34" charset="-122"/>
                          <a:cs typeface="Arial" pitchFamily="34" charset="-120"/>
                        </a:rPr>
                        <a:t>5</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Promosi &amp; Penyerapan Rendah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Networking kurang di-maintenance; belum ada regulasi penyerapan produk inovasi di pasar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Penerbitan Instruksi Walikota untuk e-Katalog Lokal Afirmatif bagi OPD Pemkot menyerap produk/layanan tenant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
        <p:nvSpPr>
          <p:cNvPr id="12" name="Shape 9"/>
          <p:cNvSpPr/>
          <p:nvPr/>
        </p:nvSpPr>
        <p:spPr>
          <a:xfrm>
            <a:off x="731520" y="5486400"/>
            <a:ext cx="10728655" cy="777240"/>
          </a:xfrm>
          <a:prstGeom prst="roundRect">
            <a:avLst>
              <a:gd name="adj" fmla="val 9412"/>
            </a:avLst>
          </a:prstGeom>
          <a:solidFill>
            <a:srgbClr val="0D213F"/>
          </a:solidFill>
          <a:ln w="12700">
            <a:solidFill>
              <a:srgbClr val="F59E0B"/>
            </a:solidFill>
            <a:prstDash val="solid"/>
          </a:ln>
        </p:spPr>
      </p:sp>
      <p:sp>
        <p:nvSpPr>
          <p:cNvPr id="13" name="Text 10"/>
          <p:cNvSpPr/>
          <p:nvPr/>
        </p:nvSpPr>
        <p:spPr>
          <a:xfrm>
            <a:off x="914400" y="5559552"/>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PRIORITAS #5: INSTRUKSI WALIKOTA e-KATALOG AFIRMATIF (QUICK WIN 30 HARI)</a:t>
            </a:r>
            <a:endParaRPr lang="en-US" sz="1000" dirty="0"/>
          </a:p>
        </p:txBody>
      </p:sp>
      <p:sp>
        <p:nvSpPr>
          <p:cNvPr id="14" name="Text 11"/>
          <p:cNvSpPr/>
          <p:nvPr/>
        </p:nvSpPr>
        <p:spPr>
          <a:xfrm>
            <a:off x="914400" y="5815584"/>
            <a:ext cx="10362895" cy="384048"/>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Target: Rp 2,25 Miliar serapan belanja OPD Pemkot di 2030. Memberikan pasar captive awal bagi 80+ produk tenant dan startup binaan STP tanpa perlu alokasi pagu belanja baru di APBD.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PETA JALAN STRATEGIS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ROADMAP 3 FASE TRANSFORMASI: DARI CENTRE MENUJU HOLDING INOVASI DAERAH</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Milestone Terukur dan Bertahap Menuju Kemandirian Finansial Penuh Tanpa Subsidi Belanja APBD 2030</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08 / 12</a:t>
            </a:r>
            <a:endParaRPr lang="en-US" sz="900" dirty="0"/>
          </a:p>
        </p:txBody>
      </p:sp>
      <p:sp>
        <p:nvSpPr>
          <p:cNvPr id="11" name="Shape 9"/>
          <p:cNvSpPr/>
          <p:nvPr/>
        </p:nvSpPr>
        <p:spPr>
          <a:xfrm>
            <a:off x="731520" y="1481328"/>
            <a:ext cx="10728655" cy="73152"/>
          </a:xfrm>
          <a:prstGeom prst="rect">
            <a:avLst/>
          </a:prstGeom>
          <a:solidFill>
            <a:srgbClr val="1E3A5F"/>
          </a:solidFill>
          <a:ln/>
        </p:spPr>
      </p:sp>
      <p:sp>
        <p:nvSpPr>
          <p:cNvPr id="12" name="Shape 10"/>
          <p:cNvSpPr/>
          <p:nvPr/>
        </p:nvSpPr>
        <p:spPr>
          <a:xfrm>
            <a:off x="731520" y="1481328"/>
            <a:ext cx="3291840" cy="73152"/>
          </a:xfrm>
          <a:prstGeom prst="rect">
            <a:avLst/>
          </a:prstGeom>
          <a:solidFill>
            <a:srgbClr val="0EA5E9"/>
          </a:solidFill>
          <a:ln/>
        </p:spPr>
      </p:sp>
      <p:sp>
        <p:nvSpPr>
          <p:cNvPr id="13" name="Shape 11"/>
          <p:cNvSpPr/>
          <p:nvPr/>
        </p:nvSpPr>
        <p:spPr>
          <a:xfrm>
            <a:off x="621792" y="1371600"/>
            <a:ext cx="219456" cy="219456"/>
          </a:xfrm>
          <a:prstGeom prst="ellipse">
            <a:avLst/>
          </a:prstGeom>
          <a:solidFill>
            <a:srgbClr val="0EA5E9"/>
          </a:solidFill>
          <a:ln w="12700">
            <a:solidFill>
              <a:srgbClr val="0EA5E9"/>
            </a:solidFill>
            <a:prstDash val="solid"/>
          </a:ln>
        </p:spPr>
      </p:sp>
      <p:sp>
        <p:nvSpPr>
          <p:cNvPr id="14" name="Text 12"/>
          <p:cNvSpPr/>
          <p:nvPr/>
        </p:nvSpPr>
        <p:spPr>
          <a:xfrm>
            <a:off x="731520" y="1133856"/>
            <a:ext cx="3291840" cy="256032"/>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2026 - 2027</a:t>
            </a:r>
            <a:endParaRPr lang="en-US" sz="850" dirty="0"/>
          </a:p>
        </p:txBody>
      </p:sp>
      <p:sp>
        <p:nvSpPr>
          <p:cNvPr id="15" name="Shape 13"/>
          <p:cNvSpPr/>
          <p:nvPr/>
        </p:nvSpPr>
        <p:spPr>
          <a:xfrm>
            <a:off x="4160520" y="1481328"/>
            <a:ext cx="3474720" cy="73152"/>
          </a:xfrm>
          <a:prstGeom prst="rect">
            <a:avLst/>
          </a:prstGeom>
          <a:solidFill>
            <a:srgbClr val="F59E0B"/>
          </a:solidFill>
          <a:ln/>
        </p:spPr>
      </p:sp>
      <p:sp>
        <p:nvSpPr>
          <p:cNvPr id="16" name="Shape 14"/>
          <p:cNvSpPr/>
          <p:nvPr/>
        </p:nvSpPr>
        <p:spPr>
          <a:xfrm>
            <a:off x="4050792" y="1371600"/>
            <a:ext cx="219456" cy="219456"/>
          </a:xfrm>
          <a:prstGeom prst="ellipse">
            <a:avLst/>
          </a:prstGeom>
          <a:solidFill>
            <a:srgbClr val="F59E0B"/>
          </a:solidFill>
          <a:ln w="12700">
            <a:solidFill>
              <a:srgbClr val="F59E0B"/>
            </a:solidFill>
            <a:prstDash val="solid"/>
          </a:ln>
        </p:spPr>
      </p:sp>
      <p:sp>
        <p:nvSpPr>
          <p:cNvPr id="17" name="Text 15"/>
          <p:cNvSpPr/>
          <p:nvPr/>
        </p:nvSpPr>
        <p:spPr>
          <a:xfrm>
            <a:off x="4160520" y="1133856"/>
            <a:ext cx="3474720" cy="256032"/>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2028 - 2029</a:t>
            </a:r>
            <a:endParaRPr lang="en-US" sz="850" dirty="0"/>
          </a:p>
        </p:txBody>
      </p:sp>
      <p:sp>
        <p:nvSpPr>
          <p:cNvPr id="18" name="Shape 16"/>
          <p:cNvSpPr/>
          <p:nvPr/>
        </p:nvSpPr>
        <p:spPr>
          <a:xfrm>
            <a:off x="7772400" y="1481328"/>
            <a:ext cx="3596335" cy="73152"/>
          </a:xfrm>
          <a:prstGeom prst="rect">
            <a:avLst/>
          </a:prstGeom>
          <a:solidFill>
            <a:srgbClr val="10B981"/>
          </a:solidFill>
          <a:ln/>
        </p:spPr>
      </p:sp>
      <p:sp>
        <p:nvSpPr>
          <p:cNvPr id="19" name="Shape 17"/>
          <p:cNvSpPr/>
          <p:nvPr/>
        </p:nvSpPr>
        <p:spPr>
          <a:xfrm>
            <a:off x="7662672" y="1371600"/>
            <a:ext cx="219456" cy="219456"/>
          </a:xfrm>
          <a:prstGeom prst="ellipse">
            <a:avLst/>
          </a:prstGeom>
          <a:solidFill>
            <a:srgbClr val="10B981"/>
          </a:solidFill>
          <a:ln w="12700">
            <a:solidFill>
              <a:srgbClr val="10B981"/>
            </a:solidFill>
            <a:prstDash val="solid"/>
          </a:ln>
        </p:spPr>
      </p:sp>
      <p:sp>
        <p:nvSpPr>
          <p:cNvPr id="20" name="Text 18"/>
          <p:cNvSpPr/>
          <p:nvPr/>
        </p:nvSpPr>
        <p:spPr>
          <a:xfrm>
            <a:off x="7772400" y="1133856"/>
            <a:ext cx="3596335" cy="256032"/>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2029 - 2030</a:t>
            </a:r>
            <a:endParaRPr lang="en-US" sz="850" dirty="0"/>
          </a:p>
        </p:txBody>
      </p:sp>
      <p:sp>
        <p:nvSpPr>
          <p:cNvPr id="21" name="Shape 19"/>
          <p:cNvSpPr/>
          <p:nvPr/>
        </p:nvSpPr>
        <p:spPr>
          <a:xfrm>
            <a:off x="11301984" y="1371600"/>
            <a:ext cx="219456" cy="219456"/>
          </a:xfrm>
          <a:prstGeom prst="ellipse">
            <a:avLst/>
          </a:prstGeom>
          <a:solidFill>
            <a:srgbClr val="F59E0B"/>
          </a:solidFill>
          <a:ln w="12700">
            <a:solidFill>
              <a:srgbClr val="F59E0B"/>
            </a:solidFill>
            <a:prstDash val="solid"/>
          </a:ln>
        </p:spPr>
      </p:sp>
      <p:sp>
        <p:nvSpPr>
          <p:cNvPr id="22" name="Shape 20"/>
          <p:cNvSpPr/>
          <p:nvPr/>
        </p:nvSpPr>
        <p:spPr>
          <a:xfrm>
            <a:off x="731520" y="1691640"/>
            <a:ext cx="3474720" cy="3291840"/>
          </a:xfrm>
          <a:prstGeom prst="roundRect">
            <a:avLst>
              <a:gd name="adj" fmla="val 2222"/>
            </a:avLst>
          </a:prstGeom>
          <a:solidFill>
            <a:srgbClr val="0A192F"/>
          </a:solidFill>
          <a:ln w="12700">
            <a:solidFill>
              <a:srgbClr val="1E3A5F"/>
            </a:solidFill>
            <a:prstDash val="solid"/>
          </a:ln>
        </p:spPr>
      </p:sp>
      <p:sp>
        <p:nvSpPr>
          <p:cNvPr id="23" name="Shape 21"/>
          <p:cNvSpPr/>
          <p:nvPr/>
        </p:nvSpPr>
        <p:spPr>
          <a:xfrm>
            <a:off x="731520" y="1691640"/>
            <a:ext cx="73152" cy="3291840"/>
          </a:xfrm>
          <a:prstGeom prst="roundRect">
            <a:avLst>
              <a:gd name="adj" fmla="val 50000"/>
            </a:avLst>
          </a:prstGeom>
          <a:solidFill>
            <a:srgbClr val="0EA5E9"/>
          </a:solidFill>
          <a:ln w="12700">
            <a:solidFill>
              <a:srgbClr val="0EA5E9"/>
            </a:solidFill>
            <a:prstDash val="solid"/>
          </a:ln>
        </p:spPr>
      </p:sp>
      <p:sp>
        <p:nvSpPr>
          <p:cNvPr id="24" name="Shape 22"/>
          <p:cNvSpPr/>
          <p:nvPr/>
        </p:nvSpPr>
        <p:spPr>
          <a:xfrm>
            <a:off x="2377440" y="1536192"/>
            <a:ext cx="36576" cy="182880"/>
          </a:xfrm>
          <a:prstGeom prst="rect">
            <a:avLst/>
          </a:prstGeom>
          <a:solidFill>
            <a:srgbClr val="0EA5E9"/>
          </a:solidFill>
          <a:ln/>
        </p:spPr>
      </p:sp>
      <p:sp>
        <p:nvSpPr>
          <p:cNvPr id="25" name="Shape 23"/>
          <p:cNvSpPr/>
          <p:nvPr/>
        </p:nvSpPr>
        <p:spPr>
          <a:xfrm>
            <a:off x="868680" y="1463040"/>
            <a:ext cx="3200400" cy="594360"/>
          </a:xfrm>
          <a:prstGeom prst="roundRect">
            <a:avLst>
              <a:gd name="adj" fmla="val 7692"/>
            </a:avLst>
          </a:prstGeom>
          <a:solidFill>
            <a:srgbClr val="0D213F"/>
          </a:solidFill>
          <a:ln w="12700">
            <a:solidFill>
              <a:srgbClr val="0EA5E9"/>
            </a:solidFill>
            <a:prstDash val="solid"/>
          </a:ln>
        </p:spPr>
      </p:sp>
      <p:sp>
        <p:nvSpPr>
          <p:cNvPr id="26" name="Text 24"/>
          <p:cNvSpPr/>
          <p:nvPr/>
        </p:nvSpPr>
        <p:spPr>
          <a:xfrm>
            <a:off x="914400" y="1508760"/>
            <a:ext cx="3108960" cy="228600"/>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FASE 1 (2026–2027)</a:t>
            </a:r>
            <a:endParaRPr lang="en-US" sz="950" dirty="0"/>
          </a:p>
        </p:txBody>
      </p:sp>
      <p:sp>
        <p:nvSpPr>
          <p:cNvPr id="27" name="Text 25"/>
          <p:cNvSpPr/>
          <p:nvPr/>
        </p:nvSpPr>
        <p:spPr>
          <a:xfrm>
            <a:off x="91440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CENTRE OF INNOVATION &amp; CONNECTIVITY</a:t>
            </a:r>
            <a:endParaRPr lang="en-US" sz="920" dirty="0"/>
          </a:p>
        </p:txBody>
      </p:sp>
      <p:sp>
        <p:nvSpPr>
          <p:cNvPr id="28" name="Shape 26"/>
          <p:cNvSpPr/>
          <p:nvPr/>
        </p:nvSpPr>
        <p:spPr>
          <a:xfrm>
            <a:off x="914400" y="2148840"/>
            <a:ext cx="3108960" cy="365760"/>
          </a:xfrm>
          <a:prstGeom prst="roundRect">
            <a:avLst>
              <a:gd name="adj" fmla="val 10000"/>
            </a:avLst>
          </a:prstGeom>
          <a:solidFill>
            <a:srgbClr val="070D18"/>
          </a:solidFill>
          <a:ln w="12700">
            <a:solidFill>
              <a:srgbClr val="1E3A5F"/>
            </a:solidFill>
            <a:prstDash val="solid"/>
          </a:ln>
        </p:spPr>
      </p:sp>
      <p:sp>
        <p:nvSpPr>
          <p:cNvPr id="29" name="Text 27"/>
          <p:cNvSpPr/>
          <p:nvPr/>
        </p:nvSpPr>
        <p:spPr>
          <a:xfrm>
            <a:off x="91440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7,50 M ➔ Rp 12,53 M</a:t>
            </a:r>
            <a:endParaRPr lang="en-US" sz="1050" dirty="0"/>
          </a:p>
        </p:txBody>
      </p:sp>
      <p:sp>
        <p:nvSpPr>
          <p:cNvPr id="30" name="Text 28"/>
          <p:cNvSpPr/>
          <p:nvPr/>
        </p:nvSpPr>
        <p:spPr>
          <a:xfrm>
            <a:off x="91440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Pondasi tata kelola kelembagaan BLUD akuntabel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Akreditasi laboratorium industri &amp; standarisasi uji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Sertifikasi mutu diklat vokasi &amp; kemitraan OGSCI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Konsorsium Riset 5 Kampus Solo Raya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Aktivasi TUK Mandiri &amp; program SMK GoGlobal</a:t>
            </a:r>
            <a:endParaRPr lang="en-US" sz="920" dirty="0"/>
          </a:p>
        </p:txBody>
      </p:sp>
      <p:sp>
        <p:nvSpPr>
          <p:cNvPr id="31" name="Shape 29"/>
          <p:cNvSpPr/>
          <p:nvPr/>
        </p:nvSpPr>
        <p:spPr>
          <a:xfrm>
            <a:off x="4343400" y="1691640"/>
            <a:ext cx="3474720" cy="3291840"/>
          </a:xfrm>
          <a:prstGeom prst="roundRect">
            <a:avLst>
              <a:gd name="adj" fmla="val 2222"/>
            </a:avLst>
          </a:prstGeom>
          <a:solidFill>
            <a:srgbClr val="0A192F"/>
          </a:solidFill>
          <a:ln w="12700">
            <a:solidFill>
              <a:srgbClr val="1E3A5F"/>
            </a:solidFill>
            <a:prstDash val="solid"/>
          </a:ln>
        </p:spPr>
      </p:sp>
      <p:sp>
        <p:nvSpPr>
          <p:cNvPr id="32" name="Shape 30"/>
          <p:cNvSpPr/>
          <p:nvPr/>
        </p:nvSpPr>
        <p:spPr>
          <a:xfrm>
            <a:off x="4343400" y="1691640"/>
            <a:ext cx="73152" cy="3291840"/>
          </a:xfrm>
          <a:prstGeom prst="roundRect">
            <a:avLst>
              <a:gd name="adj" fmla="val 50000"/>
            </a:avLst>
          </a:prstGeom>
          <a:solidFill>
            <a:srgbClr val="F59E0B"/>
          </a:solidFill>
          <a:ln w="12700">
            <a:solidFill>
              <a:srgbClr val="F59E0B"/>
            </a:solidFill>
            <a:prstDash val="solid"/>
          </a:ln>
        </p:spPr>
      </p:sp>
      <p:sp>
        <p:nvSpPr>
          <p:cNvPr id="33" name="Shape 31"/>
          <p:cNvSpPr/>
          <p:nvPr/>
        </p:nvSpPr>
        <p:spPr>
          <a:xfrm>
            <a:off x="5989320" y="1536192"/>
            <a:ext cx="36576" cy="182880"/>
          </a:xfrm>
          <a:prstGeom prst="rect">
            <a:avLst/>
          </a:prstGeom>
          <a:solidFill>
            <a:srgbClr val="F59E0B"/>
          </a:solidFill>
          <a:ln/>
        </p:spPr>
      </p:sp>
      <p:sp>
        <p:nvSpPr>
          <p:cNvPr id="34" name="Shape 32"/>
          <p:cNvSpPr/>
          <p:nvPr/>
        </p:nvSpPr>
        <p:spPr>
          <a:xfrm>
            <a:off x="4480560" y="1463040"/>
            <a:ext cx="3200400" cy="594360"/>
          </a:xfrm>
          <a:prstGeom prst="roundRect">
            <a:avLst>
              <a:gd name="adj" fmla="val 7692"/>
            </a:avLst>
          </a:prstGeom>
          <a:solidFill>
            <a:srgbClr val="0D213F"/>
          </a:solidFill>
          <a:ln w="12700">
            <a:solidFill>
              <a:srgbClr val="F59E0B"/>
            </a:solidFill>
            <a:prstDash val="solid"/>
          </a:ln>
        </p:spPr>
      </p:sp>
      <p:sp>
        <p:nvSpPr>
          <p:cNvPr id="35" name="Text 33"/>
          <p:cNvSpPr/>
          <p:nvPr/>
        </p:nvSpPr>
        <p:spPr>
          <a:xfrm>
            <a:off x="4526280" y="1508760"/>
            <a:ext cx="310896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FASE 2 (2028–2029)</a:t>
            </a:r>
            <a:endParaRPr lang="en-US" sz="950" dirty="0"/>
          </a:p>
        </p:txBody>
      </p:sp>
      <p:sp>
        <p:nvSpPr>
          <p:cNvPr id="36" name="Text 34"/>
          <p:cNvSpPr/>
          <p:nvPr/>
        </p:nvSpPr>
        <p:spPr>
          <a:xfrm>
            <a:off x="452628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ENTREPRENEUR TECHNOPARK (SBU MANDIRI)</a:t>
            </a:r>
            <a:endParaRPr lang="en-US" sz="920" dirty="0"/>
          </a:p>
        </p:txBody>
      </p:sp>
      <p:sp>
        <p:nvSpPr>
          <p:cNvPr id="37" name="Shape 35"/>
          <p:cNvSpPr/>
          <p:nvPr/>
        </p:nvSpPr>
        <p:spPr>
          <a:xfrm>
            <a:off x="4526280" y="2148840"/>
            <a:ext cx="3108960" cy="365760"/>
          </a:xfrm>
          <a:prstGeom prst="roundRect">
            <a:avLst>
              <a:gd name="adj" fmla="val 10000"/>
            </a:avLst>
          </a:prstGeom>
          <a:solidFill>
            <a:srgbClr val="070D18"/>
          </a:solidFill>
          <a:ln w="12700">
            <a:solidFill>
              <a:srgbClr val="1E3A5F"/>
            </a:solidFill>
            <a:prstDash val="solid"/>
          </a:ln>
        </p:spPr>
      </p:sp>
      <p:sp>
        <p:nvSpPr>
          <p:cNvPr id="38" name="Text 36"/>
          <p:cNvSpPr/>
          <p:nvPr/>
        </p:nvSpPr>
        <p:spPr>
          <a:xfrm>
            <a:off x="452628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12,53 M ➔ Rp 20,62 M</a:t>
            </a:r>
            <a:endParaRPr lang="en-US" sz="1050" dirty="0"/>
          </a:p>
        </p:txBody>
      </p:sp>
      <p:sp>
        <p:nvSpPr>
          <p:cNvPr id="39" name="Text 37"/>
          <p:cNvSpPr/>
          <p:nvPr/>
        </p:nvSpPr>
        <p:spPr>
          <a:xfrm>
            <a:off x="452628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Pembentukan Strategic Business Unit (SBU) profesional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Hilirisasi 15–20 produk inovasi komersial ber-TKDN</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Strategi corporate marketing &amp; penetrasi pasar nasional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revenue OGSCI Migas mencapai Rp 5,5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Operasionalisasi Co-Working &amp; Virtual Office penuh</a:t>
            </a:r>
            <a:endParaRPr lang="en-US" sz="920" dirty="0"/>
          </a:p>
        </p:txBody>
      </p:sp>
      <p:sp>
        <p:nvSpPr>
          <p:cNvPr id="40" name="Shape 38"/>
          <p:cNvSpPr/>
          <p:nvPr/>
        </p:nvSpPr>
        <p:spPr>
          <a:xfrm>
            <a:off x="7955280" y="1691640"/>
            <a:ext cx="3474720" cy="3291840"/>
          </a:xfrm>
          <a:prstGeom prst="roundRect">
            <a:avLst>
              <a:gd name="adj" fmla="val 2222"/>
            </a:avLst>
          </a:prstGeom>
          <a:solidFill>
            <a:srgbClr val="0A192F"/>
          </a:solidFill>
          <a:ln w="12700">
            <a:solidFill>
              <a:srgbClr val="1E3A5F"/>
            </a:solidFill>
            <a:prstDash val="solid"/>
          </a:ln>
        </p:spPr>
      </p:sp>
      <p:sp>
        <p:nvSpPr>
          <p:cNvPr id="41" name="Shape 39"/>
          <p:cNvSpPr/>
          <p:nvPr/>
        </p:nvSpPr>
        <p:spPr>
          <a:xfrm>
            <a:off x="7955280" y="1691640"/>
            <a:ext cx="73152" cy="3291840"/>
          </a:xfrm>
          <a:prstGeom prst="roundRect">
            <a:avLst>
              <a:gd name="adj" fmla="val 50000"/>
            </a:avLst>
          </a:prstGeom>
          <a:solidFill>
            <a:srgbClr val="10B981"/>
          </a:solidFill>
          <a:ln w="12700">
            <a:solidFill>
              <a:srgbClr val="10B981"/>
            </a:solidFill>
            <a:prstDash val="solid"/>
          </a:ln>
        </p:spPr>
      </p:sp>
      <p:sp>
        <p:nvSpPr>
          <p:cNvPr id="42" name="Shape 40"/>
          <p:cNvSpPr/>
          <p:nvPr/>
        </p:nvSpPr>
        <p:spPr>
          <a:xfrm>
            <a:off x="9601200" y="1536192"/>
            <a:ext cx="36576" cy="182880"/>
          </a:xfrm>
          <a:prstGeom prst="rect">
            <a:avLst/>
          </a:prstGeom>
          <a:solidFill>
            <a:srgbClr val="10B981"/>
          </a:solidFill>
          <a:ln/>
        </p:spPr>
      </p:sp>
      <p:sp>
        <p:nvSpPr>
          <p:cNvPr id="43" name="Shape 41"/>
          <p:cNvSpPr/>
          <p:nvPr/>
        </p:nvSpPr>
        <p:spPr>
          <a:xfrm>
            <a:off x="8092440" y="1463040"/>
            <a:ext cx="3200400" cy="594360"/>
          </a:xfrm>
          <a:prstGeom prst="roundRect">
            <a:avLst>
              <a:gd name="adj" fmla="val 7692"/>
            </a:avLst>
          </a:prstGeom>
          <a:solidFill>
            <a:srgbClr val="0D213F"/>
          </a:solidFill>
          <a:ln w="12700">
            <a:solidFill>
              <a:srgbClr val="10B981"/>
            </a:solidFill>
            <a:prstDash val="solid"/>
          </a:ln>
        </p:spPr>
      </p:sp>
      <p:sp>
        <p:nvSpPr>
          <p:cNvPr id="44" name="Text 42"/>
          <p:cNvSpPr/>
          <p:nvPr/>
        </p:nvSpPr>
        <p:spPr>
          <a:xfrm>
            <a:off x="8138160" y="1508760"/>
            <a:ext cx="3108960" cy="228600"/>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FASE 3 (2029–2030)</a:t>
            </a:r>
            <a:endParaRPr lang="en-US" sz="950" dirty="0"/>
          </a:p>
        </p:txBody>
      </p:sp>
      <p:sp>
        <p:nvSpPr>
          <p:cNvPr id="45" name="Text 43"/>
          <p:cNvSpPr/>
          <p:nvPr/>
        </p:nvSpPr>
        <p:spPr>
          <a:xfrm>
            <a:off x="8138160" y="1737360"/>
            <a:ext cx="3108960" cy="27432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GLOBAL MARKET POSITIONING &amp; HOLDING</a:t>
            </a:r>
            <a:endParaRPr lang="en-US" sz="920" dirty="0"/>
          </a:p>
        </p:txBody>
      </p:sp>
      <p:sp>
        <p:nvSpPr>
          <p:cNvPr id="46" name="Shape 44"/>
          <p:cNvSpPr/>
          <p:nvPr/>
        </p:nvSpPr>
        <p:spPr>
          <a:xfrm>
            <a:off x="8138160" y="2148840"/>
            <a:ext cx="3108960" cy="365760"/>
          </a:xfrm>
          <a:prstGeom prst="roundRect">
            <a:avLst>
              <a:gd name="adj" fmla="val 10000"/>
            </a:avLst>
          </a:prstGeom>
          <a:solidFill>
            <a:srgbClr val="070D18"/>
          </a:solidFill>
          <a:ln w="12700">
            <a:solidFill>
              <a:srgbClr val="1E3A5F"/>
            </a:solidFill>
            <a:prstDash val="solid"/>
          </a:ln>
        </p:spPr>
      </p:sp>
      <p:sp>
        <p:nvSpPr>
          <p:cNvPr id="47" name="Text 45"/>
          <p:cNvSpPr/>
          <p:nvPr/>
        </p:nvSpPr>
        <p:spPr>
          <a:xfrm>
            <a:off x="8138160" y="2148840"/>
            <a:ext cx="3108960" cy="365760"/>
          </a:xfrm>
          <a:prstGeom prst="rect">
            <a:avLst/>
          </a:prstGeom>
          <a:noFill/>
          <a:ln/>
        </p:spPr>
        <p:txBody>
          <a:bodyPr wrap="square"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Target: Rp 20,62 M ➔ Rp 23,47 M</a:t>
            </a:r>
            <a:endParaRPr lang="en-US" sz="1050" dirty="0"/>
          </a:p>
        </p:txBody>
      </p:sp>
      <p:sp>
        <p:nvSpPr>
          <p:cNvPr id="48" name="Text 46"/>
          <p:cNvSpPr/>
          <p:nvPr/>
        </p:nvSpPr>
        <p:spPr>
          <a:xfrm>
            <a:off x="8138160" y="2606040"/>
            <a:ext cx="3108960" cy="224028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Kemandirian finansial penuh: 0% subsidi belanja APBD</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Operasional holding company inovasi daerah pertama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Pusat pengembangan Indonesia Digital Technopark</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Realisasi target pendapatan mandiri Rp 23,47 Miliar</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Ekspansi jejaring kemitraan dan penempatan global</a:t>
            </a:r>
            <a:endParaRPr lang="en-US" sz="920" dirty="0"/>
          </a:p>
        </p:txBody>
      </p:sp>
      <p:sp>
        <p:nvSpPr>
          <p:cNvPr id="49" name="Shape 47"/>
          <p:cNvSpPr/>
          <p:nvPr/>
        </p:nvSpPr>
        <p:spPr>
          <a:xfrm>
            <a:off x="731520" y="5120640"/>
            <a:ext cx="10728655" cy="1143000"/>
          </a:xfrm>
          <a:prstGeom prst="roundRect">
            <a:avLst>
              <a:gd name="adj" fmla="val 6400"/>
            </a:avLst>
          </a:prstGeom>
          <a:solidFill>
            <a:srgbClr val="0D213F"/>
          </a:solidFill>
          <a:ln w="12700">
            <a:solidFill>
              <a:srgbClr val="0EA5E9"/>
            </a:solidFill>
            <a:prstDash val="solid"/>
          </a:ln>
        </p:spPr>
      </p:sp>
      <p:sp>
        <p:nvSpPr>
          <p:cNvPr id="50" name="Text 48"/>
          <p:cNvSpPr/>
          <p:nvPr/>
        </p:nvSpPr>
        <p:spPr>
          <a:xfrm>
            <a:off x="914400" y="5212080"/>
            <a:ext cx="10362895"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RINGKASAN TARGET TAHUNAN MENUJU KEMANDIRIAN 2030 (AUDIT FINANSIAL RIIL):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486400"/>
          <a:ext cx="10362895" cy="658368"/>
        </p:xfrm>
        <a:graphic>
          <a:graphicData uri="http://schemas.openxmlformats.org/drawingml/2006/table">
            <a:tbl>
              <a:tblPr/>
              <a:tblGrid>
                <a:gridCol w="2072030"/>
                <a:gridCol w="2072030"/>
                <a:gridCol w="2072030"/>
                <a:gridCol w="2072030"/>
                <a:gridCol w="2074774"/>
              </a:tblGrid>
              <a:tr h="292608">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2026 (Baseline)</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2027 (+67,0%)</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2028 (+28,5%)</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FFFFF"/>
                          </a:solidFill>
                          <a:latin typeface="Arial" pitchFamily="34" charset="0"/>
                          <a:ea typeface="Arial" pitchFamily="34" charset="-122"/>
                          <a:cs typeface="Arial" pitchFamily="34" charset="-120"/>
                        </a:rPr>
                        <a:t>TAHUN 2029 (+28,0%)</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20" b="1" dirty="0">
                          <a:solidFill>
                            <a:srgbClr val="F59E0B"/>
                          </a:solidFill>
                          <a:latin typeface="Arial" pitchFamily="34" charset="0"/>
                          <a:ea typeface="Arial" pitchFamily="34" charset="-122"/>
                          <a:cs typeface="Arial" pitchFamily="34" charset="-120"/>
                        </a:rPr>
                        <a:t>TAHUN 2030 (MANDIRI)</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47472">
                <a:tc>
                  <a:txBody>
                    <a:bodyPr/>
                    <a:lstStyle/>
                    <a:p>
                      <a:pPr algn="ctr" indent="0" marL="0">
                        <a:buNone/>
                      </a:pPr>
                      <a:r>
                        <a:rPr lang="en-US" sz="920" dirty="0">
                          <a:solidFill>
                            <a:srgbClr val="FFFFFF"/>
                          </a:solidFill>
                          <a:latin typeface="Arial" pitchFamily="34" charset="0"/>
                          <a:ea typeface="Arial" pitchFamily="34" charset="-122"/>
                          <a:cs typeface="Arial" pitchFamily="34" charset="-120"/>
                        </a:rPr>
                        <a:t>Rp 7.503.392.698</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12.532.185.031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16.100.658.831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dirty="0">
                          <a:solidFill>
                            <a:srgbClr val="38BDF8"/>
                          </a:solidFill>
                          <a:latin typeface="Arial" pitchFamily="34" charset="0"/>
                          <a:ea typeface="Arial" pitchFamily="34" charset="-122"/>
                          <a:cs typeface="Arial" pitchFamily="34" charset="-120"/>
                        </a:rPr>
                        <a:t>Rp 20.615.658.831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20" b="1" dirty="0">
                          <a:solidFill>
                            <a:srgbClr val="F59E0B"/>
                          </a:solidFill>
                          <a:latin typeface="Arial" pitchFamily="34" charset="0"/>
                          <a:ea typeface="Arial" pitchFamily="34" charset="-122"/>
                          <a:cs typeface="Arial" pitchFamily="34" charset="-120"/>
                        </a:rPr>
                        <a:t>Rp 23.468.158.831</a:t>
                      </a:r>
                      <a:endParaRPr lang="en-US" sz="92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PROYEKSI KEUANGAN BLUD 2026–2030</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RE-SETTING TARGET FINANSIAL: LOMPATAN KEMANDIRIAN BLUD +212,8%</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09 / 12</a:t>
            </a:r>
            <a:endParaRPr lang="en-US" sz="900" dirty="0"/>
          </a:p>
        </p:txBody>
      </p:sp>
      <p:sp>
        <p:nvSpPr>
          <p:cNvPr id="11" name="Shape 9"/>
          <p:cNvSpPr/>
          <p:nvPr/>
        </p:nvSpPr>
        <p:spPr>
          <a:xfrm>
            <a:off x="731520" y="1325880"/>
            <a:ext cx="6675120" cy="4206240"/>
          </a:xfrm>
          <a:prstGeom prst="roundRect">
            <a:avLst>
              <a:gd name="adj" fmla="val 1739"/>
            </a:avLst>
          </a:prstGeom>
          <a:solidFill>
            <a:srgbClr val="0A192F"/>
          </a:solidFill>
          <a:ln w="12700">
            <a:solidFill>
              <a:srgbClr val="1E3A5F"/>
            </a:solidFill>
            <a:prstDash val="solid"/>
          </a:ln>
        </p:spPr>
      </p:sp>
      <p:sp>
        <p:nvSpPr>
          <p:cNvPr id="12" name="Text 10"/>
          <p:cNvSpPr/>
          <p:nvPr/>
        </p:nvSpPr>
        <p:spPr>
          <a:xfrm>
            <a:off x="914400" y="1463040"/>
            <a:ext cx="6309360" cy="256032"/>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GRAFIK PERTUMBUHAN PENDAPATAN BLUD 2026-2030 (dalam Rp Miliar)</a:t>
            </a:r>
            <a:endParaRPr lang="en-US" sz="950" dirty="0"/>
          </a:p>
        </p:txBody>
      </p:sp>
      <p:sp>
        <p:nvSpPr>
          <p:cNvPr id="13" name="Shape 11"/>
          <p:cNvSpPr/>
          <p:nvPr/>
        </p:nvSpPr>
        <p:spPr>
          <a:xfrm>
            <a:off x="2194560" y="1911096"/>
            <a:ext cx="4114800" cy="256032"/>
          </a:xfrm>
          <a:prstGeom prst="roundRect">
            <a:avLst>
              <a:gd name="adj" fmla="val 14286"/>
            </a:avLst>
          </a:prstGeom>
          <a:solidFill>
            <a:srgbClr val="0D213F"/>
          </a:solidFill>
          <a:ln w="12700">
            <a:solidFill>
              <a:srgbClr val="1E3A5F"/>
            </a:solidFill>
            <a:prstDash val="solid"/>
          </a:ln>
        </p:spPr>
      </p:sp>
      <p:sp>
        <p:nvSpPr>
          <p:cNvPr id="14" name="Shape 12"/>
          <p:cNvSpPr/>
          <p:nvPr/>
        </p:nvSpPr>
        <p:spPr>
          <a:xfrm>
            <a:off x="2194560" y="1911096"/>
            <a:ext cx="1285875" cy="256032"/>
          </a:xfrm>
          <a:prstGeom prst="roundRect">
            <a:avLst>
              <a:gd name="adj" fmla="val 14286"/>
            </a:avLst>
          </a:prstGeom>
          <a:solidFill>
            <a:srgbClr val="94A3B8"/>
          </a:solidFill>
          <a:ln w="12700">
            <a:solidFill>
              <a:srgbClr val="94A3B8"/>
            </a:solidFill>
            <a:prstDash val="solid"/>
          </a:ln>
        </p:spPr>
      </p:sp>
      <p:sp>
        <p:nvSpPr>
          <p:cNvPr id="15" name="Text 13"/>
          <p:cNvSpPr/>
          <p:nvPr/>
        </p:nvSpPr>
        <p:spPr>
          <a:xfrm>
            <a:off x="822960" y="1847088"/>
            <a:ext cx="1234440" cy="384048"/>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2026</a:t>
            </a:r>
            <a:endParaRPr lang="en-US" sz="1000" dirty="0"/>
          </a:p>
        </p:txBody>
      </p:sp>
      <p:sp>
        <p:nvSpPr>
          <p:cNvPr id="16" name="Text 14"/>
          <p:cNvSpPr/>
          <p:nvPr/>
        </p:nvSpPr>
        <p:spPr>
          <a:xfrm>
            <a:off x="3553587" y="1847088"/>
            <a:ext cx="1097280" cy="384048"/>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Rp 7.5 M</a:t>
            </a:r>
            <a:endParaRPr lang="en-US" sz="850" dirty="0"/>
          </a:p>
        </p:txBody>
      </p:sp>
      <p:sp>
        <p:nvSpPr>
          <p:cNvPr id="17" name="Text 15"/>
          <p:cNvSpPr/>
          <p:nvPr/>
        </p:nvSpPr>
        <p:spPr>
          <a:xfrm>
            <a:off x="7589520" y="1847088"/>
            <a:ext cx="1005840" cy="384048"/>
          </a:xfrm>
          <a:prstGeom prst="rect">
            <a:avLst/>
          </a:prstGeom>
          <a:noFill/>
          <a:ln/>
        </p:spPr>
        <p:txBody>
          <a:bodyPr wrap="square" rtlCol="0" anchor="ctr"/>
          <a:lstStyle/>
          <a:p>
            <a:pPr algn="ctr" indent="0" marL="0">
              <a:buNone/>
            </a:pPr>
            <a:r>
              <a:rPr lang="en-US" sz="850" b="1" dirty="0">
                <a:solidFill>
                  <a:srgbClr val="94A3B8"/>
                </a:solidFill>
                <a:latin typeface="Arial" pitchFamily="34" charset="0"/>
                <a:ea typeface="Arial" pitchFamily="34" charset="-122"/>
                <a:cs typeface="Arial" pitchFamily="34" charset="-120"/>
              </a:rPr>
              <a:t>Baseline</a:t>
            </a:r>
            <a:endParaRPr lang="en-US" sz="850" dirty="0"/>
          </a:p>
        </p:txBody>
      </p:sp>
      <p:sp>
        <p:nvSpPr>
          <p:cNvPr id="18" name="Shape 16"/>
          <p:cNvSpPr/>
          <p:nvPr/>
        </p:nvSpPr>
        <p:spPr>
          <a:xfrm>
            <a:off x="2194560" y="2532888"/>
            <a:ext cx="4114800" cy="256032"/>
          </a:xfrm>
          <a:prstGeom prst="roundRect">
            <a:avLst>
              <a:gd name="adj" fmla="val 14286"/>
            </a:avLst>
          </a:prstGeom>
          <a:solidFill>
            <a:srgbClr val="0D213F"/>
          </a:solidFill>
          <a:ln w="12700">
            <a:solidFill>
              <a:srgbClr val="1E3A5F"/>
            </a:solidFill>
            <a:prstDash val="solid"/>
          </a:ln>
        </p:spPr>
      </p:sp>
      <p:sp>
        <p:nvSpPr>
          <p:cNvPr id="19" name="Shape 17"/>
          <p:cNvSpPr/>
          <p:nvPr/>
        </p:nvSpPr>
        <p:spPr>
          <a:xfrm>
            <a:off x="2194560" y="2532888"/>
            <a:ext cx="2148269" cy="256032"/>
          </a:xfrm>
          <a:prstGeom prst="roundRect">
            <a:avLst>
              <a:gd name="adj" fmla="val 14286"/>
            </a:avLst>
          </a:prstGeom>
          <a:solidFill>
            <a:srgbClr val="38BDF8"/>
          </a:solidFill>
          <a:ln w="12700">
            <a:solidFill>
              <a:srgbClr val="38BDF8"/>
            </a:solidFill>
            <a:prstDash val="solid"/>
          </a:ln>
        </p:spPr>
      </p:sp>
      <p:sp>
        <p:nvSpPr>
          <p:cNvPr id="20" name="Text 18"/>
          <p:cNvSpPr/>
          <p:nvPr/>
        </p:nvSpPr>
        <p:spPr>
          <a:xfrm>
            <a:off x="822960" y="2468880"/>
            <a:ext cx="1234440" cy="384048"/>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2027</a:t>
            </a:r>
            <a:endParaRPr lang="en-US" sz="1000" dirty="0"/>
          </a:p>
        </p:txBody>
      </p:sp>
      <p:sp>
        <p:nvSpPr>
          <p:cNvPr id="21" name="Text 19"/>
          <p:cNvSpPr/>
          <p:nvPr/>
        </p:nvSpPr>
        <p:spPr>
          <a:xfrm>
            <a:off x="4415981" y="2468880"/>
            <a:ext cx="1097280" cy="384048"/>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Rp 12.53 M</a:t>
            </a:r>
            <a:endParaRPr lang="en-US" sz="850" dirty="0"/>
          </a:p>
        </p:txBody>
      </p:sp>
      <p:sp>
        <p:nvSpPr>
          <p:cNvPr id="22" name="Text 20"/>
          <p:cNvSpPr/>
          <p:nvPr/>
        </p:nvSpPr>
        <p:spPr>
          <a:xfrm>
            <a:off x="7589520" y="2468880"/>
            <a:ext cx="1005840" cy="384048"/>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+67%</a:t>
            </a:r>
            <a:endParaRPr lang="en-US" sz="850" dirty="0"/>
          </a:p>
        </p:txBody>
      </p:sp>
      <p:sp>
        <p:nvSpPr>
          <p:cNvPr id="23" name="Shape 21"/>
          <p:cNvSpPr/>
          <p:nvPr/>
        </p:nvSpPr>
        <p:spPr>
          <a:xfrm>
            <a:off x="2194560" y="3154680"/>
            <a:ext cx="4114800" cy="256032"/>
          </a:xfrm>
          <a:prstGeom prst="roundRect">
            <a:avLst>
              <a:gd name="adj" fmla="val 14286"/>
            </a:avLst>
          </a:prstGeom>
          <a:solidFill>
            <a:srgbClr val="0D213F"/>
          </a:solidFill>
          <a:ln w="12700">
            <a:solidFill>
              <a:srgbClr val="1E3A5F"/>
            </a:solidFill>
            <a:prstDash val="solid"/>
          </a:ln>
        </p:spPr>
      </p:sp>
      <p:sp>
        <p:nvSpPr>
          <p:cNvPr id="24" name="Shape 22"/>
          <p:cNvSpPr/>
          <p:nvPr/>
        </p:nvSpPr>
        <p:spPr>
          <a:xfrm>
            <a:off x="2194560" y="3154680"/>
            <a:ext cx="2760345" cy="256032"/>
          </a:xfrm>
          <a:prstGeom prst="roundRect">
            <a:avLst>
              <a:gd name="adj" fmla="val 14286"/>
            </a:avLst>
          </a:prstGeom>
          <a:solidFill>
            <a:srgbClr val="0EA5E9"/>
          </a:solidFill>
          <a:ln w="12700">
            <a:solidFill>
              <a:srgbClr val="0EA5E9"/>
            </a:solidFill>
            <a:prstDash val="solid"/>
          </a:ln>
        </p:spPr>
      </p:sp>
      <p:sp>
        <p:nvSpPr>
          <p:cNvPr id="25" name="Text 23"/>
          <p:cNvSpPr/>
          <p:nvPr/>
        </p:nvSpPr>
        <p:spPr>
          <a:xfrm>
            <a:off x="822960" y="3090672"/>
            <a:ext cx="1234440" cy="384048"/>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2028</a:t>
            </a:r>
            <a:endParaRPr lang="en-US" sz="1000" dirty="0"/>
          </a:p>
        </p:txBody>
      </p:sp>
      <p:sp>
        <p:nvSpPr>
          <p:cNvPr id="26" name="Text 24"/>
          <p:cNvSpPr/>
          <p:nvPr/>
        </p:nvSpPr>
        <p:spPr>
          <a:xfrm>
            <a:off x="5028057" y="3090672"/>
            <a:ext cx="1097280" cy="384048"/>
          </a:xfrm>
          <a:prstGeom prst="rect">
            <a:avLst/>
          </a:prstGeom>
          <a:noFill/>
          <a:ln/>
        </p:spPr>
        <p:txBody>
          <a:bodyPr wrap="square" rtlCol="0" anchor="ctr"/>
          <a:lstStyle/>
          <a:p>
            <a:pPr indent="0" marL="0">
              <a:buNone/>
            </a:pPr>
            <a:r>
              <a:rPr lang="en-US" sz="850" b="1" dirty="0">
                <a:solidFill>
                  <a:srgbClr val="0EA5E9"/>
                </a:solidFill>
                <a:latin typeface="Arial" pitchFamily="34" charset="0"/>
                <a:ea typeface="Arial" pitchFamily="34" charset="-122"/>
                <a:cs typeface="Arial" pitchFamily="34" charset="-120"/>
              </a:rPr>
              <a:t>Rp 16.1 M</a:t>
            </a:r>
            <a:endParaRPr lang="en-US" sz="850" dirty="0"/>
          </a:p>
        </p:txBody>
      </p:sp>
      <p:sp>
        <p:nvSpPr>
          <p:cNvPr id="27" name="Text 25"/>
          <p:cNvSpPr/>
          <p:nvPr/>
        </p:nvSpPr>
        <p:spPr>
          <a:xfrm>
            <a:off x="7589520" y="3090672"/>
            <a:ext cx="1005840" cy="38404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+28.5%</a:t>
            </a:r>
            <a:endParaRPr lang="en-US" sz="850" dirty="0"/>
          </a:p>
        </p:txBody>
      </p:sp>
      <p:sp>
        <p:nvSpPr>
          <p:cNvPr id="28" name="Shape 26"/>
          <p:cNvSpPr/>
          <p:nvPr/>
        </p:nvSpPr>
        <p:spPr>
          <a:xfrm>
            <a:off x="2194560" y="3776472"/>
            <a:ext cx="4114800" cy="256032"/>
          </a:xfrm>
          <a:prstGeom prst="roundRect">
            <a:avLst>
              <a:gd name="adj" fmla="val 14286"/>
            </a:avLst>
          </a:prstGeom>
          <a:solidFill>
            <a:srgbClr val="0D213F"/>
          </a:solidFill>
          <a:ln w="12700">
            <a:solidFill>
              <a:srgbClr val="1E3A5F"/>
            </a:solidFill>
            <a:prstDash val="solid"/>
          </a:ln>
        </p:spPr>
      </p:sp>
      <p:sp>
        <p:nvSpPr>
          <p:cNvPr id="29" name="Shape 27"/>
          <p:cNvSpPr/>
          <p:nvPr/>
        </p:nvSpPr>
        <p:spPr>
          <a:xfrm>
            <a:off x="2194560" y="3776472"/>
            <a:ext cx="3535299" cy="256032"/>
          </a:xfrm>
          <a:prstGeom prst="roundRect">
            <a:avLst>
              <a:gd name="adj" fmla="val 14286"/>
            </a:avLst>
          </a:prstGeom>
          <a:solidFill>
            <a:srgbClr val="10B981"/>
          </a:solidFill>
          <a:ln w="12700">
            <a:solidFill>
              <a:srgbClr val="10B981"/>
            </a:solidFill>
            <a:prstDash val="solid"/>
          </a:ln>
        </p:spPr>
      </p:sp>
      <p:sp>
        <p:nvSpPr>
          <p:cNvPr id="30" name="Text 28"/>
          <p:cNvSpPr/>
          <p:nvPr/>
        </p:nvSpPr>
        <p:spPr>
          <a:xfrm>
            <a:off x="822960" y="3712464"/>
            <a:ext cx="1234440" cy="384048"/>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2029</a:t>
            </a:r>
            <a:endParaRPr lang="en-US" sz="1000" dirty="0"/>
          </a:p>
        </p:txBody>
      </p:sp>
      <p:sp>
        <p:nvSpPr>
          <p:cNvPr id="31" name="Text 29"/>
          <p:cNvSpPr/>
          <p:nvPr/>
        </p:nvSpPr>
        <p:spPr>
          <a:xfrm>
            <a:off x="5803011" y="3712464"/>
            <a:ext cx="1097280" cy="384048"/>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Rp 20.62 M</a:t>
            </a:r>
            <a:endParaRPr lang="en-US" sz="850" dirty="0"/>
          </a:p>
        </p:txBody>
      </p:sp>
      <p:sp>
        <p:nvSpPr>
          <p:cNvPr id="32" name="Text 30"/>
          <p:cNvSpPr/>
          <p:nvPr/>
        </p:nvSpPr>
        <p:spPr>
          <a:xfrm>
            <a:off x="7589520" y="3712464"/>
            <a:ext cx="1005840" cy="38404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+28%</a:t>
            </a:r>
            <a:endParaRPr lang="en-US" sz="850" dirty="0"/>
          </a:p>
        </p:txBody>
      </p:sp>
      <p:sp>
        <p:nvSpPr>
          <p:cNvPr id="33" name="Shape 31"/>
          <p:cNvSpPr/>
          <p:nvPr/>
        </p:nvSpPr>
        <p:spPr>
          <a:xfrm>
            <a:off x="2194560" y="4398264"/>
            <a:ext cx="4114800" cy="256032"/>
          </a:xfrm>
          <a:prstGeom prst="roundRect">
            <a:avLst>
              <a:gd name="adj" fmla="val 14286"/>
            </a:avLst>
          </a:prstGeom>
          <a:solidFill>
            <a:srgbClr val="0D213F"/>
          </a:solidFill>
          <a:ln w="12700">
            <a:solidFill>
              <a:srgbClr val="1E3A5F"/>
            </a:solidFill>
            <a:prstDash val="solid"/>
          </a:ln>
        </p:spPr>
      </p:sp>
      <p:sp>
        <p:nvSpPr>
          <p:cNvPr id="34" name="Shape 32"/>
          <p:cNvSpPr/>
          <p:nvPr/>
        </p:nvSpPr>
        <p:spPr>
          <a:xfrm>
            <a:off x="2194560" y="4398264"/>
            <a:ext cx="4023932" cy="256032"/>
          </a:xfrm>
          <a:prstGeom prst="roundRect">
            <a:avLst>
              <a:gd name="adj" fmla="val 14286"/>
            </a:avLst>
          </a:prstGeom>
          <a:solidFill>
            <a:srgbClr val="F59E0B"/>
          </a:solidFill>
          <a:ln w="12700">
            <a:solidFill>
              <a:srgbClr val="F59E0B"/>
            </a:solidFill>
            <a:prstDash val="solid"/>
          </a:ln>
        </p:spPr>
      </p:sp>
      <p:sp>
        <p:nvSpPr>
          <p:cNvPr id="35" name="Text 33"/>
          <p:cNvSpPr/>
          <p:nvPr/>
        </p:nvSpPr>
        <p:spPr>
          <a:xfrm>
            <a:off x="822960" y="4334256"/>
            <a:ext cx="1234440" cy="384048"/>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2030</a:t>
            </a:r>
            <a:endParaRPr lang="en-US" sz="1000" dirty="0"/>
          </a:p>
        </p:txBody>
      </p:sp>
      <p:sp>
        <p:nvSpPr>
          <p:cNvPr id="36" name="Text 34"/>
          <p:cNvSpPr/>
          <p:nvPr/>
        </p:nvSpPr>
        <p:spPr>
          <a:xfrm>
            <a:off x="6291644" y="4334256"/>
            <a:ext cx="1097280" cy="384048"/>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Rp 23.47 M</a:t>
            </a:r>
            <a:endParaRPr lang="en-US" sz="850" dirty="0"/>
          </a:p>
        </p:txBody>
      </p:sp>
      <p:sp>
        <p:nvSpPr>
          <p:cNvPr id="37" name="Text 35"/>
          <p:cNvSpPr/>
          <p:nvPr/>
        </p:nvSpPr>
        <p:spPr>
          <a:xfrm>
            <a:off x="7589520" y="4334256"/>
            <a:ext cx="1005840" cy="38404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MANDIRI</a:t>
            </a:r>
            <a:endParaRPr lang="en-US" sz="850" dirty="0"/>
          </a:p>
        </p:txBody>
      </p:sp>
      <p:sp>
        <p:nvSpPr>
          <p:cNvPr id="38" name="Shape 36"/>
          <p:cNvSpPr/>
          <p:nvPr/>
        </p:nvSpPr>
        <p:spPr>
          <a:xfrm>
            <a:off x="914400" y="5010912"/>
            <a:ext cx="6309360" cy="384048"/>
          </a:xfrm>
          <a:prstGeom prst="roundRect">
            <a:avLst>
              <a:gd name="adj" fmla="val 19048"/>
            </a:avLst>
          </a:prstGeom>
          <a:solidFill>
            <a:srgbClr val="0B2540"/>
          </a:solidFill>
          <a:ln w="12700">
            <a:solidFill>
              <a:srgbClr val="F59E0B"/>
            </a:solidFill>
            <a:prstDash val="solid"/>
          </a:ln>
        </p:spPr>
      </p:sp>
      <p:sp>
        <p:nvSpPr>
          <p:cNvPr id="39" name="Text 37"/>
          <p:cNvSpPr/>
          <p:nvPr/>
        </p:nvSpPr>
        <p:spPr>
          <a:xfrm>
            <a:off x="1005840" y="5010912"/>
            <a:ext cx="612648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TOTAL PERTUMBUHAN 2026-2030:  </a:t>
            </a:r>
            <a:pPr algn="ctr" indent="0" marL="0">
              <a:buNone/>
            </a:pPr>
            <a:r>
              <a:rPr lang="en-US" sz="1300" b="1" dirty="0">
                <a:solidFill>
                  <a:srgbClr val="F59E0B"/>
                </a:solidFill>
                <a:latin typeface="Arial" pitchFamily="34" charset="0"/>
                <a:ea typeface="Arial" pitchFamily="34" charset="-122"/>
                <a:cs typeface="Arial" pitchFamily="34" charset="-120"/>
              </a:rPr>
              <a:t>+212,8%  (3,1x LIPAT)</a:t>
            </a:r>
            <a:pPr algn="ctr" indent="0" marL="0">
              <a:buNone/>
            </a:pPr>
            <a:r>
              <a:rPr lang="en-US" sz="900" dirty="0">
                <a:solidFill>
                  <a:srgbClr val="94A3B8"/>
                </a:solidFill>
                <a:latin typeface="Arial" pitchFamily="34" charset="0"/>
                <a:ea typeface="Arial" pitchFamily="34" charset="-122"/>
                <a:cs typeface="Arial" pitchFamily="34" charset="-120"/>
              </a:rPr>
              <a:t>  -- BEP Tercapai di 2028</a:t>
            </a:r>
            <a:endParaRPr lang="en-US" sz="1000" dirty="0"/>
          </a:p>
        </p:txBody>
      </p:sp>
      <p:sp>
        <p:nvSpPr>
          <p:cNvPr id="40" name="Shape 38"/>
          <p:cNvSpPr/>
          <p:nvPr/>
        </p:nvSpPr>
        <p:spPr>
          <a:xfrm>
            <a:off x="731520" y="3931920"/>
            <a:ext cx="6675120" cy="2331720"/>
          </a:xfrm>
          <a:prstGeom prst="roundRect">
            <a:avLst>
              <a:gd name="adj" fmla="val 3137"/>
            </a:avLst>
          </a:prstGeom>
          <a:solidFill>
            <a:srgbClr val="0D213F"/>
          </a:solidFill>
          <a:ln w="12700">
            <a:solidFill>
              <a:srgbClr val="1E3A5F"/>
            </a:solidFill>
            <a:prstDash val="solid"/>
          </a:ln>
        </p:spPr>
      </p:sp>
      <p:sp>
        <p:nvSpPr>
          <p:cNvPr id="41" name="Shape 39"/>
          <p:cNvSpPr/>
          <p:nvPr/>
        </p:nvSpPr>
        <p:spPr>
          <a:xfrm>
            <a:off x="731520" y="3931920"/>
            <a:ext cx="73152" cy="2331720"/>
          </a:xfrm>
          <a:prstGeom prst="roundRect">
            <a:avLst>
              <a:gd name="adj" fmla="val 50000"/>
            </a:avLst>
          </a:prstGeom>
          <a:solidFill>
            <a:srgbClr val="0EA5E9"/>
          </a:solidFill>
          <a:ln w="12700">
            <a:solidFill>
              <a:srgbClr val="0EA5E9"/>
            </a:solidFill>
            <a:prstDash val="solid"/>
          </a:ln>
        </p:spPr>
      </p:sp>
      <p:sp>
        <p:nvSpPr>
          <p:cNvPr id="42" name="Text 40"/>
          <p:cNvSpPr/>
          <p:nvPr/>
        </p:nvSpPr>
        <p:spPr>
          <a:xfrm>
            <a:off x="960120" y="4069080"/>
            <a:ext cx="63093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LOMPATAN FINANSIAL: +212,8% (3,1× LIPAT DALAM 4 TAHUN)</a:t>
            </a:r>
            <a:endParaRPr lang="en-US" sz="1200" dirty="0"/>
          </a:p>
        </p:txBody>
      </p:sp>
      <p:sp>
        <p:nvSpPr>
          <p:cNvPr id="43" name="Text 41"/>
          <p:cNvSpPr/>
          <p:nvPr/>
        </p:nvSpPr>
        <p:spPr>
          <a:xfrm>
            <a:off x="960120" y="4434840"/>
            <a:ext cx="6309360" cy="1691640"/>
          </a:xfrm>
          <a:prstGeom prst="rect">
            <a:avLst/>
          </a:prstGeom>
          <a:noFill/>
          <a:ln/>
        </p:spPr>
        <p:txBody>
          <a:bodyPr wrap="square" rtlCol="0" anchor="ctr"/>
          <a:lstStyle/>
          <a:p>
            <a:pPr indent="0" marL="0">
              <a:lnSpc>
                <a:spcPts val="1400"/>
              </a:lnSpc>
              <a:buNone/>
            </a:pPr>
            <a:r>
              <a:rPr lang="en-US" sz="920" b="1" dirty="0">
                <a:solidFill>
                  <a:srgbClr val="FFFFFF"/>
                </a:solidFill>
                <a:latin typeface="Arial" pitchFamily="34" charset="0"/>
                <a:ea typeface="Arial" pitchFamily="34" charset="-122"/>
                <a:cs typeface="Arial" pitchFamily="34" charset="-120"/>
              </a:rPr>
              <a:t>• Mandiri Total Tanpa APBD di 2030: </a:t>
            </a:r>
            <a:pPr indent="0" marL="0">
              <a:lnSpc>
                <a:spcPts val="1400"/>
              </a:lnSpc>
              <a:buNone/>
            </a:pPr>
            <a:r>
              <a:rPr lang="en-US" sz="920" dirty="0">
                <a:solidFill>
                  <a:srgbClr val="94A3B8"/>
                </a:solidFill>
                <a:latin typeface="Arial" pitchFamily="34" charset="0"/>
                <a:ea typeface="Arial" pitchFamily="34" charset="-122"/>
                <a:cs typeface="Arial" pitchFamily="34" charset="-120"/>
              </a:rPr>
              <a:t>Seluruh biaya operasional UPTD STP tertutup penuh oleh pendapatan layanan mandiri tanpa subsidi kas daerah.
</a:t>
            </a:r>
            <a:pPr indent="0" marL="0">
              <a:lnSpc>
                <a:spcPts val="1400"/>
              </a:lnSpc>
              <a:buNone/>
            </a:pPr>
            <a:r>
              <a:rPr lang="en-US" sz="920" b="1" dirty="0">
                <a:solidFill>
                  <a:srgbClr val="FFFFFF"/>
                </a:solidFill>
                <a:latin typeface="Arial" pitchFamily="34" charset="0"/>
                <a:ea typeface="Arial" pitchFamily="34" charset="-122"/>
                <a:cs typeface="Arial" pitchFamily="34" charset="-120"/>
              </a:rPr>
              <a:t>• Titik Impas (BEP) di Tahun 2028: </a:t>
            </a:r>
            <a:pPr indent="0" marL="0">
              <a:lnSpc>
                <a:spcPts val="1400"/>
              </a:lnSpc>
              <a:buNone/>
            </a:pPr>
            <a:r>
              <a:rPr lang="en-US" sz="920" dirty="0">
                <a:solidFill>
                  <a:srgbClr val="94A3B8"/>
                </a:solidFill>
                <a:latin typeface="Arial" pitchFamily="34" charset="0"/>
                <a:ea typeface="Arial" pitchFamily="34" charset="-122"/>
                <a:cs typeface="Arial" pitchFamily="34" charset="-120"/>
              </a:rPr>
              <a:t>Tercapai di angka Rp 16,10 Miliar seiring beroperasinya Strategic Business Unit (SBU) manufaktur dan vokasi.
</a:t>
            </a:r>
            <a:pPr indent="0" marL="0">
              <a:lnSpc>
                <a:spcPts val="1400"/>
              </a:lnSpc>
              <a:buNone/>
            </a:pPr>
            <a:r>
              <a:rPr lang="en-US" sz="920" b="1" dirty="0">
                <a:solidFill>
                  <a:srgbClr val="FFFFFF"/>
                </a:solidFill>
                <a:latin typeface="Arial" pitchFamily="34" charset="0"/>
                <a:ea typeface="Arial" pitchFamily="34" charset="-122"/>
                <a:cs typeface="Arial" pitchFamily="34" charset="-120"/>
              </a:rPr>
              <a:t>• Kualitas Pendapatan Berkelanjutan: </a:t>
            </a:r>
            <a:pPr indent="0" marL="0">
              <a:lnSpc>
                <a:spcPts val="1400"/>
              </a:lnSpc>
              <a:buNone/>
            </a:pPr>
            <a:r>
              <a:rPr lang="en-US" sz="920" dirty="0">
                <a:solidFill>
                  <a:srgbClr val="94A3B8"/>
                </a:solidFill>
                <a:latin typeface="Arial" pitchFamily="34" charset="0"/>
                <a:ea typeface="Arial" pitchFamily="34" charset="-122"/>
                <a:cs typeface="Arial" pitchFamily="34" charset="-120"/>
              </a:rPr>
              <a:t>88% disumbang keahlian riset &amp; vokasi industri (program migas, uji lab, diklat spesialis, dan startup).</a:t>
            </a:r>
            <a:endParaRPr lang="en-US" sz="920" dirty="0"/>
          </a:p>
        </p:txBody>
      </p:sp>
      <p:sp>
        <p:nvSpPr>
          <p:cNvPr id="44" name="Shape 42"/>
          <p:cNvSpPr/>
          <p:nvPr/>
        </p:nvSpPr>
        <p:spPr>
          <a:xfrm>
            <a:off x="7589520" y="1325880"/>
            <a:ext cx="3870655" cy="4937760"/>
          </a:xfrm>
          <a:prstGeom prst="roundRect">
            <a:avLst>
              <a:gd name="adj" fmla="val 1890"/>
            </a:avLst>
          </a:prstGeom>
          <a:solidFill>
            <a:srgbClr val="0A192F"/>
          </a:solidFill>
          <a:ln w="12700">
            <a:solidFill>
              <a:srgbClr val="1E3A5F"/>
            </a:solidFill>
            <a:prstDash val="solid"/>
          </a:ln>
        </p:spPr>
      </p:sp>
      <p:sp>
        <p:nvSpPr>
          <p:cNvPr id="45" name="Shape 43"/>
          <p:cNvSpPr/>
          <p:nvPr/>
        </p:nvSpPr>
        <p:spPr>
          <a:xfrm>
            <a:off x="7589520" y="1325880"/>
            <a:ext cx="73152" cy="4937760"/>
          </a:xfrm>
          <a:prstGeom prst="roundRect">
            <a:avLst>
              <a:gd name="adj" fmla="val 50000"/>
            </a:avLst>
          </a:prstGeom>
          <a:solidFill>
            <a:srgbClr val="F59E0B"/>
          </a:solidFill>
          <a:ln w="12700">
            <a:solidFill>
              <a:srgbClr val="F59E0B"/>
            </a:solidFill>
            <a:prstDash val="solid"/>
          </a:ln>
        </p:spPr>
      </p:sp>
      <p:sp>
        <p:nvSpPr>
          <p:cNvPr id="46" name="Text 44"/>
          <p:cNvSpPr/>
          <p:nvPr/>
        </p:nvSpPr>
        <p:spPr>
          <a:xfrm>
            <a:off x="7818120" y="1463040"/>
            <a:ext cx="3474720" cy="27432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KOMPOSISI REVENUE STREAM 2030</a:t>
            </a:r>
            <a:endParaRPr lang="en-US" sz="1050" dirty="0"/>
          </a:p>
        </p:txBody>
      </p:sp>
      <p:sp>
        <p:nvSpPr>
          <p:cNvPr id="47" name="Shape 45"/>
          <p:cNvSpPr/>
          <p:nvPr/>
        </p:nvSpPr>
        <p:spPr>
          <a:xfrm>
            <a:off x="7818120" y="1828800"/>
            <a:ext cx="3474720" cy="438912"/>
          </a:xfrm>
          <a:prstGeom prst="roundRect">
            <a:avLst>
              <a:gd name="adj" fmla="val 8333"/>
            </a:avLst>
          </a:prstGeom>
          <a:solidFill>
            <a:srgbClr val="0D213F"/>
          </a:solidFill>
          <a:ln w="12700">
            <a:solidFill>
              <a:srgbClr val="1E3A5F"/>
            </a:solidFill>
            <a:prstDash val="solid"/>
          </a:ln>
        </p:spPr>
      </p:sp>
      <p:sp>
        <p:nvSpPr>
          <p:cNvPr id="48" name="Text 46"/>
          <p:cNvSpPr/>
          <p:nvPr/>
        </p:nvSpPr>
        <p:spPr>
          <a:xfrm>
            <a:off x="7909560" y="190195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Kerjasama Program</a:t>
            </a:r>
            <a:endParaRPr lang="en-US" sz="880" dirty="0"/>
          </a:p>
        </p:txBody>
      </p:sp>
      <p:sp>
        <p:nvSpPr>
          <p:cNvPr id="49" name="Text 47"/>
          <p:cNvSpPr/>
          <p:nvPr/>
        </p:nvSpPr>
        <p:spPr>
          <a:xfrm>
            <a:off x="9829800" y="1901952"/>
            <a:ext cx="1371600" cy="292608"/>
          </a:xfrm>
          <a:prstGeom prst="rect">
            <a:avLst/>
          </a:prstGeom>
          <a:noFill/>
          <a:ln/>
        </p:spPr>
        <p:txBody>
          <a:bodyPr wrap="square" rtlCol="0" anchor="ctr"/>
          <a:lstStyle/>
          <a:p>
            <a:pPr algn="r" indent="0" marL="0">
              <a:buNone/>
            </a:pPr>
            <a:r>
              <a:rPr lang="en-US" sz="880" b="1" dirty="0">
                <a:solidFill>
                  <a:srgbClr val="0EA5E9"/>
                </a:solidFill>
                <a:latin typeface="Arial" pitchFamily="34" charset="0"/>
                <a:ea typeface="Arial" pitchFamily="34" charset="-122"/>
                <a:cs typeface="Arial" pitchFamily="34" charset="-120"/>
              </a:rPr>
              <a:t>Rp 12,83 M (51%)</a:t>
            </a:r>
            <a:endParaRPr lang="en-US" sz="880" dirty="0"/>
          </a:p>
        </p:txBody>
      </p:sp>
      <p:sp>
        <p:nvSpPr>
          <p:cNvPr id="50" name="Shape 48"/>
          <p:cNvSpPr/>
          <p:nvPr/>
        </p:nvSpPr>
        <p:spPr>
          <a:xfrm>
            <a:off x="7818120" y="2331720"/>
            <a:ext cx="3474720" cy="438912"/>
          </a:xfrm>
          <a:prstGeom prst="roundRect">
            <a:avLst>
              <a:gd name="adj" fmla="val 8333"/>
            </a:avLst>
          </a:prstGeom>
          <a:solidFill>
            <a:srgbClr val="0D213F"/>
          </a:solidFill>
          <a:ln w="12700">
            <a:solidFill>
              <a:srgbClr val="1E3A5F"/>
            </a:solidFill>
            <a:prstDash val="solid"/>
          </a:ln>
        </p:spPr>
      </p:sp>
      <p:sp>
        <p:nvSpPr>
          <p:cNvPr id="51" name="Text 49"/>
          <p:cNvSpPr/>
          <p:nvPr/>
        </p:nvSpPr>
        <p:spPr>
          <a:xfrm>
            <a:off x="7909560" y="240487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Pelatihan &amp; Sertifikasi</a:t>
            </a:r>
            <a:endParaRPr lang="en-US" sz="880" dirty="0"/>
          </a:p>
        </p:txBody>
      </p:sp>
      <p:sp>
        <p:nvSpPr>
          <p:cNvPr id="52" name="Text 50"/>
          <p:cNvSpPr/>
          <p:nvPr/>
        </p:nvSpPr>
        <p:spPr>
          <a:xfrm>
            <a:off x="9829800" y="2404872"/>
            <a:ext cx="1371600" cy="292608"/>
          </a:xfrm>
          <a:prstGeom prst="rect">
            <a:avLst/>
          </a:prstGeom>
          <a:noFill/>
          <a:ln/>
        </p:spPr>
        <p:txBody>
          <a:bodyPr wrap="square" rtlCol="0" anchor="ctr"/>
          <a:lstStyle/>
          <a:p>
            <a:pPr algn="r" indent="0" marL="0">
              <a:buNone/>
            </a:pPr>
            <a:r>
              <a:rPr lang="en-US" sz="880" b="1" dirty="0">
                <a:solidFill>
                  <a:srgbClr val="38BDF8"/>
                </a:solidFill>
                <a:latin typeface="Arial" pitchFamily="34" charset="0"/>
                <a:ea typeface="Arial" pitchFamily="34" charset="-122"/>
                <a:cs typeface="Arial" pitchFamily="34" charset="-120"/>
              </a:rPr>
              <a:t>Rp 5,41 M (23%)</a:t>
            </a:r>
            <a:endParaRPr lang="en-US" sz="880" dirty="0"/>
          </a:p>
        </p:txBody>
      </p:sp>
      <p:sp>
        <p:nvSpPr>
          <p:cNvPr id="53" name="Shape 51"/>
          <p:cNvSpPr/>
          <p:nvPr/>
        </p:nvSpPr>
        <p:spPr>
          <a:xfrm>
            <a:off x="7818120" y="2834640"/>
            <a:ext cx="3474720" cy="438912"/>
          </a:xfrm>
          <a:prstGeom prst="roundRect">
            <a:avLst>
              <a:gd name="adj" fmla="val 8333"/>
            </a:avLst>
          </a:prstGeom>
          <a:solidFill>
            <a:srgbClr val="0D213F"/>
          </a:solidFill>
          <a:ln w="12700">
            <a:solidFill>
              <a:srgbClr val="1E3A5F"/>
            </a:solidFill>
            <a:prstDash val="solid"/>
          </a:ln>
        </p:spPr>
      </p:sp>
      <p:sp>
        <p:nvSpPr>
          <p:cNvPr id="54" name="Text 52"/>
          <p:cNvSpPr/>
          <p:nvPr/>
        </p:nvSpPr>
        <p:spPr>
          <a:xfrm>
            <a:off x="7909560" y="290779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Sewa Kawasan &amp; Coworking</a:t>
            </a:r>
            <a:endParaRPr lang="en-US" sz="880" dirty="0"/>
          </a:p>
        </p:txBody>
      </p:sp>
      <p:sp>
        <p:nvSpPr>
          <p:cNvPr id="55" name="Text 53"/>
          <p:cNvSpPr/>
          <p:nvPr/>
        </p:nvSpPr>
        <p:spPr>
          <a:xfrm>
            <a:off x="9829800" y="2907792"/>
            <a:ext cx="1371600" cy="292608"/>
          </a:xfrm>
          <a:prstGeom prst="rect">
            <a:avLst/>
          </a:prstGeom>
          <a:noFill/>
          <a:ln/>
        </p:spPr>
        <p:txBody>
          <a:bodyPr wrap="square" rtlCol="0" anchor="ctr"/>
          <a:lstStyle/>
          <a:p>
            <a:pPr algn="r" indent="0" marL="0">
              <a:buNone/>
            </a:pPr>
            <a:r>
              <a:rPr lang="en-US" sz="880" b="1" dirty="0">
                <a:solidFill>
                  <a:srgbClr val="10B981"/>
                </a:solidFill>
                <a:latin typeface="Arial" pitchFamily="34" charset="0"/>
                <a:ea typeface="Arial" pitchFamily="34" charset="-122"/>
                <a:cs typeface="Arial" pitchFamily="34" charset="-120"/>
              </a:rPr>
              <a:t>Rp 4,17 M (18%)</a:t>
            </a:r>
            <a:endParaRPr lang="en-US" sz="880" dirty="0"/>
          </a:p>
        </p:txBody>
      </p:sp>
      <p:sp>
        <p:nvSpPr>
          <p:cNvPr id="56" name="Shape 54"/>
          <p:cNvSpPr/>
          <p:nvPr/>
        </p:nvSpPr>
        <p:spPr>
          <a:xfrm>
            <a:off x="7818120" y="3337560"/>
            <a:ext cx="3474720" cy="438912"/>
          </a:xfrm>
          <a:prstGeom prst="roundRect">
            <a:avLst>
              <a:gd name="adj" fmla="val 8333"/>
            </a:avLst>
          </a:prstGeom>
          <a:solidFill>
            <a:srgbClr val="0D213F"/>
          </a:solidFill>
          <a:ln w="12700">
            <a:solidFill>
              <a:srgbClr val="1E3A5F"/>
            </a:solidFill>
            <a:prstDash val="solid"/>
          </a:ln>
        </p:spPr>
      </p:sp>
      <p:sp>
        <p:nvSpPr>
          <p:cNvPr id="57" name="Text 55"/>
          <p:cNvSpPr/>
          <p:nvPr/>
        </p:nvSpPr>
        <p:spPr>
          <a:xfrm>
            <a:off x="7909560" y="3410712"/>
            <a:ext cx="1920240" cy="292608"/>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 Produksi &amp; Rekayasa</a:t>
            </a:r>
            <a:endParaRPr lang="en-US" sz="880" dirty="0"/>
          </a:p>
        </p:txBody>
      </p:sp>
      <p:sp>
        <p:nvSpPr>
          <p:cNvPr id="58" name="Text 56"/>
          <p:cNvSpPr/>
          <p:nvPr/>
        </p:nvSpPr>
        <p:spPr>
          <a:xfrm>
            <a:off x="9829800" y="3410712"/>
            <a:ext cx="1371600" cy="292608"/>
          </a:xfrm>
          <a:prstGeom prst="rect">
            <a:avLst/>
          </a:prstGeom>
          <a:noFill/>
          <a:ln/>
        </p:spPr>
        <p:txBody>
          <a:bodyPr wrap="square" rtlCol="0" anchor="ctr"/>
          <a:lstStyle/>
          <a:p>
            <a:pPr algn="r" indent="0" marL="0">
              <a:buNone/>
            </a:pPr>
            <a:r>
              <a:rPr lang="en-US" sz="880" b="1" dirty="0">
                <a:solidFill>
                  <a:srgbClr val="94A3B8"/>
                </a:solidFill>
                <a:latin typeface="Arial" pitchFamily="34" charset="0"/>
                <a:ea typeface="Arial" pitchFamily="34" charset="-122"/>
                <a:cs typeface="Arial" pitchFamily="34" charset="-120"/>
              </a:rPr>
              <a:t>Rp 1,07 M (8%)</a:t>
            </a:r>
            <a:endParaRPr lang="en-US" sz="880" dirty="0"/>
          </a:p>
        </p:txBody>
      </p:sp>
      <p:sp>
        <p:nvSpPr>
          <p:cNvPr id="59" name="Text 57"/>
          <p:cNvSpPr/>
          <p:nvPr/>
        </p:nvSpPr>
        <p:spPr>
          <a:xfrm>
            <a:off x="7818120" y="3977640"/>
            <a:ext cx="3474720" cy="22860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TOP 5 KATALISATOR PENDAPATAN 2030:</a:t>
            </a:r>
            <a:endParaRPr lang="en-US" sz="950" dirty="0"/>
          </a:p>
        </p:txBody>
      </p:sp>
      <p:sp>
        <p:nvSpPr>
          <p:cNvPr id="60" name="Text 58"/>
          <p:cNvSpPr/>
          <p:nvPr/>
        </p:nvSpPr>
        <p:spPr>
          <a:xfrm>
            <a:off x="7818120" y="4251960"/>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#1 OGSCI Program Migas</a:t>
            </a:r>
            <a:endParaRPr lang="en-US" sz="850" dirty="0"/>
          </a:p>
        </p:txBody>
      </p:sp>
      <p:sp>
        <p:nvSpPr>
          <p:cNvPr id="61" name="Text 59"/>
          <p:cNvSpPr/>
          <p:nvPr/>
        </p:nvSpPr>
        <p:spPr>
          <a:xfrm>
            <a:off x="9738360" y="4251960"/>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6.250.000.000</a:t>
            </a:r>
            <a:endParaRPr lang="en-US" sz="850" dirty="0"/>
          </a:p>
        </p:txBody>
      </p:sp>
      <p:sp>
        <p:nvSpPr>
          <p:cNvPr id="62" name="Text 60"/>
          <p:cNvSpPr/>
          <p:nvPr/>
        </p:nvSpPr>
        <p:spPr>
          <a:xfrm>
            <a:off x="7818120" y="4636008"/>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#2 Pemda e-Katalog Inovasi</a:t>
            </a:r>
            <a:endParaRPr lang="en-US" sz="850" dirty="0"/>
          </a:p>
        </p:txBody>
      </p:sp>
      <p:sp>
        <p:nvSpPr>
          <p:cNvPr id="63" name="Text 61"/>
          <p:cNvSpPr/>
          <p:nvPr/>
        </p:nvSpPr>
        <p:spPr>
          <a:xfrm>
            <a:off x="9738360" y="4636008"/>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2.250.000.000</a:t>
            </a:r>
            <a:endParaRPr lang="en-US" sz="850" dirty="0"/>
          </a:p>
        </p:txBody>
      </p:sp>
      <p:sp>
        <p:nvSpPr>
          <p:cNvPr id="64" name="Text 62"/>
          <p:cNvSpPr/>
          <p:nvPr/>
        </p:nvSpPr>
        <p:spPr>
          <a:xfrm>
            <a:off x="7818120" y="5020056"/>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#3 Startup Binaan STP</a:t>
            </a:r>
            <a:endParaRPr lang="en-US" sz="850" dirty="0"/>
          </a:p>
        </p:txBody>
      </p:sp>
      <p:sp>
        <p:nvSpPr>
          <p:cNvPr id="65" name="Text 63"/>
          <p:cNvSpPr/>
          <p:nvPr/>
        </p:nvSpPr>
        <p:spPr>
          <a:xfrm>
            <a:off x="9738360" y="5020056"/>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2.000.000.000</a:t>
            </a:r>
            <a:endParaRPr lang="en-US" sz="850" dirty="0"/>
          </a:p>
        </p:txBody>
      </p:sp>
      <p:sp>
        <p:nvSpPr>
          <p:cNvPr id="66" name="Text 64"/>
          <p:cNvSpPr/>
          <p:nvPr/>
        </p:nvSpPr>
        <p:spPr>
          <a:xfrm>
            <a:off x="7818120" y="5404104"/>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#4 Sertifikasi Tenaga JFT</a:t>
            </a:r>
            <a:endParaRPr lang="en-US" sz="850" dirty="0"/>
          </a:p>
        </p:txBody>
      </p:sp>
      <p:sp>
        <p:nvSpPr>
          <p:cNvPr id="67" name="Text 65"/>
          <p:cNvSpPr/>
          <p:nvPr/>
        </p:nvSpPr>
        <p:spPr>
          <a:xfrm>
            <a:off x="9738360" y="5404104"/>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1.375.000.000</a:t>
            </a:r>
            <a:endParaRPr lang="en-US" sz="850" dirty="0"/>
          </a:p>
        </p:txBody>
      </p:sp>
      <p:sp>
        <p:nvSpPr>
          <p:cNvPr id="68" name="Text 66"/>
          <p:cNvSpPr/>
          <p:nvPr/>
        </p:nvSpPr>
        <p:spPr>
          <a:xfrm>
            <a:off x="7818120" y="5788152"/>
            <a:ext cx="1920240" cy="32004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#5 Tempat Uji Kompetensi</a:t>
            </a:r>
            <a:endParaRPr lang="en-US" sz="850" dirty="0"/>
          </a:p>
        </p:txBody>
      </p:sp>
      <p:sp>
        <p:nvSpPr>
          <p:cNvPr id="69" name="Text 67"/>
          <p:cNvSpPr/>
          <p:nvPr/>
        </p:nvSpPr>
        <p:spPr>
          <a:xfrm>
            <a:off x="9738360" y="5788152"/>
            <a:ext cx="1554480" cy="320040"/>
          </a:xfrm>
          <a:prstGeom prst="rect">
            <a:avLst/>
          </a:prstGeom>
          <a:noFill/>
          <a:ln/>
        </p:spPr>
        <p:txBody>
          <a:bodyPr wrap="square" rtlCol="0" anchor="ctr"/>
          <a:lstStyle/>
          <a:p>
            <a:pPr algn="r" indent="0" marL="0">
              <a:buNone/>
            </a:pPr>
            <a:r>
              <a:rPr lang="en-US" sz="850" b="1" dirty="0">
                <a:solidFill>
                  <a:srgbClr val="FFFFFF"/>
                </a:solidFill>
                <a:latin typeface="Arial" pitchFamily="34" charset="0"/>
                <a:ea typeface="Arial" pitchFamily="34" charset="-122"/>
                <a:cs typeface="Arial" pitchFamily="34" charset="-120"/>
              </a:rPr>
              <a:t>Rp 1.350.000.000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TRANSPARANSI ANGGARAN &amp; STRUKTUR PENDAPATAN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ANATOMY MESIN PENDAPATAN 2030: RINCIAN PER MATA ANGGARAN</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Transparansi Total Hasil Rekonsiliasi: Dari Mana Setiap Rupiah dari Target Rp 23,47 Miliar Berasal</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10 / 12</a:t>
            </a:r>
            <a:endParaRPr lang="en-US" sz="900" dirty="0"/>
          </a:p>
        </p:txBody>
      </p:sp>
      <p:sp>
        <p:nvSpPr>
          <p:cNvPr id="11" name="Shape 9"/>
          <p:cNvSpPr/>
          <p:nvPr/>
        </p:nvSpPr>
        <p:spPr>
          <a:xfrm>
            <a:off x="731520" y="1325880"/>
            <a:ext cx="3474720" cy="2057400"/>
          </a:xfrm>
          <a:prstGeom prst="roundRect">
            <a:avLst>
              <a:gd name="adj" fmla="val 3556"/>
            </a:avLst>
          </a:prstGeom>
          <a:solidFill>
            <a:srgbClr val="0A192F"/>
          </a:solidFill>
          <a:ln w="12700">
            <a:solidFill>
              <a:srgbClr val="1E3A5F"/>
            </a:solidFill>
            <a:prstDash val="solid"/>
          </a:ln>
        </p:spPr>
      </p:sp>
      <p:sp>
        <p:nvSpPr>
          <p:cNvPr id="12" name="Shape 10"/>
          <p:cNvSpPr/>
          <p:nvPr/>
        </p:nvSpPr>
        <p:spPr>
          <a:xfrm>
            <a:off x="731520" y="1325880"/>
            <a:ext cx="73152" cy="205740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17320"/>
            <a:ext cx="3200400" cy="475488"/>
          </a:xfrm>
          <a:prstGeom prst="roundRect">
            <a:avLst>
              <a:gd name="adj" fmla="val 7692"/>
            </a:avLst>
          </a:prstGeom>
          <a:solidFill>
            <a:srgbClr val="0D213F"/>
          </a:solidFill>
          <a:ln w="12700">
            <a:solidFill>
              <a:srgbClr val="0EA5E9"/>
            </a:solidFill>
            <a:prstDash val="solid"/>
          </a:ln>
        </p:spPr>
      </p:sp>
      <p:sp>
        <p:nvSpPr>
          <p:cNvPr id="14" name="Text 12"/>
          <p:cNvSpPr/>
          <p:nvPr/>
        </p:nvSpPr>
        <p:spPr>
          <a:xfrm>
            <a:off x="91440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A: KERJASAMA PROGRAM STRATEGIS</a:t>
            </a:r>
            <a:endParaRPr lang="en-US" sz="850" dirty="0"/>
          </a:p>
        </p:txBody>
      </p:sp>
      <p:sp>
        <p:nvSpPr>
          <p:cNvPr id="15" name="Text 13"/>
          <p:cNvSpPr/>
          <p:nvPr/>
        </p:nvSpPr>
        <p:spPr>
          <a:xfrm>
            <a:off x="914400" y="1636776"/>
            <a:ext cx="3108960" cy="219456"/>
          </a:xfrm>
          <a:prstGeom prst="rect">
            <a:avLst/>
          </a:prstGeom>
          <a:noFill/>
          <a:ln/>
        </p:spPr>
        <p:txBody>
          <a:bodyPr wrap="square" rtlCol="0" anchor="ctr"/>
          <a:lstStyle/>
          <a:p>
            <a:pPr indent="0" marL="0">
              <a:buNone/>
            </a:pPr>
            <a:r>
              <a:rPr lang="en-US" sz="950" b="1" dirty="0">
                <a:solidFill>
                  <a:srgbClr val="0EA5E9"/>
                </a:solidFill>
                <a:latin typeface="Arial" pitchFamily="34" charset="0"/>
                <a:ea typeface="Arial" pitchFamily="34" charset="-122"/>
                <a:cs typeface="Arial" pitchFamily="34" charset="-120"/>
              </a:rPr>
              <a:t>Rp 12.825.000.000 (51%)</a:t>
            </a:r>
            <a:endParaRPr lang="en-US" sz="950" dirty="0"/>
          </a:p>
        </p:txBody>
      </p:sp>
      <p:sp>
        <p:nvSpPr>
          <p:cNvPr id="16" name="Text 14"/>
          <p:cNvSpPr/>
          <p:nvPr/>
        </p:nvSpPr>
        <p:spPr>
          <a:xfrm>
            <a:off x="89611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OGSCI (Oil, Gas, Coal, Ship &amp; Infra): Rp 6.250.000.000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Pemda Surakarta (e-Katalog Inovasi): Rp 2.250.000.000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Startup Binaan STP (Komersialisasi): Rp 2.000.000.000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BP3MI - SMK GoGlobal (Talenta Global): Rp 1.500.000.000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LPK Lainnya &amp; Kemenperin: Rp 825.000.000</a:t>
            </a:r>
            <a:endParaRPr lang="en-US" sz="780" dirty="0"/>
          </a:p>
        </p:txBody>
      </p:sp>
      <p:sp>
        <p:nvSpPr>
          <p:cNvPr id="17" name="Shape 15"/>
          <p:cNvSpPr/>
          <p:nvPr/>
        </p:nvSpPr>
        <p:spPr>
          <a:xfrm>
            <a:off x="4343400" y="1325880"/>
            <a:ext cx="3474720" cy="2057400"/>
          </a:xfrm>
          <a:prstGeom prst="roundRect">
            <a:avLst>
              <a:gd name="adj" fmla="val 3556"/>
            </a:avLst>
          </a:prstGeom>
          <a:solidFill>
            <a:srgbClr val="0A192F"/>
          </a:solidFill>
          <a:ln w="12700">
            <a:solidFill>
              <a:srgbClr val="1E3A5F"/>
            </a:solidFill>
            <a:prstDash val="solid"/>
          </a:ln>
        </p:spPr>
      </p:sp>
      <p:sp>
        <p:nvSpPr>
          <p:cNvPr id="18" name="Shape 16"/>
          <p:cNvSpPr/>
          <p:nvPr/>
        </p:nvSpPr>
        <p:spPr>
          <a:xfrm>
            <a:off x="4343400" y="1325880"/>
            <a:ext cx="73152" cy="2057400"/>
          </a:xfrm>
          <a:prstGeom prst="roundRect">
            <a:avLst>
              <a:gd name="adj" fmla="val 50000"/>
            </a:avLst>
          </a:prstGeom>
          <a:solidFill>
            <a:srgbClr val="38BDF8"/>
          </a:solidFill>
          <a:ln w="12700">
            <a:solidFill>
              <a:srgbClr val="38BDF8"/>
            </a:solidFill>
            <a:prstDash val="solid"/>
          </a:ln>
        </p:spPr>
      </p:sp>
      <p:sp>
        <p:nvSpPr>
          <p:cNvPr id="19" name="Shape 17"/>
          <p:cNvSpPr/>
          <p:nvPr/>
        </p:nvSpPr>
        <p:spPr>
          <a:xfrm>
            <a:off x="4480560" y="1417320"/>
            <a:ext cx="3200400" cy="475488"/>
          </a:xfrm>
          <a:prstGeom prst="roundRect">
            <a:avLst>
              <a:gd name="adj" fmla="val 7692"/>
            </a:avLst>
          </a:prstGeom>
          <a:solidFill>
            <a:srgbClr val="0D213F"/>
          </a:solidFill>
          <a:ln w="12700">
            <a:solidFill>
              <a:srgbClr val="38BDF8"/>
            </a:solidFill>
            <a:prstDash val="solid"/>
          </a:ln>
        </p:spPr>
      </p:sp>
      <p:sp>
        <p:nvSpPr>
          <p:cNvPr id="20" name="Text 18"/>
          <p:cNvSpPr/>
          <p:nvPr/>
        </p:nvSpPr>
        <p:spPr>
          <a:xfrm>
            <a:off x="452628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B: LAYANAN VOKASI &amp; SERTIFIKASI</a:t>
            </a:r>
            <a:endParaRPr lang="en-US" sz="850" dirty="0"/>
          </a:p>
        </p:txBody>
      </p:sp>
      <p:sp>
        <p:nvSpPr>
          <p:cNvPr id="21" name="Text 19"/>
          <p:cNvSpPr/>
          <p:nvPr/>
        </p:nvSpPr>
        <p:spPr>
          <a:xfrm>
            <a:off x="4526280" y="1636776"/>
            <a:ext cx="3108960" cy="219456"/>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Rp 3.679.800.000 (16%)</a:t>
            </a:r>
            <a:endParaRPr lang="en-US" sz="950" dirty="0"/>
          </a:p>
        </p:txBody>
      </p:sp>
      <p:sp>
        <p:nvSpPr>
          <p:cNvPr id="22" name="Text 20"/>
          <p:cNvSpPr/>
          <p:nvPr/>
        </p:nvSpPr>
        <p:spPr>
          <a:xfrm>
            <a:off x="450799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Sertifikasi JFT (Fungsional Tertentu): Rp 1.375.000.000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TUK (Tempat Uji Kompetensi Mandiri): Rp 1.350.000.000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Konsultasi Lab &amp; Data Center: Rp 950.000.000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Prakerin Siswa SMK Se-Solo Raya: Rp 4.800.000</a:t>
            </a:r>
            <a:endParaRPr lang="en-US" sz="780" dirty="0"/>
          </a:p>
        </p:txBody>
      </p:sp>
      <p:sp>
        <p:nvSpPr>
          <p:cNvPr id="23" name="Shape 21"/>
          <p:cNvSpPr/>
          <p:nvPr/>
        </p:nvSpPr>
        <p:spPr>
          <a:xfrm>
            <a:off x="7955280" y="1325880"/>
            <a:ext cx="3474720" cy="2057400"/>
          </a:xfrm>
          <a:prstGeom prst="roundRect">
            <a:avLst>
              <a:gd name="adj" fmla="val 3556"/>
            </a:avLst>
          </a:prstGeom>
          <a:solidFill>
            <a:srgbClr val="0A192F"/>
          </a:solidFill>
          <a:ln w="12700">
            <a:solidFill>
              <a:srgbClr val="1E3A5F"/>
            </a:solidFill>
            <a:prstDash val="solid"/>
          </a:ln>
        </p:spPr>
      </p:sp>
      <p:sp>
        <p:nvSpPr>
          <p:cNvPr id="24" name="Shape 22"/>
          <p:cNvSpPr/>
          <p:nvPr/>
        </p:nvSpPr>
        <p:spPr>
          <a:xfrm>
            <a:off x="7955280" y="1325880"/>
            <a:ext cx="73152" cy="2057400"/>
          </a:xfrm>
          <a:prstGeom prst="roundRect">
            <a:avLst>
              <a:gd name="adj" fmla="val 50000"/>
            </a:avLst>
          </a:prstGeom>
          <a:solidFill>
            <a:srgbClr val="F59E0B"/>
          </a:solidFill>
          <a:ln w="12700">
            <a:solidFill>
              <a:srgbClr val="F59E0B"/>
            </a:solidFill>
            <a:prstDash val="solid"/>
          </a:ln>
        </p:spPr>
      </p:sp>
      <p:sp>
        <p:nvSpPr>
          <p:cNvPr id="25" name="Shape 23"/>
          <p:cNvSpPr/>
          <p:nvPr/>
        </p:nvSpPr>
        <p:spPr>
          <a:xfrm>
            <a:off x="8092440" y="1417320"/>
            <a:ext cx="3200400" cy="475488"/>
          </a:xfrm>
          <a:prstGeom prst="roundRect">
            <a:avLst>
              <a:gd name="adj" fmla="val 7692"/>
            </a:avLst>
          </a:prstGeom>
          <a:solidFill>
            <a:srgbClr val="0D213F"/>
          </a:solidFill>
          <a:ln w="12700">
            <a:solidFill>
              <a:srgbClr val="F59E0B"/>
            </a:solidFill>
            <a:prstDash val="solid"/>
          </a:ln>
        </p:spPr>
      </p:sp>
      <p:sp>
        <p:nvSpPr>
          <p:cNvPr id="26" name="Text 24"/>
          <p:cNvSpPr/>
          <p:nvPr/>
        </p:nvSpPr>
        <p:spPr>
          <a:xfrm>
            <a:off x="8138160" y="1435608"/>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C: DIKLAT MANDIRI SPESIALIS</a:t>
            </a:r>
            <a:endParaRPr lang="en-US" sz="850" dirty="0"/>
          </a:p>
        </p:txBody>
      </p:sp>
      <p:sp>
        <p:nvSpPr>
          <p:cNvPr id="27" name="Text 25"/>
          <p:cNvSpPr/>
          <p:nvPr/>
        </p:nvSpPr>
        <p:spPr>
          <a:xfrm>
            <a:off x="8138160" y="1636776"/>
            <a:ext cx="3108960" cy="219456"/>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Rp 2.469.000.000 (10%)</a:t>
            </a:r>
            <a:endParaRPr lang="en-US" sz="950" dirty="0"/>
          </a:p>
        </p:txBody>
      </p:sp>
      <p:sp>
        <p:nvSpPr>
          <p:cNvPr id="28" name="Text 26"/>
          <p:cNvSpPr/>
          <p:nvPr/>
        </p:nvSpPr>
        <p:spPr>
          <a:xfrm>
            <a:off x="8119872" y="1947672"/>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Underwater Wet Welding (Keahlian Langka): Rp 846.000.000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Manufaktur Presisi &amp; Welding Intensif: Rp 728.000.000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Digital Tech (Cyber Security &amp; AI): Rp 225.000.000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Desain Produk, Manajerial &amp; EV: Rp 555.000.000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Kewirausahaan &amp; Digitalisasi UMKM: Rp 115.000.000</a:t>
            </a:r>
            <a:endParaRPr lang="en-US" sz="780" dirty="0"/>
          </a:p>
        </p:txBody>
      </p:sp>
      <p:sp>
        <p:nvSpPr>
          <p:cNvPr id="29" name="Shape 27"/>
          <p:cNvSpPr/>
          <p:nvPr/>
        </p:nvSpPr>
        <p:spPr>
          <a:xfrm>
            <a:off x="731520" y="3502152"/>
            <a:ext cx="3474720" cy="2057400"/>
          </a:xfrm>
          <a:prstGeom prst="roundRect">
            <a:avLst>
              <a:gd name="adj" fmla="val 3556"/>
            </a:avLst>
          </a:prstGeom>
          <a:solidFill>
            <a:srgbClr val="0A192F"/>
          </a:solidFill>
          <a:ln w="12700">
            <a:solidFill>
              <a:srgbClr val="1E3A5F"/>
            </a:solidFill>
            <a:prstDash val="solid"/>
          </a:ln>
        </p:spPr>
      </p:sp>
      <p:sp>
        <p:nvSpPr>
          <p:cNvPr id="30" name="Shape 28"/>
          <p:cNvSpPr/>
          <p:nvPr/>
        </p:nvSpPr>
        <p:spPr>
          <a:xfrm>
            <a:off x="731520" y="3502152"/>
            <a:ext cx="73152" cy="205740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68680" y="3593592"/>
            <a:ext cx="3200400" cy="475488"/>
          </a:xfrm>
          <a:prstGeom prst="roundRect">
            <a:avLst>
              <a:gd name="adj" fmla="val 7692"/>
            </a:avLst>
          </a:prstGeom>
          <a:solidFill>
            <a:srgbClr val="0D213F"/>
          </a:solidFill>
          <a:ln w="12700">
            <a:solidFill>
              <a:srgbClr val="10B981"/>
            </a:solidFill>
            <a:prstDash val="solid"/>
          </a:ln>
        </p:spPr>
      </p:sp>
      <p:sp>
        <p:nvSpPr>
          <p:cNvPr id="32" name="Text 30"/>
          <p:cNvSpPr/>
          <p:nvPr/>
        </p:nvSpPr>
        <p:spPr>
          <a:xfrm>
            <a:off x="91440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D: LAIN-LAIN PENDAPATAN BLUD</a:t>
            </a:r>
            <a:endParaRPr lang="en-US" sz="850" dirty="0"/>
          </a:p>
        </p:txBody>
      </p:sp>
      <p:sp>
        <p:nvSpPr>
          <p:cNvPr id="33" name="Text 31"/>
          <p:cNvSpPr/>
          <p:nvPr/>
        </p:nvSpPr>
        <p:spPr>
          <a:xfrm>
            <a:off x="914400" y="3813048"/>
            <a:ext cx="3108960" cy="219456"/>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Rp 2.450.000.000 (10%)</a:t>
            </a:r>
            <a:endParaRPr lang="en-US" sz="950" dirty="0"/>
          </a:p>
        </p:txBody>
      </p:sp>
      <p:sp>
        <p:nvSpPr>
          <p:cNvPr id="34" name="Text 32"/>
          <p:cNvSpPr/>
          <p:nvPr/>
        </p:nvSpPr>
        <p:spPr>
          <a:xfrm>
            <a:off x="89611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Pemanfaatan Sarana Kawasan &amp; Event/MICE: Rp 1.500.000.000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Co-Working Space &amp; Virtual Office: Rp 900.000.000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Jasa Giro Rekening Kas BLUD: Rp 50.000.000</a:t>
            </a:r>
            <a:endParaRPr lang="en-US" sz="780" dirty="0"/>
          </a:p>
        </p:txBody>
      </p:sp>
      <p:sp>
        <p:nvSpPr>
          <p:cNvPr id="35" name="Shape 33"/>
          <p:cNvSpPr/>
          <p:nvPr/>
        </p:nvSpPr>
        <p:spPr>
          <a:xfrm>
            <a:off x="4343400" y="3502152"/>
            <a:ext cx="3474720" cy="2057400"/>
          </a:xfrm>
          <a:prstGeom prst="roundRect">
            <a:avLst>
              <a:gd name="adj" fmla="val 3556"/>
            </a:avLst>
          </a:prstGeom>
          <a:solidFill>
            <a:srgbClr val="0A192F"/>
          </a:solidFill>
          <a:ln w="12700">
            <a:solidFill>
              <a:srgbClr val="1E3A5F"/>
            </a:solidFill>
            <a:prstDash val="solid"/>
          </a:ln>
        </p:spPr>
      </p:sp>
      <p:sp>
        <p:nvSpPr>
          <p:cNvPr id="36" name="Shape 34"/>
          <p:cNvSpPr/>
          <p:nvPr/>
        </p:nvSpPr>
        <p:spPr>
          <a:xfrm>
            <a:off x="4343400" y="3502152"/>
            <a:ext cx="73152" cy="2057400"/>
          </a:xfrm>
          <a:prstGeom prst="roundRect">
            <a:avLst>
              <a:gd name="adj" fmla="val 50000"/>
            </a:avLst>
          </a:prstGeom>
          <a:solidFill>
            <a:srgbClr val="FFFFFF"/>
          </a:solidFill>
          <a:ln w="12700">
            <a:solidFill>
              <a:srgbClr val="FFFFFF"/>
            </a:solidFill>
            <a:prstDash val="solid"/>
          </a:ln>
        </p:spPr>
      </p:sp>
      <p:sp>
        <p:nvSpPr>
          <p:cNvPr id="37" name="Shape 35"/>
          <p:cNvSpPr/>
          <p:nvPr/>
        </p:nvSpPr>
        <p:spPr>
          <a:xfrm>
            <a:off x="4480560" y="3593592"/>
            <a:ext cx="3200400" cy="475488"/>
          </a:xfrm>
          <a:prstGeom prst="roundRect">
            <a:avLst>
              <a:gd name="adj" fmla="val 7692"/>
            </a:avLst>
          </a:prstGeom>
          <a:solidFill>
            <a:srgbClr val="0D213F"/>
          </a:solidFill>
          <a:ln w="12700">
            <a:solidFill>
              <a:srgbClr val="FFFFFF"/>
            </a:solidFill>
            <a:prstDash val="solid"/>
          </a:ln>
        </p:spPr>
      </p:sp>
      <p:sp>
        <p:nvSpPr>
          <p:cNvPr id="38" name="Text 36"/>
          <p:cNvSpPr/>
          <p:nvPr/>
        </p:nvSpPr>
        <p:spPr>
          <a:xfrm>
            <a:off x="452628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E: REKAYASA MANUFAKTUR &amp; PRODUKSI</a:t>
            </a:r>
            <a:endParaRPr lang="en-US" sz="850" dirty="0"/>
          </a:p>
        </p:txBody>
      </p:sp>
      <p:sp>
        <p:nvSpPr>
          <p:cNvPr id="39" name="Text 37"/>
          <p:cNvSpPr/>
          <p:nvPr/>
        </p:nvSpPr>
        <p:spPr>
          <a:xfrm>
            <a:off x="4526280" y="3813048"/>
            <a:ext cx="3108960" cy="219456"/>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Rp 1.465.000.000 (6%)</a:t>
            </a:r>
            <a:endParaRPr lang="en-US" sz="950" dirty="0"/>
          </a:p>
        </p:txBody>
      </p:sp>
      <p:sp>
        <p:nvSpPr>
          <p:cNvPr id="40" name="Text 38"/>
          <p:cNvSpPr/>
          <p:nvPr/>
        </p:nvSpPr>
        <p:spPr>
          <a:xfrm>
            <a:off x="450799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Jasa Produksi Precision Parts: Rp 1.225.000.000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Standarisasi Produk &amp; Sertifikasi TKDN: Rp 135.000.000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Produksi Pesanan Pemda (e-Katalog): Rp 105.000.000</a:t>
            </a:r>
            <a:endParaRPr lang="en-US" sz="780" dirty="0"/>
          </a:p>
        </p:txBody>
      </p:sp>
      <p:sp>
        <p:nvSpPr>
          <p:cNvPr id="41" name="Shape 39"/>
          <p:cNvSpPr/>
          <p:nvPr/>
        </p:nvSpPr>
        <p:spPr>
          <a:xfrm>
            <a:off x="7955280" y="3502152"/>
            <a:ext cx="3474720" cy="2057400"/>
          </a:xfrm>
          <a:prstGeom prst="roundRect">
            <a:avLst>
              <a:gd name="adj" fmla="val 3556"/>
            </a:avLst>
          </a:prstGeom>
          <a:solidFill>
            <a:srgbClr val="0A192F"/>
          </a:solidFill>
          <a:ln w="12700">
            <a:solidFill>
              <a:srgbClr val="1E3A5F"/>
            </a:solidFill>
            <a:prstDash val="solid"/>
          </a:ln>
        </p:spPr>
      </p:sp>
      <p:sp>
        <p:nvSpPr>
          <p:cNvPr id="42" name="Shape 40"/>
          <p:cNvSpPr/>
          <p:nvPr/>
        </p:nvSpPr>
        <p:spPr>
          <a:xfrm>
            <a:off x="7955280" y="3502152"/>
            <a:ext cx="73152" cy="2057400"/>
          </a:xfrm>
          <a:prstGeom prst="roundRect">
            <a:avLst>
              <a:gd name="adj" fmla="val 50000"/>
            </a:avLst>
          </a:prstGeom>
          <a:solidFill>
            <a:srgbClr val="94A3B8"/>
          </a:solidFill>
          <a:ln w="12700">
            <a:solidFill>
              <a:srgbClr val="94A3B8"/>
            </a:solidFill>
            <a:prstDash val="solid"/>
          </a:ln>
        </p:spPr>
      </p:sp>
      <p:sp>
        <p:nvSpPr>
          <p:cNvPr id="43" name="Shape 41"/>
          <p:cNvSpPr/>
          <p:nvPr/>
        </p:nvSpPr>
        <p:spPr>
          <a:xfrm>
            <a:off x="8092440" y="3593592"/>
            <a:ext cx="3200400" cy="475488"/>
          </a:xfrm>
          <a:prstGeom prst="roundRect">
            <a:avLst>
              <a:gd name="adj" fmla="val 7692"/>
            </a:avLst>
          </a:prstGeom>
          <a:solidFill>
            <a:srgbClr val="0D213F"/>
          </a:solidFill>
          <a:ln w="12700">
            <a:solidFill>
              <a:srgbClr val="94A3B8"/>
            </a:solidFill>
            <a:prstDash val="solid"/>
          </a:ln>
        </p:spPr>
      </p:sp>
      <p:sp>
        <p:nvSpPr>
          <p:cNvPr id="44" name="Text 42"/>
          <p:cNvSpPr/>
          <p:nvPr/>
        </p:nvSpPr>
        <p:spPr>
          <a:xfrm>
            <a:off x="8138160" y="3611880"/>
            <a:ext cx="3108960" cy="20116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KLASTER F: KEMITRAAN LAHAN EKSISTING</a:t>
            </a:r>
            <a:endParaRPr lang="en-US" sz="850" dirty="0"/>
          </a:p>
        </p:txBody>
      </p:sp>
      <p:sp>
        <p:nvSpPr>
          <p:cNvPr id="45" name="Text 43"/>
          <p:cNvSpPr/>
          <p:nvPr/>
        </p:nvSpPr>
        <p:spPr>
          <a:xfrm>
            <a:off x="8138160" y="3813048"/>
            <a:ext cx="3108960" cy="219456"/>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Rp 579.358.831 (3%)</a:t>
            </a:r>
            <a:endParaRPr lang="en-US" sz="950" dirty="0"/>
          </a:p>
        </p:txBody>
      </p:sp>
      <p:sp>
        <p:nvSpPr>
          <p:cNvPr id="46" name="Text 44"/>
          <p:cNvSpPr/>
          <p:nvPr/>
        </p:nvSpPr>
        <p:spPr>
          <a:xfrm>
            <a:off x="8119872" y="4123944"/>
            <a:ext cx="3154680" cy="1325880"/>
          </a:xfrm>
          <a:prstGeom prst="rect">
            <a:avLst/>
          </a:prstGeom>
          <a:noFill/>
          <a:ln/>
        </p:spPr>
        <p:txBody>
          <a:bodyPr wrap="square" rtlCol="0" anchor="ctr"/>
          <a:lstStyle/>
          <a:p>
            <a:pPr indent="0" marL="0">
              <a:lnSpc>
                <a:spcPts val="1000"/>
              </a:lnSpc>
              <a:buNone/>
            </a:pPr>
            <a:r>
              <a:rPr lang="en-US" sz="780" dirty="0">
                <a:solidFill>
                  <a:srgbClr val="94A3B8"/>
                </a:solidFill>
                <a:latin typeface="Arial" pitchFamily="34" charset="0"/>
                <a:ea typeface="Arial" pitchFamily="34" charset="-122"/>
                <a:cs typeface="Arial" pitchFamily="34" charset="-120"/>
              </a:rPr>
              <a:t>• Shopee Indonesia (Sewa Lahan/Co-location): Rp 544.358.831</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Katulondi (Sewa Fasilitas Kawasan): Rp 35.000.000</a:t>
            </a:r>
            <a:endParaRPr lang="en-US" sz="780" dirty="0"/>
          </a:p>
          <a:p>
            <a:pPr indent="0" marL="0">
              <a:lnSpc>
                <a:spcPts val="1000"/>
              </a:lnSpc>
              <a:buNone/>
            </a:pPr>
            <a:r>
              <a:rPr lang="en-US" sz="780" dirty="0">
                <a:solidFill>
                  <a:srgbClr val="94A3B8"/>
                </a:solidFill>
                <a:latin typeface="Arial" pitchFamily="34" charset="0"/>
                <a:ea typeface="Arial" pitchFamily="34" charset="-122"/>
                <a:cs typeface="Arial" pitchFamily="34" charset="-120"/>
              </a:rPr>
              <a:t>• Catatan: Porsi sewa lahan ditekan ke 3% demi fokus layanan bernilai tambah tinggi.</a:t>
            </a:r>
            <a:endParaRPr lang="en-US" sz="780" dirty="0"/>
          </a:p>
        </p:txBody>
      </p:sp>
      <p:sp>
        <p:nvSpPr>
          <p:cNvPr id="47" name="Shape 45"/>
          <p:cNvSpPr/>
          <p:nvPr/>
        </p:nvSpPr>
        <p:spPr>
          <a:xfrm>
            <a:off x="731520" y="5760720"/>
            <a:ext cx="10728655" cy="566928"/>
          </a:xfrm>
          <a:prstGeom prst="roundRect">
            <a:avLst>
              <a:gd name="adj" fmla="val 12903"/>
            </a:avLst>
          </a:prstGeom>
          <a:solidFill>
            <a:srgbClr val="0D213F"/>
          </a:solidFill>
          <a:ln w="12700">
            <a:solidFill>
              <a:srgbClr val="F59E0B"/>
            </a:solidFill>
            <a:prstDash val="solid"/>
          </a:ln>
        </p:spPr>
      </p:sp>
      <p:sp>
        <p:nvSpPr>
          <p:cNvPr id="48" name="Text 46"/>
          <p:cNvSpPr/>
          <p:nvPr/>
        </p:nvSpPr>
        <p:spPr>
          <a:xfrm>
            <a:off x="914400" y="5760720"/>
            <a:ext cx="10362895" cy="56692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TOTAL TARGET PENDAPATAN BLUD 2030:   </a:t>
            </a:r>
            <a:pPr algn="ctr" indent="0" marL="0">
              <a:buNone/>
            </a:pPr>
            <a:r>
              <a:rPr lang="en-US" sz="1400" b="1" dirty="0">
                <a:solidFill>
                  <a:srgbClr val="F59E0B"/>
                </a:solidFill>
                <a:latin typeface="Arial" pitchFamily="34" charset="0"/>
                <a:ea typeface="Arial" pitchFamily="34" charset="-122"/>
                <a:cs typeface="Arial" pitchFamily="34" charset="-120"/>
              </a:rPr>
              <a:t>Rp 23.468.158.831  </a:t>
            </a:r>
            <a:pPr algn="ctr" indent="0" marL="0">
              <a:buNone/>
            </a:pPr>
            <a:r>
              <a:rPr lang="en-US" sz="850" i="1" dirty="0">
                <a:solidFill>
                  <a:srgbClr val="94A3B8"/>
                </a:solidFill>
                <a:latin typeface="Arial" pitchFamily="34" charset="0"/>
                <a:ea typeface="Arial" pitchFamily="34" charset="-122"/>
                <a:cs typeface="Arial" pitchFamily="34" charset="-120"/>
              </a:rPr>
              <a:t>(Dua Puluh Tiga Miliar Empat Ratus Enam Puluh Delapan Juta Seratus Lima Puluh Delapan Ribu Rupiah)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DAMPAK SOSIAL-EKONOMI DAERAH</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6 DIMENSI KEBERDAMPAKAN: SOLO TECHNOPARK UNTUK WARGA SURAKARTA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11 / 12</a:t>
            </a:r>
            <a:endParaRPr lang="en-US" sz="900" dirty="0"/>
          </a:p>
        </p:txBody>
      </p:sp>
      <p:sp>
        <p:nvSpPr>
          <p:cNvPr id="11" name="Shape 9"/>
          <p:cNvSpPr/>
          <p:nvPr/>
        </p:nvSpPr>
        <p:spPr>
          <a:xfrm>
            <a:off x="731520" y="1325880"/>
            <a:ext cx="3474720" cy="2240280"/>
          </a:xfrm>
          <a:prstGeom prst="roundRect">
            <a:avLst>
              <a:gd name="adj" fmla="val 3265"/>
            </a:avLst>
          </a:prstGeom>
          <a:solidFill>
            <a:srgbClr val="0A192F"/>
          </a:solidFill>
          <a:ln w="12700">
            <a:solidFill>
              <a:srgbClr val="1E3A5F"/>
            </a:solidFill>
            <a:prstDash val="solid"/>
          </a:ln>
        </p:spPr>
      </p:sp>
      <p:sp>
        <p:nvSpPr>
          <p:cNvPr id="12" name="Shape 10"/>
          <p:cNvSpPr/>
          <p:nvPr/>
        </p:nvSpPr>
        <p:spPr>
          <a:xfrm>
            <a:off x="731520" y="1325880"/>
            <a:ext cx="73152" cy="224028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1. SDM LEBIH KOMPETEN</a:t>
            </a:r>
            <a:endParaRPr lang="en-US" sz="1050" dirty="0"/>
          </a:p>
        </p:txBody>
      </p:sp>
      <p:sp>
        <p:nvSpPr>
          <p:cNvPr id="14" name="Text 12"/>
          <p:cNvSpPr/>
          <p:nvPr/>
        </p:nvSpPr>
        <p:spPr>
          <a:xfrm>
            <a:off x="91440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Pelatihan vokasi industri &amp; uji kompetensi memperkuat daya saing kerja warga kota.</a:t>
            </a:r>
            <a:endParaRPr lang="en-US" sz="880" dirty="0"/>
          </a:p>
        </p:txBody>
      </p:sp>
      <p:sp>
        <p:nvSpPr>
          <p:cNvPr id="15" name="Text 13"/>
          <p:cNvSpPr/>
          <p:nvPr/>
        </p:nvSpPr>
        <p:spPr>
          <a:xfrm>
            <a:off x="868680" y="2404872"/>
            <a:ext cx="3200400" cy="475488"/>
          </a:xfrm>
          <a:prstGeom prst="rect">
            <a:avLst/>
          </a:prstGeom>
          <a:noFill/>
          <a:ln/>
        </p:spPr>
        <p:txBody>
          <a:bodyPr wrap="square" rtlCol="0" anchor="ctr"/>
          <a:lstStyle/>
          <a:p>
            <a:pPr algn="ctr" indent="0" marL="0">
              <a:buNone/>
            </a:pPr>
            <a:r>
              <a:rPr lang="en-US" sz="1500" b="1" dirty="0">
                <a:solidFill>
                  <a:srgbClr val="0EA5E9"/>
                </a:solidFill>
                <a:latin typeface="Arial" pitchFamily="34" charset="0"/>
                <a:ea typeface="Arial" pitchFamily="34" charset="-122"/>
                <a:cs typeface="Arial" pitchFamily="34" charset="-120"/>
              </a:rPr>
              <a:t>9.000 Peserta / Thn</a:t>
            </a:r>
            <a:endParaRPr lang="en-US" sz="1500" dirty="0"/>
          </a:p>
        </p:txBody>
      </p:sp>
      <p:sp>
        <p:nvSpPr>
          <p:cNvPr id="16" name="Shape 14"/>
          <p:cNvSpPr/>
          <p:nvPr/>
        </p:nvSpPr>
        <p:spPr>
          <a:xfrm>
            <a:off x="914400" y="2926080"/>
            <a:ext cx="3108960" cy="128016"/>
          </a:xfrm>
          <a:prstGeom prst="roundRect">
            <a:avLst>
              <a:gd name="adj" fmla="val 28571"/>
            </a:avLst>
          </a:prstGeom>
          <a:solidFill>
            <a:srgbClr val="0D213F"/>
          </a:solidFill>
          <a:ln w="12700">
            <a:solidFill>
              <a:srgbClr val="1E3A5F"/>
            </a:solidFill>
            <a:prstDash val="solid"/>
          </a:ln>
        </p:spPr>
      </p:sp>
      <p:sp>
        <p:nvSpPr>
          <p:cNvPr id="17" name="Shape 15"/>
          <p:cNvSpPr/>
          <p:nvPr/>
        </p:nvSpPr>
        <p:spPr>
          <a:xfrm>
            <a:off x="914400" y="2926080"/>
            <a:ext cx="2798064" cy="128016"/>
          </a:xfrm>
          <a:prstGeom prst="roundRect">
            <a:avLst>
              <a:gd name="adj" fmla="val 28571"/>
            </a:avLst>
          </a:prstGeom>
          <a:solidFill>
            <a:srgbClr val="0EA5E9"/>
          </a:solidFill>
          <a:ln w="12700">
            <a:solidFill>
              <a:srgbClr val="0EA5E9"/>
            </a:solidFill>
            <a:prstDash val="solid"/>
          </a:ln>
        </p:spPr>
      </p:sp>
      <p:sp>
        <p:nvSpPr>
          <p:cNvPr id="18" name="Text 16"/>
          <p:cNvSpPr/>
          <p:nvPr/>
        </p:nvSpPr>
        <p:spPr>
          <a:xfrm>
            <a:off x="914400" y="3063240"/>
            <a:ext cx="3108960" cy="182880"/>
          </a:xfrm>
          <a:prstGeom prst="rect">
            <a:avLst/>
          </a:prstGeom>
          <a:noFill/>
          <a:ln/>
        </p:spPr>
        <p:txBody>
          <a:bodyPr wrap="square" rtlCol="0" anchor="ctr"/>
          <a:lstStyle/>
          <a:p>
            <a:pPr algn="r" indent="0" marL="0">
              <a:buNone/>
            </a:pPr>
            <a:r>
              <a:rPr lang="en-US" sz="750" b="1" dirty="0">
                <a:solidFill>
                  <a:srgbClr val="0EA5E9"/>
                </a:solidFill>
                <a:latin typeface="Arial" pitchFamily="34" charset="0"/>
                <a:ea typeface="Arial" pitchFamily="34" charset="-122"/>
                <a:cs typeface="Arial" pitchFamily="34" charset="-120"/>
              </a:rPr>
              <a:t>90% Target 2030</a:t>
            </a:r>
            <a:endParaRPr lang="en-US" sz="750" dirty="0"/>
          </a:p>
        </p:txBody>
      </p:sp>
      <p:sp>
        <p:nvSpPr>
          <p:cNvPr id="19" name="Text 17"/>
          <p:cNvSpPr/>
          <p:nvPr/>
        </p:nvSpPr>
        <p:spPr>
          <a:xfrm>
            <a:off x="914400" y="327355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Kuota afirmasi 65% KTP Surakarta</a:t>
            </a:r>
            <a:endParaRPr lang="en-US" sz="800" dirty="0"/>
          </a:p>
        </p:txBody>
      </p:sp>
      <p:sp>
        <p:nvSpPr>
          <p:cNvPr id="20" name="Shape 18"/>
          <p:cNvSpPr/>
          <p:nvPr/>
        </p:nvSpPr>
        <p:spPr>
          <a:xfrm>
            <a:off x="4343400" y="1325880"/>
            <a:ext cx="3474720" cy="2240280"/>
          </a:xfrm>
          <a:prstGeom prst="roundRect">
            <a:avLst>
              <a:gd name="adj" fmla="val 3265"/>
            </a:avLst>
          </a:prstGeom>
          <a:solidFill>
            <a:srgbClr val="0A192F"/>
          </a:solidFill>
          <a:ln w="12700">
            <a:solidFill>
              <a:srgbClr val="1E3A5F"/>
            </a:solidFill>
            <a:prstDash val="solid"/>
          </a:ln>
        </p:spPr>
      </p:sp>
      <p:sp>
        <p:nvSpPr>
          <p:cNvPr id="21" name="Shape 19"/>
          <p:cNvSpPr/>
          <p:nvPr/>
        </p:nvSpPr>
        <p:spPr>
          <a:xfrm>
            <a:off x="4343400" y="1325880"/>
            <a:ext cx="73152" cy="2240280"/>
          </a:xfrm>
          <a:prstGeom prst="roundRect">
            <a:avLst>
              <a:gd name="adj" fmla="val 50000"/>
            </a:avLst>
          </a:prstGeom>
          <a:solidFill>
            <a:srgbClr val="F59E0B"/>
          </a:solidFill>
          <a:ln w="12700">
            <a:solidFill>
              <a:srgbClr val="F59E0B"/>
            </a:solidFill>
            <a:prstDash val="solid"/>
          </a:ln>
        </p:spPr>
      </p:sp>
      <p:sp>
        <p:nvSpPr>
          <p:cNvPr id="22" name="Text 20"/>
          <p:cNvSpPr/>
          <p:nvPr/>
        </p:nvSpPr>
        <p:spPr>
          <a:xfrm>
            <a:off x="452628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2. UMKM &amp; STARTUP TUMBUH</a:t>
            </a:r>
            <a:endParaRPr lang="en-US" sz="1050" dirty="0"/>
          </a:p>
        </p:txBody>
      </p:sp>
      <p:sp>
        <p:nvSpPr>
          <p:cNvPr id="23" name="Text 21"/>
          <p:cNvSpPr/>
          <p:nvPr/>
        </p:nvSpPr>
        <p:spPr>
          <a:xfrm>
            <a:off x="452628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Inkubasi memberi pendampingan teknis, digitalisasi GoTo Hub, &amp; akses pasar modal.</a:t>
            </a:r>
            <a:endParaRPr lang="en-US" sz="880" dirty="0"/>
          </a:p>
        </p:txBody>
      </p:sp>
      <p:sp>
        <p:nvSpPr>
          <p:cNvPr id="24" name="Text 22"/>
          <p:cNvSpPr/>
          <p:nvPr/>
        </p:nvSpPr>
        <p:spPr>
          <a:xfrm>
            <a:off x="4480560" y="2404872"/>
            <a:ext cx="3200400" cy="475488"/>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80+ Wirausaha Baru</a:t>
            </a:r>
            <a:endParaRPr lang="en-US" sz="1500" dirty="0"/>
          </a:p>
        </p:txBody>
      </p:sp>
      <p:sp>
        <p:nvSpPr>
          <p:cNvPr id="25" name="Shape 23"/>
          <p:cNvSpPr/>
          <p:nvPr/>
        </p:nvSpPr>
        <p:spPr>
          <a:xfrm>
            <a:off x="4526280" y="2926080"/>
            <a:ext cx="3108960" cy="128016"/>
          </a:xfrm>
          <a:prstGeom prst="roundRect">
            <a:avLst>
              <a:gd name="adj" fmla="val 28571"/>
            </a:avLst>
          </a:prstGeom>
          <a:solidFill>
            <a:srgbClr val="0D213F"/>
          </a:solidFill>
          <a:ln w="12700">
            <a:solidFill>
              <a:srgbClr val="1E3A5F"/>
            </a:solidFill>
            <a:prstDash val="solid"/>
          </a:ln>
        </p:spPr>
      </p:sp>
      <p:sp>
        <p:nvSpPr>
          <p:cNvPr id="26" name="Shape 24"/>
          <p:cNvSpPr/>
          <p:nvPr/>
        </p:nvSpPr>
        <p:spPr>
          <a:xfrm>
            <a:off x="4526280" y="2926080"/>
            <a:ext cx="2487168" cy="128016"/>
          </a:xfrm>
          <a:prstGeom prst="roundRect">
            <a:avLst>
              <a:gd name="adj" fmla="val 28571"/>
            </a:avLst>
          </a:prstGeom>
          <a:solidFill>
            <a:srgbClr val="F59E0B"/>
          </a:solidFill>
          <a:ln w="12700">
            <a:solidFill>
              <a:srgbClr val="F59E0B"/>
            </a:solidFill>
            <a:prstDash val="solid"/>
          </a:ln>
        </p:spPr>
      </p:sp>
      <p:sp>
        <p:nvSpPr>
          <p:cNvPr id="27" name="Text 25"/>
          <p:cNvSpPr/>
          <p:nvPr/>
        </p:nvSpPr>
        <p:spPr>
          <a:xfrm>
            <a:off x="4526280" y="3063240"/>
            <a:ext cx="3108960" cy="182880"/>
          </a:xfrm>
          <a:prstGeom prst="rect">
            <a:avLst/>
          </a:prstGeom>
          <a:noFill/>
          <a:ln/>
        </p:spPr>
        <p:txBody>
          <a:bodyPr wrap="square" rtlCol="0" anchor="ctr"/>
          <a:lstStyle/>
          <a:p>
            <a:pPr algn="r" indent="0" marL="0">
              <a:buNone/>
            </a:pPr>
            <a:r>
              <a:rPr lang="en-US" sz="750" b="1" dirty="0">
                <a:solidFill>
                  <a:srgbClr val="F59E0B"/>
                </a:solidFill>
                <a:latin typeface="Arial" pitchFamily="34" charset="0"/>
                <a:ea typeface="Arial" pitchFamily="34" charset="-122"/>
                <a:cs typeface="Arial" pitchFamily="34" charset="-120"/>
              </a:rPr>
              <a:t>80% Target 2030</a:t>
            </a:r>
            <a:endParaRPr lang="en-US" sz="750" dirty="0"/>
          </a:p>
        </p:txBody>
      </p:sp>
      <p:sp>
        <p:nvSpPr>
          <p:cNvPr id="28" name="Text 26"/>
          <p:cNvSpPr/>
          <p:nvPr/>
        </p:nvSpPr>
        <p:spPr>
          <a:xfrm>
            <a:off x="4526280" y="327355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Peningkatan omzet &amp; legalitas</a:t>
            </a:r>
            <a:endParaRPr lang="en-US" sz="800" dirty="0"/>
          </a:p>
        </p:txBody>
      </p:sp>
      <p:sp>
        <p:nvSpPr>
          <p:cNvPr id="29" name="Shape 27"/>
          <p:cNvSpPr/>
          <p:nvPr/>
        </p:nvSpPr>
        <p:spPr>
          <a:xfrm>
            <a:off x="7955280" y="1325880"/>
            <a:ext cx="3474720" cy="2240280"/>
          </a:xfrm>
          <a:prstGeom prst="roundRect">
            <a:avLst>
              <a:gd name="adj" fmla="val 3265"/>
            </a:avLst>
          </a:prstGeom>
          <a:solidFill>
            <a:srgbClr val="0A192F"/>
          </a:solidFill>
          <a:ln w="12700">
            <a:solidFill>
              <a:srgbClr val="1E3A5F"/>
            </a:solidFill>
            <a:prstDash val="solid"/>
          </a:ln>
        </p:spPr>
      </p:sp>
      <p:sp>
        <p:nvSpPr>
          <p:cNvPr id="30" name="Shape 28"/>
          <p:cNvSpPr/>
          <p:nvPr/>
        </p:nvSpPr>
        <p:spPr>
          <a:xfrm>
            <a:off x="7955280" y="1325880"/>
            <a:ext cx="73152" cy="2240280"/>
          </a:xfrm>
          <a:prstGeom prst="roundRect">
            <a:avLst>
              <a:gd name="adj" fmla="val 50000"/>
            </a:avLst>
          </a:prstGeom>
          <a:solidFill>
            <a:srgbClr val="10B981"/>
          </a:solidFill>
          <a:ln w="12700">
            <a:solidFill>
              <a:srgbClr val="10B981"/>
            </a:solidFill>
            <a:prstDash val="solid"/>
          </a:ln>
        </p:spPr>
      </p:sp>
      <p:sp>
        <p:nvSpPr>
          <p:cNvPr id="31" name="Text 29"/>
          <p:cNvSpPr/>
          <p:nvPr/>
        </p:nvSpPr>
        <p:spPr>
          <a:xfrm>
            <a:off x="8138160" y="146304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3. RISET DEKAT KE PASAR</a:t>
            </a:r>
            <a:endParaRPr lang="en-US" sz="1050" dirty="0"/>
          </a:p>
        </p:txBody>
      </p:sp>
      <p:sp>
        <p:nvSpPr>
          <p:cNvPr id="32" name="Text 30"/>
          <p:cNvSpPr/>
          <p:nvPr/>
        </p:nvSpPr>
        <p:spPr>
          <a:xfrm>
            <a:off x="8138160" y="180136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Hilirisasi menghubungkan inventor kampus dengan industri manufaktur dan OPD.</a:t>
            </a:r>
            <a:endParaRPr lang="en-US" sz="880" dirty="0"/>
          </a:p>
        </p:txBody>
      </p:sp>
      <p:sp>
        <p:nvSpPr>
          <p:cNvPr id="33" name="Text 31"/>
          <p:cNvSpPr/>
          <p:nvPr/>
        </p:nvSpPr>
        <p:spPr>
          <a:xfrm>
            <a:off x="8092440" y="2404872"/>
            <a:ext cx="3200400" cy="475488"/>
          </a:xfrm>
          <a:prstGeom prst="rect">
            <a:avLst/>
          </a:prstGeom>
          <a:noFill/>
          <a:ln/>
        </p:spPr>
        <p:txBody>
          <a:bodyPr wrap="square" rtlCol="0" anchor="ctr"/>
          <a:lstStyle/>
          <a:p>
            <a:pPr algn="ctr" indent="0" marL="0">
              <a:buNone/>
            </a:pPr>
            <a:r>
              <a:rPr lang="en-US" sz="1500" b="1" dirty="0">
                <a:solidFill>
                  <a:srgbClr val="10B981"/>
                </a:solidFill>
                <a:latin typeface="Arial" pitchFamily="34" charset="0"/>
                <a:ea typeface="Arial" pitchFamily="34" charset="-122"/>
                <a:cs typeface="Arial" pitchFamily="34" charset="-120"/>
              </a:rPr>
              <a:t>45+ Produk Hilirisasi</a:t>
            </a:r>
            <a:endParaRPr lang="en-US" sz="1500" dirty="0"/>
          </a:p>
        </p:txBody>
      </p:sp>
      <p:sp>
        <p:nvSpPr>
          <p:cNvPr id="34" name="Shape 32"/>
          <p:cNvSpPr/>
          <p:nvPr/>
        </p:nvSpPr>
        <p:spPr>
          <a:xfrm>
            <a:off x="8138160" y="2926080"/>
            <a:ext cx="3108960" cy="128016"/>
          </a:xfrm>
          <a:prstGeom prst="roundRect">
            <a:avLst>
              <a:gd name="adj" fmla="val 28571"/>
            </a:avLst>
          </a:prstGeom>
          <a:solidFill>
            <a:srgbClr val="0D213F"/>
          </a:solidFill>
          <a:ln w="12700">
            <a:solidFill>
              <a:srgbClr val="1E3A5F"/>
            </a:solidFill>
            <a:prstDash val="solid"/>
          </a:ln>
        </p:spPr>
      </p:sp>
      <p:sp>
        <p:nvSpPr>
          <p:cNvPr id="35" name="Shape 33"/>
          <p:cNvSpPr/>
          <p:nvPr/>
        </p:nvSpPr>
        <p:spPr>
          <a:xfrm>
            <a:off x="8138160" y="2926080"/>
            <a:ext cx="2176272" cy="128016"/>
          </a:xfrm>
          <a:prstGeom prst="roundRect">
            <a:avLst>
              <a:gd name="adj" fmla="val 28571"/>
            </a:avLst>
          </a:prstGeom>
          <a:solidFill>
            <a:srgbClr val="10B981"/>
          </a:solidFill>
          <a:ln w="12700">
            <a:solidFill>
              <a:srgbClr val="10B981"/>
            </a:solidFill>
            <a:prstDash val="solid"/>
          </a:ln>
        </p:spPr>
      </p:sp>
      <p:sp>
        <p:nvSpPr>
          <p:cNvPr id="36" name="Text 34"/>
          <p:cNvSpPr/>
          <p:nvPr/>
        </p:nvSpPr>
        <p:spPr>
          <a:xfrm>
            <a:off x="8138160" y="3063240"/>
            <a:ext cx="3108960" cy="182880"/>
          </a:xfrm>
          <a:prstGeom prst="rect">
            <a:avLst/>
          </a:prstGeom>
          <a:noFill/>
          <a:ln/>
        </p:spPr>
        <p:txBody>
          <a:bodyPr wrap="square" rtlCol="0" anchor="ctr"/>
          <a:lstStyle/>
          <a:p>
            <a:pPr algn="r" indent="0" marL="0">
              <a:buNone/>
            </a:pPr>
            <a:r>
              <a:rPr lang="en-US" sz="750" b="1" dirty="0">
                <a:solidFill>
                  <a:srgbClr val="10B981"/>
                </a:solidFill>
                <a:latin typeface="Arial" pitchFamily="34" charset="0"/>
                <a:ea typeface="Arial" pitchFamily="34" charset="-122"/>
                <a:cs typeface="Arial" pitchFamily="34" charset="-120"/>
              </a:rPr>
              <a:t>70% Target 2030</a:t>
            </a:r>
            <a:endParaRPr lang="en-US" sz="750" dirty="0"/>
          </a:p>
        </p:txBody>
      </p:sp>
      <p:sp>
        <p:nvSpPr>
          <p:cNvPr id="37" name="Text 35"/>
          <p:cNvSpPr/>
          <p:nvPr/>
        </p:nvSpPr>
        <p:spPr>
          <a:xfrm>
            <a:off x="8138160" y="327355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Paten HKI &amp; Standar TKDN</a:t>
            </a:r>
            <a:endParaRPr lang="en-US" sz="800" dirty="0"/>
          </a:p>
        </p:txBody>
      </p:sp>
      <p:sp>
        <p:nvSpPr>
          <p:cNvPr id="38" name="Shape 36"/>
          <p:cNvSpPr/>
          <p:nvPr/>
        </p:nvSpPr>
        <p:spPr>
          <a:xfrm>
            <a:off x="731520" y="3566160"/>
            <a:ext cx="3474720" cy="2240280"/>
          </a:xfrm>
          <a:prstGeom prst="roundRect">
            <a:avLst>
              <a:gd name="adj" fmla="val 3265"/>
            </a:avLst>
          </a:prstGeom>
          <a:solidFill>
            <a:srgbClr val="0A192F"/>
          </a:solidFill>
          <a:ln w="12700">
            <a:solidFill>
              <a:srgbClr val="1E3A5F"/>
            </a:solidFill>
            <a:prstDash val="solid"/>
          </a:ln>
        </p:spPr>
      </p:sp>
      <p:sp>
        <p:nvSpPr>
          <p:cNvPr id="39" name="Shape 37"/>
          <p:cNvSpPr/>
          <p:nvPr/>
        </p:nvSpPr>
        <p:spPr>
          <a:xfrm>
            <a:off x="731520" y="3566160"/>
            <a:ext cx="73152" cy="2240280"/>
          </a:xfrm>
          <a:prstGeom prst="roundRect">
            <a:avLst>
              <a:gd name="adj" fmla="val 50000"/>
            </a:avLst>
          </a:prstGeom>
          <a:solidFill>
            <a:srgbClr val="38BDF8"/>
          </a:solidFill>
          <a:ln w="12700">
            <a:solidFill>
              <a:srgbClr val="38BDF8"/>
            </a:solidFill>
            <a:prstDash val="solid"/>
          </a:ln>
        </p:spPr>
      </p:sp>
      <p:sp>
        <p:nvSpPr>
          <p:cNvPr id="40" name="Text 38"/>
          <p:cNvSpPr/>
          <p:nvPr/>
        </p:nvSpPr>
        <p:spPr>
          <a:xfrm>
            <a:off x="91440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4. AKSES TEKNOLOGI TERBUKA</a:t>
            </a:r>
            <a:endParaRPr lang="en-US" sz="1050" dirty="0"/>
          </a:p>
        </p:txBody>
      </p:sp>
      <p:sp>
        <p:nvSpPr>
          <p:cNvPr id="41" name="Text 39"/>
          <p:cNvSpPr/>
          <p:nvPr/>
        </p:nvSpPr>
        <p:spPr>
          <a:xfrm>
            <a:off x="91440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Fasilitas canggih AI, Cyber Security, 5G &amp; Lab Presisi dibuka bagi pelajar SMK &amp; publik.</a:t>
            </a:r>
            <a:endParaRPr lang="en-US" sz="880" dirty="0"/>
          </a:p>
        </p:txBody>
      </p:sp>
      <p:sp>
        <p:nvSpPr>
          <p:cNvPr id="42" name="Text 40"/>
          <p:cNvSpPr/>
          <p:nvPr/>
        </p:nvSpPr>
        <p:spPr>
          <a:xfrm>
            <a:off x="868680" y="4645152"/>
            <a:ext cx="3200400" cy="475488"/>
          </a:xfrm>
          <a:prstGeom prst="rect">
            <a:avLst/>
          </a:prstGeom>
          <a:noFill/>
          <a:ln/>
        </p:spPr>
        <p:txBody>
          <a:bodyPr wrap="square" rtlCol="0" anchor="ctr"/>
          <a:lstStyle/>
          <a:p>
            <a:pPr algn="ctr" indent="0" marL="0">
              <a:buNone/>
            </a:pPr>
            <a:r>
              <a:rPr lang="en-US" sz="1500" b="1" dirty="0">
                <a:solidFill>
                  <a:srgbClr val="38BDF8"/>
                </a:solidFill>
                <a:latin typeface="Arial" pitchFamily="34" charset="0"/>
                <a:ea typeface="Arial" pitchFamily="34" charset="-122"/>
                <a:cs typeface="Arial" pitchFamily="34" charset="-120"/>
              </a:rPr>
              <a:t>10.000+ Kunjungan/Thn</a:t>
            </a:r>
            <a:endParaRPr lang="en-US" sz="1500" dirty="0"/>
          </a:p>
        </p:txBody>
      </p:sp>
      <p:sp>
        <p:nvSpPr>
          <p:cNvPr id="43" name="Shape 41"/>
          <p:cNvSpPr/>
          <p:nvPr/>
        </p:nvSpPr>
        <p:spPr>
          <a:xfrm>
            <a:off x="914400" y="5166360"/>
            <a:ext cx="3108960" cy="128016"/>
          </a:xfrm>
          <a:prstGeom prst="roundRect">
            <a:avLst>
              <a:gd name="adj" fmla="val 28571"/>
            </a:avLst>
          </a:prstGeom>
          <a:solidFill>
            <a:srgbClr val="0D213F"/>
          </a:solidFill>
          <a:ln w="12700">
            <a:solidFill>
              <a:srgbClr val="1E3A5F"/>
            </a:solidFill>
            <a:prstDash val="solid"/>
          </a:ln>
        </p:spPr>
      </p:sp>
      <p:sp>
        <p:nvSpPr>
          <p:cNvPr id="44" name="Shape 42"/>
          <p:cNvSpPr/>
          <p:nvPr/>
        </p:nvSpPr>
        <p:spPr>
          <a:xfrm>
            <a:off x="914400" y="5166360"/>
            <a:ext cx="2642616" cy="128016"/>
          </a:xfrm>
          <a:prstGeom prst="roundRect">
            <a:avLst>
              <a:gd name="adj" fmla="val 28571"/>
            </a:avLst>
          </a:prstGeom>
          <a:solidFill>
            <a:srgbClr val="38BDF8"/>
          </a:solidFill>
          <a:ln w="12700">
            <a:solidFill>
              <a:srgbClr val="38BDF8"/>
            </a:solidFill>
            <a:prstDash val="solid"/>
          </a:ln>
        </p:spPr>
      </p:sp>
      <p:sp>
        <p:nvSpPr>
          <p:cNvPr id="45" name="Text 43"/>
          <p:cNvSpPr/>
          <p:nvPr/>
        </p:nvSpPr>
        <p:spPr>
          <a:xfrm>
            <a:off x="914400" y="5303520"/>
            <a:ext cx="3108960" cy="182880"/>
          </a:xfrm>
          <a:prstGeom prst="rect">
            <a:avLst/>
          </a:prstGeom>
          <a:noFill/>
          <a:ln/>
        </p:spPr>
        <p:txBody>
          <a:bodyPr wrap="square" rtlCol="0" anchor="ctr"/>
          <a:lstStyle/>
          <a:p>
            <a:pPr algn="r" indent="0" marL="0">
              <a:buNone/>
            </a:pPr>
            <a:r>
              <a:rPr lang="en-US" sz="750" b="1" dirty="0">
                <a:solidFill>
                  <a:srgbClr val="38BDF8"/>
                </a:solidFill>
                <a:latin typeface="Arial" pitchFamily="34" charset="0"/>
                <a:ea typeface="Arial" pitchFamily="34" charset="-122"/>
                <a:cs typeface="Arial" pitchFamily="34" charset="-120"/>
              </a:rPr>
              <a:t>85% Target 2030</a:t>
            </a:r>
            <a:endParaRPr lang="en-US" sz="750" dirty="0"/>
          </a:p>
        </p:txBody>
      </p:sp>
      <p:sp>
        <p:nvSpPr>
          <p:cNvPr id="46" name="Text 44"/>
          <p:cNvSpPr/>
          <p:nvPr/>
        </p:nvSpPr>
        <p:spPr>
          <a:xfrm>
            <a:off x="914400" y="551383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Prakerin SMK se-Solo Raya</a:t>
            </a:r>
            <a:endParaRPr lang="en-US" sz="800" dirty="0"/>
          </a:p>
        </p:txBody>
      </p:sp>
      <p:sp>
        <p:nvSpPr>
          <p:cNvPr id="47" name="Shape 45"/>
          <p:cNvSpPr/>
          <p:nvPr/>
        </p:nvSpPr>
        <p:spPr>
          <a:xfrm>
            <a:off x="4343400" y="3566160"/>
            <a:ext cx="3474720" cy="2240280"/>
          </a:xfrm>
          <a:prstGeom prst="roundRect">
            <a:avLst>
              <a:gd name="adj" fmla="val 3265"/>
            </a:avLst>
          </a:prstGeom>
          <a:solidFill>
            <a:srgbClr val="0A192F"/>
          </a:solidFill>
          <a:ln w="12700">
            <a:solidFill>
              <a:srgbClr val="1E3A5F"/>
            </a:solidFill>
            <a:prstDash val="solid"/>
          </a:ln>
        </p:spPr>
      </p:sp>
      <p:sp>
        <p:nvSpPr>
          <p:cNvPr id="48" name="Shape 46"/>
          <p:cNvSpPr/>
          <p:nvPr/>
        </p:nvSpPr>
        <p:spPr>
          <a:xfrm>
            <a:off x="4343400" y="3566160"/>
            <a:ext cx="73152" cy="2240280"/>
          </a:xfrm>
          <a:prstGeom prst="roundRect">
            <a:avLst>
              <a:gd name="adj" fmla="val 50000"/>
            </a:avLst>
          </a:prstGeom>
          <a:solidFill>
            <a:srgbClr val="F59E0B"/>
          </a:solidFill>
          <a:ln w="12700">
            <a:solidFill>
              <a:srgbClr val="F59E0B"/>
            </a:solidFill>
            <a:prstDash val="solid"/>
          </a:ln>
        </p:spPr>
      </p:sp>
      <p:sp>
        <p:nvSpPr>
          <p:cNvPr id="49" name="Text 47"/>
          <p:cNvSpPr/>
          <p:nvPr/>
        </p:nvSpPr>
        <p:spPr>
          <a:xfrm>
            <a:off x="452628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5. PELUANG KERJA BARU</a:t>
            </a:r>
            <a:endParaRPr lang="en-US" sz="1050" dirty="0"/>
          </a:p>
        </p:txBody>
      </p:sp>
      <p:sp>
        <p:nvSpPr>
          <p:cNvPr id="50" name="Text 48"/>
          <p:cNvSpPr/>
          <p:nvPr/>
        </p:nvSpPr>
        <p:spPr>
          <a:xfrm>
            <a:off x="452628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Ekosistem menghasilkan SDM terserap industri dan lahirnya wirausaha mandiri.</a:t>
            </a:r>
            <a:endParaRPr lang="en-US" sz="880" dirty="0"/>
          </a:p>
        </p:txBody>
      </p:sp>
      <p:sp>
        <p:nvSpPr>
          <p:cNvPr id="51" name="Text 49"/>
          <p:cNvSpPr/>
          <p:nvPr/>
        </p:nvSpPr>
        <p:spPr>
          <a:xfrm>
            <a:off x="4480560" y="4645152"/>
            <a:ext cx="3200400" cy="475488"/>
          </a:xfrm>
          <a:prstGeom prst="rect">
            <a:avLst/>
          </a:prstGeom>
          <a:noFill/>
          <a:ln/>
        </p:spPr>
        <p:txBody>
          <a:bodyPr wrap="square" rtlCol="0" anchor="ctr"/>
          <a:lstStyle/>
          <a:p>
            <a:pPr algn="ctr" indent="0" marL="0">
              <a:buNone/>
            </a:pPr>
            <a:r>
              <a:rPr lang="en-US" sz="1500" b="1" dirty="0">
                <a:solidFill>
                  <a:srgbClr val="F59E0B"/>
                </a:solidFill>
                <a:latin typeface="Arial" pitchFamily="34" charset="0"/>
                <a:ea typeface="Arial" pitchFamily="34" charset="-122"/>
                <a:cs typeface="Arial" pitchFamily="34" charset="-120"/>
              </a:rPr>
              <a:t>Rp 180 M Perputaran</a:t>
            </a:r>
            <a:endParaRPr lang="en-US" sz="1500" dirty="0"/>
          </a:p>
        </p:txBody>
      </p:sp>
      <p:sp>
        <p:nvSpPr>
          <p:cNvPr id="52" name="Shape 50"/>
          <p:cNvSpPr/>
          <p:nvPr/>
        </p:nvSpPr>
        <p:spPr>
          <a:xfrm>
            <a:off x="4526280" y="5166360"/>
            <a:ext cx="3108960" cy="128016"/>
          </a:xfrm>
          <a:prstGeom prst="roundRect">
            <a:avLst>
              <a:gd name="adj" fmla="val 28571"/>
            </a:avLst>
          </a:prstGeom>
          <a:solidFill>
            <a:srgbClr val="0D213F"/>
          </a:solidFill>
          <a:ln w="12700">
            <a:solidFill>
              <a:srgbClr val="1E3A5F"/>
            </a:solidFill>
            <a:prstDash val="solid"/>
          </a:ln>
        </p:spPr>
      </p:sp>
      <p:sp>
        <p:nvSpPr>
          <p:cNvPr id="53" name="Shape 51"/>
          <p:cNvSpPr/>
          <p:nvPr/>
        </p:nvSpPr>
        <p:spPr>
          <a:xfrm>
            <a:off x="4526280" y="5166360"/>
            <a:ext cx="2331720" cy="128016"/>
          </a:xfrm>
          <a:prstGeom prst="roundRect">
            <a:avLst>
              <a:gd name="adj" fmla="val 28571"/>
            </a:avLst>
          </a:prstGeom>
          <a:solidFill>
            <a:srgbClr val="F59E0B"/>
          </a:solidFill>
          <a:ln w="12700">
            <a:solidFill>
              <a:srgbClr val="F59E0B"/>
            </a:solidFill>
            <a:prstDash val="solid"/>
          </a:ln>
        </p:spPr>
      </p:sp>
      <p:sp>
        <p:nvSpPr>
          <p:cNvPr id="54" name="Text 52"/>
          <p:cNvSpPr/>
          <p:nvPr/>
        </p:nvSpPr>
        <p:spPr>
          <a:xfrm>
            <a:off x="4526280" y="5303520"/>
            <a:ext cx="3108960" cy="182880"/>
          </a:xfrm>
          <a:prstGeom prst="rect">
            <a:avLst/>
          </a:prstGeom>
          <a:noFill/>
          <a:ln/>
        </p:spPr>
        <p:txBody>
          <a:bodyPr wrap="square" rtlCol="0" anchor="ctr"/>
          <a:lstStyle/>
          <a:p>
            <a:pPr algn="r" indent="0" marL="0">
              <a:buNone/>
            </a:pPr>
            <a:r>
              <a:rPr lang="en-US" sz="750" b="1" dirty="0">
                <a:solidFill>
                  <a:srgbClr val="F59E0B"/>
                </a:solidFill>
                <a:latin typeface="Arial" pitchFamily="34" charset="0"/>
                <a:ea typeface="Arial" pitchFamily="34" charset="-122"/>
                <a:cs typeface="Arial" pitchFamily="34" charset="-120"/>
              </a:rPr>
              <a:t>75% Target 2030</a:t>
            </a:r>
            <a:endParaRPr lang="en-US" sz="750" dirty="0"/>
          </a:p>
        </p:txBody>
      </p:sp>
      <p:sp>
        <p:nvSpPr>
          <p:cNvPr id="55" name="Text 53"/>
          <p:cNvSpPr/>
          <p:nvPr/>
        </p:nvSpPr>
        <p:spPr>
          <a:xfrm>
            <a:off x="4526280" y="551383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Multiplier effect hotel &amp; MICE</a:t>
            </a:r>
            <a:endParaRPr lang="en-US" sz="800" dirty="0"/>
          </a:p>
        </p:txBody>
      </p:sp>
      <p:sp>
        <p:nvSpPr>
          <p:cNvPr id="56" name="Shape 54"/>
          <p:cNvSpPr/>
          <p:nvPr/>
        </p:nvSpPr>
        <p:spPr>
          <a:xfrm>
            <a:off x="7955280" y="3566160"/>
            <a:ext cx="3474720" cy="2240280"/>
          </a:xfrm>
          <a:prstGeom prst="roundRect">
            <a:avLst>
              <a:gd name="adj" fmla="val 3265"/>
            </a:avLst>
          </a:prstGeom>
          <a:solidFill>
            <a:srgbClr val="0A192F"/>
          </a:solidFill>
          <a:ln w="12700">
            <a:solidFill>
              <a:srgbClr val="1E3A5F"/>
            </a:solidFill>
            <a:prstDash val="solid"/>
          </a:ln>
        </p:spPr>
      </p:sp>
      <p:sp>
        <p:nvSpPr>
          <p:cNvPr id="57" name="Shape 55"/>
          <p:cNvSpPr/>
          <p:nvPr/>
        </p:nvSpPr>
        <p:spPr>
          <a:xfrm>
            <a:off x="7955280" y="3566160"/>
            <a:ext cx="73152" cy="2240280"/>
          </a:xfrm>
          <a:prstGeom prst="roundRect">
            <a:avLst>
              <a:gd name="adj" fmla="val 50000"/>
            </a:avLst>
          </a:prstGeom>
          <a:solidFill>
            <a:srgbClr val="10B981"/>
          </a:solidFill>
          <a:ln w="12700">
            <a:solidFill>
              <a:srgbClr val="10B981"/>
            </a:solidFill>
            <a:prstDash val="solid"/>
          </a:ln>
        </p:spPr>
      </p:sp>
      <p:sp>
        <p:nvSpPr>
          <p:cNvPr id="58" name="Text 56"/>
          <p:cNvSpPr/>
          <p:nvPr/>
        </p:nvSpPr>
        <p:spPr>
          <a:xfrm>
            <a:off x="8138160" y="3703320"/>
            <a:ext cx="3108960" cy="32004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6. KOLABORASI INDUSTRI</a:t>
            </a:r>
            <a:endParaRPr lang="en-US" sz="1050" dirty="0"/>
          </a:p>
        </p:txBody>
      </p:sp>
      <p:sp>
        <p:nvSpPr>
          <p:cNvPr id="59" name="Text 57"/>
          <p:cNvSpPr/>
          <p:nvPr/>
        </p:nvSpPr>
        <p:spPr>
          <a:xfrm>
            <a:off x="8138160" y="4041648"/>
            <a:ext cx="3108960" cy="5943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95+ korporasi multinasional menanamkan fasilitas dan proyek langsung di Solo.</a:t>
            </a:r>
            <a:endParaRPr lang="en-US" sz="880" dirty="0"/>
          </a:p>
        </p:txBody>
      </p:sp>
      <p:sp>
        <p:nvSpPr>
          <p:cNvPr id="60" name="Text 58"/>
          <p:cNvSpPr/>
          <p:nvPr/>
        </p:nvSpPr>
        <p:spPr>
          <a:xfrm>
            <a:off x="8092440" y="4645152"/>
            <a:ext cx="3200400" cy="475488"/>
          </a:xfrm>
          <a:prstGeom prst="rect">
            <a:avLst/>
          </a:prstGeom>
          <a:noFill/>
          <a:ln/>
        </p:spPr>
        <p:txBody>
          <a:bodyPr wrap="square" rtlCol="0" anchor="ctr"/>
          <a:lstStyle/>
          <a:p>
            <a:pPr algn="ctr" indent="0" marL="0">
              <a:buNone/>
            </a:pPr>
            <a:r>
              <a:rPr lang="en-US" sz="1500" b="1" dirty="0">
                <a:solidFill>
                  <a:srgbClr val="10B981"/>
                </a:solidFill>
                <a:latin typeface="Arial" pitchFamily="34" charset="0"/>
                <a:ea typeface="Arial" pitchFamily="34" charset="-122"/>
                <a:cs typeface="Arial" pitchFamily="34" charset="-120"/>
              </a:rPr>
              <a:t>100% Swasta / PPP</a:t>
            </a:r>
            <a:endParaRPr lang="en-US" sz="1500" dirty="0"/>
          </a:p>
        </p:txBody>
      </p:sp>
      <p:sp>
        <p:nvSpPr>
          <p:cNvPr id="61" name="Shape 59"/>
          <p:cNvSpPr/>
          <p:nvPr/>
        </p:nvSpPr>
        <p:spPr>
          <a:xfrm>
            <a:off x="8138160" y="5166360"/>
            <a:ext cx="3108960" cy="128016"/>
          </a:xfrm>
          <a:prstGeom prst="roundRect">
            <a:avLst>
              <a:gd name="adj" fmla="val 28571"/>
            </a:avLst>
          </a:prstGeom>
          <a:solidFill>
            <a:srgbClr val="0D213F"/>
          </a:solidFill>
          <a:ln w="12700">
            <a:solidFill>
              <a:srgbClr val="1E3A5F"/>
            </a:solidFill>
            <a:prstDash val="solid"/>
          </a:ln>
        </p:spPr>
      </p:sp>
      <p:sp>
        <p:nvSpPr>
          <p:cNvPr id="62" name="Shape 60"/>
          <p:cNvSpPr/>
          <p:nvPr/>
        </p:nvSpPr>
        <p:spPr>
          <a:xfrm>
            <a:off x="8138160" y="5166360"/>
            <a:ext cx="3108960" cy="128016"/>
          </a:xfrm>
          <a:prstGeom prst="roundRect">
            <a:avLst>
              <a:gd name="adj" fmla="val 28571"/>
            </a:avLst>
          </a:prstGeom>
          <a:solidFill>
            <a:srgbClr val="10B981"/>
          </a:solidFill>
          <a:ln w="12700">
            <a:solidFill>
              <a:srgbClr val="10B981"/>
            </a:solidFill>
            <a:prstDash val="solid"/>
          </a:ln>
        </p:spPr>
      </p:sp>
      <p:sp>
        <p:nvSpPr>
          <p:cNvPr id="63" name="Text 61"/>
          <p:cNvSpPr/>
          <p:nvPr/>
        </p:nvSpPr>
        <p:spPr>
          <a:xfrm>
            <a:off x="8138160" y="5303520"/>
            <a:ext cx="3108960" cy="182880"/>
          </a:xfrm>
          <a:prstGeom prst="rect">
            <a:avLst/>
          </a:prstGeom>
          <a:noFill/>
          <a:ln/>
        </p:spPr>
        <p:txBody>
          <a:bodyPr wrap="square" rtlCol="0" anchor="ctr"/>
          <a:lstStyle/>
          <a:p>
            <a:pPr algn="r" indent="0" marL="0">
              <a:buNone/>
            </a:pPr>
            <a:r>
              <a:rPr lang="en-US" sz="750" b="1" dirty="0">
                <a:solidFill>
                  <a:srgbClr val="10B981"/>
                </a:solidFill>
                <a:latin typeface="Arial" pitchFamily="34" charset="0"/>
                <a:ea typeface="Arial" pitchFamily="34" charset="-122"/>
                <a:cs typeface="Arial" pitchFamily="34" charset="-120"/>
              </a:rPr>
              <a:t>100% Target 2030</a:t>
            </a:r>
            <a:endParaRPr lang="en-US" sz="750" dirty="0"/>
          </a:p>
        </p:txBody>
      </p:sp>
      <p:sp>
        <p:nvSpPr>
          <p:cNvPr id="64" name="Text 62"/>
          <p:cNvSpPr/>
          <p:nvPr/>
        </p:nvSpPr>
        <p:spPr>
          <a:xfrm>
            <a:off x="8138160" y="5513832"/>
            <a:ext cx="310896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0% beban belanja modal APBD</a:t>
            </a:r>
            <a:endParaRPr lang="en-US" sz="800" dirty="0"/>
          </a:p>
        </p:txBody>
      </p:sp>
      <p:sp>
        <p:nvSpPr>
          <p:cNvPr id="65" name="Shape 63"/>
          <p:cNvSpPr/>
          <p:nvPr/>
        </p:nvSpPr>
        <p:spPr>
          <a:xfrm>
            <a:off x="731520" y="5897880"/>
            <a:ext cx="10728655" cy="438912"/>
          </a:xfrm>
          <a:prstGeom prst="roundRect">
            <a:avLst>
              <a:gd name="adj" fmla="val 16667"/>
            </a:avLst>
          </a:prstGeom>
          <a:solidFill>
            <a:srgbClr val="0D213F"/>
          </a:solidFill>
          <a:ln w="12700">
            <a:solidFill>
              <a:srgbClr val="1E3A5F"/>
            </a:solidFill>
            <a:prstDash val="solid"/>
          </a:ln>
        </p:spPr>
      </p:sp>
      <p:sp>
        <p:nvSpPr>
          <p:cNvPr id="66" name="Text 64"/>
          <p:cNvSpPr/>
          <p:nvPr/>
        </p:nvSpPr>
        <p:spPr>
          <a:xfrm>
            <a:off x="914400" y="5897880"/>
            <a:ext cx="10362895" cy="438912"/>
          </a:xfrm>
          <a:prstGeom prst="rect">
            <a:avLst/>
          </a:prstGeom>
          <a:noFill/>
          <a:ln/>
        </p:spPr>
        <p:txBody>
          <a:bodyPr wrap="square" rtlCol="0" anchor="ctr"/>
          <a:lstStyle/>
          <a:p>
            <a:pPr algn="ctr" indent="0" marL="0">
              <a:buNone/>
            </a:pPr>
            <a:r>
              <a:rPr lang="en-US" sz="920" b="1" dirty="0">
                <a:solidFill>
                  <a:srgbClr val="38BDF8"/>
                </a:solidFill>
                <a:latin typeface="Arial" pitchFamily="34" charset="0"/>
                <a:ea typeface="Arial" pitchFamily="34" charset="-122"/>
                <a:cs typeface="Arial" pitchFamily="34" charset="-120"/>
              </a:rPr>
              <a:t>TOLAK UKUR KUNCI: Peserta terserap kerja (afirmasi KTP Solo) • Tenant tumbuh • Prototipe tervalidasi • HKI terdaftar • Produk masuk pasar • Investasi daerah bertambah</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DUKUNGAN KEPEMIMPINAN &amp; KOMITMEN EKSEKUSI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3 PERMOHONAN KEBIJAKAN KEPADA WALIKOTA &amp; RENCANA AKSI 100 HARI</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Kami Tidak Memohon Tambahan Pagu APBD — Kami Memohon 3 Payung Regulasi Kepemimpinan Walikota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12 / 12</a:t>
            </a:r>
            <a:endParaRPr lang="en-US" sz="900" dirty="0"/>
          </a:p>
        </p:txBody>
      </p:sp>
      <p:sp>
        <p:nvSpPr>
          <p:cNvPr id="11" name="Shape 9"/>
          <p:cNvSpPr/>
          <p:nvPr/>
        </p:nvSpPr>
        <p:spPr>
          <a:xfrm>
            <a:off x="731520" y="1325880"/>
            <a:ext cx="3474720" cy="2468880"/>
          </a:xfrm>
          <a:prstGeom prst="roundRect">
            <a:avLst>
              <a:gd name="adj" fmla="val 2963"/>
            </a:avLst>
          </a:prstGeom>
          <a:solidFill>
            <a:srgbClr val="0A192F"/>
          </a:solidFill>
          <a:ln w="12700">
            <a:solidFill>
              <a:srgbClr val="1E3A5F"/>
            </a:solidFill>
            <a:prstDash val="solid"/>
          </a:ln>
        </p:spPr>
      </p:sp>
      <p:sp>
        <p:nvSpPr>
          <p:cNvPr id="12" name="Shape 10"/>
          <p:cNvSpPr/>
          <p:nvPr/>
        </p:nvSpPr>
        <p:spPr>
          <a:xfrm>
            <a:off x="731520" y="1325880"/>
            <a:ext cx="73152" cy="246888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20040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490472"/>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PERMOHONAN 1</a:t>
            </a:r>
            <a:endParaRPr lang="en-US" sz="850" dirty="0"/>
          </a:p>
        </p:txBody>
      </p:sp>
      <p:sp>
        <p:nvSpPr>
          <p:cNvPr id="15" name="Text 13"/>
          <p:cNvSpPr/>
          <p:nvPr/>
        </p:nvSpPr>
        <p:spPr>
          <a:xfrm>
            <a:off x="91440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INSTRUKSI WALIKOTA AFIRMASI e-KATALOG</a:t>
            </a:r>
            <a:endParaRPr lang="en-US" sz="920" dirty="0"/>
          </a:p>
        </p:txBody>
      </p:sp>
      <p:sp>
        <p:nvSpPr>
          <p:cNvPr id="16" name="Text 14"/>
          <p:cNvSpPr/>
          <p:nvPr/>
        </p:nvSpPr>
        <p:spPr>
          <a:xfrm>
            <a:off x="91440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80" dirty="0"/>
          </a:p>
        </p:txBody>
      </p:sp>
      <p:sp>
        <p:nvSpPr>
          <p:cNvPr id="17" name="Shape 15"/>
          <p:cNvSpPr/>
          <p:nvPr/>
        </p:nvSpPr>
        <p:spPr>
          <a:xfrm>
            <a:off x="914400" y="2971800"/>
            <a:ext cx="3108960" cy="685800"/>
          </a:xfrm>
          <a:prstGeom prst="roundRect">
            <a:avLst>
              <a:gd name="adj" fmla="val 5333"/>
            </a:avLst>
          </a:prstGeom>
          <a:solidFill>
            <a:srgbClr val="070D18"/>
          </a:solidFill>
          <a:ln w="12700">
            <a:solidFill>
              <a:srgbClr val="1E3A5F"/>
            </a:solidFill>
            <a:prstDash val="solid"/>
          </a:ln>
        </p:spPr>
      </p:sp>
      <p:sp>
        <p:nvSpPr>
          <p:cNvPr id="18" name="Text 16"/>
          <p:cNvSpPr/>
          <p:nvPr/>
        </p:nvSpPr>
        <p:spPr>
          <a:xfrm>
            <a:off x="96012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Rp 2,25 M / Thn di 2030 (80+ Produk Terserap)</a:t>
            </a:r>
            <a:endParaRPr lang="en-US" sz="880" dirty="0"/>
          </a:p>
        </p:txBody>
      </p:sp>
      <p:sp>
        <p:nvSpPr>
          <p:cNvPr id="19" name="Text 17"/>
          <p:cNvSpPr/>
          <p:nvPr/>
        </p:nvSpPr>
        <p:spPr>
          <a:xfrm>
            <a:off x="960120" y="3337560"/>
            <a:ext cx="3017520" cy="274320"/>
          </a:xfrm>
          <a:prstGeom prst="rect">
            <a:avLst/>
          </a:prstGeom>
          <a:noFill/>
          <a:ln/>
        </p:spPr>
        <p:txBody>
          <a:bodyPr wrap="square" rtlCol="0" anchor="ctr"/>
          <a:lstStyle/>
          <a:p>
            <a:pPr indent="0" marL="0">
              <a:buNone/>
            </a:pPr>
            <a:r>
              <a:rPr lang="en-US" sz="820" i="1" dirty="0">
                <a:solidFill>
                  <a:srgbClr val="0EA5E9"/>
                </a:solidFill>
                <a:latin typeface="Arial" pitchFamily="34" charset="0"/>
                <a:ea typeface="Arial" pitchFamily="34" charset="-122"/>
                <a:cs typeface="Arial" pitchFamily="34" charset="-120"/>
              </a:rPr>
              <a:t>⚡ Bisa diterbitkan dalam 30 hari pertama</a:t>
            </a:r>
            <a:endParaRPr lang="en-US" sz="820" dirty="0"/>
          </a:p>
        </p:txBody>
      </p:sp>
      <p:sp>
        <p:nvSpPr>
          <p:cNvPr id="20" name="Shape 18"/>
          <p:cNvSpPr/>
          <p:nvPr/>
        </p:nvSpPr>
        <p:spPr>
          <a:xfrm>
            <a:off x="4343400" y="1325880"/>
            <a:ext cx="3474720" cy="2468880"/>
          </a:xfrm>
          <a:prstGeom prst="roundRect">
            <a:avLst>
              <a:gd name="adj" fmla="val 2963"/>
            </a:avLst>
          </a:prstGeom>
          <a:solidFill>
            <a:srgbClr val="0A192F"/>
          </a:solidFill>
          <a:ln w="12700">
            <a:solidFill>
              <a:srgbClr val="1E3A5F"/>
            </a:solidFill>
            <a:prstDash val="solid"/>
          </a:ln>
        </p:spPr>
      </p:sp>
      <p:sp>
        <p:nvSpPr>
          <p:cNvPr id="21" name="Shape 19"/>
          <p:cNvSpPr/>
          <p:nvPr/>
        </p:nvSpPr>
        <p:spPr>
          <a:xfrm>
            <a:off x="4343400" y="1325880"/>
            <a:ext cx="73152" cy="2468880"/>
          </a:xfrm>
          <a:prstGeom prst="roundRect">
            <a:avLst>
              <a:gd name="adj" fmla="val 50000"/>
            </a:avLst>
          </a:prstGeom>
          <a:solidFill>
            <a:srgbClr val="F59E0B"/>
          </a:solidFill>
          <a:ln w="12700">
            <a:solidFill>
              <a:srgbClr val="F59E0B"/>
            </a:solidFill>
            <a:prstDash val="solid"/>
          </a:ln>
        </p:spPr>
      </p:sp>
      <p:sp>
        <p:nvSpPr>
          <p:cNvPr id="22" name="Shape 20"/>
          <p:cNvSpPr/>
          <p:nvPr/>
        </p:nvSpPr>
        <p:spPr>
          <a:xfrm>
            <a:off x="4480560" y="1463040"/>
            <a:ext cx="3200400" cy="502920"/>
          </a:xfrm>
          <a:prstGeom prst="roundRect">
            <a:avLst>
              <a:gd name="adj" fmla="val 9091"/>
            </a:avLst>
          </a:prstGeom>
          <a:solidFill>
            <a:srgbClr val="0D213F"/>
          </a:solidFill>
          <a:ln w="12700">
            <a:solidFill>
              <a:srgbClr val="F59E0B"/>
            </a:solidFill>
            <a:prstDash val="solid"/>
          </a:ln>
        </p:spPr>
      </p:sp>
      <p:sp>
        <p:nvSpPr>
          <p:cNvPr id="23" name="Text 21"/>
          <p:cNvSpPr/>
          <p:nvPr/>
        </p:nvSpPr>
        <p:spPr>
          <a:xfrm>
            <a:off x="4526280" y="1490472"/>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PERMOHONAN 2</a:t>
            </a:r>
            <a:endParaRPr lang="en-US" sz="850" dirty="0"/>
          </a:p>
        </p:txBody>
      </p:sp>
      <p:sp>
        <p:nvSpPr>
          <p:cNvPr id="24" name="Text 22"/>
          <p:cNvSpPr/>
          <p:nvPr/>
        </p:nvSpPr>
        <p:spPr>
          <a:xfrm>
            <a:off x="452628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FLEKSIBILITAS KERJASAMA LAHAN BLUD</a:t>
            </a:r>
            <a:endParaRPr lang="en-US" sz="920" dirty="0"/>
          </a:p>
        </p:txBody>
      </p:sp>
      <p:sp>
        <p:nvSpPr>
          <p:cNvPr id="25" name="Text 23"/>
          <p:cNvSpPr/>
          <p:nvPr/>
        </p:nvSpPr>
        <p:spPr>
          <a:xfrm>
            <a:off x="452628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Peraturan Walikota skema Long-Term Revenue Sharing (10–25 tahun) yang fleksibel bagi investor teknologi global di kawasan STP.</a:t>
            </a:r>
            <a:endParaRPr lang="en-US" sz="880" dirty="0"/>
          </a:p>
        </p:txBody>
      </p:sp>
      <p:sp>
        <p:nvSpPr>
          <p:cNvPr id="26" name="Shape 24"/>
          <p:cNvSpPr/>
          <p:nvPr/>
        </p:nvSpPr>
        <p:spPr>
          <a:xfrm>
            <a:off x="4526280" y="2971800"/>
            <a:ext cx="3108960" cy="685800"/>
          </a:xfrm>
          <a:prstGeom prst="roundRect">
            <a:avLst>
              <a:gd name="adj" fmla="val 5333"/>
            </a:avLst>
          </a:prstGeom>
          <a:solidFill>
            <a:srgbClr val="070D18"/>
          </a:solidFill>
          <a:ln w="12700">
            <a:solidFill>
              <a:srgbClr val="1E3A5F"/>
            </a:solidFill>
            <a:prstDash val="solid"/>
          </a:ln>
        </p:spPr>
      </p:sp>
      <p:sp>
        <p:nvSpPr>
          <p:cNvPr id="27" name="Text 25"/>
          <p:cNvSpPr/>
          <p:nvPr/>
        </p:nvSpPr>
        <p:spPr>
          <a:xfrm>
            <a:off x="457200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Menarik 3–5 Investor Baru Tanpa Beban APBD</a:t>
            </a:r>
            <a:endParaRPr lang="en-US" sz="880" dirty="0"/>
          </a:p>
        </p:txBody>
      </p:sp>
      <p:sp>
        <p:nvSpPr>
          <p:cNvPr id="28" name="Text 26"/>
          <p:cNvSpPr/>
          <p:nvPr/>
        </p:nvSpPr>
        <p:spPr>
          <a:xfrm>
            <a:off x="4572000" y="3337560"/>
            <a:ext cx="3017520" cy="274320"/>
          </a:xfrm>
          <a:prstGeom prst="rect">
            <a:avLst/>
          </a:prstGeom>
          <a:noFill/>
          <a:ln/>
        </p:spPr>
        <p:txBody>
          <a:bodyPr wrap="square" rtlCol="0" anchor="ctr"/>
          <a:lstStyle/>
          <a:p>
            <a:pPr indent="0" marL="0">
              <a:buNone/>
            </a:pPr>
            <a:r>
              <a:rPr lang="en-US" sz="820" i="1" dirty="0">
                <a:solidFill>
                  <a:srgbClr val="F59E0B"/>
                </a:solidFill>
                <a:latin typeface="Arial" pitchFamily="34" charset="0"/>
                <a:ea typeface="Arial" pitchFamily="34" charset="-122"/>
                <a:cs typeface="Arial" pitchFamily="34" charset="-120"/>
              </a:rPr>
              <a:t>⚡ Harmonisasi bersama BPKAD &amp; Bagian Hukum</a:t>
            </a:r>
            <a:endParaRPr lang="en-US" sz="820" dirty="0"/>
          </a:p>
        </p:txBody>
      </p:sp>
      <p:sp>
        <p:nvSpPr>
          <p:cNvPr id="29" name="Shape 27"/>
          <p:cNvSpPr/>
          <p:nvPr/>
        </p:nvSpPr>
        <p:spPr>
          <a:xfrm>
            <a:off x="7955280" y="1325880"/>
            <a:ext cx="3474720" cy="2468880"/>
          </a:xfrm>
          <a:prstGeom prst="roundRect">
            <a:avLst>
              <a:gd name="adj" fmla="val 2963"/>
            </a:avLst>
          </a:prstGeom>
          <a:solidFill>
            <a:srgbClr val="0A192F"/>
          </a:solidFill>
          <a:ln w="12700">
            <a:solidFill>
              <a:srgbClr val="1E3A5F"/>
            </a:solidFill>
            <a:prstDash val="solid"/>
          </a:ln>
        </p:spPr>
      </p:sp>
      <p:sp>
        <p:nvSpPr>
          <p:cNvPr id="30" name="Shape 28"/>
          <p:cNvSpPr/>
          <p:nvPr/>
        </p:nvSpPr>
        <p:spPr>
          <a:xfrm>
            <a:off x="7955280" y="1325880"/>
            <a:ext cx="73152" cy="246888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092440" y="1463040"/>
            <a:ext cx="3200400" cy="502920"/>
          </a:xfrm>
          <a:prstGeom prst="roundRect">
            <a:avLst>
              <a:gd name="adj" fmla="val 9091"/>
            </a:avLst>
          </a:prstGeom>
          <a:solidFill>
            <a:srgbClr val="0D213F"/>
          </a:solidFill>
          <a:ln w="12700">
            <a:solidFill>
              <a:srgbClr val="10B981"/>
            </a:solidFill>
            <a:prstDash val="solid"/>
          </a:ln>
        </p:spPr>
      </p:sp>
      <p:sp>
        <p:nvSpPr>
          <p:cNvPr id="32" name="Text 30"/>
          <p:cNvSpPr/>
          <p:nvPr/>
        </p:nvSpPr>
        <p:spPr>
          <a:xfrm>
            <a:off x="8138160" y="1490472"/>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PERMOHONAN 3</a:t>
            </a:r>
            <a:endParaRPr lang="en-US" sz="850" dirty="0"/>
          </a:p>
        </p:txBody>
      </p:sp>
      <p:sp>
        <p:nvSpPr>
          <p:cNvPr id="33" name="Text 31"/>
          <p:cNvSpPr/>
          <p:nvPr/>
        </p:nvSpPr>
        <p:spPr>
          <a:xfrm>
            <a:off x="8138160" y="1719072"/>
            <a:ext cx="3108960" cy="228600"/>
          </a:xfrm>
          <a:prstGeom prst="rect">
            <a:avLst/>
          </a:prstGeom>
          <a:noFill/>
          <a:ln/>
        </p:spPr>
        <p:txBody>
          <a:bodyPr wrap="square"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SURAT EDARAN KONSORSIUM RISET DAERAH</a:t>
            </a:r>
            <a:endParaRPr lang="en-US" sz="920" dirty="0"/>
          </a:p>
        </p:txBody>
      </p:sp>
      <p:sp>
        <p:nvSpPr>
          <p:cNvPr id="34" name="Text 32"/>
          <p:cNvSpPr/>
          <p:nvPr/>
        </p:nvSpPr>
        <p:spPr>
          <a:xfrm>
            <a:off x="8138160" y="2057400"/>
            <a:ext cx="3108960" cy="822960"/>
          </a:xfrm>
          <a:prstGeom prst="rect">
            <a:avLst/>
          </a:prstGeom>
          <a:noFill/>
          <a:ln/>
        </p:spPr>
        <p:txBody>
          <a:bodyPr wrap="square" rtlCol="0" anchor="ctr"/>
          <a:lstStyle/>
          <a:p>
            <a:pPr indent="0" marL="0">
              <a:lnSpc>
                <a:spcPts val="1200"/>
              </a:lnSpc>
              <a:buNone/>
            </a:pPr>
            <a:r>
              <a:rPr lang="en-US" sz="880" dirty="0">
                <a:solidFill>
                  <a:srgbClr val="94A3B8"/>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80" dirty="0"/>
          </a:p>
        </p:txBody>
      </p:sp>
      <p:sp>
        <p:nvSpPr>
          <p:cNvPr id="35" name="Shape 33"/>
          <p:cNvSpPr/>
          <p:nvPr/>
        </p:nvSpPr>
        <p:spPr>
          <a:xfrm>
            <a:off x="8138160" y="2971800"/>
            <a:ext cx="3108960" cy="685800"/>
          </a:xfrm>
          <a:prstGeom prst="roundRect">
            <a:avLst>
              <a:gd name="adj" fmla="val 5333"/>
            </a:avLst>
          </a:prstGeom>
          <a:solidFill>
            <a:srgbClr val="070D18"/>
          </a:solidFill>
          <a:ln w="12700">
            <a:solidFill>
              <a:srgbClr val="1E3A5F"/>
            </a:solidFill>
            <a:prstDash val="solid"/>
          </a:ln>
        </p:spPr>
      </p:sp>
      <p:sp>
        <p:nvSpPr>
          <p:cNvPr id="36" name="Text 34"/>
          <p:cNvSpPr/>
          <p:nvPr/>
        </p:nvSpPr>
        <p:spPr>
          <a:xfrm>
            <a:off x="8183880" y="3017520"/>
            <a:ext cx="3017520" cy="320040"/>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Target: 5 Kampus Mitra, 30 Klaster Riset Terapan</a:t>
            </a:r>
            <a:endParaRPr lang="en-US" sz="880" dirty="0"/>
          </a:p>
        </p:txBody>
      </p:sp>
      <p:sp>
        <p:nvSpPr>
          <p:cNvPr id="37" name="Text 35"/>
          <p:cNvSpPr/>
          <p:nvPr/>
        </p:nvSpPr>
        <p:spPr>
          <a:xfrm>
            <a:off x="8183880" y="3337560"/>
            <a:ext cx="3017520" cy="274320"/>
          </a:xfrm>
          <a:prstGeom prst="rect">
            <a:avLst/>
          </a:prstGeom>
          <a:noFill/>
          <a:ln/>
        </p:spPr>
        <p:txBody>
          <a:bodyPr wrap="square" rtlCol="0" anchor="ctr"/>
          <a:lstStyle/>
          <a:p>
            <a:pPr indent="0" marL="0">
              <a:buNone/>
            </a:pPr>
            <a:r>
              <a:rPr lang="en-US" sz="820" i="1" dirty="0">
                <a:solidFill>
                  <a:srgbClr val="10B981"/>
                </a:solidFill>
                <a:latin typeface="Arial" pitchFamily="34" charset="0"/>
                <a:ea typeface="Arial" pitchFamily="34" charset="-122"/>
                <a:cs typeface="Arial" pitchFamily="34" charset="-120"/>
              </a:rPr>
              <a:t>⚡ Penyusunan MoU bersama 5 Rektor Solo Raya</a:t>
            </a:r>
            <a:endParaRPr lang="en-US" sz="820" dirty="0"/>
          </a:p>
        </p:txBody>
      </p:sp>
      <p:sp>
        <p:nvSpPr>
          <p:cNvPr id="38" name="Shape 36"/>
          <p:cNvSpPr/>
          <p:nvPr/>
        </p:nvSpPr>
        <p:spPr>
          <a:xfrm>
            <a:off x="731520" y="3931920"/>
            <a:ext cx="10728655" cy="2423160"/>
          </a:xfrm>
          <a:prstGeom prst="roundRect">
            <a:avLst>
              <a:gd name="adj" fmla="val 3019"/>
            </a:avLst>
          </a:prstGeom>
          <a:solidFill>
            <a:srgbClr val="0A192F"/>
          </a:solidFill>
          <a:ln w="12700">
            <a:solidFill>
              <a:srgbClr val="0EA5E9"/>
            </a:solidFill>
            <a:prstDash val="solid"/>
          </a:ln>
        </p:spPr>
      </p:sp>
      <p:sp>
        <p:nvSpPr>
          <p:cNvPr id="39" name="Text 37"/>
          <p:cNvSpPr/>
          <p:nvPr/>
        </p:nvSpPr>
        <p:spPr>
          <a:xfrm>
            <a:off x="914400" y="4023360"/>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RENCANA AKSI 100 HARI PERTAMA (QUICK WINS PASCA-ARAHAN WALIKOTA SURAKARTA):</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362895" cy="1874520"/>
        </p:xfrm>
        <a:graphic>
          <a:graphicData uri="http://schemas.openxmlformats.org/drawingml/2006/table">
            <a:tbl>
              <a:tblPr/>
              <a:tblGrid>
                <a:gridCol w="1280160"/>
                <a:gridCol w="3474720"/>
                <a:gridCol w="5608015"/>
              </a:tblGrid>
              <a:tr h="27432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PERIODE</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AGENDA STRATEGIS</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OUTPUT KONKRET &amp; TARGET KEBERHASILAN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Penyusunan Draf Instruksi Walikota e-Katalog</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Draf Inkwal Afirmatif siap harmonisasi bersama Bagian Hukum Setda &amp; BPKAD.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11–30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Harmonisasi &amp; Penerbitan Instruksi Walikota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Inkwal ditandatangani Walikota; Sosialisasi ke seluruh OPD prioritas Pemkot.</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31–50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Kurasi &amp; Seleksi 5 Produk Inovasi Unggulan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Katalog 5 Produk Unggulan Hilirisasi STP (Smart Agri IoT, Alkes, Mesin Sortasi).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51–60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Showcase Inovasi di Depan Walikota &amp;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Demonstrasi produk di hadapan Walikota &amp; media; komitmen serapan perdana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61–80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Inisiasi Konsorsium Riset 5 Perguruan Tinggi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MoU Pra-Konsorsium bersama Rektor UNS, UMS, ISI, Poltek Solo Raya.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81–100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Launching Resmi Konsorsium &amp; Hilirisasi Inovasi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Penandatanganan MoU Riset Terapan bersama Kadin/Apindo di STP; kick-off hilirisasi.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&amp; Teknologi Menuju Mesin Impact Daerah (V4 - Visual Diagrams)</dc:title>
  <dc:subject>Bahan Paparan Resmi Walikota Surakarta 2026–2030</dc:subject>
  <dc:creator>UPTD KST Solo Technopark &amp; BRIDA Kota Surakarta</dc:creator>
  <cp:lastModifiedBy>UPTD KST Solo Technopark &amp; BRIDA Kota Surakarta</cp:lastModifiedBy>
  <cp:revision>1</cp:revision>
  <dcterms:created xsi:type="dcterms:W3CDTF">2026-09-11T04:31:17Z</dcterms:created>
  <dcterms:modified xsi:type="dcterms:W3CDTF">2026-09-11T04:31:17Z</dcterms:modified>
</cp:coreProperties>
</file>