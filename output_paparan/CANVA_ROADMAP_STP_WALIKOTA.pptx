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TC Motter Corpus Semicondensed" charset="1" panose="04020A05040802020202"/>
      <p:regular r:id="rId16"/>
    </p:embeddedFont>
    <p:embeddedFont>
      <p:font typeface="Rubik" charset="1" panose="00000000000000000000"/>
      <p:regular r:id="rId17"/>
    </p:embeddedFont>
    <p:embeddedFont>
      <p:font typeface="Rubik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6587588"/>
            <a:chOff x="0" y="0"/>
            <a:chExt cx="2192553" cy="1735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2553" cy="1735003"/>
            </a:xfrm>
            <a:custGeom>
              <a:avLst/>
              <a:gdLst/>
              <a:ahLst/>
              <a:cxnLst/>
              <a:rect r="r" b="b" t="t" l="l"/>
              <a:pathLst>
                <a:path h="1735003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97804"/>
                  </a:lnTo>
                  <a:cubicBezTo>
                    <a:pt x="2192553" y="1707669"/>
                    <a:pt x="2188634" y="1717131"/>
                    <a:pt x="2181658" y="1724107"/>
                  </a:cubicBezTo>
                  <a:cubicBezTo>
                    <a:pt x="2174682" y="1731083"/>
                    <a:pt x="2165220" y="1735003"/>
                    <a:pt x="2155354" y="1735003"/>
                  </a:cubicBezTo>
                  <a:lnTo>
                    <a:pt x="37199" y="1735003"/>
                  </a:lnTo>
                  <a:cubicBezTo>
                    <a:pt x="27333" y="1735003"/>
                    <a:pt x="17872" y="1731083"/>
                    <a:pt x="10895" y="1724107"/>
                  </a:cubicBezTo>
                  <a:cubicBezTo>
                    <a:pt x="3919" y="1717131"/>
                    <a:pt x="0" y="1707669"/>
                    <a:pt x="0" y="1697804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92553" cy="17921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7559138"/>
            <a:ext cx="5448300" cy="2061112"/>
            <a:chOff x="0" y="0"/>
            <a:chExt cx="1434943" cy="5428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542844"/>
            </a:xfrm>
            <a:custGeom>
              <a:avLst/>
              <a:gdLst/>
              <a:ahLst/>
              <a:cxnLst/>
              <a:rect r="r" b="b" t="t" l="l"/>
              <a:pathLst>
                <a:path h="54284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486005"/>
                  </a:lnTo>
                  <a:cubicBezTo>
                    <a:pt x="1434943" y="517397"/>
                    <a:pt x="1409495" y="542844"/>
                    <a:pt x="1378104" y="542844"/>
                  </a:cubicBezTo>
                  <a:lnTo>
                    <a:pt x="56839" y="542844"/>
                  </a:lnTo>
                  <a:cubicBezTo>
                    <a:pt x="25448" y="542844"/>
                    <a:pt x="0" y="517397"/>
                    <a:pt x="0" y="48600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434943" cy="599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666750"/>
            <a:ext cx="8324850" cy="8953500"/>
            <a:chOff x="0" y="0"/>
            <a:chExt cx="1066627" cy="11471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6627" cy="1147174"/>
            </a:xfrm>
            <a:custGeom>
              <a:avLst/>
              <a:gdLst/>
              <a:ahLst/>
              <a:cxnLst/>
              <a:rect r="r" b="b" t="t" l="l"/>
              <a:pathLst>
                <a:path h="1147174" w="1066627">
                  <a:moveTo>
                    <a:pt x="65098" y="0"/>
                  </a:moveTo>
                  <a:lnTo>
                    <a:pt x="1001529" y="0"/>
                  </a:lnTo>
                  <a:cubicBezTo>
                    <a:pt x="1018794" y="0"/>
                    <a:pt x="1035352" y="6859"/>
                    <a:pt x="1047561" y="19067"/>
                  </a:cubicBezTo>
                  <a:cubicBezTo>
                    <a:pt x="1059769" y="31275"/>
                    <a:pt x="1066627" y="47833"/>
                    <a:pt x="1066627" y="65098"/>
                  </a:cubicBezTo>
                  <a:lnTo>
                    <a:pt x="1066627" y="1082075"/>
                  </a:lnTo>
                  <a:cubicBezTo>
                    <a:pt x="1066627" y="1099340"/>
                    <a:pt x="1059769" y="1115898"/>
                    <a:pt x="1047561" y="1128107"/>
                  </a:cubicBezTo>
                  <a:cubicBezTo>
                    <a:pt x="1035352" y="1140315"/>
                    <a:pt x="1018794" y="1147174"/>
                    <a:pt x="1001529" y="1147174"/>
                  </a:cubicBezTo>
                  <a:lnTo>
                    <a:pt x="65098" y="1147174"/>
                  </a:lnTo>
                  <a:cubicBezTo>
                    <a:pt x="47833" y="1147174"/>
                    <a:pt x="31275" y="1140315"/>
                    <a:pt x="19067" y="1128107"/>
                  </a:cubicBezTo>
                  <a:cubicBezTo>
                    <a:pt x="6859" y="1115898"/>
                    <a:pt x="0" y="1099340"/>
                    <a:pt x="0" y="1082075"/>
                  </a:cubicBezTo>
                  <a:lnTo>
                    <a:pt x="0" y="65098"/>
                  </a:lnTo>
                  <a:cubicBezTo>
                    <a:pt x="0" y="47833"/>
                    <a:pt x="6859" y="31275"/>
                    <a:pt x="19067" y="19067"/>
                  </a:cubicBezTo>
                  <a:cubicBezTo>
                    <a:pt x="31275" y="6859"/>
                    <a:pt x="47833" y="0"/>
                    <a:pt x="65098" y="0"/>
                  </a:cubicBezTo>
                  <a:close/>
                </a:path>
              </a:pathLst>
            </a:custGeom>
            <a:blipFill>
              <a:blip r:embed="rId2"/>
              <a:stretch>
                <a:fillRect l="-280" t="0" r="-28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419850" y="7559138"/>
            <a:ext cx="2571750" cy="2061112"/>
            <a:chOff x="0" y="0"/>
            <a:chExt cx="677333" cy="5428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7333" cy="542844"/>
            </a:xfrm>
            <a:custGeom>
              <a:avLst/>
              <a:gdLst/>
              <a:ahLst/>
              <a:cxnLst/>
              <a:rect r="r" b="b" t="t" l="l"/>
              <a:pathLst>
                <a:path h="542844" w="677333">
                  <a:moveTo>
                    <a:pt x="120415" y="0"/>
                  </a:moveTo>
                  <a:lnTo>
                    <a:pt x="556919" y="0"/>
                  </a:lnTo>
                  <a:cubicBezTo>
                    <a:pt x="623422" y="0"/>
                    <a:pt x="677333" y="53912"/>
                    <a:pt x="677333" y="120415"/>
                  </a:cubicBezTo>
                  <a:lnTo>
                    <a:pt x="677333" y="422429"/>
                  </a:lnTo>
                  <a:cubicBezTo>
                    <a:pt x="677333" y="488933"/>
                    <a:pt x="623422" y="542844"/>
                    <a:pt x="556919" y="542844"/>
                  </a:cubicBezTo>
                  <a:lnTo>
                    <a:pt x="120415" y="542844"/>
                  </a:lnTo>
                  <a:cubicBezTo>
                    <a:pt x="88479" y="542844"/>
                    <a:pt x="57851" y="530158"/>
                    <a:pt x="35269" y="507576"/>
                  </a:cubicBezTo>
                  <a:cubicBezTo>
                    <a:pt x="12687" y="484993"/>
                    <a:pt x="0" y="454365"/>
                    <a:pt x="0" y="422429"/>
                  </a:cubicBezTo>
                  <a:lnTo>
                    <a:pt x="0" y="120415"/>
                  </a:lnTo>
                  <a:cubicBezTo>
                    <a:pt x="0" y="88479"/>
                    <a:pt x="12687" y="57851"/>
                    <a:pt x="35269" y="35269"/>
                  </a:cubicBezTo>
                  <a:cubicBezTo>
                    <a:pt x="57851" y="12687"/>
                    <a:pt x="88479" y="0"/>
                    <a:pt x="120415" y="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677333" cy="599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0800000">
            <a:off x="7248914" y="8142019"/>
            <a:ext cx="913622" cy="895350"/>
            <a:chOff x="0" y="0"/>
            <a:chExt cx="635000" cy="6223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070D1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45747" y="1216316"/>
            <a:ext cx="6916790" cy="2707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64"/>
              </a:lnSpc>
            </a:pPr>
            <a:r>
              <a:rPr lang="en-US" sz="6149">
                <a:solidFill>
                  <a:srgbClr val="070D18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ROADMAP STRATEGIS PENGEMBANGAN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5747" y="8143924"/>
            <a:ext cx="435375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399">
                <a:solidFill>
                  <a:srgbClr val="070D18"/>
                </a:solidFill>
                <a:latin typeface="Rubik"/>
                <a:ea typeface="Rubik"/>
                <a:cs typeface="Rubik"/>
                <a:sym typeface="Rubik"/>
              </a:rPr>
              <a:t>Presentasi oleh [Nama Presenter], [Jabatan]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934200"/>
            <a:ext cx="18288000" cy="3352800"/>
            <a:chOff x="0" y="0"/>
            <a:chExt cx="4816593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83042"/>
            </a:xfrm>
            <a:custGeom>
              <a:avLst/>
              <a:gdLst/>
              <a:ahLst/>
              <a:cxnLst/>
              <a:rect r="r" b="b" t="t" l="l"/>
              <a:pathLst>
                <a:path h="8830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38BDF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070D1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05025" y="1562100"/>
            <a:ext cx="12639675" cy="2987060"/>
            <a:chOff x="0" y="0"/>
            <a:chExt cx="16852900" cy="398274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33350"/>
              <a:ext cx="16852900" cy="1466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20"/>
                </a:lnSpc>
                <a:spcBef>
                  <a:spcPct val="0"/>
                </a:spcBef>
              </a:pPr>
              <a:r>
                <a:rPr lang="en-US" b="true" sz="6600" strike="noStrike" u="none">
                  <a:solidFill>
                    <a:srgbClr val="F59E0B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Kelembagaan &amp; Sinergi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339850"/>
              <a:ext cx="168529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>
                  <a:solidFill>
                    <a:srgbClr val="38BDF8"/>
                  </a:solidFill>
                  <a:latin typeface="Rubik Bold"/>
                  <a:ea typeface="Rubik Bold"/>
                  <a:cs typeface="Rubik Bold"/>
                  <a:sym typeface="Rubik Bold"/>
                </a:rPr>
                <a:t>Sinergi Strategis BRIDA dan STP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330477"/>
              <a:ext cx="16852900" cy="1652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38BDF8"/>
                  </a:solidFill>
                  <a:latin typeface="Rubik"/>
                  <a:ea typeface="Rubik"/>
                  <a:cs typeface="Rubik"/>
                  <a:sym typeface="Rubik"/>
                </a:rPr>
                <a:t>BRIDA sebagai pengatur kebijakan dan STP sebagai unit pelaksana, bersama-sama membangun ekosistem kolaborasi yang kuat untuk mendorong hilirisasi riset dan inovasi di Kota Surakarta.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-10800000">
            <a:off x="2105025" y="7829550"/>
            <a:ext cx="913622" cy="895350"/>
            <a:chOff x="0" y="0"/>
            <a:chExt cx="635000" cy="6223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934200"/>
            <a:ext cx="18288000" cy="3352800"/>
            <a:chOff x="0" y="0"/>
            <a:chExt cx="4816593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83042"/>
            </a:xfrm>
            <a:custGeom>
              <a:avLst/>
              <a:gdLst/>
              <a:ahLst/>
              <a:cxnLst/>
              <a:rect r="r" b="b" t="t" l="l"/>
              <a:pathLst>
                <a:path h="8830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59E0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38BDF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05025" y="1562100"/>
            <a:ext cx="14077950" cy="1405890"/>
            <a:chOff x="0" y="0"/>
            <a:chExt cx="18770600" cy="187452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33350"/>
              <a:ext cx="18770600" cy="1466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20"/>
                </a:lnSpc>
                <a:spcBef>
                  <a:spcPct val="0"/>
                </a:spcBef>
              </a:pPr>
              <a:r>
                <a:rPr lang="en-US" b="true" sz="6600" strike="noStrike" u="none">
                  <a:solidFill>
                    <a:srgbClr val="070D18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4 Pilar Layanan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339850"/>
              <a:ext cx="187706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>
                  <a:solidFill>
                    <a:srgbClr val="070D18"/>
                  </a:solidFill>
                  <a:latin typeface="Rubik Bold"/>
                  <a:ea typeface="Rubik Bold"/>
                  <a:cs typeface="Rubik Bold"/>
                  <a:sym typeface="Rubik Bold"/>
                </a:rPr>
                <a:t>Klaster Kompetensi Utama BLUD STP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05025" y="5143500"/>
            <a:ext cx="4010025" cy="2686050"/>
            <a:chOff x="0" y="0"/>
            <a:chExt cx="5346700" cy="35814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811530"/>
              <a:ext cx="5346700" cy="27698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070D18"/>
                  </a:solidFill>
                  <a:latin typeface="Rubik"/>
                  <a:ea typeface="Rubik"/>
                  <a:cs typeface="Rubik"/>
                  <a:sym typeface="Rubik"/>
                </a:rPr>
                <a:t>Menyediakan diklat vokasi untuk spesialisasi mekanik, mekatronika, dan pengelasan bawah air dengan standar tinggi.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57150"/>
              <a:ext cx="53467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>
                  <a:solidFill>
                    <a:srgbClr val="070D18"/>
                  </a:solidFill>
                  <a:latin typeface="Rubik Bold"/>
                  <a:ea typeface="Rubik Bold"/>
                  <a:cs typeface="Rubik Bold"/>
                  <a:sym typeface="Rubik Bold"/>
                </a:rPr>
                <a:t>LAYANAN TEKNIS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138988" y="5143500"/>
            <a:ext cx="4010025" cy="3524250"/>
            <a:chOff x="0" y="0"/>
            <a:chExt cx="5346700" cy="469900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370330"/>
              <a:ext cx="5346700" cy="3328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070D18"/>
                  </a:solidFill>
                  <a:latin typeface="Rubik"/>
                  <a:ea typeface="Rubik"/>
                  <a:cs typeface="Rubik"/>
                  <a:sym typeface="Rubik"/>
                </a:rPr>
                <a:t>Fokus pada rekayasa manufaktur presisi, pembuatan prototipe, dan pengujian produk industri untuk meningkatkan daya saing.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57150"/>
              <a:ext cx="5346700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070D18"/>
                  </a:solidFill>
                  <a:latin typeface="Rubik Bold"/>
                  <a:ea typeface="Rubik Bold"/>
                  <a:cs typeface="Rubik Bold"/>
                  <a:sym typeface="Rubik Bold"/>
                </a:rPr>
                <a:t>PENGEMBANGAN TEKNOLOGI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172950" y="5143500"/>
            <a:ext cx="4010025" cy="2686050"/>
            <a:chOff x="0" y="0"/>
            <a:chExt cx="5346700" cy="358140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811530"/>
              <a:ext cx="5346700" cy="27698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070D18"/>
                  </a:solidFill>
                  <a:latin typeface="Rubik"/>
                  <a:ea typeface="Rubik"/>
                  <a:cs typeface="Rubik"/>
                  <a:sym typeface="Rubik"/>
                </a:rPr>
                <a:t>Mendukung pra-inkubasi, kurasi startup digital, dan akses modal ventura untuk mempercepat pertumbuhan wirausaha lokal.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57150"/>
              <a:ext cx="53467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070D18"/>
                  </a:solidFill>
                  <a:latin typeface="Rubik Bold"/>
                  <a:ea typeface="Rubik Bold"/>
                  <a:cs typeface="Rubik Bold"/>
                  <a:sym typeface="Rubik Bold"/>
                </a:rPr>
                <a:t>INKUBASI BISNIS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934200"/>
            <a:ext cx="18288000" cy="3352800"/>
            <a:chOff x="0" y="0"/>
            <a:chExt cx="4816593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83042"/>
            </a:xfrm>
            <a:custGeom>
              <a:avLst/>
              <a:gdLst/>
              <a:ahLst/>
              <a:cxnLst/>
              <a:rect r="r" b="b" t="t" l="l"/>
              <a:pathLst>
                <a:path h="8830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38BDF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070D1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05025" y="1562100"/>
            <a:ext cx="12639675" cy="2987060"/>
            <a:chOff x="0" y="0"/>
            <a:chExt cx="16852900" cy="398274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33350"/>
              <a:ext cx="16852900" cy="1466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20"/>
                </a:lnSpc>
                <a:spcBef>
                  <a:spcPct val="0"/>
                </a:spcBef>
              </a:pPr>
              <a:r>
                <a:rPr lang="en-US" b="true" sz="6600" strike="noStrike" u="none">
                  <a:solidFill>
                    <a:srgbClr val="F59E0B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Mesin Hilirisasi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339850"/>
              <a:ext cx="168529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>
                  <a:solidFill>
                    <a:srgbClr val="38BDF8"/>
                  </a:solidFill>
                  <a:latin typeface="Rubik Bold"/>
                  <a:ea typeface="Rubik Bold"/>
                  <a:cs typeface="Rubik Bold"/>
                  <a:sym typeface="Rubik Bold"/>
                </a:rPr>
                <a:t>Menjembatani Riset ke Industri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330477"/>
              <a:ext cx="16852900" cy="1652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38BDF8"/>
                  </a:solidFill>
                  <a:latin typeface="Rubik"/>
                  <a:ea typeface="Rubik"/>
                  <a:cs typeface="Rubik"/>
                  <a:sym typeface="Rubik"/>
                </a:rPr>
                <a:t>Transformasi riset kampus menjadi produk komersial adalah kunci. STP berfungsi sebagai jembatan, menghubungkan potensi inovasi akademis dengan kebutuhan pasar industri yang nyata.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-10800000">
            <a:off x="2105025" y="7829550"/>
            <a:ext cx="913622" cy="895350"/>
            <a:chOff x="0" y="0"/>
            <a:chExt cx="635000" cy="6223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934200"/>
            <a:ext cx="18288000" cy="3352800"/>
            <a:chOff x="0" y="0"/>
            <a:chExt cx="4816593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83042"/>
            </a:xfrm>
            <a:custGeom>
              <a:avLst/>
              <a:gdLst/>
              <a:ahLst/>
              <a:cxnLst/>
              <a:rect r="r" b="b" t="t" l="l"/>
              <a:pathLst>
                <a:path h="8830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59E0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38BDF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05025" y="1562100"/>
            <a:ext cx="12639675" cy="2406015"/>
            <a:chOff x="0" y="0"/>
            <a:chExt cx="16852900" cy="320802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33350"/>
              <a:ext cx="16852900" cy="2800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20"/>
                </a:lnSpc>
                <a:spcBef>
                  <a:spcPct val="0"/>
                </a:spcBef>
              </a:pPr>
              <a:r>
                <a:rPr lang="en-US" b="true" sz="6600" strike="noStrike" u="none">
                  <a:solidFill>
                    <a:srgbClr val="070D18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Ekosistem Kolaborasi Global di STP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673350"/>
              <a:ext cx="168529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>
                  <a:solidFill>
                    <a:srgbClr val="070D18"/>
                  </a:solidFill>
                  <a:latin typeface="Rubik Bold"/>
                  <a:ea typeface="Rubik Bold"/>
                  <a:cs typeface="Rubik Bold"/>
                  <a:sym typeface="Rubik Bold"/>
                </a:rPr>
                <a:t>95+ Mitra Korporasi untuk Inovasi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2105025" y="7829550"/>
            <a:ext cx="913622" cy="895350"/>
            <a:chOff x="0" y="0"/>
            <a:chExt cx="635000" cy="622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070D1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934200"/>
            <a:ext cx="18288000" cy="3352800"/>
            <a:chOff x="0" y="0"/>
            <a:chExt cx="4816593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83042"/>
            </a:xfrm>
            <a:custGeom>
              <a:avLst/>
              <a:gdLst/>
              <a:ahLst/>
              <a:cxnLst/>
              <a:rect r="r" b="b" t="t" l="l"/>
              <a:pathLst>
                <a:path h="8830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59E0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38BDF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05025" y="1562100"/>
            <a:ext cx="12639675" cy="1405890"/>
            <a:chOff x="0" y="0"/>
            <a:chExt cx="16852900" cy="187452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33350"/>
              <a:ext cx="16852900" cy="1466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20"/>
                </a:lnSpc>
                <a:spcBef>
                  <a:spcPct val="0"/>
                </a:spcBef>
              </a:pPr>
              <a:r>
                <a:rPr lang="en-US" b="true" sz="6600" strike="noStrike" u="none">
                  <a:solidFill>
                    <a:srgbClr val="070D18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Analisis Gap &amp; Solusi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339850"/>
              <a:ext cx="168529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>
                  <a:solidFill>
                    <a:srgbClr val="070D18"/>
                  </a:solidFill>
                  <a:latin typeface="Rubik Bold"/>
                  <a:ea typeface="Rubik Bold"/>
                  <a:cs typeface="Rubik Bold"/>
                  <a:sym typeface="Rubik Bold"/>
                </a:rPr>
                <a:t>Memetakan tantangan strategis untuk akselerasi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05025" y="5143500"/>
            <a:ext cx="5448300" cy="3105150"/>
            <a:chOff x="0" y="0"/>
            <a:chExt cx="7264400" cy="41402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811530"/>
              <a:ext cx="7264400" cy="3328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070D18"/>
                  </a:solidFill>
                  <a:latin typeface="Rubik"/>
                  <a:ea typeface="Rubik"/>
                  <a:cs typeface="Rubik"/>
                  <a:sym typeface="Rubik"/>
                </a:rPr>
                <a:t>Ketergantungan pada pendapatan sewa lahan menjadi tantangan utama. Solusi untuk diversifikasi unit usaha uji lab dan royalti paten akan mengoptimalkan sumber pendapatan STP.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57150"/>
              <a:ext cx="72644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>
                  <a:solidFill>
                    <a:srgbClr val="070D18"/>
                  </a:solidFill>
                  <a:latin typeface="Rubik Bold"/>
                  <a:ea typeface="Rubik Bold"/>
                  <a:cs typeface="Rubik Bold"/>
                  <a:sym typeface="Rubik Bold"/>
                </a:rPr>
                <a:t>GAP PENDAPATAN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96400" y="5143500"/>
            <a:ext cx="5448300" cy="3105150"/>
            <a:chOff x="0" y="0"/>
            <a:chExt cx="7264400" cy="414020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811530"/>
              <a:ext cx="7264400" cy="3328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070D18"/>
                  </a:solidFill>
                  <a:latin typeface="Rubik"/>
                  <a:ea typeface="Rubik"/>
                  <a:cs typeface="Rubik"/>
                  <a:sym typeface="Rubik"/>
                </a:rPr>
                <a:t>Proses sertifikasi produk inovasi yang lambat menghambat pertumbuhan. Pembentukan Akselerator Uji TKDN dan Standarisasi SNI akan mempercepat pengakuan dan komersialisasi produk lokal.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57150"/>
              <a:ext cx="72644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>
                  <a:solidFill>
                    <a:srgbClr val="070D18"/>
                  </a:solidFill>
                  <a:latin typeface="Rubik Bold"/>
                  <a:ea typeface="Rubik Bold"/>
                  <a:cs typeface="Rubik Bold"/>
                  <a:sym typeface="Rubik Bold"/>
                </a:rPr>
                <a:t>SERTIFIKASI INOVASI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781800" cy="10287000"/>
            <a:chOff x="0" y="0"/>
            <a:chExt cx="178615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615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86153">
                  <a:moveTo>
                    <a:pt x="0" y="0"/>
                  </a:moveTo>
                  <a:lnTo>
                    <a:pt x="1786153" y="0"/>
                  </a:lnTo>
                  <a:lnTo>
                    <a:pt x="178615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78615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045757" y="6038850"/>
            <a:ext cx="10485405" cy="0"/>
          </a:xfrm>
          <a:prstGeom prst="line">
            <a:avLst/>
          </a:prstGeom>
          <a:ln cap="flat" w="38100">
            <a:solidFill>
              <a:srgbClr val="38BD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7858125" y="666750"/>
            <a:ext cx="9763125" cy="2406015"/>
            <a:chOff x="0" y="0"/>
            <a:chExt cx="13017500" cy="320802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33350"/>
              <a:ext cx="13017500" cy="2800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20"/>
                </a:lnSpc>
              </a:pPr>
              <a:r>
                <a:rPr lang="en-US" sz="6600">
                  <a:solidFill>
                    <a:srgbClr val="F59E0B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Roadmap Development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673350"/>
              <a:ext cx="130175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38BDF8"/>
                  </a:solidFill>
                  <a:latin typeface="Rubik Bold"/>
                  <a:ea typeface="Rubik Bold"/>
                  <a:cs typeface="Rubik Bold"/>
                  <a:sym typeface="Rubik Bold"/>
                </a:rPr>
                <a:t>Milestones for Solo Technopark Growth and Progress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858125" y="5851218"/>
            <a:ext cx="375264" cy="37526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858125" y="6877050"/>
            <a:ext cx="2576026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38BDF8"/>
                </a:solidFill>
                <a:latin typeface="Rubik"/>
                <a:ea typeface="Rubik"/>
                <a:cs typeface="Rubik"/>
                <a:sym typeface="Rubik"/>
              </a:rPr>
              <a:t>Foundation strengthening and governance setup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58125" y="4728210"/>
            <a:ext cx="257175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38BDF8"/>
                </a:solidFill>
                <a:latin typeface="Rubik Bold"/>
                <a:ea typeface="Rubik Bold"/>
                <a:cs typeface="Rubik Bold"/>
                <a:sym typeface="Rubik Bold"/>
              </a:rPr>
              <a:t>2026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62851" y="4728210"/>
            <a:ext cx="257175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38BDF8"/>
                </a:solidFill>
                <a:latin typeface="Rubik Bold"/>
                <a:ea typeface="Rubik Bold"/>
                <a:cs typeface="Rubik Bold"/>
                <a:sym typeface="Rubik Bold"/>
              </a:rPr>
              <a:t>2027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462851" y="5851218"/>
            <a:ext cx="375264" cy="37526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462851" y="6877050"/>
            <a:ext cx="2571750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38BDF8"/>
                </a:solidFill>
                <a:latin typeface="Rubik"/>
                <a:ea typeface="Rubik"/>
                <a:cs typeface="Rubik"/>
                <a:sym typeface="Rubik"/>
              </a:rPr>
              <a:t>Industrial downstream acceleration begins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067577" y="4728210"/>
            <a:ext cx="256698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38BDF8"/>
                </a:solidFill>
                <a:latin typeface="Rubik Bold"/>
                <a:ea typeface="Rubik Bold"/>
                <a:cs typeface="Rubik Bold"/>
                <a:sym typeface="Rubik Bold"/>
              </a:rPr>
              <a:t>2028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5067577" y="5851218"/>
            <a:ext cx="375264" cy="37526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5062814" y="6877050"/>
            <a:ext cx="2571750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38BDF8"/>
                </a:solidFill>
                <a:latin typeface="Rubik"/>
                <a:ea typeface="Rubik"/>
                <a:cs typeface="Rubik"/>
                <a:sym typeface="Rubik"/>
              </a:rPr>
              <a:t>Launch of financial independence initiatives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66750" y="666750"/>
            <a:ext cx="5448300" cy="8953500"/>
            <a:chOff x="0" y="0"/>
            <a:chExt cx="1406084" cy="23106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06084" cy="2310698"/>
            </a:xfrm>
            <a:custGeom>
              <a:avLst/>
              <a:gdLst/>
              <a:ahLst/>
              <a:cxnLst/>
              <a:rect r="r" b="b" t="t" l="l"/>
              <a:pathLst>
                <a:path h="2310698" w="1406084">
                  <a:moveTo>
                    <a:pt x="974733" y="348724"/>
                  </a:moveTo>
                  <a:lnTo>
                    <a:pt x="974733" y="310035"/>
                  </a:lnTo>
                  <a:cubicBezTo>
                    <a:pt x="974733" y="286046"/>
                    <a:pt x="965203" y="263040"/>
                    <a:pt x="948241" y="246078"/>
                  </a:cubicBezTo>
                  <a:cubicBezTo>
                    <a:pt x="931278" y="229116"/>
                    <a:pt x="908272" y="219586"/>
                    <a:pt x="884283" y="219587"/>
                  </a:cubicBezTo>
                  <a:lnTo>
                    <a:pt x="660890" y="219587"/>
                  </a:lnTo>
                  <a:cubicBezTo>
                    <a:pt x="610936" y="219587"/>
                    <a:pt x="570441" y="179091"/>
                    <a:pt x="570441" y="129137"/>
                  </a:cubicBezTo>
                  <a:lnTo>
                    <a:pt x="570441" y="90448"/>
                  </a:lnTo>
                  <a:cubicBezTo>
                    <a:pt x="570441" y="66459"/>
                    <a:pt x="560911" y="43453"/>
                    <a:pt x="543948" y="26490"/>
                  </a:cubicBezTo>
                  <a:cubicBezTo>
                    <a:pt x="526985" y="9528"/>
                    <a:pt x="503978" y="-1"/>
                    <a:pt x="479989" y="0"/>
                  </a:cubicBezTo>
                  <a:lnTo>
                    <a:pt x="90448" y="0"/>
                  </a:lnTo>
                  <a:cubicBezTo>
                    <a:pt x="40495" y="0"/>
                    <a:pt x="0" y="40495"/>
                    <a:pt x="0" y="90448"/>
                  </a:cubicBezTo>
                  <a:lnTo>
                    <a:pt x="0" y="2220250"/>
                  </a:lnTo>
                  <a:cubicBezTo>
                    <a:pt x="0" y="2270203"/>
                    <a:pt x="40495" y="2310698"/>
                    <a:pt x="90448" y="2310698"/>
                  </a:cubicBezTo>
                  <a:lnTo>
                    <a:pt x="1315636" y="2310698"/>
                  </a:lnTo>
                  <a:cubicBezTo>
                    <a:pt x="1365589" y="2310698"/>
                    <a:pt x="1406084" y="2270203"/>
                    <a:pt x="1406084" y="2220250"/>
                  </a:cubicBezTo>
                  <a:lnTo>
                    <a:pt x="1406084" y="529620"/>
                  </a:lnTo>
                  <a:cubicBezTo>
                    <a:pt x="1406084" y="479667"/>
                    <a:pt x="1365589" y="439172"/>
                    <a:pt x="1315636" y="439172"/>
                  </a:cubicBezTo>
                  <a:lnTo>
                    <a:pt x="1065181" y="439172"/>
                  </a:lnTo>
                  <a:cubicBezTo>
                    <a:pt x="1015228" y="439172"/>
                    <a:pt x="974733" y="398677"/>
                    <a:pt x="974733" y="348724"/>
                  </a:cubicBezTo>
                  <a:close/>
                </a:path>
              </a:pathLst>
            </a:custGeom>
            <a:blipFill>
              <a:blip r:embed="rId2"/>
              <a:stretch>
                <a:fillRect l="0" t="-290" r="0" b="-29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094192" y="666750"/>
            <a:ext cx="1371371" cy="653784"/>
            <a:chOff x="0" y="0"/>
            <a:chExt cx="361184" cy="1721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1184" cy="172190"/>
            </a:xfrm>
            <a:custGeom>
              <a:avLst/>
              <a:gdLst/>
              <a:ahLst/>
              <a:cxnLst/>
              <a:rect r="r" b="b" t="t" l="l"/>
              <a:pathLst>
                <a:path h="172190" w="361184">
                  <a:moveTo>
                    <a:pt x="86095" y="0"/>
                  </a:moveTo>
                  <a:lnTo>
                    <a:pt x="275089" y="0"/>
                  </a:lnTo>
                  <a:cubicBezTo>
                    <a:pt x="322638" y="0"/>
                    <a:pt x="361184" y="38546"/>
                    <a:pt x="361184" y="86095"/>
                  </a:cubicBezTo>
                  <a:lnTo>
                    <a:pt x="361184" y="86095"/>
                  </a:lnTo>
                  <a:cubicBezTo>
                    <a:pt x="361184" y="108929"/>
                    <a:pt x="352113" y="130828"/>
                    <a:pt x="335967" y="146973"/>
                  </a:cubicBezTo>
                  <a:cubicBezTo>
                    <a:pt x="319821" y="163119"/>
                    <a:pt x="297923" y="172190"/>
                    <a:pt x="275089" y="172190"/>
                  </a:cubicBezTo>
                  <a:lnTo>
                    <a:pt x="86095" y="172190"/>
                  </a:lnTo>
                  <a:cubicBezTo>
                    <a:pt x="38546" y="172190"/>
                    <a:pt x="0" y="133644"/>
                    <a:pt x="0" y="86095"/>
                  </a:cubicBezTo>
                  <a:lnTo>
                    <a:pt x="0" y="86095"/>
                  </a:lnTo>
                  <a:cubicBezTo>
                    <a:pt x="0" y="38546"/>
                    <a:pt x="38546" y="0"/>
                    <a:pt x="86095" y="0"/>
                  </a:cubicBezTo>
                  <a:close/>
                </a:path>
              </a:pathLst>
            </a:custGeom>
            <a:solidFill>
              <a:srgbClr val="F59E0B"/>
            </a:solidFill>
            <a:ln cap="rnd">
              <a:noFill/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361184" cy="229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676775" y="666750"/>
            <a:ext cx="1438275" cy="1487929"/>
            <a:chOff x="0" y="0"/>
            <a:chExt cx="378805" cy="39188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78805" cy="391882"/>
            </a:xfrm>
            <a:custGeom>
              <a:avLst/>
              <a:gdLst/>
              <a:ahLst/>
              <a:cxnLst/>
              <a:rect r="r" b="b" t="t" l="l"/>
              <a:pathLst>
                <a:path h="391882" w="378805">
                  <a:moveTo>
                    <a:pt x="123804" y="0"/>
                  </a:moveTo>
                  <a:lnTo>
                    <a:pt x="255001" y="0"/>
                  </a:lnTo>
                  <a:cubicBezTo>
                    <a:pt x="323376" y="0"/>
                    <a:pt x="378805" y="55429"/>
                    <a:pt x="378805" y="123804"/>
                  </a:cubicBezTo>
                  <a:lnTo>
                    <a:pt x="378805" y="268078"/>
                  </a:lnTo>
                  <a:cubicBezTo>
                    <a:pt x="378805" y="336453"/>
                    <a:pt x="323376" y="391882"/>
                    <a:pt x="255001" y="391882"/>
                  </a:cubicBezTo>
                  <a:lnTo>
                    <a:pt x="123804" y="391882"/>
                  </a:lnTo>
                  <a:cubicBezTo>
                    <a:pt x="90969" y="391882"/>
                    <a:pt x="59479" y="378839"/>
                    <a:pt x="36261" y="355621"/>
                  </a:cubicBezTo>
                  <a:cubicBezTo>
                    <a:pt x="13044" y="332403"/>
                    <a:pt x="0" y="300913"/>
                    <a:pt x="0" y="268078"/>
                  </a:cubicBezTo>
                  <a:lnTo>
                    <a:pt x="0" y="123804"/>
                  </a:lnTo>
                  <a:cubicBezTo>
                    <a:pt x="0" y="90969"/>
                    <a:pt x="13044" y="59479"/>
                    <a:pt x="36261" y="36261"/>
                  </a:cubicBezTo>
                  <a:cubicBezTo>
                    <a:pt x="59479" y="13044"/>
                    <a:pt x="90969" y="0"/>
                    <a:pt x="123804" y="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378805" cy="44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10800000">
            <a:off x="5028810" y="993642"/>
            <a:ext cx="734205" cy="719521"/>
            <a:chOff x="0" y="0"/>
            <a:chExt cx="635000" cy="6223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070D18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934200"/>
            <a:ext cx="18288000" cy="3352800"/>
            <a:chOff x="0" y="0"/>
            <a:chExt cx="4816593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83042"/>
            </a:xfrm>
            <a:custGeom>
              <a:avLst/>
              <a:gdLst/>
              <a:ahLst/>
              <a:cxnLst/>
              <a:rect r="r" b="b" t="t" l="l"/>
              <a:pathLst>
                <a:path h="8830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38BDF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070D1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383377" y="5822254"/>
            <a:ext cx="2891597" cy="917797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16007" y="5845796"/>
            <a:ext cx="2609087" cy="870712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 rot="0">
            <a:off x="2105025" y="1562100"/>
            <a:ext cx="12639675" cy="1405890"/>
            <a:chOff x="0" y="0"/>
            <a:chExt cx="16852900" cy="187452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33350"/>
              <a:ext cx="16852900" cy="1466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20"/>
                </a:lnSpc>
              </a:pPr>
              <a:r>
                <a:rPr lang="en-US" sz="6600">
                  <a:solidFill>
                    <a:srgbClr val="F59E0B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Proyeksi Finansial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339850"/>
              <a:ext cx="168529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38BDF8"/>
                  </a:solidFill>
                  <a:latin typeface="Rubik Bold"/>
                  <a:ea typeface="Rubik Bold"/>
                  <a:cs typeface="Rubik Bold"/>
                  <a:sym typeface="Rubik Bold"/>
                </a:rPr>
                <a:t>Lompatan Pendapatan BLUD STP dalam 4 tahun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105025" y="5029186"/>
            <a:ext cx="54483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</a:pPr>
            <a:r>
              <a:rPr lang="en-US" sz="5600">
                <a:solidFill>
                  <a:srgbClr val="38BDF8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310%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105025" y="6934214"/>
            <a:ext cx="5448300" cy="1009650"/>
            <a:chOff x="0" y="0"/>
            <a:chExt cx="7264400" cy="134620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811530"/>
              <a:ext cx="72644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38BDF8"/>
                  </a:solidFill>
                  <a:latin typeface="Rubik"/>
                  <a:ea typeface="Rubik"/>
                  <a:cs typeface="Rubik"/>
                  <a:sym typeface="Rubik"/>
                </a:rPr>
                <a:t>Target 2030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57150"/>
              <a:ext cx="72644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>
                  <a:solidFill>
                    <a:srgbClr val="38BDF8"/>
                  </a:solidFill>
                  <a:latin typeface="Rubik Bold"/>
                  <a:ea typeface="Rubik Bold"/>
                  <a:cs typeface="Rubik Bold"/>
                  <a:sym typeface="Rubik Bold"/>
                </a:rPr>
                <a:t>PERTUMBUHAN PENDAPATAN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296400" y="5029186"/>
            <a:ext cx="54483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</a:pPr>
            <a:r>
              <a:rPr lang="en-US" sz="5600">
                <a:solidFill>
                  <a:srgbClr val="38BDF8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9,000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96400" y="6934214"/>
            <a:ext cx="5448300" cy="1009650"/>
            <a:chOff x="0" y="0"/>
            <a:chExt cx="7264400" cy="1346200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811530"/>
              <a:ext cx="72644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38BDF8"/>
                  </a:solidFill>
                  <a:latin typeface="Rubik"/>
                  <a:ea typeface="Rubik"/>
                  <a:cs typeface="Rubik"/>
                  <a:sym typeface="Rubik"/>
                </a:rPr>
                <a:t>Per Tahun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57150"/>
              <a:ext cx="72644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38BDF8"/>
                  </a:solidFill>
                  <a:latin typeface="Rubik Bold"/>
                  <a:ea typeface="Rubik Bold"/>
                  <a:cs typeface="Rubik Bold"/>
                  <a:sym typeface="Rubik Bold"/>
                </a:rPr>
                <a:t>TENAGA KERJA BARU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934200"/>
            <a:ext cx="18288000" cy="3352800"/>
            <a:chOff x="0" y="0"/>
            <a:chExt cx="4816593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83042"/>
            </a:xfrm>
            <a:custGeom>
              <a:avLst/>
              <a:gdLst/>
              <a:ahLst/>
              <a:cxnLst/>
              <a:rect r="r" b="b" t="t" l="l"/>
              <a:pathLst>
                <a:path h="8830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59E0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38BDF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05025" y="1562100"/>
            <a:ext cx="14077950" cy="2406015"/>
            <a:chOff x="0" y="0"/>
            <a:chExt cx="18770600" cy="320802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33350"/>
              <a:ext cx="18770600" cy="2800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20"/>
                </a:lnSpc>
                <a:spcBef>
                  <a:spcPct val="0"/>
                </a:spcBef>
              </a:pPr>
              <a:r>
                <a:rPr lang="en-US" b="true" sz="6600" strike="noStrike" u="none">
                  <a:solidFill>
                    <a:srgbClr val="070D18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Dampak Penyerapan Tenaga Kerja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673350"/>
              <a:ext cx="187706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>
                  <a:solidFill>
                    <a:srgbClr val="070D18"/>
                  </a:solidFill>
                  <a:latin typeface="Rubik Bold"/>
                  <a:ea typeface="Rubik Bold"/>
                  <a:cs typeface="Rubik Bold"/>
                  <a:sym typeface="Rubik Bold"/>
                </a:rPr>
                <a:t>Kontribusi STP bagi warga Solo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05025" y="5143500"/>
            <a:ext cx="4010025" cy="2686050"/>
            <a:chOff x="0" y="0"/>
            <a:chExt cx="5346700" cy="35814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811530"/>
              <a:ext cx="5346700" cy="27698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070D18"/>
                  </a:solidFill>
                  <a:latin typeface="Rubik"/>
                  <a:ea typeface="Rubik"/>
                  <a:cs typeface="Rubik"/>
                  <a:sym typeface="Rubik"/>
                </a:rPr>
                <a:t>Penyerapan 9.000 tenaga kerja baru setiap tahun memberikan peluang bagi </a:t>
              </a:r>
              <a:r>
                <a:rPr lang="en-US" b="true" sz="2400">
                  <a:solidFill>
                    <a:srgbClr val="070D18"/>
                  </a:solidFill>
                  <a:latin typeface="Rubik Bold"/>
                  <a:ea typeface="Rubik Bold"/>
                  <a:cs typeface="Rubik Bold"/>
                  <a:sym typeface="Rubik Bold"/>
                </a:rPr>
                <a:t>warga KTP Surakarta</a:t>
              </a:r>
              <a:r>
                <a:rPr lang="en-US" sz="2400">
                  <a:solidFill>
                    <a:srgbClr val="070D18"/>
                  </a:solidFill>
                  <a:latin typeface="Rubik"/>
                  <a:ea typeface="Rubik"/>
                  <a:cs typeface="Rubik"/>
                  <a:sym typeface="Rubik"/>
                </a:rPr>
                <a:t> untuk berkontribusi.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57150"/>
              <a:ext cx="53467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>
                  <a:solidFill>
                    <a:srgbClr val="070D18"/>
                  </a:solidFill>
                  <a:latin typeface="Rubik Bold"/>
                  <a:ea typeface="Rubik Bold"/>
                  <a:cs typeface="Rubik Bold"/>
                  <a:sym typeface="Rubik Bold"/>
                </a:rPr>
                <a:t>TENAGA KERJA BARU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138988" y="5143500"/>
            <a:ext cx="4010025" cy="2686050"/>
            <a:chOff x="0" y="0"/>
            <a:chExt cx="5346700" cy="358140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811530"/>
              <a:ext cx="5346700" cy="27698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070D18"/>
                  </a:solidFill>
                  <a:latin typeface="Rubik"/>
                  <a:ea typeface="Rubik"/>
                  <a:cs typeface="Rubik"/>
                  <a:sym typeface="Rubik"/>
                </a:rPr>
                <a:t>Inkubasi 80 startup mandiri menciptakan </a:t>
              </a:r>
              <a:r>
                <a:rPr lang="en-US" b="true" sz="2400">
                  <a:solidFill>
                    <a:srgbClr val="070D18"/>
                  </a:solidFill>
                  <a:latin typeface="Rubik Bold"/>
                  <a:ea typeface="Rubik Bold"/>
                  <a:cs typeface="Rubik Bold"/>
                  <a:sym typeface="Rubik Bold"/>
                </a:rPr>
                <a:t>wirausaha berbasis teknologi</a:t>
              </a:r>
              <a:r>
                <a:rPr lang="en-US" sz="2400">
                  <a:solidFill>
                    <a:srgbClr val="070D18"/>
                  </a:solidFill>
                  <a:latin typeface="Rubik"/>
                  <a:ea typeface="Rubik"/>
                  <a:cs typeface="Rubik"/>
                  <a:sym typeface="Rubik"/>
                </a:rPr>
                <a:t>, mendukung pertumbuhan ekonomi lokal dan inovasi.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57150"/>
              <a:ext cx="53467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070D18"/>
                  </a:solidFill>
                  <a:latin typeface="Rubik Bold"/>
                  <a:ea typeface="Rubik Bold"/>
                  <a:cs typeface="Rubik Bold"/>
                  <a:sym typeface="Rubik Bold"/>
                </a:rPr>
                <a:t>WIRAUSAHA MANDIRI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172950" y="5143500"/>
            <a:ext cx="4010025" cy="3105150"/>
            <a:chOff x="0" y="0"/>
            <a:chExt cx="5346700" cy="414020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811530"/>
              <a:ext cx="5346700" cy="3328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070D18"/>
                  </a:solidFill>
                  <a:latin typeface="Rubik"/>
                  <a:ea typeface="Rubik"/>
                  <a:cs typeface="Rubik"/>
                  <a:sym typeface="Rubik"/>
                </a:rPr>
                <a:t>Komersialisasi 45 produk inovasi menghasilkan solusi </a:t>
              </a:r>
              <a:r>
                <a:rPr lang="en-US" b="true" sz="2400">
                  <a:solidFill>
                    <a:srgbClr val="070D18"/>
                  </a:solidFill>
                  <a:latin typeface="Rubik Bold"/>
                  <a:ea typeface="Rubik Bold"/>
                  <a:cs typeface="Rubik Bold"/>
                  <a:sym typeface="Rubik Bold"/>
                </a:rPr>
                <a:t>Smart City</a:t>
              </a:r>
              <a:r>
                <a:rPr lang="en-US" sz="2400">
                  <a:solidFill>
                    <a:srgbClr val="070D18"/>
                  </a:solidFill>
                  <a:latin typeface="Rubik"/>
                  <a:ea typeface="Rubik"/>
                  <a:cs typeface="Rubik"/>
                  <a:sym typeface="Rubik"/>
                </a:rPr>
                <a:t> dan ketahanan pangan untuk meningkatkan kualitas hidup masyarakat.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57150"/>
              <a:ext cx="53467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070D18"/>
                  </a:solidFill>
                  <a:latin typeface="Rubik Bold"/>
                  <a:ea typeface="Rubik Bold"/>
                  <a:cs typeface="Rubik Bold"/>
                  <a:sym typeface="Rubik Bold"/>
                </a:rPr>
                <a:t>SOLUSI PERKOTAAN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5295900"/>
            <a:ext cx="6886575" cy="4324350"/>
            <a:chOff x="0" y="0"/>
            <a:chExt cx="1066911" cy="6699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6911" cy="669955"/>
            </a:xfrm>
            <a:custGeom>
              <a:avLst/>
              <a:gdLst/>
              <a:ahLst/>
              <a:cxnLst/>
              <a:rect r="r" b="b" t="t" l="l"/>
              <a:pathLst>
                <a:path h="669955" w="1066911">
                  <a:moveTo>
                    <a:pt x="78694" y="0"/>
                  </a:moveTo>
                  <a:lnTo>
                    <a:pt x="988216" y="0"/>
                  </a:lnTo>
                  <a:cubicBezTo>
                    <a:pt x="1009087" y="0"/>
                    <a:pt x="1029104" y="8291"/>
                    <a:pt x="1043862" y="23049"/>
                  </a:cubicBezTo>
                  <a:cubicBezTo>
                    <a:pt x="1058620" y="37807"/>
                    <a:pt x="1066911" y="57823"/>
                    <a:pt x="1066911" y="78694"/>
                  </a:cubicBezTo>
                  <a:lnTo>
                    <a:pt x="1066911" y="591261"/>
                  </a:lnTo>
                  <a:cubicBezTo>
                    <a:pt x="1066911" y="612132"/>
                    <a:pt x="1058620" y="632148"/>
                    <a:pt x="1043862" y="646906"/>
                  </a:cubicBezTo>
                  <a:cubicBezTo>
                    <a:pt x="1029104" y="661664"/>
                    <a:pt x="1009087" y="669955"/>
                    <a:pt x="988216" y="669955"/>
                  </a:cubicBezTo>
                  <a:lnTo>
                    <a:pt x="78694" y="669955"/>
                  </a:lnTo>
                  <a:cubicBezTo>
                    <a:pt x="57823" y="669955"/>
                    <a:pt x="37807" y="661664"/>
                    <a:pt x="23049" y="646906"/>
                  </a:cubicBezTo>
                  <a:cubicBezTo>
                    <a:pt x="8291" y="632148"/>
                    <a:pt x="0" y="612132"/>
                    <a:pt x="0" y="591261"/>
                  </a:cubicBezTo>
                  <a:lnTo>
                    <a:pt x="0" y="78694"/>
                  </a:lnTo>
                  <a:cubicBezTo>
                    <a:pt x="0" y="57823"/>
                    <a:pt x="8291" y="37807"/>
                    <a:pt x="23049" y="23049"/>
                  </a:cubicBezTo>
                  <a:cubicBezTo>
                    <a:pt x="37807" y="8291"/>
                    <a:pt x="57823" y="0"/>
                    <a:pt x="78694" y="0"/>
                  </a:cubicBezTo>
                  <a:close/>
                </a:path>
              </a:pathLst>
            </a:custGeom>
            <a:blipFill>
              <a:blip r:embed="rId2"/>
              <a:stretch>
                <a:fillRect l="-436" t="0" r="-43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666750"/>
            <a:ext cx="6886575" cy="4324350"/>
            <a:chOff x="0" y="0"/>
            <a:chExt cx="1066911" cy="6699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6911" cy="669955"/>
            </a:xfrm>
            <a:custGeom>
              <a:avLst/>
              <a:gdLst/>
              <a:ahLst/>
              <a:cxnLst/>
              <a:rect r="r" b="b" t="t" l="l"/>
              <a:pathLst>
                <a:path h="669955" w="1066911">
                  <a:moveTo>
                    <a:pt x="78694" y="0"/>
                  </a:moveTo>
                  <a:lnTo>
                    <a:pt x="988216" y="0"/>
                  </a:lnTo>
                  <a:cubicBezTo>
                    <a:pt x="1009087" y="0"/>
                    <a:pt x="1029104" y="8291"/>
                    <a:pt x="1043862" y="23049"/>
                  </a:cubicBezTo>
                  <a:cubicBezTo>
                    <a:pt x="1058620" y="37807"/>
                    <a:pt x="1066911" y="57823"/>
                    <a:pt x="1066911" y="78694"/>
                  </a:cubicBezTo>
                  <a:lnTo>
                    <a:pt x="1066911" y="591261"/>
                  </a:lnTo>
                  <a:cubicBezTo>
                    <a:pt x="1066911" y="612132"/>
                    <a:pt x="1058620" y="632148"/>
                    <a:pt x="1043862" y="646906"/>
                  </a:cubicBezTo>
                  <a:cubicBezTo>
                    <a:pt x="1029104" y="661664"/>
                    <a:pt x="1009087" y="669955"/>
                    <a:pt x="988216" y="669955"/>
                  </a:cubicBezTo>
                  <a:lnTo>
                    <a:pt x="78694" y="669955"/>
                  </a:lnTo>
                  <a:cubicBezTo>
                    <a:pt x="57823" y="669955"/>
                    <a:pt x="37807" y="661664"/>
                    <a:pt x="23049" y="646906"/>
                  </a:cubicBezTo>
                  <a:cubicBezTo>
                    <a:pt x="8291" y="632148"/>
                    <a:pt x="0" y="612132"/>
                    <a:pt x="0" y="591261"/>
                  </a:cubicBezTo>
                  <a:lnTo>
                    <a:pt x="0" y="78694"/>
                  </a:lnTo>
                  <a:cubicBezTo>
                    <a:pt x="0" y="57823"/>
                    <a:pt x="8291" y="37807"/>
                    <a:pt x="23049" y="23049"/>
                  </a:cubicBezTo>
                  <a:cubicBezTo>
                    <a:pt x="37807" y="8291"/>
                    <a:pt x="57823" y="0"/>
                    <a:pt x="78694" y="0"/>
                  </a:cubicBezTo>
                  <a:close/>
                </a:path>
              </a:pathLst>
            </a:custGeom>
            <a:blipFill>
              <a:blip r:embed="rId3"/>
              <a:stretch>
                <a:fillRect l="-436" t="0" r="-43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666750" y="8724900"/>
            <a:ext cx="913622" cy="895350"/>
            <a:chOff x="0" y="0"/>
            <a:chExt cx="635000" cy="622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" y="666750"/>
            <a:ext cx="8324850" cy="5206365"/>
            <a:chOff x="0" y="0"/>
            <a:chExt cx="11099800" cy="694182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33350"/>
              <a:ext cx="11099800" cy="413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20"/>
                </a:lnSpc>
                <a:spcBef>
                  <a:spcPct val="0"/>
                </a:spcBef>
              </a:pPr>
              <a:r>
                <a:rPr lang="en-US" b="true" sz="6600" strike="noStrike" u="none">
                  <a:solidFill>
                    <a:srgbClr val="F59E0B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Permohonan Kebijakan dan Aksi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4380230"/>
              <a:ext cx="110998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>
                  <a:solidFill>
                    <a:srgbClr val="38BDF8"/>
                  </a:solidFill>
                  <a:latin typeface="Rubik Bold"/>
                  <a:ea typeface="Rubik Bold"/>
                  <a:cs typeface="Rubik Bold"/>
                  <a:sym typeface="Rubik Bold"/>
                </a:rPr>
                <a:t>Memperkuat Dukungan untuk STP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5289550"/>
              <a:ext cx="11099800" cy="1652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38BDF8"/>
                  </a:solidFill>
                  <a:latin typeface="Rubik"/>
                  <a:ea typeface="Rubik"/>
                  <a:cs typeface="Rubik"/>
                  <a:sym typeface="Rubik"/>
                </a:rPr>
                <a:t>Tiga kebijakan diperlukan untuk mendukung hilirisasi riset dan akselerasi produk lokal melalui kolaborasi pemerintah dan perguruan tinggi di Surakarta.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Presentasi - ROADMAP STRATEGIS PENGEMBANGAN</dc:description>
  <dc:identifier>DAHU2h27DSs</dc:identifier>
  <dcterms:modified xsi:type="dcterms:W3CDTF">2011-08-01T06:04:30Z</dcterms:modified>
  <cp:revision>1</cp:revision>
  <dc:title>Presentasi - ROADMAP STRATEGIS PENGEMBANGAN</dc:title>
</cp:coreProperties>
</file>