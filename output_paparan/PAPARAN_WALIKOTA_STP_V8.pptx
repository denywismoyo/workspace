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4.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Komposisi Mitra</c:v>
                </c:pt>
              </c:strCache>
            </c:strRef>
          </c:tx>
          <c:spPr>
            <a:solidFill>
              <a:schemeClr val="accent1"/>
            </a:solidFill>
            <a:ln w="9525" cap="flat">
              <a:solidFill>
                <a:srgbClr val="F9F9F9"/>
              </a:solidFill>
              <a:prstDash val="solid"/>
              <a:round/>
            </a:ln>
            <a:effectLst/>
          </c:spPr>
          <c:dPt>
            <c:idx val="0"/>
            <c:bubble3D val="0"/>
            <c:spPr>
              <a:solidFill>
                <a:srgbClr val="0284C7"/>
              </a:solidFill>
              <a:effectLst/>
            </c:spPr>
          </c:dPt>
          <c:dPt>
            <c:idx val="1"/>
            <c:bubble3D val="0"/>
            <c:spPr>
              <a:solidFill>
                <a:srgbClr val="1E40AF"/>
              </a:solidFill>
              <a:effectLst/>
            </c:spPr>
          </c:dPt>
          <c:dPt>
            <c:idx val="2"/>
            <c:bubble3D val="0"/>
            <c:spPr>
              <a:solidFill>
                <a:srgbClr val="059669"/>
              </a:solidFill>
              <a:effectLst/>
            </c:spPr>
          </c:dPt>
          <c:dPt>
            <c:idx val="3"/>
            <c:bubble3D val="0"/>
            <c:spPr>
              <a:solidFill>
                <a:srgbClr val="D97706"/>
              </a:solidFill>
              <a:effectLst/>
            </c:spPr>
          </c:dPt>
          <c:dPt>
            <c:idx val="4"/>
            <c:bubble3D val="0"/>
            <c:spPr>
              <a:solidFill>
                <a:srgbClr val="7C3AED"/>
              </a:solidFill>
              <a:effectLst/>
            </c:spPr>
          </c:dPt>
          <c:dPt>
            <c:idx val="5"/>
            <c:bubble3D val="0"/>
            <c:spPr>
              <a:solidFill>
                <a:srgbClr val="DB2777"/>
              </a:solidFill>
              <a:effectLst/>
            </c:spPr>
          </c:dPt>
          <c:dLbls>
            <c:dLbl>
              <c:idx val="0"/>
              <c:numFmt formatCode="General" sourceLinked="0"/>
              <c:spPr/>
              <c:txPr>
                <a:bodyPr/>
                <a:lstStyle/>
                <a:p>
                  <a:pPr>
                    <a:defRPr sz="850" b="0" i="0" u="none" strike="noStrike">
                      <a:solidFill>
                        <a:srgbClr val="0F172A"/>
                      </a:solidFill>
                      <a:latin typeface="Arial"/>
                    </a:defRPr>
                  </a:pPr>
                </a:p>
              </c:txPr>
              <c:showLegendKey val="0"/>
              <c:showVal val="1"/>
              <c:showCatName val="0"/>
              <c:showSerName val="0"/>
              <c:showPercent val="0"/>
              <c:showBubbleSize val="0"/>
            </c:dLbl>
            <c:dLbl>
              <c:idx val="1"/>
              <c:numFmt formatCode="General" sourceLinked="0"/>
              <c:spPr/>
              <c:txPr>
                <a:bodyPr/>
                <a:lstStyle/>
                <a:p>
                  <a:pPr>
                    <a:defRPr sz="850" b="0" i="0" u="none" strike="noStrike">
                      <a:solidFill>
                        <a:srgbClr val="0F172A"/>
                      </a:solidFill>
                      <a:latin typeface="Arial"/>
                    </a:defRPr>
                  </a:pPr>
                </a:p>
              </c:txPr>
              <c:showLegendKey val="0"/>
              <c:showVal val="1"/>
              <c:showCatName val="0"/>
              <c:showSerName val="0"/>
              <c:showPercent val="0"/>
              <c:showBubbleSize val="0"/>
            </c:dLbl>
            <c:dLbl>
              <c:idx val="2"/>
              <c:numFmt formatCode="General" sourceLinked="0"/>
              <c:spPr/>
              <c:txPr>
                <a:bodyPr/>
                <a:lstStyle/>
                <a:p>
                  <a:pPr>
                    <a:defRPr sz="850" b="0" i="0" u="none" strike="noStrike">
                      <a:solidFill>
                        <a:srgbClr val="0F172A"/>
                      </a:solidFill>
                      <a:latin typeface="Arial"/>
                    </a:defRPr>
                  </a:pPr>
                </a:p>
              </c:txPr>
              <c:showLegendKey val="0"/>
              <c:showVal val="1"/>
              <c:showCatName val="0"/>
              <c:showSerName val="0"/>
              <c:showPercent val="0"/>
              <c:showBubbleSize val="0"/>
            </c:dLbl>
            <c:dLbl>
              <c:idx val="3"/>
              <c:numFmt formatCode="General" sourceLinked="0"/>
              <c:spPr/>
              <c:txPr>
                <a:bodyPr/>
                <a:lstStyle/>
                <a:p>
                  <a:pPr>
                    <a:defRPr sz="850" b="0" i="0" u="none" strike="noStrike">
                      <a:solidFill>
                        <a:srgbClr val="0F172A"/>
                      </a:solidFill>
                      <a:latin typeface="Arial"/>
                    </a:defRPr>
                  </a:pPr>
                </a:p>
              </c:txPr>
              <c:showLegendKey val="0"/>
              <c:showVal val="1"/>
              <c:showCatName val="0"/>
              <c:showSerName val="0"/>
              <c:showPercent val="0"/>
              <c:showBubbleSize val="0"/>
            </c:dLbl>
            <c:dLbl>
              <c:idx val="4"/>
              <c:numFmt formatCode="General" sourceLinked="0"/>
              <c:spPr/>
              <c:txPr>
                <a:bodyPr/>
                <a:lstStyle/>
                <a:p>
                  <a:pPr>
                    <a:defRPr sz="850" b="0" i="0" u="none" strike="noStrike">
                      <a:solidFill>
                        <a:srgbClr val="0F172A"/>
                      </a:solidFill>
                      <a:latin typeface="Arial"/>
                    </a:defRPr>
                  </a:pPr>
                </a:p>
              </c:txPr>
              <c:showLegendKey val="0"/>
              <c:showVal val="1"/>
              <c:showCatName val="0"/>
              <c:showSerName val="0"/>
              <c:showPercent val="0"/>
              <c:showBubbleSize val="0"/>
            </c:dLbl>
            <c:dLbl>
              <c:idx val="5"/>
              <c:numFmt formatCode="General" sourceLinked="0"/>
              <c:spPr/>
              <c:txPr>
                <a:bodyPr/>
                <a:lstStyle/>
                <a:p>
                  <a:pPr>
                    <a:defRPr sz="850" b="0" i="0" u="none" strike="noStrike">
                      <a:solidFill>
                        <a:srgbClr val="0F172A"/>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Industri &amp; Bisnis</c:v>
                </c:pt>
                <c:pt idx="1">
                  <c:v>Akademisi/Kampus</c:v>
                </c:pt>
                <c:pt idx="2">
                  <c:v>Komunitas &amp; UMKM</c:v>
                </c:pt>
                <c:pt idx="3">
                  <c:v>Pemerintah/BUMN</c:v>
                </c:pt>
                <c:pt idx="4">
                  <c:v>Media Massa</c:v>
                </c:pt>
                <c:pt idx="5">
                  <c:v>Lembaga Global</c:v>
                </c:pt>
              </c:strCache>
            </c:strRef>
          </c:cat>
          <c:val>
            <c:numRef>
              <c:f>Sheet1!$B$2:$B$7</c:f>
              <c:numCache>
                <c:ptCount val="6"/>
                <c:pt idx="0">
                  <c:v>35</c:v>
                </c:pt>
                <c:pt idx="1">
                  <c:v>20</c:v>
                </c:pt>
                <c:pt idx="2">
                  <c:v>15</c:v>
                </c:pt>
                <c:pt idx="3">
                  <c:v>12</c:v>
                </c:pt>
                <c:pt idx="4">
                  <c:v>8</c:v>
                </c:pt>
                <c:pt idx="5">
                  <c:v>5</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Pendapatan BLUD (Rp Miliar)</c:v>
                </c:pt>
              </c:strCache>
            </c:strRef>
          </c:tx>
          <c:spPr>
            <a:solidFill>
              <a:srgbClr val="94A3B8"/>
            </a:solidFill>
            <a:effectLst/>
          </c:spPr>
          <c:invertIfNegative val="0"/>
          <c:dLbls>
            <c:numFmt formatCode="#,##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94A3B8"/>
              </a:solidFill>
              <a:effectLst/>
            </c:spPr>
          </c:dPt>
          <c:dPt>
            <c:idx val="1"/>
            <c:invertIfNegative val="0"/>
            <c:bubble3D val="0"/>
            <c:spPr>
              <a:solidFill>
                <a:srgbClr val="0284C7"/>
              </a:solidFill>
              <a:effectLst/>
            </c:spPr>
          </c:dPt>
          <c:dPt>
            <c:idx val="2"/>
            <c:invertIfNegative val="0"/>
            <c:bubble3D val="0"/>
            <c:spPr>
              <a:solidFill>
                <a:srgbClr val="1E40AF"/>
              </a:solidFill>
              <a:effectLst/>
            </c:spPr>
          </c:dPt>
          <c:dPt>
            <c:idx val="3"/>
            <c:invertIfNegative val="0"/>
            <c:bubble3D val="0"/>
            <c:spPr>
              <a:solidFill>
                <a:srgbClr val="059669"/>
              </a:solidFill>
              <a:effectLst/>
            </c:spPr>
          </c:dPt>
          <c:dPt>
            <c:idx val="4"/>
            <c:invertIfNegative val="0"/>
            <c:bubble3D val="0"/>
            <c:spPr>
              <a:solidFill>
                <a:srgbClr val="D97706"/>
              </a:solidFill>
              <a:effectLst/>
            </c:spPr>
          </c:dPt>
          <c:cat>
            <c:multiLvlStrRef>
              <c:f>Sheet1!$A$2:$A$6</c:f>
              <c:multiLvlStrCache>
                <c:ptCount val="5"/>
                <c:lvl>
                  <c:pt idx="0">
                    <c:v>2026
(Baseline)</c:v>
                  </c:pt>
                  <c:pt idx="1">
                    <c:v>2027
(+67%)</c:v>
                  </c:pt>
                  <c:pt idx="2">
                    <c:v>2028
(+28,5%)</c:v>
                  </c:pt>
                  <c:pt idx="3">
                    <c:v>2029
(+28%)</c:v>
                  </c:pt>
                  <c:pt idx="4">
                    <c:v>2030
(MANDIRI)</c:v>
                  </c:pt>
                </c:lvl>
              </c:multiLvlStrCache>
            </c:multiLvlStrRef>
          </c:cat>
          <c:val>
            <c:numRef>
              <c:f>Sheet1!$B$2:$B$6</c:f>
              <c:numCache>
                <c:formatCode>General</c:formatCode>
                <c:ptCount val="5"/>
                <c:pt idx="0">
                  <c:v>7.5</c:v>
                </c:pt>
                <c:pt idx="1">
                  <c:v>12.53</c:v>
                </c:pt>
                <c:pt idx="2">
                  <c:v>16.1</c:v>
                </c:pt>
                <c:pt idx="3">
                  <c:v>20.62</c:v>
                </c:pt>
                <c:pt idx="4">
                  <c:v>23.47</c:v>
                </c:pt>
              </c:numCache>
            </c:numRef>
          </c:val>
        </c:ser>
        <c:dLbls>
          <c:numFmt formatCode="#,##0" sourceLinked="0"/>
          <c:txPr>
            <a:bodyPr/>
            <a:lstStyle/>
            <a:p>
              <a:pPr>
                <a:defRPr b="0" i="0" strike="noStrike" sz="90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27"/>
          <c:min val="0"/>
        </c:scaling>
        <c:delete val="0"/>
        <c:axPos val="l"/>
        <c:majorGridlines>
          <c:spPr>
            <a:ln w="1270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Revenue 2030</c:v>
                </c:pt>
              </c:strCache>
            </c:strRef>
          </c:tx>
          <c:spPr>
            <a:solidFill>
              <a:schemeClr val="accent1"/>
            </a:solidFill>
            <a:ln w="9525" cap="flat">
              <a:solidFill>
                <a:srgbClr val="F9F9F9"/>
              </a:solidFill>
              <a:prstDash val="solid"/>
              <a:round/>
            </a:ln>
            <a:effectLst/>
          </c:spPr>
          <c:dPt>
            <c:idx val="0"/>
            <c:bubble3D val="0"/>
            <c:spPr>
              <a:solidFill>
                <a:srgbClr val="0284C7"/>
              </a:solidFill>
              <a:effectLst/>
            </c:spPr>
          </c:dPt>
          <c:dPt>
            <c:idx val="1"/>
            <c:bubble3D val="0"/>
            <c:spPr>
              <a:solidFill>
                <a:srgbClr val="1E40AF"/>
              </a:solidFill>
              <a:effectLst/>
            </c:spPr>
          </c:dPt>
          <c:dPt>
            <c:idx val="2"/>
            <c:bubble3D val="0"/>
            <c:spPr>
              <a:solidFill>
                <a:srgbClr val="D97706"/>
              </a:solidFill>
              <a:effectLst/>
            </c:spPr>
          </c:dPt>
          <c:dPt>
            <c:idx val="3"/>
            <c:bubble3D val="0"/>
            <c:spPr>
              <a:solidFill>
                <a:srgbClr val="059669"/>
              </a:solidFill>
              <a:effectLst/>
            </c:spPr>
          </c:dPt>
          <c:dPt>
            <c:idx val="4"/>
            <c:bubble3D val="0"/>
            <c:spPr>
              <a:solidFill>
                <a:srgbClr val="7C3AED"/>
              </a:solidFill>
              <a:effectLst/>
            </c:spPr>
          </c:dPt>
          <c:dPt>
            <c:idx val="5"/>
            <c:bubble3D val="0"/>
            <c:spPr>
              <a:solidFill>
                <a:srgbClr val="94A3B8"/>
              </a:solidFill>
              <a:effectLst/>
            </c:spPr>
          </c:dPt>
          <c:dLbls>
            <c:dLbl>
              <c:idx val="0"/>
              <c:numFmt formatCode="General" sourceLinked="0"/>
              <c:spPr/>
              <c:txPr>
                <a:bodyPr/>
                <a:lstStyle/>
                <a:p>
                  <a:pPr>
                    <a:defRPr sz="820" b="0" i="0" u="none" strike="noStrike">
                      <a:solidFill>
                        <a:srgbClr val="0F172A"/>
                      </a:solidFill>
                      <a:latin typeface="Arial"/>
                    </a:defRPr>
                  </a:pPr>
                </a:p>
              </c:txPr>
              <c:showLegendKey val="0"/>
              <c:showVal val="1"/>
              <c:showCatName val="0"/>
              <c:showSerName val="0"/>
              <c:showPercent val="0"/>
              <c:showBubbleSize val="0"/>
            </c:dLbl>
            <c:dLbl>
              <c:idx val="1"/>
              <c:numFmt formatCode="General" sourceLinked="0"/>
              <c:spPr/>
              <c:txPr>
                <a:bodyPr/>
                <a:lstStyle/>
                <a:p>
                  <a:pPr>
                    <a:defRPr sz="820" b="0" i="0" u="none" strike="noStrike">
                      <a:solidFill>
                        <a:srgbClr val="0F172A"/>
                      </a:solidFill>
                      <a:latin typeface="Arial"/>
                    </a:defRPr>
                  </a:pPr>
                </a:p>
              </c:txPr>
              <c:showLegendKey val="0"/>
              <c:showVal val="1"/>
              <c:showCatName val="0"/>
              <c:showSerName val="0"/>
              <c:showPercent val="0"/>
              <c:showBubbleSize val="0"/>
            </c:dLbl>
            <c:dLbl>
              <c:idx val="2"/>
              <c:numFmt formatCode="General" sourceLinked="0"/>
              <c:spPr/>
              <c:txPr>
                <a:bodyPr/>
                <a:lstStyle/>
                <a:p>
                  <a:pPr>
                    <a:defRPr sz="820" b="0" i="0" u="none" strike="noStrike">
                      <a:solidFill>
                        <a:srgbClr val="0F172A"/>
                      </a:solidFill>
                      <a:latin typeface="Arial"/>
                    </a:defRPr>
                  </a:pPr>
                </a:p>
              </c:txPr>
              <c:showLegendKey val="0"/>
              <c:showVal val="1"/>
              <c:showCatName val="0"/>
              <c:showSerName val="0"/>
              <c:showPercent val="0"/>
              <c:showBubbleSize val="0"/>
            </c:dLbl>
            <c:dLbl>
              <c:idx val="3"/>
              <c:numFmt formatCode="General" sourceLinked="0"/>
              <c:spPr/>
              <c:txPr>
                <a:bodyPr/>
                <a:lstStyle/>
                <a:p>
                  <a:pPr>
                    <a:defRPr sz="820" b="0" i="0" u="none" strike="noStrike">
                      <a:solidFill>
                        <a:srgbClr val="0F172A"/>
                      </a:solidFill>
                      <a:latin typeface="Arial"/>
                    </a:defRPr>
                  </a:pPr>
                </a:p>
              </c:txPr>
              <c:showLegendKey val="0"/>
              <c:showVal val="1"/>
              <c:showCatName val="0"/>
              <c:showSerName val="0"/>
              <c:showPercent val="0"/>
              <c:showBubbleSize val="0"/>
            </c:dLbl>
            <c:dLbl>
              <c:idx val="4"/>
              <c:numFmt formatCode="General" sourceLinked="0"/>
              <c:spPr/>
              <c:txPr>
                <a:bodyPr/>
                <a:lstStyle/>
                <a:p>
                  <a:pPr>
                    <a:defRPr sz="820" b="0" i="0" u="none" strike="noStrike">
                      <a:solidFill>
                        <a:srgbClr val="0F172A"/>
                      </a:solidFill>
                      <a:latin typeface="Arial"/>
                    </a:defRPr>
                  </a:pPr>
                </a:p>
              </c:txPr>
              <c:showLegendKey val="0"/>
              <c:showVal val="1"/>
              <c:showCatName val="0"/>
              <c:showSerName val="0"/>
              <c:showPercent val="0"/>
              <c:showBubbleSize val="0"/>
            </c:dLbl>
            <c:dLbl>
              <c:idx val="5"/>
              <c:numFmt formatCode="General" sourceLinked="0"/>
              <c:spPr/>
              <c:txPr>
                <a:bodyPr/>
                <a:lstStyle/>
                <a:p>
                  <a:pPr>
                    <a:defRPr sz="820" b="0" i="0" u="none" strike="noStrike">
                      <a:solidFill>
                        <a:srgbClr val="0F172A"/>
                      </a:solidFill>
                      <a:latin typeface="Arial"/>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Sheet1!$A$2:$A$7</c:f>
              <c:strCache>
                <c:ptCount val="6"/>
                <c:pt idx="0">
                  <c:v>Klaster A: Kemitraan Strategis (54,6%)</c:v>
                </c:pt>
                <c:pt idx="1">
                  <c:v>Klaster B: Vokasi &amp; Sertifikasi (15,7%)</c:v>
                </c:pt>
                <c:pt idx="2">
                  <c:v>Klaster C: Diklat Spesialis (10,5%)</c:v>
                </c:pt>
                <c:pt idx="3">
                  <c:v>Klaster D: MICE &amp; Sarana (10,4%)</c:v>
                </c:pt>
                <c:pt idx="4">
                  <c:v>Klaster E: Rekayasa Manufaktur (6,2%)</c:v>
                </c:pt>
                <c:pt idx="5">
                  <c:v>Klaster F: Sewa Lahan (2,5%)</c:v>
                </c:pt>
              </c:strCache>
            </c:strRef>
          </c:cat>
          <c:val>
            <c:numRef>
              <c:f>Sheet1!$B$2:$B$7</c:f>
              <c:numCache>
                <c:ptCount val="6"/>
                <c:pt idx="0">
                  <c:v>12.825</c:v>
                </c:pt>
                <c:pt idx="1">
                  <c:v>3.68</c:v>
                </c:pt>
                <c:pt idx="2">
                  <c:v>2.469</c:v>
                </c:pt>
                <c:pt idx="3">
                  <c:v>2.45</c:v>
                </c:pt>
                <c:pt idx="4">
                  <c:v>1.465</c:v>
                </c:pt>
                <c:pt idx="5">
                  <c:v>0.579</c:v>
                </c:pt>
              </c:numCache>
            </c:numRef>
          </c:val>
        </c:ser>
        <c:firstSliceAng val="0"/>
        <c:holeSize val="60"/>
      </c:doughnutChart>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Capaian Dampak (%)</c:v>
                </c:pt>
              </c:strCache>
            </c:strRef>
          </c:tx>
          <c:spPr>
            <a:solidFill>
              <a:srgbClr val="0284C7"/>
            </a:solidFill>
            <a:effectLst/>
          </c:spPr>
          <c:invertIfNegative val="0"/>
          <c:dLbls>
            <c:numFmt formatCode="#,##0" sourceLinked="0"/>
            <c:txPr>
              <a:bodyPr/>
              <a:lstStyle/>
              <a:p>
                <a:pPr>
                  <a:defRPr b="0" i="0" strike="noStrike" sz="850" u="none">
                    <a:solidFill>
                      <a:srgbClr val="0F172A"/>
                    </a:solidFill>
                    <a:latin typeface="Arial"/>
                  </a:defRPr>
                </a:pPr>
              </a:p>
            </c:txPr>
            <c:showLegendKey val="0"/>
            <c:showVal val="1"/>
            <c:showCatName val="0"/>
            <c:showSerName val="0"/>
            <c:showPercent val="0"/>
            <c:showBubbleSize val="0"/>
            <c:showLeaderLines val="0"/>
          </c:dLbls>
          <c:dPt>
            <c:idx val="0"/>
            <c:invertIfNegative val="0"/>
            <c:bubble3D val="0"/>
            <c:spPr>
              <a:solidFill>
                <a:srgbClr val="0284C7"/>
              </a:solidFill>
              <a:effectLst/>
            </c:spPr>
          </c:dPt>
          <c:dPt>
            <c:idx val="1"/>
            <c:invertIfNegative val="0"/>
            <c:bubble3D val="0"/>
            <c:spPr>
              <a:solidFill>
                <a:srgbClr val="1E40AF"/>
              </a:solidFill>
              <a:effectLst/>
            </c:spPr>
          </c:dPt>
          <c:dPt>
            <c:idx val="2"/>
            <c:invertIfNegative val="0"/>
            <c:bubble3D val="0"/>
            <c:spPr>
              <a:solidFill>
                <a:srgbClr val="059669"/>
              </a:solidFill>
              <a:effectLst/>
            </c:spPr>
          </c:dPt>
          <c:dPt>
            <c:idx val="3"/>
            <c:invertIfNegative val="0"/>
            <c:bubble3D val="0"/>
            <c:spPr>
              <a:solidFill>
                <a:srgbClr val="D97706"/>
              </a:solidFill>
              <a:effectLst/>
            </c:spPr>
          </c:dPt>
          <c:dPt>
            <c:idx val="4"/>
            <c:invertIfNegative val="0"/>
            <c:bubble3D val="0"/>
            <c:spPr>
              <a:solidFill>
                <a:srgbClr val="EA580C"/>
              </a:solidFill>
              <a:effectLst/>
            </c:spPr>
          </c:dPt>
          <c:dPt>
            <c:idx val="5"/>
            <c:invertIfNegative val="0"/>
            <c:bubble3D val="0"/>
            <c:spPr>
              <a:solidFill>
                <a:srgbClr val="059669"/>
              </a:solidFill>
              <a:effectLst/>
            </c:spPr>
          </c:dPt>
          <c:cat>
            <c:multiLvlStrRef>
              <c:f>Sheet1!$A$2:$A$7</c:f>
              <c:multiLvlStrCache>
                <c:ptCount val="6"/>
                <c:lvl>
                  <c:pt idx="0">
                    <c:v>Hilirisasi Riset Kampus</c:v>
                  </c:pt>
                  <c:pt idx="1">
                    <c:v>Peluang Kerja Daerah</c:v>
                  </c:pt>
                  <c:pt idx="2">
                    <c:v>UMKM &amp; Startup Mandiri</c:v>
                  </c:pt>
                  <c:pt idx="3">
                    <c:v>Akses Fasilitas Publik</c:v>
                  </c:pt>
                  <c:pt idx="4">
                    <c:v>SDM Kompeten &amp; Sertifikasi</c:v>
                  </c:pt>
                  <c:pt idx="5">
                    <c:v>Kolaborasi Industri Murni</c:v>
                  </c:pt>
                </c:lvl>
              </c:multiLvlStrCache>
            </c:multiLvlStrRef>
          </c:cat>
          <c:val>
            <c:numRef>
              <c:f>Sheet1!$B$2:$B$7</c:f>
              <c:numCache>
                <c:formatCode>General</c:formatCode>
                <c:ptCount val="6"/>
                <c:pt idx="0">
                  <c:v>70</c:v>
                </c:pt>
                <c:pt idx="1">
                  <c:v>75</c:v>
                </c:pt>
                <c:pt idx="2">
                  <c:v>80</c:v>
                </c:pt>
                <c:pt idx="3">
                  <c:v>85</c:v>
                </c:pt>
                <c:pt idx="4">
                  <c:v>90</c:v>
                </c:pt>
                <c:pt idx="5">
                  <c:v>100</c:v>
                </c:pt>
              </c:numCache>
            </c:numRef>
          </c:val>
        </c:ser>
        <c:dLbls>
          <c:numFmt formatCode="#,##0" sourceLinked="0"/>
          <c:txPr>
            <a:bodyPr/>
            <a:lstStyle/>
            <a:p>
              <a:pPr>
                <a:defRPr b="0" i="0" strike="noStrike" sz="850" u="none">
                  <a:solidFill>
                    <a:srgbClr val="0F172A"/>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majorGridlines>
          <c:spPr>
            <a:ln w="12700" cap="flat">
              <a:solidFill>
                <a:srgbClr val="E2E8F0"/>
              </a:solidFill>
              <a:prstDash val="solid"/>
              <a:round/>
            </a:ln>
          </c:spPr>
        </c:majorGridlines>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72A"/>
                </a:solidFill>
                <a:latin typeface="Arial"/>
              </a:defRPr>
            </a:pPr>
            <a:endParaRPr lang="en-US"/>
          </a:p>
        </c:txPr>
        <c:crossAx val="2094734552"/>
        <c:crosses val="autoZero"/>
        <c:auto val="1"/>
        <c:lblAlgn val="ctr"/>
        <c:noMultiLvlLbl val="1"/>
      </c:catAx>
      <c:valAx>
        <c:axId val="2094734552"/>
        <c:scaling>
          <c:orientation val="minMax"/>
          <c:max val="110"/>
          <c:min val="0"/>
        </c:scaling>
        <c:delete val="0"/>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yang kami hormati, izinkan kami mempersembahkan arah baru Solo Technopark untuk periode 2026 hingga 2030. Kita tidak lagi memposisikan Solo Technopark hanya sebagai aset fisik atau deretan gedung sewa. Dengan mandat yang Bapak berikan, kami hadir dengan proposisi yang berbeda: Solo Technopark adalah mesin impact daerah—yang mengukur keberhasilannya bukan dari saldo kas semata, melainkan dari berapa banyak warga Solo yang mendapat pekerjaan, berapa banyak riset kampus yang jadi produk bernilai, dan seberapa mandiri keuangannya tanpa beban APBD.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ini menjelaskan arsitektur kelembagaan: BRIDA adalah otak dan perumus kebijakan, sedangkan Solo Technopark adalah tangan eksekutor di lapangan. Dengan status UPTD berpola BLUD di bawah BRIDA, STP memiliki fleksibilitas operasional untuk bermitra dengan industri, namun tetap berada dalam koridor akuntabilitas dan prioritas pembangunan Kota Surakarta.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ingin menegaskan bahwa transformasi ini berdiri di atas fondasi hukum yang sangat kokoh. Permendagri 79/2018 memberi mandat fleksibilitas BLUD agar kita bisa mengelola pendapatan fungsional langsung untuk peningkatan layanan tanpa hambatan birokrasi APBD. Perpres 106/2017 memberi mandat 4 layanan sains dan teknologi. Dan Perwali Kota Surakarta mengunci tata kelolanya secara akuntabel.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Solo Technopark bukan sekadar tempat pelatihan dasar. Mandat Perpres 106/2017 mewajibkan empat pilar: Layanan Teknis, Pengembangan Teknologi, Inkubasi, dan Pendukung. Dari underwater welding hingga AI and cyber security, STP hadir menyediakan keahlian spesialis bernilai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ini Bapak Walikota dapat melihat bahwa hilirisasi riset bukan lagi angan-angan. Pipeline 5 tahap dari Riset hingga Komersialisasi sudah berjalan. Contoh produk riilnya: mesin sortasi biji kopi, pertanian presisi IoT, mesin tetas telur yang siap masuk e-Katalog, hingga autonomous vehicle. Semuanya ditopang fasilitas aktif seperti Cyber Security Hub, AI Experience Center, dan GoTo UMKM Center.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Lihatlah daftar mitra ini, Bapak Walikota. Shopee, Garena, GoTo, Indosat, Bank Mandiri, hingga konsorsium migas internasional OGSCI. Mereka hadir di Solo bukan karena subsidi APBD—karena kita menerapkan prinsip Zero APBD Burden. Pemkot menyediakan wadah dan kepastian regulasi, pihak swasta menanamkan modal dan teknologinya. Hasilnya: fasilitas canggih berkelas internasional berdiri di jantung kota Surakarta, dan anak-anak muda Solo bisa belajar serta bekerja langsung di dalamnya.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dokumen strategi internal STP memetakan 5 gap riil. Dan yang paling kritikal adalah GAP nomor 5: produk inovasi lokal belum terserap karena belum ada regulasi afirmatif. Solusi terobosan nomor 5 ini adalah Quick Win: kami memohon 1 lembar Instruksi Walikota untuk mewajibkan OPD menyerap produk binaan STP via e-Katalog lokal. Ini langsung menggaransi pasar Rp 2,25 Miliar di 2030.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ini kami bagi menjadi 3 fase terukur: Fase 1 (2026-2027) fokus pada akreditasi dan sertifikasi diklat. Fase 2 (2028-2029) ekspansi SBU mandiri dan hilirisasi produk TKDN. Dan puncaknya di Fase 3 (2030), Solo Technopark mencapai kemandirian total dengan pendapatan Rp 23,47 Miliar dan 0% subsidi kas daerah.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angka Rp 23,47 Miliar ini bukan angka tebak-tebakan. Ini hasil audit matematis berbasis potensi riil. Lompatan +212,8% ini memiliki katalisator utama: kemitraan migas internasional OGSCI senilai Rp 6,25 Miliar dan e-Katalog Inovasi Pemda Rp 2,25 Miliar. Yang paling menggembirakan: porsi sewa lahan kita tekan hingga tinggal 2,5%, beralih ke pendapatan bernilai tambah tinggi.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 slide ini Bapak Walikota dapat melihat rincian per klaster pendapatan. Klaster A adalah engine utama dengan porsi 54,6% atau Rp 12,82 Miliar. Klaster B vokasi menyumbang Rp 3,68 M. Klaster C diklat Rp 2,47 M. Klaster D MICE Rp 2,45 M. Klaster E manufaktur Rp 1,47 M. Dan sewa lahan hanya tersisa 2,5%. Total keseluruhan adalah Rp 23.468.158.831 yang mengunci kemandirian penuh.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Bapak Walikota, kami memegang teguh filosofi bahwa keberhasilan STP tidak diukur dari saldo kas BLUD semata. Inilah 6 dimensi dampaknya bagi warga Solo: 9.000 orang dilatih per tahun dengan afirmasi 65% KTP Solo, 80 wirausaha baru, 45 produk riset ke pasar, 10.000 kunjungan publik, dan dampak pengganda ekonomi hingga Rp 180 Miliar.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Menutup paparan ini, Bapak Walikota, manajemen Solo Technopark dan BRIDA tidak hadir meminta tambahan anggaran. Tiga permohonan kami semuanya adalah payung regulasi—bukan rupiah belanja. Instruksi Walikota untuk e-Katalog, Perwal kerjasama lahan, dan Surat Edaran konsorsium riset. Tiga lembar kebijakan ini yang akan menjadi kunci pembuka ekosistem senilai Rp 23 Miliar di 2030. Dengan kepemimpinan dan arahan Bapak, tim kami siap langsung tancap gas mengeksekusi 100 hari pertama. Bersama Bapak, Solo Technopark akan menjadi kebanggaan kota Surakarta dan teladan nasional pengelolaan kawasan inovasi yang mandiri, berdampak, dan berkelanjutan.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594360"/>
            <a:ext cx="10545775" cy="228600"/>
          </a:xfrm>
          <a:prstGeom prst="rect">
            <a:avLst/>
          </a:prstGeom>
          <a:noFill/>
          <a:ln/>
        </p:spPr>
        <p:txBody>
          <a:bodyPr wrap="square" rtlCol="0" anchor="ctr"/>
          <a:lstStyle/>
          <a:p>
            <a:pPr indent="0" marL="0">
              <a:buNone/>
            </a:pPr>
            <a:r>
              <a:rPr lang="en-US" sz="900" b="1" dirty="0">
                <a:solidFill>
                  <a:srgbClr val="1E40AF"/>
                </a:solidFill>
                <a:latin typeface="Arial" pitchFamily="34" charset="0"/>
                <a:ea typeface="Arial" pitchFamily="34" charset="-122"/>
                <a:cs typeface="Arial" pitchFamily="34" charset="-120"/>
              </a:rPr>
              <a:t>PEMERINTAH KOTA SURAKARTA  //  BADAN RISET DAN INOVASI DAERAH (BRIDA)</a:t>
            </a:r>
            <a:endParaRPr lang="en-US" sz="900" dirty="0"/>
          </a:p>
        </p:txBody>
      </p:sp>
      <p:sp>
        <p:nvSpPr>
          <p:cNvPr id="3" name="Text 1"/>
          <p:cNvSpPr/>
          <p:nvPr/>
        </p:nvSpPr>
        <p:spPr>
          <a:xfrm>
            <a:off x="822960" y="960120"/>
            <a:ext cx="10545775" cy="1325880"/>
          </a:xfrm>
          <a:prstGeom prst="rect">
            <a:avLst/>
          </a:prstGeom>
          <a:noFill/>
          <a:ln/>
        </p:spPr>
        <p:txBody>
          <a:bodyPr wrap="square" rtlCol="0" anchor="ctr"/>
          <a:lstStyle/>
          <a:p>
            <a:pPr indent="0" marL="0">
              <a:lnSpc>
                <a:spcPts val="3400"/>
              </a:lnSpc>
              <a:buNone/>
            </a:pPr>
            <a:r>
              <a:rPr lang="en-US" sz="3000" b="1" dirty="0">
                <a:solidFill>
                  <a:srgbClr val="0F172A"/>
                </a:solidFill>
                <a:latin typeface="Arial" pitchFamily="34" charset="0"/>
                <a:ea typeface="Arial" pitchFamily="34" charset="-122"/>
                <a:cs typeface="Arial" pitchFamily="34" charset="-120"/>
              </a:rPr>
              <a:t>SOLO TECHNOPARK:</a:t>
            </a:r>
            <a:endParaRPr lang="en-US" sz="3000" dirty="0"/>
          </a:p>
          <a:p>
            <a:pPr indent="0" marL="0">
              <a:lnSpc>
                <a:spcPts val="3400"/>
              </a:lnSpc>
              <a:buNone/>
            </a:pPr>
            <a:r>
              <a:rPr lang="en-US" sz="3000" b="1" dirty="0">
                <a:solidFill>
                  <a:srgbClr val="0F172A"/>
                </a:solidFill>
                <a:latin typeface="Arial" pitchFamily="34" charset="0"/>
                <a:ea typeface="Arial" pitchFamily="34" charset="-122"/>
                <a:cs typeface="Arial" pitchFamily="34" charset="-120"/>
              </a:rPr>
              <a:t>DARI KAWASAN SAINS MENUJU MESIN IMPACT DAERAH</a:t>
            </a:r>
            <a:endParaRPr lang="en-US" sz="3000" dirty="0"/>
          </a:p>
        </p:txBody>
      </p:sp>
      <p:sp>
        <p:nvSpPr>
          <p:cNvPr id="4" name="Text 2"/>
          <p:cNvSpPr/>
          <p:nvPr/>
        </p:nvSpPr>
        <p:spPr>
          <a:xfrm>
            <a:off x="822960" y="2359152"/>
            <a:ext cx="10545775" cy="365760"/>
          </a:xfrm>
          <a:prstGeom prst="rect">
            <a:avLst/>
          </a:prstGeom>
          <a:noFill/>
          <a:ln/>
        </p:spPr>
        <p:txBody>
          <a:bodyPr wrap="square" rtlCol="0" anchor="ctr"/>
          <a:lstStyle/>
          <a:p>
            <a:pPr indent="0" marL="0">
              <a:buNone/>
            </a:pPr>
            <a:r>
              <a:rPr lang="en-US" sz="1150" i="1" dirty="0">
                <a:solidFill>
                  <a:srgbClr val="334155"/>
                </a:solidFill>
                <a:latin typeface="Arial" pitchFamily="34" charset="0"/>
                <a:ea typeface="Arial" pitchFamily="34" charset="-122"/>
                <a:cs typeface="Arial" pitchFamily="34" charset="-120"/>
              </a:rPr>
              <a:t>"Roadmap Transformasi UPTD KST Surakarta: Mewujudkan Kemandirian BLUD, Hilirisasi Riset Kampus, dan Kesejahteraan Nyata Warga Kota"</a:t>
            </a:r>
            <a:endParaRPr lang="en-US" sz="1150" dirty="0"/>
          </a:p>
        </p:txBody>
      </p:sp>
      <p:sp>
        <p:nvSpPr>
          <p:cNvPr id="5" name="Shape 3"/>
          <p:cNvSpPr/>
          <p:nvPr/>
        </p:nvSpPr>
        <p:spPr>
          <a:xfrm>
            <a:off x="822960" y="2852928"/>
            <a:ext cx="10545775" cy="18288"/>
          </a:xfrm>
          <a:prstGeom prst="rect">
            <a:avLst/>
          </a:prstGeom>
          <a:solidFill>
            <a:srgbClr val="CBD5E1"/>
          </a:solidFill>
          <a:ln w="12700">
            <a:solidFill>
              <a:srgbClr val="CBD5E1"/>
            </a:solidFill>
            <a:prstDash val="solid"/>
          </a:ln>
        </p:spPr>
      </p:sp>
      <p:sp>
        <p:nvSpPr>
          <p:cNvPr id="6" name="Shape 4"/>
          <p:cNvSpPr/>
          <p:nvPr/>
        </p:nvSpPr>
        <p:spPr>
          <a:xfrm>
            <a:off x="822960" y="3017520"/>
            <a:ext cx="2523744" cy="1143000"/>
          </a:xfrm>
          <a:prstGeom prst="rect">
            <a:avLst/>
          </a:prstGeom>
          <a:solidFill>
            <a:srgbClr val="F8FAFC"/>
          </a:solidFill>
          <a:ln w="10160">
            <a:solidFill>
              <a:srgbClr val="E2E8F0"/>
            </a:solidFill>
            <a:prstDash val="solid"/>
          </a:ln>
        </p:spPr>
      </p:sp>
      <p:sp>
        <p:nvSpPr>
          <p:cNvPr id="7" name="Shape 5"/>
          <p:cNvSpPr/>
          <p:nvPr/>
        </p:nvSpPr>
        <p:spPr>
          <a:xfrm>
            <a:off x="822960" y="3017520"/>
            <a:ext cx="2523744" cy="54864"/>
          </a:xfrm>
          <a:prstGeom prst="rect">
            <a:avLst/>
          </a:prstGeom>
          <a:solidFill>
            <a:srgbClr val="D97706"/>
          </a:solidFill>
          <a:ln w="12700">
            <a:solidFill>
              <a:srgbClr val="D97706"/>
            </a:solidFill>
            <a:prstDash val="solid"/>
          </a:ln>
        </p:spPr>
      </p:sp>
      <p:sp>
        <p:nvSpPr>
          <p:cNvPr id="8" name="Text 6"/>
          <p:cNvSpPr/>
          <p:nvPr/>
        </p:nvSpPr>
        <p:spPr>
          <a:xfrm>
            <a:off x="960120" y="3127248"/>
            <a:ext cx="2249424" cy="411480"/>
          </a:xfrm>
          <a:prstGeom prst="rect">
            <a:avLst/>
          </a:prstGeom>
          <a:noFill/>
          <a:ln/>
        </p:spPr>
        <p:txBody>
          <a:bodyPr wrap="square" rtlCol="0" anchor="ctr"/>
          <a:lstStyle/>
          <a:p>
            <a:pPr indent="0" marL="0">
              <a:buNone/>
            </a:pPr>
            <a:r>
              <a:rPr lang="en-US" sz="2200" b="1" dirty="0">
                <a:solidFill>
                  <a:srgbClr val="D97706"/>
                </a:solidFill>
                <a:latin typeface="Arial" pitchFamily="34" charset="0"/>
                <a:ea typeface="Arial" pitchFamily="34" charset="-122"/>
                <a:cs typeface="Arial" pitchFamily="34" charset="-120"/>
              </a:rPr>
              <a:t>+212,8%</a:t>
            </a:r>
            <a:endParaRPr lang="en-US" sz="2200" dirty="0"/>
          </a:p>
        </p:txBody>
      </p:sp>
      <p:sp>
        <p:nvSpPr>
          <p:cNvPr id="9" name="Text 7"/>
          <p:cNvSpPr/>
          <p:nvPr/>
        </p:nvSpPr>
        <p:spPr>
          <a:xfrm>
            <a:off x="960120" y="3547872"/>
            <a:ext cx="2249424" cy="274320"/>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Lompatan Finansial Mandiri</a:t>
            </a:r>
            <a:endParaRPr lang="en-US" sz="880" dirty="0"/>
          </a:p>
        </p:txBody>
      </p:sp>
      <p:sp>
        <p:nvSpPr>
          <p:cNvPr id="10" name="Text 8"/>
          <p:cNvSpPr/>
          <p:nvPr/>
        </p:nvSpPr>
        <p:spPr>
          <a:xfrm>
            <a:off x="960120" y="3822192"/>
            <a:ext cx="2249424" cy="256032"/>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Target tumbuh 3,1x dalam 4 tahun</a:t>
            </a:r>
            <a:endParaRPr lang="en-US" sz="780" dirty="0"/>
          </a:p>
        </p:txBody>
      </p:sp>
      <p:sp>
        <p:nvSpPr>
          <p:cNvPr id="11" name="Shape 9"/>
          <p:cNvSpPr/>
          <p:nvPr/>
        </p:nvSpPr>
        <p:spPr>
          <a:xfrm>
            <a:off x="3511296" y="3017520"/>
            <a:ext cx="2523744" cy="1143000"/>
          </a:xfrm>
          <a:prstGeom prst="rect">
            <a:avLst/>
          </a:prstGeom>
          <a:solidFill>
            <a:srgbClr val="F8FAFC"/>
          </a:solidFill>
          <a:ln w="10160">
            <a:solidFill>
              <a:srgbClr val="E2E8F0"/>
            </a:solidFill>
            <a:prstDash val="solid"/>
          </a:ln>
        </p:spPr>
      </p:sp>
      <p:sp>
        <p:nvSpPr>
          <p:cNvPr id="12" name="Shape 10"/>
          <p:cNvSpPr/>
          <p:nvPr/>
        </p:nvSpPr>
        <p:spPr>
          <a:xfrm>
            <a:off x="3511296" y="3017520"/>
            <a:ext cx="2523744" cy="54864"/>
          </a:xfrm>
          <a:prstGeom prst="rect">
            <a:avLst/>
          </a:prstGeom>
          <a:solidFill>
            <a:srgbClr val="1E40AF"/>
          </a:solidFill>
          <a:ln w="12700">
            <a:solidFill>
              <a:srgbClr val="1E40AF"/>
            </a:solidFill>
            <a:prstDash val="solid"/>
          </a:ln>
        </p:spPr>
      </p:sp>
      <p:sp>
        <p:nvSpPr>
          <p:cNvPr id="13" name="Text 11"/>
          <p:cNvSpPr/>
          <p:nvPr/>
        </p:nvSpPr>
        <p:spPr>
          <a:xfrm>
            <a:off x="3648456" y="3127248"/>
            <a:ext cx="2249424" cy="411480"/>
          </a:xfrm>
          <a:prstGeom prst="rect">
            <a:avLst/>
          </a:prstGeom>
          <a:noFill/>
          <a:ln/>
        </p:spPr>
        <p:txBody>
          <a:bodyPr wrap="square" rtlCol="0" anchor="ctr"/>
          <a:lstStyle/>
          <a:p>
            <a:pPr indent="0" marL="0">
              <a:buNone/>
            </a:pPr>
            <a:r>
              <a:rPr lang="en-US" sz="2200" b="1" dirty="0">
                <a:solidFill>
                  <a:srgbClr val="1E40AF"/>
                </a:solidFill>
                <a:latin typeface="Arial" pitchFamily="34" charset="0"/>
                <a:ea typeface="Arial" pitchFamily="34" charset="-122"/>
                <a:cs typeface="Arial" pitchFamily="34" charset="-120"/>
              </a:rPr>
              <a:t>Rp 23,47 M</a:t>
            </a:r>
            <a:endParaRPr lang="en-US" sz="2200" dirty="0"/>
          </a:p>
        </p:txBody>
      </p:sp>
      <p:sp>
        <p:nvSpPr>
          <p:cNvPr id="14" name="Text 12"/>
          <p:cNvSpPr/>
          <p:nvPr/>
        </p:nvSpPr>
        <p:spPr>
          <a:xfrm>
            <a:off x="3648456" y="3547872"/>
            <a:ext cx="2249424" cy="274320"/>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Target Pendapatan BLUD 2030</a:t>
            </a:r>
            <a:endParaRPr lang="en-US" sz="880" dirty="0"/>
          </a:p>
        </p:txBody>
      </p:sp>
      <p:sp>
        <p:nvSpPr>
          <p:cNvPr id="15" name="Text 13"/>
          <p:cNvSpPr/>
          <p:nvPr/>
        </p:nvSpPr>
        <p:spPr>
          <a:xfrm>
            <a:off x="3648456" y="3822192"/>
            <a:ext cx="2249424" cy="256032"/>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0% Subsidi Kas Daerah APBD</a:t>
            </a:r>
            <a:endParaRPr lang="en-US" sz="780" dirty="0"/>
          </a:p>
        </p:txBody>
      </p:sp>
      <p:sp>
        <p:nvSpPr>
          <p:cNvPr id="16" name="Shape 14"/>
          <p:cNvSpPr/>
          <p:nvPr/>
        </p:nvSpPr>
        <p:spPr>
          <a:xfrm>
            <a:off x="6199632" y="3017520"/>
            <a:ext cx="2523744" cy="1143000"/>
          </a:xfrm>
          <a:prstGeom prst="rect">
            <a:avLst/>
          </a:prstGeom>
          <a:solidFill>
            <a:srgbClr val="F8FAFC"/>
          </a:solidFill>
          <a:ln w="10160">
            <a:solidFill>
              <a:srgbClr val="E2E8F0"/>
            </a:solidFill>
            <a:prstDash val="solid"/>
          </a:ln>
        </p:spPr>
      </p:sp>
      <p:sp>
        <p:nvSpPr>
          <p:cNvPr id="17" name="Shape 15"/>
          <p:cNvSpPr/>
          <p:nvPr/>
        </p:nvSpPr>
        <p:spPr>
          <a:xfrm>
            <a:off x="6199632" y="3017520"/>
            <a:ext cx="2523744" cy="54864"/>
          </a:xfrm>
          <a:prstGeom prst="rect">
            <a:avLst/>
          </a:prstGeom>
          <a:solidFill>
            <a:srgbClr val="059669"/>
          </a:solidFill>
          <a:ln w="12700">
            <a:solidFill>
              <a:srgbClr val="059669"/>
            </a:solidFill>
            <a:prstDash val="solid"/>
          </a:ln>
        </p:spPr>
      </p:sp>
      <p:sp>
        <p:nvSpPr>
          <p:cNvPr id="18" name="Text 16"/>
          <p:cNvSpPr/>
          <p:nvPr/>
        </p:nvSpPr>
        <p:spPr>
          <a:xfrm>
            <a:off x="6336792" y="3127248"/>
            <a:ext cx="2249424" cy="411480"/>
          </a:xfrm>
          <a:prstGeom prst="rect">
            <a:avLst/>
          </a:prstGeom>
          <a:noFill/>
          <a:ln/>
        </p:spPr>
        <p:txBody>
          <a:bodyPr wrap="square" rtlCol="0" anchor="ctr"/>
          <a:lstStyle/>
          <a:p>
            <a:pPr indent="0" marL="0">
              <a:buNone/>
            </a:pPr>
            <a:r>
              <a:rPr lang="en-US" sz="2200" b="1" dirty="0">
                <a:solidFill>
                  <a:srgbClr val="059669"/>
                </a:solidFill>
                <a:latin typeface="Arial" pitchFamily="34" charset="0"/>
                <a:ea typeface="Arial" pitchFamily="34" charset="-122"/>
                <a:cs typeface="Arial" pitchFamily="34" charset="-120"/>
              </a:rPr>
              <a:t>9.000</a:t>
            </a:r>
            <a:endParaRPr lang="en-US" sz="2200" dirty="0"/>
          </a:p>
        </p:txBody>
      </p:sp>
      <p:sp>
        <p:nvSpPr>
          <p:cNvPr id="19" name="Text 17"/>
          <p:cNvSpPr/>
          <p:nvPr/>
        </p:nvSpPr>
        <p:spPr>
          <a:xfrm>
            <a:off x="6336792" y="3547872"/>
            <a:ext cx="2249424" cy="274320"/>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Kapasitas SDM Terlatih / Thn</a:t>
            </a:r>
            <a:endParaRPr lang="en-US" sz="880" dirty="0"/>
          </a:p>
        </p:txBody>
      </p:sp>
      <p:sp>
        <p:nvSpPr>
          <p:cNvPr id="20" name="Text 18"/>
          <p:cNvSpPr/>
          <p:nvPr/>
        </p:nvSpPr>
        <p:spPr>
          <a:xfrm>
            <a:off x="6336792" y="3822192"/>
            <a:ext cx="2249424" cy="256032"/>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Afirmasi min. 65% KTP Surakarta</a:t>
            </a:r>
            <a:endParaRPr lang="en-US" sz="780" dirty="0"/>
          </a:p>
        </p:txBody>
      </p:sp>
      <p:sp>
        <p:nvSpPr>
          <p:cNvPr id="21" name="Shape 19"/>
          <p:cNvSpPr/>
          <p:nvPr/>
        </p:nvSpPr>
        <p:spPr>
          <a:xfrm>
            <a:off x="8887968" y="3017520"/>
            <a:ext cx="2523744" cy="1143000"/>
          </a:xfrm>
          <a:prstGeom prst="rect">
            <a:avLst/>
          </a:prstGeom>
          <a:solidFill>
            <a:srgbClr val="F8FAFC"/>
          </a:solidFill>
          <a:ln w="10160">
            <a:solidFill>
              <a:srgbClr val="E2E8F0"/>
            </a:solidFill>
            <a:prstDash val="solid"/>
          </a:ln>
        </p:spPr>
      </p:sp>
      <p:sp>
        <p:nvSpPr>
          <p:cNvPr id="22" name="Shape 20"/>
          <p:cNvSpPr/>
          <p:nvPr/>
        </p:nvSpPr>
        <p:spPr>
          <a:xfrm>
            <a:off x="8887968" y="3017520"/>
            <a:ext cx="2523744" cy="54864"/>
          </a:xfrm>
          <a:prstGeom prst="rect">
            <a:avLst/>
          </a:prstGeom>
          <a:solidFill>
            <a:srgbClr val="7C3AED"/>
          </a:solidFill>
          <a:ln w="12700">
            <a:solidFill>
              <a:srgbClr val="7C3AED"/>
            </a:solidFill>
            <a:prstDash val="solid"/>
          </a:ln>
        </p:spPr>
      </p:sp>
      <p:sp>
        <p:nvSpPr>
          <p:cNvPr id="23" name="Text 21"/>
          <p:cNvSpPr/>
          <p:nvPr/>
        </p:nvSpPr>
        <p:spPr>
          <a:xfrm>
            <a:off x="9025128" y="3127248"/>
            <a:ext cx="2249424" cy="411480"/>
          </a:xfrm>
          <a:prstGeom prst="rect">
            <a:avLst/>
          </a:prstGeom>
          <a:noFill/>
          <a:ln/>
        </p:spPr>
        <p:txBody>
          <a:bodyPr wrap="square" rtlCol="0" anchor="ctr"/>
          <a:lstStyle/>
          <a:p>
            <a:pPr indent="0" marL="0">
              <a:buNone/>
            </a:pPr>
            <a:r>
              <a:rPr lang="en-US" sz="2200" b="1" dirty="0">
                <a:solidFill>
                  <a:srgbClr val="7C3AED"/>
                </a:solidFill>
                <a:latin typeface="Arial" pitchFamily="34" charset="0"/>
                <a:ea typeface="Arial" pitchFamily="34" charset="-122"/>
                <a:cs typeface="Arial" pitchFamily="34" charset="-120"/>
              </a:rPr>
              <a:t>95+</a:t>
            </a:r>
            <a:endParaRPr lang="en-US" sz="2200" dirty="0"/>
          </a:p>
        </p:txBody>
      </p:sp>
      <p:sp>
        <p:nvSpPr>
          <p:cNvPr id="24" name="Text 22"/>
          <p:cNvSpPr/>
          <p:nvPr/>
        </p:nvSpPr>
        <p:spPr>
          <a:xfrm>
            <a:off x="9025128" y="3547872"/>
            <a:ext cx="2249424" cy="274320"/>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Mitra Industri Global &amp; Nasional</a:t>
            </a:r>
            <a:endParaRPr lang="en-US" sz="880" dirty="0"/>
          </a:p>
        </p:txBody>
      </p:sp>
      <p:sp>
        <p:nvSpPr>
          <p:cNvPr id="25" name="Text 23"/>
          <p:cNvSpPr/>
          <p:nvPr/>
        </p:nvSpPr>
        <p:spPr>
          <a:xfrm>
            <a:off x="9025128" y="3822192"/>
            <a:ext cx="2249424" cy="256032"/>
          </a:xfrm>
          <a:prstGeom prst="rect">
            <a:avLst/>
          </a:prstGeom>
          <a:noFill/>
          <a:ln/>
        </p:spPr>
        <p:txBody>
          <a:bodyPr wrap="square" rtlCol="0" anchor="ctr"/>
          <a:lstStyle/>
          <a:p>
            <a:pPr indent="0" marL="0">
              <a:buNone/>
            </a:pPr>
            <a:r>
              <a:rPr lang="en-US" sz="780" dirty="0">
                <a:solidFill>
                  <a:srgbClr val="64748B"/>
                </a:solidFill>
                <a:latin typeface="Arial" pitchFamily="34" charset="0"/>
                <a:ea typeface="Arial" pitchFamily="34" charset="-122"/>
                <a:cs typeface="Arial" pitchFamily="34" charset="-120"/>
              </a:rPr>
              <a:t>Prinsip Zero APBD Burden</a:t>
            </a:r>
            <a:endParaRPr lang="en-US" sz="780" dirty="0"/>
          </a:p>
        </p:txBody>
      </p:sp>
      <p:sp>
        <p:nvSpPr>
          <p:cNvPr id="26" name="Shape 24"/>
          <p:cNvSpPr/>
          <p:nvPr/>
        </p:nvSpPr>
        <p:spPr>
          <a:xfrm>
            <a:off x="822960" y="4343400"/>
            <a:ext cx="3364992" cy="1783080"/>
          </a:xfrm>
          <a:prstGeom prst="rect">
            <a:avLst/>
          </a:prstGeom>
          <a:solidFill>
            <a:srgbClr val="FFFFFF"/>
          </a:solidFill>
          <a:ln w="10160">
            <a:solidFill>
              <a:srgbClr val="CBD5E1"/>
            </a:solidFill>
            <a:prstDash val="solid"/>
          </a:ln>
        </p:spPr>
      </p:sp>
      <p:sp>
        <p:nvSpPr>
          <p:cNvPr id="27" name="Shape 25"/>
          <p:cNvSpPr/>
          <p:nvPr/>
        </p:nvSpPr>
        <p:spPr>
          <a:xfrm>
            <a:off x="822960" y="4343400"/>
            <a:ext cx="3364992" cy="54864"/>
          </a:xfrm>
          <a:prstGeom prst="rect">
            <a:avLst/>
          </a:prstGeom>
          <a:solidFill>
            <a:srgbClr val="0284C7"/>
          </a:solidFill>
          <a:ln w="12700">
            <a:solidFill>
              <a:srgbClr val="0284C7"/>
            </a:solidFill>
            <a:prstDash val="solid"/>
          </a:ln>
        </p:spPr>
      </p:sp>
      <p:sp>
        <p:nvSpPr>
          <p:cNvPr id="28" name="Text 26"/>
          <p:cNvSpPr/>
          <p:nvPr/>
        </p:nvSpPr>
        <p:spPr>
          <a:xfrm>
            <a:off x="987552" y="4480560"/>
            <a:ext cx="3035808" cy="219456"/>
          </a:xfrm>
          <a:prstGeom prst="rect">
            <a:avLst/>
          </a:prstGeom>
          <a:noFill/>
          <a:ln/>
        </p:spPr>
        <p:txBody>
          <a:bodyPr wrap="square" rtlCol="0" anchor="ctr"/>
          <a:lstStyle/>
          <a:p>
            <a:pPr indent="0" marL="0">
              <a:buNone/>
            </a:pPr>
            <a:r>
              <a:rPr lang="en-US" sz="800" b="1" dirty="0">
                <a:solidFill>
                  <a:srgbClr val="0284C7"/>
                </a:solidFill>
                <a:latin typeface="Arial" pitchFamily="34" charset="0"/>
                <a:ea typeface="Arial" pitchFamily="34" charset="-122"/>
                <a:cs typeface="Arial" pitchFamily="34" charset="-120"/>
              </a:rPr>
              <a:t>01  //  PARADIGMA BARU</a:t>
            </a:r>
            <a:endParaRPr lang="en-US" sz="800" dirty="0"/>
          </a:p>
        </p:txBody>
      </p:sp>
      <p:sp>
        <p:nvSpPr>
          <p:cNvPr id="29" name="Text 27"/>
          <p:cNvSpPr/>
          <p:nvPr/>
        </p:nvSpPr>
        <p:spPr>
          <a:xfrm>
            <a:off x="987552" y="4718304"/>
            <a:ext cx="3035808" cy="27432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Bukan Sekadar Gedung Fisik</a:t>
            </a:r>
            <a:endParaRPr lang="en-US" sz="1150" dirty="0"/>
          </a:p>
        </p:txBody>
      </p:sp>
      <p:sp>
        <p:nvSpPr>
          <p:cNvPr id="30" name="Text 28"/>
          <p:cNvSpPr/>
          <p:nvPr/>
        </p:nvSpPr>
        <p:spPr>
          <a:xfrm>
            <a:off x="987552" y="5029200"/>
            <a:ext cx="3035808" cy="960120"/>
          </a:xfrm>
          <a:prstGeom prst="rect">
            <a:avLst/>
          </a:prstGeom>
          <a:noFill/>
          <a:ln/>
        </p:spPr>
        <p:txBody>
          <a:bodyPr wrap="square" rtlCol="0" anchor="ctr"/>
          <a:lstStyle/>
          <a:p>
            <a:pPr indent="0" marL="0">
              <a:lnSpc>
                <a:spcPts val="1200"/>
              </a:lnSpc>
              <a:buNone/>
            </a:pPr>
            <a:r>
              <a:rPr lang="en-US" sz="880" dirty="0">
                <a:solidFill>
                  <a:srgbClr val="334155"/>
                </a:solidFill>
                <a:latin typeface="Arial" pitchFamily="34" charset="0"/>
                <a:ea typeface="Arial" pitchFamily="34" charset="-122"/>
                <a:cs typeface="Arial" pitchFamily="34" charset="-120"/>
              </a:rPr>
              <a:t>Beralih dari pengelola sewa lahan menjadi DELIVERY UNIT inovasi BRIDA yang menghasilkan IMPACT nyata bagi masyarakat dan industri.</a:t>
            </a:r>
            <a:endParaRPr lang="en-US" sz="880" dirty="0"/>
          </a:p>
        </p:txBody>
      </p:sp>
      <p:sp>
        <p:nvSpPr>
          <p:cNvPr id="31" name="Shape 29"/>
          <p:cNvSpPr/>
          <p:nvPr/>
        </p:nvSpPr>
        <p:spPr>
          <a:xfrm>
            <a:off x="4407408" y="4343400"/>
            <a:ext cx="3364992" cy="1783080"/>
          </a:xfrm>
          <a:prstGeom prst="rect">
            <a:avLst/>
          </a:prstGeom>
          <a:solidFill>
            <a:srgbClr val="FFFFFF"/>
          </a:solidFill>
          <a:ln w="10160">
            <a:solidFill>
              <a:srgbClr val="CBD5E1"/>
            </a:solidFill>
            <a:prstDash val="solid"/>
          </a:ln>
        </p:spPr>
      </p:sp>
      <p:sp>
        <p:nvSpPr>
          <p:cNvPr id="32" name="Shape 30"/>
          <p:cNvSpPr/>
          <p:nvPr/>
        </p:nvSpPr>
        <p:spPr>
          <a:xfrm>
            <a:off x="4407408" y="4343400"/>
            <a:ext cx="3364992" cy="54864"/>
          </a:xfrm>
          <a:prstGeom prst="rect">
            <a:avLst/>
          </a:prstGeom>
          <a:solidFill>
            <a:srgbClr val="D97706"/>
          </a:solidFill>
          <a:ln w="12700">
            <a:solidFill>
              <a:srgbClr val="D97706"/>
            </a:solidFill>
            <a:prstDash val="solid"/>
          </a:ln>
        </p:spPr>
      </p:sp>
      <p:sp>
        <p:nvSpPr>
          <p:cNvPr id="33" name="Text 31"/>
          <p:cNvSpPr/>
          <p:nvPr/>
        </p:nvSpPr>
        <p:spPr>
          <a:xfrm>
            <a:off x="4572000" y="4480560"/>
            <a:ext cx="3035808" cy="219456"/>
          </a:xfrm>
          <a:prstGeom prst="rect">
            <a:avLst/>
          </a:prstGeom>
          <a:noFill/>
          <a:ln/>
        </p:spPr>
        <p:txBody>
          <a:bodyPr wrap="square" rtlCol="0" anchor="ctr"/>
          <a:lstStyle/>
          <a:p>
            <a:pPr indent="0" marL="0">
              <a:buNone/>
            </a:pPr>
            <a:r>
              <a:rPr lang="en-US" sz="800" b="1" dirty="0">
                <a:solidFill>
                  <a:srgbClr val="D97706"/>
                </a:solidFill>
                <a:latin typeface="Arial" pitchFamily="34" charset="0"/>
                <a:ea typeface="Arial" pitchFamily="34" charset="-122"/>
                <a:cs typeface="Arial" pitchFamily="34" charset="-120"/>
              </a:rPr>
              <a:t>02  //  KEMANDIRIAN PENUH</a:t>
            </a:r>
            <a:endParaRPr lang="en-US" sz="800" dirty="0"/>
          </a:p>
        </p:txBody>
      </p:sp>
      <p:sp>
        <p:nvSpPr>
          <p:cNvPr id="34" name="Text 32"/>
          <p:cNvSpPr/>
          <p:nvPr/>
        </p:nvSpPr>
        <p:spPr>
          <a:xfrm>
            <a:off x="4572000" y="4718304"/>
            <a:ext cx="3035808" cy="27432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BLUD Mandiri Tanpa APBD</a:t>
            </a:r>
            <a:endParaRPr lang="en-US" sz="1150" dirty="0"/>
          </a:p>
        </p:txBody>
      </p:sp>
      <p:sp>
        <p:nvSpPr>
          <p:cNvPr id="35" name="Text 33"/>
          <p:cNvSpPr/>
          <p:nvPr/>
        </p:nvSpPr>
        <p:spPr>
          <a:xfrm>
            <a:off x="4572000" y="5029200"/>
            <a:ext cx="3035808" cy="960120"/>
          </a:xfrm>
          <a:prstGeom prst="rect">
            <a:avLst/>
          </a:prstGeom>
          <a:noFill/>
          <a:ln/>
        </p:spPr>
        <p:txBody>
          <a:bodyPr wrap="square" rtlCol="0" anchor="ctr"/>
          <a:lstStyle/>
          <a:p>
            <a:pPr indent="0" marL="0">
              <a:lnSpc>
                <a:spcPts val="1200"/>
              </a:lnSpc>
              <a:buNone/>
            </a:pPr>
            <a:r>
              <a:rPr lang="en-US" sz="880" dirty="0">
                <a:solidFill>
                  <a:srgbClr val="334155"/>
                </a:solidFill>
                <a:latin typeface="Arial" pitchFamily="34" charset="0"/>
                <a:ea typeface="Arial" pitchFamily="34" charset="-122"/>
                <a:cs typeface="Arial" pitchFamily="34" charset="-120"/>
              </a:rPr>
              <a:t>Lompatan pendapatan terukur dari Rp 7,50 M (2026) menuju Rp 23,47 M (2030) — tumbuh +212,8% dengan 0% subsidi kas daerah.</a:t>
            </a:r>
            <a:endParaRPr lang="en-US" sz="880" dirty="0"/>
          </a:p>
        </p:txBody>
      </p:sp>
      <p:sp>
        <p:nvSpPr>
          <p:cNvPr id="36" name="Shape 34"/>
          <p:cNvSpPr/>
          <p:nvPr/>
        </p:nvSpPr>
        <p:spPr>
          <a:xfrm>
            <a:off x="7991856" y="4343400"/>
            <a:ext cx="3364992" cy="1783080"/>
          </a:xfrm>
          <a:prstGeom prst="rect">
            <a:avLst/>
          </a:prstGeom>
          <a:solidFill>
            <a:srgbClr val="FFFFFF"/>
          </a:solidFill>
          <a:ln w="10160">
            <a:solidFill>
              <a:srgbClr val="CBD5E1"/>
            </a:solidFill>
            <a:prstDash val="solid"/>
          </a:ln>
        </p:spPr>
      </p:sp>
      <p:sp>
        <p:nvSpPr>
          <p:cNvPr id="37" name="Shape 35"/>
          <p:cNvSpPr/>
          <p:nvPr/>
        </p:nvSpPr>
        <p:spPr>
          <a:xfrm>
            <a:off x="7991856" y="4343400"/>
            <a:ext cx="3364992" cy="54864"/>
          </a:xfrm>
          <a:prstGeom prst="rect">
            <a:avLst/>
          </a:prstGeom>
          <a:solidFill>
            <a:srgbClr val="059669"/>
          </a:solidFill>
          <a:ln w="12700">
            <a:solidFill>
              <a:srgbClr val="059669"/>
            </a:solidFill>
            <a:prstDash val="solid"/>
          </a:ln>
        </p:spPr>
      </p:sp>
      <p:sp>
        <p:nvSpPr>
          <p:cNvPr id="38" name="Text 36"/>
          <p:cNvSpPr/>
          <p:nvPr/>
        </p:nvSpPr>
        <p:spPr>
          <a:xfrm>
            <a:off x="8156448" y="4480560"/>
            <a:ext cx="3035808" cy="219456"/>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03  //  HEXAHELIX &amp; DAMPAK</a:t>
            </a:r>
            <a:endParaRPr lang="en-US" sz="800" dirty="0"/>
          </a:p>
        </p:txBody>
      </p:sp>
      <p:sp>
        <p:nvSpPr>
          <p:cNvPr id="39" name="Text 37"/>
          <p:cNvSpPr/>
          <p:nvPr/>
        </p:nvSpPr>
        <p:spPr>
          <a:xfrm>
            <a:off x="8156448" y="4718304"/>
            <a:ext cx="3035808" cy="274320"/>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95+ Mitra Korporasi Dunia</a:t>
            </a:r>
            <a:endParaRPr lang="en-US" sz="1150" dirty="0"/>
          </a:p>
        </p:txBody>
      </p:sp>
      <p:sp>
        <p:nvSpPr>
          <p:cNvPr id="40" name="Text 38"/>
          <p:cNvSpPr/>
          <p:nvPr/>
        </p:nvSpPr>
        <p:spPr>
          <a:xfrm>
            <a:off x="8156448" y="5029200"/>
            <a:ext cx="3035808" cy="960120"/>
          </a:xfrm>
          <a:prstGeom prst="rect">
            <a:avLst/>
          </a:prstGeom>
          <a:noFill/>
          <a:ln/>
        </p:spPr>
        <p:txBody>
          <a:bodyPr wrap="square" rtlCol="0" anchor="ctr"/>
          <a:lstStyle/>
          <a:p>
            <a:pPr indent="0" marL="0">
              <a:lnSpc>
                <a:spcPts val="1200"/>
              </a:lnSpc>
              <a:buNone/>
            </a:pPr>
            <a:r>
              <a:rPr lang="en-US" sz="880" dirty="0">
                <a:solidFill>
                  <a:srgbClr val="334155"/>
                </a:solidFill>
                <a:latin typeface="Arial" pitchFamily="34" charset="0"/>
                <a:ea typeface="Arial" pitchFamily="34" charset="-122"/>
                <a:cs typeface="Arial" pitchFamily="34" charset="-120"/>
              </a:rPr>
              <a:t>Investasi swasta murni berkolaborasi menyerap 9.000 tenaga kerja dengan komitmen afirmasi minimal 65% warga KTP Surakarta.</a:t>
            </a:r>
            <a:endParaRPr lang="en-US" sz="880" dirty="0"/>
          </a:p>
        </p:txBody>
      </p:sp>
      <p:sp>
        <p:nvSpPr>
          <p:cNvPr id="41" name="Text 39"/>
          <p:cNvSpPr/>
          <p:nvPr/>
        </p:nvSpPr>
        <p:spPr>
          <a:xfrm>
            <a:off x="822960" y="6355080"/>
            <a:ext cx="10545775" cy="256032"/>
          </a:xfrm>
          <a:prstGeom prst="rect">
            <a:avLst/>
          </a:prstGeom>
          <a:noFill/>
          <a:ln/>
        </p:spPr>
        <p:txBody>
          <a:bodyPr wrap="square" rtlCol="0" anchor="ctr"/>
          <a:lstStyle/>
          <a:p>
            <a:pPr algn="ctr" indent="0" marL="0">
              <a:buNone/>
            </a:pPr>
            <a:r>
              <a:rPr lang="en-US" sz="850" dirty="0">
                <a:solidFill>
                  <a:srgbClr val="64748B"/>
                </a:solidFill>
                <a:latin typeface="Arial" pitchFamily="34" charset="0"/>
                <a:ea typeface="Arial" pitchFamily="34" charset="-122"/>
                <a:cs typeface="Arial" pitchFamily="34" charset="-120"/>
              </a:rPr>
              <a:t>Disampaikan oleh: Kepala UPTD KST Solo Technopark  •  Didampingi: Kepala BRIDA Kota Surakarta  •  Surakarta,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TATA KELOLA PEMERINTAHAN &amp; KELEMBAGAAN</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02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KEDUDUKAN KELEMBAGAAN &amp; RANTAI DAMPAK (CHAIN OF IMPACT)</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Arsitektur Nilai: BRIDA sebagai Otak Kebijakan, STP sebagai Tangan Eksekutor, Warga &amp; Industri sebagai Penerima Dampak</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4133088" y="2560320"/>
            <a:ext cx="237744" cy="320040"/>
          </a:xfrm>
          <a:prstGeom prst="rightArrow">
            <a:avLst/>
          </a:prstGeom>
          <a:solidFill>
            <a:srgbClr val="1E40AF"/>
          </a:solidFill>
          <a:ln w="12700">
            <a:solidFill>
              <a:srgbClr val="1E40AF"/>
            </a:solidFill>
            <a:prstDash val="solid"/>
          </a:ln>
        </p:spPr>
      </p:sp>
      <p:sp>
        <p:nvSpPr>
          <p:cNvPr id="11" name="Shape 9"/>
          <p:cNvSpPr/>
          <p:nvPr/>
        </p:nvSpPr>
        <p:spPr>
          <a:xfrm>
            <a:off x="7827264" y="2560320"/>
            <a:ext cx="237744" cy="320040"/>
          </a:xfrm>
          <a:prstGeom prst="rightArrow">
            <a:avLst/>
          </a:prstGeom>
          <a:solidFill>
            <a:srgbClr val="D97706"/>
          </a:solidFill>
          <a:ln w="12700">
            <a:solidFill>
              <a:srgbClr val="D97706"/>
            </a:solidFill>
            <a:prstDash val="solid"/>
          </a:ln>
        </p:spPr>
      </p:sp>
      <p:sp>
        <p:nvSpPr>
          <p:cNvPr id="12" name="Shape 10"/>
          <p:cNvSpPr/>
          <p:nvPr/>
        </p:nvSpPr>
        <p:spPr>
          <a:xfrm>
            <a:off x="731520" y="1417320"/>
            <a:ext cx="3337560" cy="3886200"/>
          </a:xfrm>
          <a:prstGeom prst="rect">
            <a:avLst/>
          </a:prstGeom>
          <a:solidFill>
            <a:srgbClr val="FFFFFF"/>
          </a:solidFill>
          <a:ln w="10160">
            <a:solidFill>
              <a:srgbClr val="CBD5E1"/>
            </a:solidFill>
            <a:prstDash val="solid"/>
          </a:ln>
        </p:spPr>
      </p:sp>
      <p:sp>
        <p:nvSpPr>
          <p:cNvPr id="13" name="Shape 11"/>
          <p:cNvSpPr/>
          <p:nvPr/>
        </p:nvSpPr>
        <p:spPr>
          <a:xfrm>
            <a:off x="731520" y="1417320"/>
            <a:ext cx="3337560" cy="54864"/>
          </a:xfrm>
          <a:prstGeom prst="rect">
            <a:avLst/>
          </a:prstGeom>
          <a:solidFill>
            <a:srgbClr val="1E40AF"/>
          </a:solidFill>
          <a:ln w="12700">
            <a:solidFill>
              <a:srgbClr val="1E40AF"/>
            </a:solidFill>
            <a:prstDash val="solid"/>
          </a:ln>
        </p:spPr>
      </p:sp>
      <p:sp>
        <p:nvSpPr>
          <p:cNvPr id="14" name="Text 12"/>
          <p:cNvSpPr/>
          <p:nvPr/>
        </p:nvSpPr>
        <p:spPr>
          <a:xfrm>
            <a:off x="896112" y="1554480"/>
            <a:ext cx="3008376"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01 / INPUT</a:t>
            </a:r>
            <a:endParaRPr lang="en-US" sz="850" dirty="0"/>
          </a:p>
        </p:txBody>
      </p:sp>
      <p:sp>
        <p:nvSpPr>
          <p:cNvPr id="15" name="Text 13"/>
          <p:cNvSpPr/>
          <p:nvPr/>
        </p:nvSpPr>
        <p:spPr>
          <a:xfrm>
            <a:off x="896112" y="1783080"/>
            <a:ext cx="3008376" cy="292608"/>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BRIDA KOTA SURAKARTA</a:t>
            </a:r>
            <a:endParaRPr lang="en-US" sz="1150" dirty="0"/>
          </a:p>
        </p:txBody>
      </p:sp>
      <p:sp>
        <p:nvSpPr>
          <p:cNvPr id="16" name="Text 14"/>
          <p:cNvSpPr/>
          <p:nvPr/>
        </p:nvSpPr>
        <p:spPr>
          <a:xfrm>
            <a:off x="896112" y="2084832"/>
            <a:ext cx="3008376" cy="237744"/>
          </a:xfrm>
          <a:prstGeom prst="rect">
            <a:avLst/>
          </a:prstGeom>
          <a:noFill/>
          <a:ln/>
        </p:spPr>
        <p:txBody>
          <a:bodyPr wrap="square" rtlCol="0" anchor="ctr"/>
          <a:lstStyle/>
          <a:p>
            <a:pPr indent="0" marL="0">
              <a:buNone/>
            </a:pPr>
            <a:r>
              <a:rPr lang="en-US" sz="900" b="1" dirty="0">
                <a:solidFill>
                  <a:srgbClr val="1E40AF"/>
                </a:solidFill>
                <a:latin typeface="Arial" pitchFamily="34" charset="0"/>
                <a:ea typeface="Arial" pitchFamily="34" charset="-122"/>
                <a:cs typeface="Arial" pitchFamily="34" charset="-120"/>
              </a:rPr>
              <a:t>Otak &amp; Regulator Kebijakan Daerah</a:t>
            </a:r>
            <a:endParaRPr lang="en-US" sz="900" dirty="0"/>
          </a:p>
        </p:txBody>
      </p:sp>
      <p:sp>
        <p:nvSpPr>
          <p:cNvPr id="17" name="Shape 15"/>
          <p:cNvSpPr/>
          <p:nvPr/>
        </p:nvSpPr>
        <p:spPr>
          <a:xfrm>
            <a:off x="896112" y="2377440"/>
            <a:ext cx="3008376" cy="13716"/>
          </a:xfrm>
          <a:prstGeom prst="rect">
            <a:avLst/>
          </a:prstGeom>
          <a:solidFill>
            <a:srgbClr val="E2E8F0"/>
          </a:solidFill>
          <a:ln w="12700">
            <a:solidFill>
              <a:srgbClr val="E2E8F0"/>
            </a:solidFill>
            <a:prstDash val="solid"/>
          </a:ln>
        </p:spPr>
      </p:sp>
      <p:sp>
        <p:nvSpPr>
          <p:cNvPr id="18" name="Text 16"/>
          <p:cNvSpPr/>
          <p:nvPr/>
        </p:nvSpPr>
        <p:spPr>
          <a:xfrm>
            <a:off x="896112" y="2514600"/>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Merumuskan arah kebijakan riset &amp; inovasi daerah</a:t>
            </a:r>
            <a:endParaRPr lang="en-US" sz="850" dirty="0"/>
          </a:p>
        </p:txBody>
      </p:sp>
      <p:sp>
        <p:nvSpPr>
          <p:cNvPr id="19" name="Text 17"/>
          <p:cNvSpPr/>
          <p:nvPr/>
        </p:nvSpPr>
        <p:spPr>
          <a:xfrm>
            <a:off x="896112" y="3044952"/>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Penyusunan kajian teknokratik &amp; roadmap strategis</a:t>
            </a:r>
            <a:endParaRPr lang="en-US" sz="850" dirty="0"/>
          </a:p>
        </p:txBody>
      </p:sp>
      <p:sp>
        <p:nvSpPr>
          <p:cNvPr id="20" name="Text 18"/>
          <p:cNvSpPr/>
          <p:nvPr/>
        </p:nvSpPr>
        <p:spPr>
          <a:xfrm>
            <a:off x="896112" y="3575304"/>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Orkestrasi ekosistem Iptek antar-OPD &amp; perguruan tinggi</a:t>
            </a:r>
            <a:endParaRPr lang="en-US" sz="850" dirty="0"/>
          </a:p>
        </p:txBody>
      </p:sp>
      <p:sp>
        <p:nvSpPr>
          <p:cNvPr id="21" name="Text 19"/>
          <p:cNvSpPr/>
          <p:nvPr/>
        </p:nvSpPr>
        <p:spPr>
          <a:xfrm>
            <a:off x="896112" y="4105656"/>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Monitoring &amp; evaluasi akuntabilitas dampak sosial-ekonomi</a:t>
            </a:r>
            <a:endParaRPr lang="en-US" sz="850" dirty="0"/>
          </a:p>
        </p:txBody>
      </p:sp>
      <p:sp>
        <p:nvSpPr>
          <p:cNvPr id="22" name="Shape 20"/>
          <p:cNvSpPr/>
          <p:nvPr/>
        </p:nvSpPr>
        <p:spPr>
          <a:xfrm>
            <a:off x="896112" y="4800600"/>
            <a:ext cx="3008376" cy="347472"/>
          </a:xfrm>
          <a:prstGeom prst="rect">
            <a:avLst/>
          </a:prstGeom>
          <a:solidFill>
            <a:srgbClr val="F1F5F9"/>
          </a:solidFill>
          <a:ln w="10160">
            <a:solidFill>
              <a:srgbClr val="1E40AF"/>
            </a:solidFill>
            <a:prstDash val="solid"/>
          </a:ln>
        </p:spPr>
      </p:sp>
      <p:sp>
        <p:nvSpPr>
          <p:cNvPr id="23" name="Text 21"/>
          <p:cNvSpPr/>
          <p:nvPr/>
        </p:nvSpPr>
        <p:spPr>
          <a:xfrm>
            <a:off x="896112" y="4800600"/>
            <a:ext cx="3008376" cy="347472"/>
          </a:xfrm>
          <a:prstGeom prst="rect">
            <a:avLst/>
          </a:prstGeom>
          <a:noFill/>
          <a:ln/>
        </p:spPr>
        <p:txBody>
          <a:bodyPr wrap="square" rtlCol="0" anchor="ctr"/>
          <a:lstStyle/>
          <a:p>
            <a:pPr algn="ctr" indent="0" marL="0">
              <a:buNone/>
            </a:pPr>
            <a:r>
              <a:rPr lang="en-US" sz="800" b="1" dirty="0">
                <a:solidFill>
                  <a:srgbClr val="1E40AF"/>
                </a:solidFill>
                <a:latin typeface="Arial" pitchFamily="34" charset="0"/>
                <a:ea typeface="Arial" pitchFamily="34" charset="-122"/>
                <a:cs typeface="Arial" pitchFamily="34" charset="-120"/>
              </a:rPr>
              <a:t>OUTPUT: Regulasi, Roadmap, &amp; Pengawasan Kebijakan</a:t>
            </a:r>
            <a:endParaRPr lang="en-US" sz="800" dirty="0"/>
          </a:p>
        </p:txBody>
      </p:sp>
      <p:sp>
        <p:nvSpPr>
          <p:cNvPr id="24" name="Shape 22"/>
          <p:cNvSpPr/>
          <p:nvPr/>
        </p:nvSpPr>
        <p:spPr>
          <a:xfrm>
            <a:off x="4425696" y="1417320"/>
            <a:ext cx="3337560" cy="3886200"/>
          </a:xfrm>
          <a:prstGeom prst="rect">
            <a:avLst/>
          </a:prstGeom>
          <a:solidFill>
            <a:srgbClr val="FFFFFF"/>
          </a:solidFill>
          <a:ln w="10160">
            <a:solidFill>
              <a:srgbClr val="CBD5E1"/>
            </a:solidFill>
            <a:prstDash val="solid"/>
          </a:ln>
        </p:spPr>
      </p:sp>
      <p:sp>
        <p:nvSpPr>
          <p:cNvPr id="25" name="Shape 23"/>
          <p:cNvSpPr/>
          <p:nvPr/>
        </p:nvSpPr>
        <p:spPr>
          <a:xfrm>
            <a:off x="4425696" y="1417320"/>
            <a:ext cx="3337560" cy="54864"/>
          </a:xfrm>
          <a:prstGeom prst="rect">
            <a:avLst/>
          </a:prstGeom>
          <a:solidFill>
            <a:srgbClr val="D97706"/>
          </a:solidFill>
          <a:ln w="12700">
            <a:solidFill>
              <a:srgbClr val="D97706"/>
            </a:solidFill>
            <a:prstDash val="solid"/>
          </a:ln>
        </p:spPr>
      </p:sp>
      <p:sp>
        <p:nvSpPr>
          <p:cNvPr id="26" name="Text 24"/>
          <p:cNvSpPr/>
          <p:nvPr/>
        </p:nvSpPr>
        <p:spPr>
          <a:xfrm>
            <a:off x="4590288" y="1554480"/>
            <a:ext cx="3008376"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02 / PROSES</a:t>
            </a:r>
            <a:endParaRPr lang="en-US" sz="850" dirty="0"/>
          </a:p>
        </p:txBody>
      </p:sp>
      <p:sp>
        <p:nvSpPr>
          <p:cNvPr id="27" name="Text 25"/>
          <p:cNvSpPr/>
          <p:nvPr/>
        </p:nvSpPr>
        <p:spPr>
          <a:xfrm>
            <a:off x="4590288" y="1783080"/>
            <a:ext cx="3008376" cy="292608"/>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UPTD KST SOLO TECHNOPARK</a:t>
            </a:r>
            <a:endParaRPr lang="en-US" sz="1150" dirty="0"/>
          </a:p>
        </p:txBody>
      </p:sp>
      <p:sp>
        <p:nvSpPr>
          <p:cNvPr id="28" name="Text 26"/>
          <p:cNvSpPr/>
          <p:nvPr/>
        </p:nvSpPr>
        <p:spPr>
          <a:xfrm>
            <a:off x="4590288" y="2084832"/>
            <a:ext cx="3008376" cy="237744"/>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Tangan Eksekutor &amp; Operator Bisnis BLUD</a:t>
            </a:r>
            <a:endParaRPr lang="en-US" sz="900" dirty="0"/>
          </a:p>
        </p:txBody>
      </p:sp>
      <p:sp>
        <p:nvSpPr>
          <p:cNvPr id="29" name="Shape 27"/>
          <p:cNvSpPr/>
          <p:nvPr/>
        </p:nvSpPr>
        <p:spPr>
          <a:xfrm>
            <a:off x="4590288" y="2377440"/>
            <a:ext cx="3008376" cy="13716"/>
          </a:xfrm>
          <a:prstGeom prst="rect">
            <a:avLst/>
          </a:prstGeom>
          <a:solidFill>
            <a:srgbClr val="E2E8F0"/>
          </a:solidFill>
          <a:ln w="12700">
            <a:solidFill>
              <a:srgbClr val="E2E8F0"/>
            </a:solidFill>
            <a:prstDash val="solid"/>
          </a:ln>
        </p:spPr>
      </p:sp>
      <p:sp>
        <p:nvSpPr>
          <p:cNvPr id="30" name="Text 28"/>
          <p:cNvSpPr/>
          <p:nvPr/>
        </p:nvSpPr>
        <p:spPr>
          <a:xfrm>
            <a:off x="4590288" y="2514600"/>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Penyelenggaraan diklat vokasi &amp; sertifikasi industri</a:t>
            </a:r>
            <a:endParaRPr lang="en-US" sz="850" dirty="0"/>
          </a:p>
        </p:txBody>
      </p:sp>
      <p:sp>
        <p:nvSpPr>
          <p:cNvPr id="31" name="Text 29"/>
          <p:cNvSpPr/>
          <p:nvPr/>
        </p:nvSpPr>
        <p:spPr>
          <a:xfrm>
            <a:off x="4590288" y="3044952"/>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Inkubasi bisnis, alih teknologi &amp; komersialisasi riset</a:t>
            </a:r>
            <a:endParaRPr lang="en-US" sz="850" dirty="0"/>
          </a:p>
        </p:txBody>
      </p:sp>
      <p:sp>
        <p:nvSpPr>
          <p:cNvPr id="32" name="Text 30"/>
          <p:cNvSpPr/>
          <p:nvPr/>
        </p:nvSpPr>
        <p:spPr>
          <a:xfrm>
            <a:off x="4590288" y="3575304"/>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Uji coba prototipe lab presisi &amp; penetrant testing (NDT)</a:t>
            </a:r>
            <a:endParaRPr lang="en-US" sz="850" dirty="0"/>
          </a:p>
        </p:txBody>
      </p:sp>
      <p:sp>
        <p:nvSpPr>
          <p:cNvPr id="33" name="Text 31"/>
          <p:cNvSpPr/>
          <p:nvPr/>
        </p:nvSpPr>
        <p:spPr>
          <a:xfrm>
            <a:off x="4590288" y="4105656"/>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Pengelolaan portofolio bisnis BLUD mandiri &amp; kemitraan</a:t>
            </a:r>
            <a:endParaRPr lang="en-US" sz="850" dirty="0"/>
          </a:p>
        </p:txBody>
      </p:sp>
      <p:sp>
        <p:nvSpPr>
          <p:cNvPr id="34" name="Shape 32"/>
          <p:cNvSpPr/>
          <p:nvPr/>
        </p:nvSpPr>
        <p:spPr>
          <a:xfrm>
            <a:off x="4590288" y="4800600"/>
            <a:ext cx="3008376" cy="347472"/>
          </a:xfrm>
          <a:prstGeom prst="rect">
            <a:avLst/>
          </a:prstGeom>
          <a:solidFill>
            <a:srgbClr val="F1F5F9"/>
          </a:solidFill>
          <a:ln w="10160">
            <a:solidFill>
              <a:srgbClr val="D97706"/>
            </a:solidFill>
            <a:prstDash val="solid"/>
          </a:ln>
        </p:spPr>
      </p:sp>
      <p:sp>
        <p:nvSpPr>
          <p:cNvPr id="35" name="Text 33"/>
          <p:cNvSpPr/>
          <p:nvPr/>
        </p:nvSpPr>
        <p:spPr>
          <a:xfrm>
            <a:off x="4590288" y="4800600"/>
            <a:ext cx="3008376" cy="347472"/>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OUTPUT: Layanan Teknis, Inkubasi, &amp; Hilirisasi Produk</a:t>
            </a:r>
            <a:endParaRPr lang="en-US" sz="800" dirty="0"/>
          </a:p>
        </p:txBody>
      </p:sp>
      <p:sp>
        <p:nvSpPr>
          <p:cNvPr id="36" name="Shape 34"/>
          <p:cNvSpPr/>
          <p:nvPr/>
        </p:nvSpPr>
        <p:spPr>
          <a:xfrm>
            <a:off x="8119872" y="1417320"/>
            <a:ext cx="3337560" cy="3886200"/>
          </a:xfrm>
          <a:prstGeom prst="rect">
            <a:avLst/>
          </a:prstGeom>
          <a:solidFill>
            <a:srgbClr val="FFFFFF"/>
          </a:solidFill>
          <a:ln w="10160">
            <a:solidFill>
              <a:srgbClr val="CBD5E1"/>
            </a:solidFill>
            <a:prstDash val="solid"/>
          </a:ln>
        </p:spPr>
      </p:sp>
      <p:sp>
        <p:nvSpPr>
          <p:cNvPr id="37" name="Shape 35"/>
          <p:cNvSpPr/>
          <p:nvPr/>
        </p:nvSpPr>
        <p:spPr>
          <a:xfrm>
            <a:off x="8119872" y="1417320"/>
            <a:ext cx="3337560" cy="54864"/>
          </a:xfrm>
          <a:prstGeom prst="rect">
            <a:avLst/>
          </a:prstGeom>
          <a:solidFill>
            <a:srgbClr val="059669"/>
          </a:solidFill>
          <a:ln w="12700">
            <a:solidFill>
              <a:srgbClr val="059669"/>
            </a:solidFill>
            <a:prstDash val="solid"/>
          </a:ln>
        </p:spPr>
      </p:sp>
      <p:sp>
        <p:nvSpPr>
          <p:cNvPr id="38" name="Text 36"/>
          <p:cNvSpPr/>
          <p:nvPr/>
        </p:nvSpPr>
        <p:spPr>
          <a:xfrm>
            <a:off x="8284464" y="1554480"/>
            <a:ext cx="3008376" cy="201168"/>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03 / OUTCOME</a:t>
            </a:r>
            <a:endParaRPr lang="en-US" sz="850" dirty="0"/>
          </a:p>
        </p:txBody>
      </p:sp>
      <p:sp>
        <p:nvSpPr>
          <p:cNvPr id="39" name="Text 37"/>
          <p:cNvSpPr/>
          <p:nvPr/>
        </p:nvSpPr>
        <p:spPr>
          <a:xfrm>
            <a:off x="8284464" y="1783080"/>
            <a:ext cx="3008376" cy="292608"/>
          </a:xfrm>
          <a:prstGeom prst="rect">
            <a:avLst/>
          </a:prstGeom>
          <a:noFill/>
          <a:ln/>
        </p:spPr>
        <p:txBody>
          <a:bodyPr wrap="square" rtlCol="0" anchor="ctr"/>
          <a:lstStyle/>
          <a:p>
            <a:pPr indent="0" marL="0">
              <a:buNone/>
            </a:pPr>
            <a:r>
              <a:rPr lang="en-US" sz="1150" b="1" dirty="0">
                <a:solidFill>
                  <a:srgbClr val="0F172A"/>
                </a:solidFill>
                <a:latin typeface="Arial" pitchFamily="34" charset="0"/>
                <a:ea typeface="Arial" pitchFamily="34" charset="-122"/>
                <a:cs typeface="Arial" pitchFamily="34" charset="-120"/>
              </a:rPr>
              <a:t>WARGA SURAKARTA &amp; INDUSTRI</a:t>
            </a:r>
            <a:endParaRPr lang="en-US" sz="1150" dirty="0"/>
          </a:p>
        </p:txBody>
      </p:sp>
      <p:sp>
        <p:nvSpPr>
          <p:cNvPr id="40" name="Text 38"/>
          <p:cNvSpPr/>
          <p:nvPr/>
        </p:nvSpPr>
        <p:spPr>
          <a:xfrm>
            <a:off x="8284464" y="2084832"/>
            <a:ext cx="3008376" cy="237744"/>
          </a:xfrm>
          <a:prstGeom prst="rect">
            <a:avLst/>
          </a:prstGeom>
          <a:noFill/>
          <a:ln/>
        </p:spPr>
        <p:txBody>
          <a:bodyPr wrap="square" rtlCol="0" anchor="ctr"/>
          <a:lstStyle/>
          <a:p>
            <a:pPr indent="0" marL="0">
              <a:buNone/>
            </a:pPr>
            <a:r>
              <a:rPr lang="en-US" sz="900" b="1" dirty="0">
                <a:solidFill>
                  <a:srgbClr val="059669"/>
                </a:solidFill>
                <a:latin typeface="Arial" pitchFamily="34" charset="0"/>
                <a:ea typeface="Arial" pitchFamily="34" charset="-122"/>
                <a:cs typeface="Arial" pitchFamily="34" charset="-120"/>
              </a:rPr>
              <a:t>Penerima Manfaat Utama (Benefisiari)</a:t>
            </a:r>
            <a:endParaRPr lang="en-US" sz="900" dirty="0"/>
          </a:p>
        </p:txBody>
      </p:sp>
      <p:sp>
        <p:nvSpPr>
          <p:cNvPr id="41" name="Shape 39"/>
          <p:cNvSpPr/>
          <p:nvPr/>
        </p:nvSpPr>
        <p:spPr>
          <a:xfrm>
            <a:off x="8284464" y="2377440"/>
            <a:ext cx="3008376" cy="13716"/>
          </a:xfrm>
          <a:prstGeom prst="rect">
            <a:avLst/>
          </a:prstGeom>
          <a:solidFill>
            <a:srgbClr val="E2E8F0"/>
          </a:solidFill>
          <a:ln w="12700">
            <a:solidFill>
              <a:srgbClr val="E2E8F0"/>
            </a:solidFill>
            <a:prstDash val="solid"/>
          </a:ln>
        </p:spPr>
      </p:sp>
      <p:sp>
        <p:nvSpPr>
          <p:cNvPr id="42" name="Text 40"/>
          <p:cNvSpPr/>
          <p:nvPr/>
        </p:nvSpPr>
        <p:spPr>
          <a:xfrm>
            <a:off x="8284464" y="2514600"/>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SDM lokal kompeten &amp; tersertifikasi kerja industri global</a:t>
            </a:r>
            <a:endParaRPr lang="en-US" sz="850" dirty="0"/>
          </a:p>
        </p:txBody>
      </p:sp>
      <p:sp>
        <p:nvSpPr>
          <p:cNvPr id="43" name="Text 41"/>
          <p:cNvSpPr/>
          <p:nvPr/>
        </p:nvSpPr>
        <p:spPr>
          <a:xfrm>
            <a:off x="8284464" y="3044952"/>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UMKM &amp; startup teknologi tumbuh mandiri omzetnya</a:t>
            </a:r>
            <a:endParaRPr lang="en-US" sz="850" dirty="0"/>
          </a:p>
        </p:txBody>
      </p:sp>
      <p:sp>
        <p:nvSpPr>
          <p:cNvPr id="44" name="Text 42"/>
          <p:cNvSpPr/>
          <p:nvPr/>
        </p:nvSpPr>
        <p:spPr>
          <a:xfrm>
            <a:off x="8284464" y="3575304"/>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Produk inovasi kampus terserap pasar &amp; e-Katalog Pemda</a:t>
            </a:r>
            <a:endParaRPr lang="en-US" sz="850" dirty="0"/>
          </a:p>
        </p:txBody>
      </p:sp>
      <p:sp>
        <p:nvSpPr>
          <p:cNvPr id="45" name="Text 43"/>
          <p:cNvSpPr/>
          <p:nvPr/>
        </p:nvSpPr>
        <p:spPr>
          <a:xfrm>
            <a:off x="8284464" y="4105656"/>
            <a:ext cx="3008376" cy="475488"/>
          </a:xfrm>
          <a:prstGeom prst="rect">
            <a:avLst/>
          </a:prstGeom>
          <a:noFill/>
          <a:ln/>
        </p:spPr>
        <p:txBody>
          <a:bodyPr wrap="square" rtlCol="0" anchor="ctr"/>
          <a:lstStyle/>
          <a:p>
            <a:pPr indent="0" marL="0">
              <a:lnSpc>
                <a:spcPts val="1100"/>
              </a:lnSpc>
              <a:buNone/>
            </a:pPr>
            <a:r>
              <a:rPr lang="en-US" sz="850" dirty="0">
                <a:solidFill>
                  <a:srgbClr val="334155"/>
                </a:solidFill>
                <a:latin typeface="Arial" pitchFamily="34" charset="0"/>
                <a:ea typeface="Arial" pitchFamily="34" charset="-122"/>
                <a:cs typeface="Arial" pitchFamily="34" charset="-120"/>
              </a:rPr>
              <a:t>•  Masuknya investasi swasta &amp; penyerapan 9.000 tenaga kerja</a:t>
            </a:r>
            <a:endParaRPr lang="en-US" sz="850" dirty="0"/>
          </a:p>
        </p:txBody>
      </p:sp>
      <p:sp>
        <p:nvSpPr>
          <p:cNvPr id="46" name="Shape 44"/>
          <p:cNvSpPr/>
          <p:nvPr/>
        </p:nvSpPr>
        <p:spPr>
          <a:xfrm>
            <a:off x="8284464" y="4800600"/>
            <a:ext cx="3008376" cy="347472"/>
          </a:xfrm>
          <a:prstGeom prst="rect">
            <a:avLst/>
          </a:prstGeom>
          <a:solidFill>
            <a:srgbClr val="F1F5F9"/>
          </a:solidFill>
          <a:ln w="10160">
            <a:solidFill>
              <a:srgbClr val="059669"/>
            </a:solidFill>
            <a:prstDash val="solid"/>
          </a:ln>
        </p:spPr>
      </p:sp>
      <p:sp>
        <p:nvSpPr>
          <p:cNvPr id="47" name="Text 45"/>
          <p:cNvSpPr/>
          <p:nvPr/>
        </p:nvSpPr>
        <p:spPr>
          <a:xfrm>
            <a:off x="8284464" y="4800600"/>
            <a:ext cx="3008376" cy="347472"/>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IMPACT: Lapangan Kerja, Daya Saing, &amp; PAD Mandiri</a:t>
            </a:r>
            <a:endParaRPr lang="en-US" sz="800" dirty="0"/>
          </a:p>
        </p:txBody>
      </p:sp>
      <p:sp>
        <p:nvSpPr>
          <p:cNvPr id="48" name="Shape 46"/>
          <p:cNvSpPr/>
          <p:nvPr/>
        </p:nvSpPr>
        <p:spPr>
          <a:xfrm>
            <a:off x="731520" y="5486400"/>
            <a:ext cx="10728655" cy="777240"/>
          </a:xfrm>
          <a:prstGeom prst="rect">
            <a:avLst/>
          </a:prstGeom>
          <a:solidFill>
            <a:srgbClr val="F8FAFC"/>
          </a:solidFill>
          <a:ln w="10160">
            <a:solidFill>
              <a:srgbClr val="CBD5E1"/>
            </a:solidFill>
            <a:prstDash val="solid"/>
          </a:ln>
        </p:spPr>
      </p:sp>
      <p:sp>
        <p:nvSpPr>
          <p:cNvPr id="49" name="Text 47"/>
          <p:cNvSpPr/>
          <p:nvPr/>
        </p:nvSpPr>
        <p:spPr>
          <a:xfrm>
            <a:off x="914400" y="5559552"/>
            <a:ext cx="10362895" cy="219456"/>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LANDASAN HUKUM TATA KELOLA PEMKOT SURAKARTA:</a:t>
            </a:r>
            <a:endParaRPr lang="en-US" sz="850" dirty="0"/>
          </a:p>
        </p:txBody>
      </p:sp>
      <p:sp>
        <p:nvSpPr>
          <p:cNvPr id="50" name="Text 48"/>
          <p:cNvSpPr/>
          <p:nvPr/>
        </p:nvSpPr>
        <p:spPr>
          <a:xfrm>
            <a:off x="914400" y="5779008"/>
            <a:ext cx="10362895" cy="420624"/>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Perwali Surakarta No. 15 Tahun 2022: Kedudukan UPTD KST Solo Technopark sebagai unit pelaksana teknis operasional di bawah naungan BRIDA.</a:t>
            </a:r>
            <a:endParaRPr lang="en-US" sz="800" dirty="0"/>
          </a:p>
          <a:p>
            <a:pPr indent="0" marL="0">
              <a:lnSpc>
                <a:spcPts val="1100"/>
              </a:lnSpc>
              <a:buNone/>
            </a:pPr>
            <a:r>
              <a:rPr lang="en-US" sz="800" dirty="0">
                <a:solidFill>
                  <a:srgbClr val="334155"/>
                </a:solidFill>
                <a:latin typeface="Arial" pitchFamily="34" charset="0"/>
                <a:ea typeface="Arial" pitchFamily="34" charset="-122"/>
                <a:cs typeface="Arial" pitchFamily="34" charset="-120"/>
              </a:rPr>
              <a:t>• Perwali Surakarta No. 38 Tahun 2022: Pola Tata Kelola BLUD UPTD KST Solo Technopark yang memberikan fleksibilitas bisnis sehat &amp; akuntabel.</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LANDASAN REGULASI &amp; TATA KELOLA</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03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FONDASI HUKUM YANG KOKOH: MANDAT &amp; FLEKSIBILITAS BLUD</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Tiga Pilar Regulasi yang Memberi Kewenangan, Fleksibilitas Bisnis Sehat, dan Arah Strategis KST</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3337560" cy="3886200"/>
          </a:xfrm>
          <a:prstGeom prst="rect">
            <a:avLst/>
          </a:prstGeom>
          <a:solidFill>
            <a:srgbClr val="FFFFFF"/>
          </a:solidFill>
          <a:ln w="10160">
            <a:solidFill>
              <a:srgbClr val="CBD5E1"/>
            </a:solidFill>
            <a:prstDash val="solid"/>
          </a:ln>
        </p:spPr>
      </p:sp>
      <p:sp>
        <p:nvSpPr>
          <p:cNvPr id="11" name="Shape 9"/>
          <p:cNvSpPr/>
          <p:nvPr/>
        </p:nvSpPr>
        <p:spPr>
          <a:xfrm>
            <a:off x="731520" y="1417320"/>
            <a:ext cx="3337560" cy="54864"/>
          </a:xfrm>
          <a:prstGeom prst="rect">
            <a:avLst/>
          </a:prstGeom>
          <a:solidFill>
            <a:srgbClr val="1E40AF"/>
          </a:solidFill>
          <a:ln w="12700">
            <a:solidFill>
              <a:srgbClr val="1E40AF"/>
            </a:solidFill>
            <a:prstDash val="solid"/>
          </a:ln>
        </p:spPr>
      </p:sp>
      <p:sp>
        <p:nvSpPr>
          <p:cNvPr id="12" name="Text 10"/>
          <p:cNvSpPr/>
          <p:nvPr/>
        </p:nvSpPr>
        <p:spPr>
          <a:xfrm>
            <a:off x="896112" y="1554480"/>
            <a:ext cx="3008376"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PERMENDAGRI 79/2018</a:t>
            </a:r>
            <a:endParaRPr lang="en-US" sz="1100" dirty="0"/>
          </a:p>
        </p:txBody>
      </p:sp>
      <p:sp>
        <p:nvSpPr>
          <p:cNvPr id="13" name="Text 11"/>
          <p:cNvSpPr/>
          <p:nvPr/>
        </p:nvSpPr>
        <p:spPr>
          <a:xfrm>
            <a:off x="896112" y="1810512"/>
            <a:ext cx="3008376"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Tata Kelola Keuangan BLUD</a:t>
            </a:r>
            <a:endParaRPr lang="en-US" sz="850" dirty="0"/>
          </a:p>
        </p:txBody>
      </p:sp>
      <p:sp>
        <p:nvSpPr>
          <p:cNvPr id="14" name="Shape 12"/>
          <p:cNvSpPr/>
          <p:nvPr/>
        </p:nvSpPr>
        <p:spPr>
          <a:xfrm>
            <a:off x="896112" y="2066544"/>
            <a:ext cx="3008376" cy="1280160"/>
          </a:xfrm>
          <a:prstGeom prst="rect">
            <a:avLst/>
          </a:prstGeom>
          <a:solidFill>
            <a:srgbClr val="F8FAFC"/>
          </a:solidFill>
          <a:ln w="10160">
            <a:solidFill>
              <a:srgbClr val="E2E8F0"/>
            </a:solidFill>
            <a:prstDash val="solid"/>
          </a:ln>
        </p:spPr>
      </p:sp>
      <p:sp>
        <p:nvSpPr>
          <p:cNvPr id="15" name="Text 13"/>
          <p:cNvSpPr/>
          <p:nvPr/>
        </p:nvSpPr>
        <p:spPr>
          <a:xfrm>
            <a:off x="950976" y="2103120"/>
            <a:ext cx="2898648" cy="1207008"/>
          </a:xfrm>
          <a:prstGeom prst="rect">
            <a:avLst/>
          </a:prstGeom>
          <a:noFill/>
          <a:ln/>
        </p:spPr>
        <p:txBody>
          <a:bodyPr wrap="square" rtlCol="0" anchor="ctr"/>
          <a:lstStyle/>
          <a:p>
            <a:pPr indent="0" marL="0">
              <a:lnSpc>
                <a:spcPts val="1100"/>
              </a:lnSpc>
              <a:buNone/>
            </a:pPr>
            <a:r>
              <a:rPr lang="en-US" sz="800" i="1" dirty="0">
                <a:solidFill>
                  <a:srgbClr val="334155"/>
                </a:solidFill>
                <a:latin typeface="Arial" pitchFamily="34" charset="0"/>
                <a:ea typeface="Arial" pitchFamily="34" charset="-122"/>
                <a:cs typeface="Arial" pitchFamily="34" charset="-120"/>
              </a:rPr>
              <a:t>"Fleksibilitas BLUD adalah keleluasaan dalam pola pengelolaan keuangan dengan menerapkan praktik bisnis yang sehat untuk meningkatkan layanan kepada masyarakat tanpa mencari keuntungan semata."</a:t>
            </a:r>
            <a:endParaRPr lang="en-US" sz="800" dirty="0"/>
          </a:p>
        </p:txBody>
      </p:sp>
      <p:sp>
        <p:nvSpPr>
          <p:cNvPr id="16" name="Text 14"/>
          <p:cNvSpPr/>
          <p:nvPr/>
        </p:nvSpPr>
        <p:spPr>
          <a:xfrm>
            <a:off x="896112" y="3456432"/>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Keleluasaan bermitra dengan swasta tanpa birokrasi kaku APBD</a:t>
            </a:r>
            <a:endParaRPr lang="en-US" sz="820" dirty="0"/>
          </a:p>
        </p:txBody>
      </p:sp>
      <p:sp>
        <p:nvSpPr>
          <p:cNvPr id="17" name="Text 15"/>
          <p:cNvSpPr/>
          <p:nvPr/>
        </p:nvSpPr>
        <p:spPr>
          <a:xfrm>
            <a:off x="896112" y="4023360"/>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Mengelola dan memutar pendapatan fungsional jasa secara mandiri</a:t>
            </a:r>
            <a:endParaRPr lang="en-US" sz="820" dirty="0"/>
          </a:p>
        </p:txBody>
      </p:sp>
      <p:sp>
        <p:nvSpPr>
          <p:cNvPr id="18" name="Text 16"/>
          <p:cNvSpPr/>
          <p:nvPr/>
        </p:nvSpPr>
        <p:spPr>
          <a:xfrm>
            <a:off x="896112" y="4590288"/>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Rekrutmen tenaga ahli &amp; instruktur profesional sesuai kebutuhan pasar</a:t>
            </a:r>
            <a:endParaRPr lang="en-US" sz="820" dirty="0"/>
          </a:p>
        </p:txBody>
      </p:sp>
      <p:sp>
        <p:nvSpPr>
          <p:cNvPr id="19" name="Shape 17"/>
          <p:cNvSpPr/>
          <p:nvPr/>
        </p:nvSpPr>
        <p:spPr>
          <a:xfrm>
            <a:off x="4425696" y="1417320"/>
            <a:ext cx="3337560" cy="3886200"/>
          </a:xfrm>
          <a:prstGeom prst="rect">
            <a:avLst/>
          </a:prstGeom>
          <a:solidFill>
            <a:srgbClr val="FFFFFF"/>
          </a:solidFill>
          <a:ln w="10160">
            <a:solidFill>
              <a:srgbClr val="CBD5E1"/>
            </a:solidFill>
            <a:prstDash val="solid"/>
          </a:ln>
        </p:spPr>
      </p:sp>
      <p:sp>
        <p:nvSpPr>
          <p:cNvPr id="20" name="Shape 18"/>
          <p:cNvSpPr/>
          <p:nvPr/>
        </p:nvSpPr>
        <p:spPr>
          <a:xfrm>
            <a:off x="4425696" y="1417320"/>
            <a:ext cx="3337560" cy="54864"/>
          </a:xfrm>
          <a:prstGeom prst="rect">
            <a:avLst/>
          </a:prstGeom>
          <a:solidFill>
            <a:srgbClr val="D97706"/>
          </a:solidFill>
          <a:ln w="12700">
            <a:solidFill>
              <a:srgbClr val="D97706"/>
            </a:solidFill>
            <a:prstDash val="solid"/>
          </a:ln>
        </p:spPr>
      </p:sp>
      <p:sp>
        <p:nvSpPr>
          <p:cNvPr id="21" name="Text 19"/>
          <p:cNvSpPr/>
          <p:nvPr/>
        </p:nvSpPr>
        <p:spPr>
          <a:xfrm>
            <a:off x="4590288" y="1554480"/>
            <a:ext cx="3008376"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PERPRES 106/2017</a:t>
            </a:r>
            <a:endParaRPr lang="en-US" sz="1100" dirty="0"/>
          </a:p>
        </p:txBody>
      </p:sp>
      <p:sp>
        <p:nvSpPr>
          <p:cNvPr id="22" name="Text 20"/>
          <p:cNvSpPr/>
          <p:nvPr/>
        </p:nvSpPr>
        <p:spPr>
          <a:xfrm>
            <a:off x="4590288" y="1810512"/>
            <a:ext cx="3008376"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Kawasan Sains &amp; Teknologi (KST)</a:t>
            </a:r>
            <a:endParaRPr lang="en-US" sz="850" dirty="0"/>
          </a:p>
        </p:txBody>
      </p:sp>
      <p:sp>
        <p:nvSpPr>
          <p:cNvPr id="23" name="Shape 21"/>
          <p:cNvSpPr/>
          <p:nvPr/>
        </p:nvSpPr>
        <p:spPr>
          <a:xfrm>
            <a:off x="4590288" y="2066544"/>
            <a:ext cx="3008376" cy="1280160"/>
          </a:xfrm>
          <a:prstGeom prst="rect">
            <a:avLst/>
          </a:prstGeom>
          <a:solidFill>
            <a:srgbClr val="F8FAFC"/>
          </a:solidFill>
          <a:ln w="10160">
            <a:solidFill>
              <a:srgbClr val="E2E8F0"/>
            </a:solidFill>
            <a:prstDash val="solid"/>
          </a:ln>
        </p:spPr>
      </p:sp>
      <p:sp>
        <p:nvSpPr>
          <p:cNvPr id="24" name="Text 22"/>
          <p:cNvSpPr/>
          <p:nvPr/>
        </p:nvSpPr>
        <p:spPr>
          <a:xfrm>
            <a:off x="4645152" y="2103120"/>
            <a:ext cx="2898648" cy="1207008"/>
          </a:xfrm>
          <a:prstGeom prst="rect">
            <a:avLst/>
          </a:prstGeom>
          <a:noFill/>
          <a:ln/>
        </p:spPr>
        <p:txBody>
          <a:bodyPr wrap="square" rtlCol="0" anchor="ctr"/>
          <a:lstStyle/>
          <a:p>
            <a:pPr indent="0" marL="0">
              <a:lnSpc>
                <a:spcPts val="1100"/>
              </a:lnSpc>
              <a:buNone/>
            </a:pPr>
            <a:r>
              <a:rPr lang="en-US" sz="800" i="1" dirty="0">
                <a:solidFill>
                  <a:srgbClr val="334155"/>
                </a:solidFill>
                <a:latin typeface="Arial" pitchFamily="34" charset="0"/>
                <a:ea typeface="Arial" pitchFamily="34" charset="-122"/>
                <a:cs typeface="Arial" pitchFamily="34" charset="-120"/>
              </a:rPr>
              <a:t>"KST berfungsi sebagai wahana kerja sama riset berkelanjutan antara Pemerintah, PT, dan Industri, wajib menyediakan 4 layanan: Teknis, Teknologi, Inkubasi, &amp; Pendukung."</a:t>
            </a:r>
            <a:endParaRPr lang="en-US" sz="800" dirty="0"/>
          </a:p>
        </p:txBody>
      </p:sp>
      <p:sp>
        <p:nvSpPr>
          <p:cNvPr id="25" name="Text 23"/>
          <p:cNvSpPr/>
          <p:nvPr/>
        </p:nvSpPr>
        <p:spPr>
          <a:xfrm>
            <a:off x="4590288" y="3456432"/>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Mandat nasional fasilitasi hilirisasi &amp; spin-off perusahaan riset</a:t>
            </a:r>
            <a:endParaRPr lang="en-US" sz="820" dirty="0"/>
          </a:p>
        </p:txBody>
      </p:sp>
      <p:sp>
        <p:nvSpPr>
          <p:cNvPr id="26" name="Text 24"/>
          <p:cNvSpPr/>
          <p:nvPr/>
        </p:nvSpPr>
        <p:spPr>
          <a:xfrm>
            <a:off x="4590288" y="4023360"/>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Kewajiban menyediakan 4 pilar layanan iptek terintegrasi</a:t>
            </a:r>
            <a:endParaRPr lang="en-US" sz="820" dirty="0"/>
          </a:p>
        </p:txBody>
      </p:sp>
      <p:sp>
        <p:nvSpPr>
          <p:cNvPr id="27" name="Text 25"/>
          <p:cNvSpPr/>
          <p:nvPr/>
        </p:nvSpPr>
        <p:spPr>
          <a:xfrm>
            <a:off x="4590288" y="4590288"/>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Landasan kolaborasi hexahelix multi-stakeholder formal</a:t>
            </a:r>
            <a:endParaRPr lang="en-US" sz="820" dirty="0"/>
          </a:p>
        </p:txBody>
      </p:sp>
      <p:sp>
        <p:nvSpPr>
          <p:cNvPr id="28" name="Shape 26"/>
          <p:cNvSpPr/>
          <p:nvPr/>
        </p:nvSpPr>
        <p:spPr>
          <a:xfrm>
            <a:off x="8119872" y="1417320"/>
            <a:ext cx="3337560" cy="3886200"/>
          </a:xfrm>
          <a:prstGeom prst="rect">
            <a:avLst/>
          </a:prstGeom>
          <a:solidFill>
            <a:srgbClr val="FFFFFF"/>
          </a:solidFill>
          <a:ln w="10160">
            <a:solidFill>
              <a:srgbClr val="CBD5E1"/>
            </a:solidFill>
            <a:prstDash val="solid"/>
          </a:ln>
        </p:spPr>
      </p:sp>
      <p:sp>
        <p:nvSpPr>
          <p:cNvPr id="29" name="Shape 27"/>
          <p:cNvSpPr/>
          <p:nvPr/>
        </p:nvSpPr>
        <p:spPr>
          <a:xfrm>
            <a:off x="8119872" y="1417320"/>
            <a:ext cx="3337560" cy="54864"/>
          </a:xfrm>
          <a:prstGeom prst="rect">
            <a:avLst/>
          </a:prstGeom>
          <a:solidFill>
            <a:srgbClr val="059669"/>
          </a:solidFill>
          <a:ln w="12700">
            <a:solidFill>
              <a:srgbClr val="059669"/>
            </a:solidFill>
            <a:prstDash val="solid"/>
          </a:ln>
        </p:spPr>
      </p:sp>
      <p:sp>
        <p:nvSpPr>
          <p:cNvPr id="30" name="Text 28"/>
          <p:cNvSpPr/>
          <p:nvPr/>
        </p:nvSpPr>
        <p:spPr>
          <a:xfrm>
            <a:off x="8284464" y="1554480"/>
            <a:ext cx="3008376" cy="256032"/>
          </a:xfrm>
          <a:prstGeom prst="rect">
            <a:avLst/>
          </a:prstGeom>
          <a:noFill/>
          <a:ln/>
        </p:spPr>
        <p:txBody>
          <a:bodyPr wrap="square" rtlCol="0" anchor="ctr"/>
          <a:lstStyle/>
          <a:p>
            <a:pPr indent="0" marL="0">
              <a:buNone/>
            </a:pPr>
            <a:r>
              <a:rPr lang="en-US" sz="1100" b="1" dirty="0">
                <a:solidFill>
                  <a:srgbClr val="0F172A"/>
                </a:solidFill>
                <a:latin typeface="Arial" pitchFamily="34" charset="0"/>
                <a:ea typeface="Arial" pitchFamily="34" charset="-122"/>
                <a:cs typeface="Arial" pitchFamily="34" charset="-120"/>
              </a:rPr>
              <a:t>PERWALI 15 &amp; 38/2022</a:t>
            </a:r>
            <a:endParaRPr lang="en-US" sz="1100" dirty="0"/>
          </a:p>
        </p:txBody>
      </p:sp>
      <p:sp>
        <p:nvSpPr>
          <p:cNvPr id="31" name="Text 29"/>
          <p:cNvSpPr/>
          <p:nvPr/>
        </p:nvSpPr>
        <p:spPr>
          <a:xfrm>
            <a:off x="8284464" y="1810512"/>
            <a:ext cx="3008376" cy="201168"/>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Struktur UPTD &amp; Pola Tata Kelola</a:t>
            </a:r>
            <a:endParaRPr lang="en-US" sz="850" dirty="0"/>
          </a:p>
        </p:txBody>
      </p:sp>
      <p:sp>
        <p:nvSpPr>
          <p:cNvPr id="32" name="Shape 30"/>
          <p:cNvSpPr/>
          <p:nvPr/>
        </p:nvSpPr>
        <p:spPr>
          <a:xfrm>
            <a:off x="8284464" y="2066544"/>
            <a:ext cx="3008376" cy="1280160"/>
          </a:xfrm>
          <a:prstGeom prst="rect">
            <a:avLst/>
          </a:prstGeom>
          <a:solidFill>
            <a:srgbClr val="F8FAFC"/>
          </a:solidFill>
          <a:ln w="10160">
            <a:solidFill>
              <a:srgbClr val="E2E8F0"/>
            </a:solidFill>
            <a:prstDash val="solid"/>
          </a:ln>
        </p:spPr>
      </p:sp>
      <p:sp>
        <p:nvSpPr>
          <p:cNvPr id="33" name="Text 31"/>
          <p:cNvSpPr/>
          <p:nvPr/>
        </p:nvSpPr>
        <p:spPr>
          <a:xfrm>
            <a:off x="8339328" y="2103120"/>
            <a:ext cx="2898648" cy="1207008"/>
          </a:xfrm>
          <a:prstGeom prst="rect">
            <a:avLst/>
          </a:prstGeom>
          <a:noFill/>
          <a:ln/>
        </p:spPr>
        <p:txBody>
          <a:bodyPr wrap="square" rtlCol="0" anchor="ctr"/>
          <a:lstStyle/>
          <a:p>
            <a:pPr indent="0" marL="0">
              <a:lnSpc>
                <a:spcPts val="1100"/>
              </a:lnSpc>
              <a:buNone/>
            </a:pPr>
            <a:r>
              <a:rPr lang="en-US" sz="800" i="1" dirty="0">
                <a:solidFill>
                  <a:srgbClr val="334155"/>
                </a:solidFill>
                <a:latin typeface="Arial" pitchFamily="34" charset="0"/>
                <a:ea typeface="Arial" pitchFamily="34" charset="-122"/>
                <a:cs typeface="Arial" pitchFamily="34" charset="-120"/>
              </a:rPr>
              <a:t>"Menetapkan struktur UPTD KST Solo Technopark dalam naungan BRIDA Kota Surakarta dengan pola tata kelola BLUD profesional berorientasi layanan publik."</a:t>
            </a:r>
            <a:endParaRPr lang="en-US" sz="800" dirty="0"/>
          </a:p>
        </p:txBody>
      </p:sp>
      <p:sp>
        <p:nvSpPr>
          <p:cNvPr id="34" name="Text 32"/>
          <p:cNvSpPr/>
          <p:nvPr/>
        </p:nvSpPr>
        <p:spPr>
          <a:xfrm>
            <a:off x="8284464" y="3456432"/>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Payung hukum operasional tingkat kota yang sah dan mengikat</a:t>
            </a:r>
            <a:endParaRPr lang="en-US" sz="820" dirty="0"/>
          </a:p>
        </p:txBody>
      </p:sp>
      <p:sp>
        <p:nvSpPr>
          <p:cNvPr id="35" name="Text 33"/>
          <p:cNvSpPr/>
          <p:nvPr/>
        </p:nvSpPr>
        <p:spPr>
          <a:xfrm>
            <a:off x="8284464" y="4023360"/>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Pembagian peran teknis yang presisi antara BRIDA dan STP</a:t>
            </a:r>
            <a:endParaRPr lang="en-US" sz="820" dirty="0"/>
          </a:p>
        </p:txBody>
      </p:sp>
      <p:sp>
        <p:nvSpPr>
          <p:cNvPr id="36" name="Text 34"/>
          <p:cNvSpPr/>
          <p:nvPr/>
        </p:nvSpPr>
        <p:spPr>
          <a:xfrm>
            <a:off x="8284464" y="4590288"/>
            <a:ext cx="3008376" cy="512064"/>
          </a:xfrm>
          <a:prstGeom prst="rect">
            <a:avLst/>
          </a:prstGeom>
          <a:noFill/>
          <a:ln/>
        </p:spPr>
        <p:txBody>
          <a:bodyPr wrap="square" rtlCol="0" anchor="ctr"/>
          <a:lstStyle/>
          <a:p>
            <a:pPr indent="0" marL="0">
              <a:lnSpc>
                <a:spcPts val="1100"/>
              </a:lnSpc>
              <a:buNone/>
            </a:pPr>
            <a:r>
              <a:rPr lang="en-US" sz="820" dirty="0">
                <a:solidFill>
                  <a:srgbClr val="0F172A"/>
                </a:solidFill>
                <a:latin typeface="Arial" pitchFamily="34" charset="0"/>
                <a:ea typeface="Arial" pitchFamily="34" charset="-122"/>
                <a:cs typeface="Arial" pitchFamily="34" charset="-120"/>
              </a:rPr>
              <a:t>✔  Dasar legalitas pemanfaatan aset kawasan &amp; kerjasama industri</a:t>
            </a:r>
            <a:endParaRPr lang="en-US" sz="820" dirty="0"/>
          </a:p>
        </p:txBody>
      </p:sp>
      <p:sp>
        <p:nvSpPr>
          <p:cNvPr id="37" name="Shape 35"/>
          <p:cNvSpPr/>
          <p:nvPr/>
        </p:nvSpPr>
        <p:spPr>
          <a:xfrm>
            <a:off x="731520" y="5486400"/>
            <a:ext cx="10728655" cy="777240"/>
          </a:xfrm>
          <a:prstGeom prst="rect">
            <a:avLst/>
          </a:prstGeom>
          <a:solidFill>
            <a:srgbClr val="0F2942"/>
          </a:solidFill>
          <a:ln w="10160">
            <a:solidFill>
              <a:srgbClr val="1E40AF"/>
            </a:solidFill>
            <a:prstDash val="solid"/>
          </a:ln>
        </p:spPr>
      </p:sp>
      <p:sp>
        <p:nvSpPr>
          <p:cNvPr id="38" name="Text 36"/>
          <p:cNvSpPr/>
          <p:nvPr/>
        </p:nvSpPr>
        <p:spPr>
          <a:xfrm>
            <a:off x="914400" y="5559552"/>
            <a:ext cx="10362895" cy="62179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KESIMPULAN YURIDIS: Solo Technopark telah memiliki legitimasi hukum lengkap dari tingkat nasional (Perpres &amp; Permendagri) hingga regulasi kepala daerah (Perwali) untuk bermanuver cepat, profesional, dan akuntabel.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MANDAT LAYANAN PERPRES 106/2017</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04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EMPAT PILAR LAYANAN TERINTEGRASI: MEMENUHI MANDAT KST NASIONAL</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Portofolio Layanan Terintegrasi yang Menjawab Kebutuhan Industri Spesialis &amp; Masyarakat Kota Surakarta</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5230368" cy="2194560"/>
          </a:xfrm>
          <a:prstGeom prst="rect">
            <a:avLst/>
          </a:prstGeom>
          <a:solidFill>
            <a:srgbClr val="FFFFFF"/>
          </a:solidFill>
          <a:ln w="10160">
            <a:solidFill>
              <a:srgbClr val="CBD5E1"/>
            </a:solidFill>
            <a:prstDash val="solid"/>
          </a:ln>
        </p:spPr>
      </p:sp>
      <p:sp>
        <p:nvSpPr>
          <p:cNvPr id="11" name="Shape 9"/>
          <p:cNvSpPr/>
          <p:nvPr/>
        </p:nvSpPr>
        <p:spPr>
          <a:xfrm>
            <a:off x="731520" y="1417320"/>
            <a:ext cx="5230368" cy="54864"/>
          </a:xfrm>
          <a:prstGeom prst="rect">
            <a:avLst/>
          </a:prstGeom>
          <a:solidFill>
            <a:srgbClr val="0284C7"/>
          </a:solidFill>
          <a:ln w="12700">
            <a:solidFill>
              <a:srgbClr val="0284C7"/>
            </a:solidFill>
            <a:prstDash val="solid"/>
          </a:ln>
        </p:spPr>
      </p:sp>
      <p:sp>
        <p:nvSpPr>
          <p:cNvPr id="12" name="Text 10"/>
          <p:cNvSpPr/>
          <p:nvPr/>
        </p:nvSpPr>
        <p:spPr>
          <a:xfrm>
            <a:off x="896112" y="1545336"/>
            <a:ext cx="4901184" cy="256032"/>
          </a:xfrm>
          <a:prstGeom prst="rect">
            <a:avLst/>
          </a:prstGeom>
          <a:noFill/>
          <a:ln/>
        </p:spPr>
        <p:txBody>
          <a:bodyPr wrap="square" rtlCol="0" anchor="ctr"/>
          <a:lstStyle/>
          <a:p>
            <a:pPr indent="0" marL="0">
              <a:buNone/>
            </a:pPr>
            <a:r>
              <a:rPr lang="en-US" sz="920" b="1" dirty="0">
                <a:solidFill>
                  <a:srgbClr val="0284C7"/>
                </a:solidFill>
                <a:latin typeface="Arial" pitchFamily="34" charset="0"/>
                <a:ea typeface="Arial" pitchFamily="34" charset="-122"/>
                <a:cs typeface="Arial" pitchFamily="34" charset="-120"/>
              </a:rPr>
              <a:t>PILAR 1: LAYANAN TEKNIS (DIKLAT VOKASI INDUSTRI)</a:t>
            </a:r>
            <a:endParaRPr lang="en-US" sz="920" dirty="0"/>
          </a:p>
        </p:txBody>
      </p:sp>
      <p:sp>
        <p:nvSpPr>
          <p:cNvPr id="13" name="Text 11"/>
          <p:cNvSpPr/>
          <p:nvPr/>
        </p:nvSpPr>
        <p:spPr>
          <a:xfrm>
            <a:off x="896112" y="185623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Mekanik, Otomasi &amp; Desain Manufaktur Presisi</a:t>
            </a:r>
            <a:endParaRPr lang="en-US" sz="800" dirty="0"/>
          </a:p>
        </p:txBody>
      </p:sp>
      <p:sp>
        <p:nvSpPr>
          <p:cNvPr id="14" name="Text 12"/>
          <p:cNvSpPr/>
          <p:nvPr/>
        </p:nvSpPr>
        <p:spPr>
          <a:xfrm>
            <a:off x="896112" y="238658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Welding Intensif (Pengelasan Konstruksi &amp; Pipa)</a:t>
            </a:r>
            <a:endParaRPr lang="en-US" sz="800" dirty="0"/>
          </a:p>
        </p:txBody>
      </p:sp>
      <p:sp>
        <p:nvSpPr>
          <p:cNvPr id="15" name="Text 13"/>
          <p:cNvSpPr/>
          <p:nvPr/>
        </p:nvSpPr>
        <p:spPr>
          <a:xfrm>
            <a:off x="896112" y="291693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OGSCI: Oil, Gas, Coal, Shipbuilding &amp; Infra Training</a:t>
            </a:r>
            <a:endParaRPr lang="en-US" sz="800" dirty="0"/>
          </a:p>
        </p:txBody>
      </p:sp>
      <p:sp>
        <p:nvSpPr>
          <p:cNvPr id="16" name="Text 14"/>
          <p:cNvSpPr/>
          <p:nvPr/>
        </p:nvSpPr>
        <p:spPr>
          <a:xfrm>
            <a:off x="3328416" y="185623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Underwater Wet Welding (Keahlian Langka Nasional)</a:t>
            </a:r>
            <a:endParaRPr lang="en-US" sz="800" dirty="0"/>
          </a:p>
        </p:txBody>
      </p:sp>
      <p:sp>
        <p:nvSpPr>
          <p:cNvPr id="17" name="Text 15"/>
          <p:cNvSpPr/>
          <p:nvPr/>
        </p:nvSpPr>
        <p:spPr>
          <a:xfrm>
            <a:off x="3328416" y="238658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Teknologi Kendaraan Listrik (EV Conversion Lab)</a:t>
            </a:r>
            <a:endParaRPr lang="en-US" sz="800" dirty="0"/>
          </a:p>
        </p:txBody>
      </p:sp>
      <p:sp>
        <p:nvSpPr>
          <p:cNvPr id="18" name="Text 16"/>
          <p:cNvSpPr/>
          <p:nvPr/>
        </p:nvSpPr>
        <p:spPr>
          <a:xfrm>
            <a:off x="3328416" y="291693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Cyber Security &amp; Artificial Intelligence Practitioner</a:t>
            </a:r>
            <a:endParaRPr lang="en-US" sz="800" dirty="0"/>
          </a:p>
        </p:txBody>
      </p:sp>
      <p:sp>
        <p:nvSpPr>
          <p:cNvPr id="19" name="Shape 17"/>
          <p:cNvSpPr/>
          <p:nvPr/>
        </p:nvSpPr>
        <p:spPr>
          <a:xfrm>
            <a:off x="6227064" y="1417320"/>
            <a:ext cx="5230368" cy="2194560"/>
          </a:xfrm>
          <a:prstGeom prst="rect">
            <a:avLst/>
          </a:prstGeom>
          <a:solidFill>
            <a:srgbClr val="FFFFFF"/>
          </a:solidFill>
          <a:ln w="10160">
            <a:solidFill>
              <a:srgbClr val="CBD5E1"/>
            </a:solidFill>
            <a:prstDash val="solid"/>
          </a:ln>
        </p:spPr>
      </p:sp>
      <p:sp>
        <p:nvSpPr>
          <p:cNvPr id="20" name="Shape 18"/>
          <p:cNvSpPr/>
          <p:nvPr/>
        </p:nvSpPr>
        <p:spPr>
          <a:xfrm>
            <a:off x="6227064" y="1417320"/>
            <a:ext cx="5230368" cy="54864"/>
          </a:xfrm>
          <a:prstGeom prst="rect">
            <a:avLst/>
          </a:prstGeom>
          <a:solidFill>
            <a:srgbClr val="D97706"/>
          </a:solidFill>
          <a:ln w="12700">
            <a:solidFill>
              <a:srgbClr val="D97706"/>
            </a:solidFill>
            <a:prstDash val="solid"/>
          </a:ln>
        </p:spPr>
      </p:sp>
      <p:sp>
        <p:nvSpPr>
          <p:cNvPr id="21" name="Text 19"/>
          <p:cNvSpPr/>
          <p:nvPr/>
        </p:nvSpPr>
        <p:spPr>
          <a:xfrm>
            <a:off x="6391656" y="1545336"/>
            <a:ext cx="4901184" cy="256032"/>
          </a:xfrm>
          <a:prstGeom prst="rect">
            <a:avLst/>
          </a:prstGeom>
          <a:noFill/>
          <a:ln/>
        </p:spPr>
        <p:txBody>
          <a:bodyPr wrap="square" rtlCol="0" anchor="ctr"/>
          <a:lstStyle/>
          <a:p>
            <a:pPr indent="0" marL="0">
              <a:buNone/>
            </a:pPr>
            <a:r>
              <a:rPr lang="en-US" sz="920" b="1" dirty="0">
                <a:solidFill>
                  <a:srgbClr val="D97706"/>
                </a:solidFill>
                <a:latin typeface="Arial" pitchFamily="34" charset="0"/>
                <a:ea typeface="Arial" pitchFamily="34" charset="-122"/>
                <a:cs typeface="Arial" pitchFamily="34" charset="-120"/>
              </a:rPr>
              <a:t>PILAR 2: PENGEMBANGAN TEKNOLOGI (REKAYASA MANUFAKTUR)</a:t>
            </a:r>
            <a:endParaRPr lang="en-US" sz="920" dirty="0"/>
          </a:p>
        </p:txBody>
      </p:sp>
      <p:sp>
        <p:nvSpPr>
          <p:cNvPr id="22" name="Text 20"/>
          <p:cNvSpPr/>
          <p:nvPr/>
        </p:nvSpPr>
        <p:spPr>
          <a:xfrm>
            <a:off x="6391656" y="185623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Jasa Layanan Rekayasa Industri &amp; Permesinan Presisi</a:t>
            </a:r>
            <a:endParaRPr lang="en-US" sz="800" dirty="0"/>
          </a:p>
        </p:txBody>
      </p:sp>
      <p:sp>
        <p:nvSpPr>
          <p:cNvPr id="23" name="Text 21"/>
          <p:cNvSpPr/>
          <p:nvPr/>
        </p:nvSpPr>
        <p:spPr>
          <a:xfrm>
            <a:off x="6391656" y="238658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Produksi Komponen Presisi (Precision Parts Industri)</a:t>
            </a:r>
            <a:endParaRPr lang="en-US" sz="800" dirty="0"/>
          </a:p>
        </p:txBody>
      </p:sp>
      <p:sp>
        <p:nvSpPr>
          <p:cNvPr id="24" name="Text 22"/>
          <p:cNvSpPr/>
          <p:nvPr/>
        </p:nvSpPr>
        <p:spPr>
          <a:xfrm>
            <a:off x="6391656" y="291693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Pembuatan &amp; Uji Prototipe IKM/UKM Kota Surakarta</a:t>
            </a:r>
            <a:endParaRPr lang="en-US" sz="800" dirty="0"/>
          </a:p>
        </p:txBody>
      </p:sp>
      <p:sp>
        <p:nvSpPr>
          <p:cNvPr id="25" name="Text 23"/>
          <p:cNvSpPr/>
          <p:nvPr/>
        </p:nvSpPr>
        <p:spPr>
          <a:xfrm>
            <a:off x="8823960" y="185623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Non-Destructive Testing: Uji Penetrant Testing (NDT)</a:t>
            </a:r>
            <a:endParaRPr lang="en-US" sz="800" dirty="0"/>
          </a:p>
        </p:txBody>
      </p:sp>
      <p:sp>
        <p:nvSpPr>
          <p:cNvPr id="26" name="Text 24"/>
          <p:cNvSpPr/>
          <p:nvPr/>
        </p:nvSpPr>
        <p:spPr>
          <a:xfrm>
            <a:off x="8823960" y="238658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Konsultasi Laboratorium Terpadu &amp; Data Center</a:t>
            </a:r>
            <a:endParaRPr lang="en-US" sz="800" dirty="0"/>
          </a:p>
        </p:txBody>
      </p:sp>
      <p:sp>
        <p:nvSpPr>
          <p:cNvPr id="27" name="Text 25"/>
          <p:cNvSpPr/>
          <p:nvPr/>
        </p:nvSpPr>
        <p:spPr>
          <a:xfrm>
            <a:off x="8823960" y="291693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Standarisasi Mutu &amp; Sertifikasi TKDN / SNI Produk</a:t>
            </a:r>
            <a:endParaRPr lang="en-US" sz="800" dirty="0"/>
          </a:p>
        </p:txBody>
      </p:sp>
      <p:sp>
        <p:nvSpPr>
          <p:cNvPr id="28" name="Shape 26"/>
          <p:cNvSpPr/>
          <p:nvPr/>
        </p:nvSpPr>
        <p:spPr>
          <a:xfrm>
            <a:off x="731520" y="3749040"/>
            <a:ext cx="5230368" cy="2194560"/>
          </a:xfrm>
          <a:prstGeom prst="rect">
            <a:avLst/>
          </a:prstGeom>
          <a:solidFill>
            <a:srgbClr val="FFFFFF"/>
          </a:solidFill>
          <a:ln w="10160">
            <a:solidFill>
              <a:srgbClr val="CBD5E1"/>
            </a:solidFill>
            <a:prstDash val="solid"/>
          </a:ln>
        </p:spPr>
      </p:sp>
      <p:sp>
        <p:nvSpPr>
          <p:cNvPr id="29" name="Shape 27"/>
          <p:cNvSpPr/>
          <p:nvPr/>
        </p:nvSpPr>
        <p:spPr>
          <a:xfrm>
            <a:off x="731520" y="3749040"/>
            <a:ext cx="5230368" cy="54864"/>
          </a:xfrm>
          <a:prstGeom prst="rect">
            <a:avLst/>
          </a:prstGeom>
          <a:solidFill>
            <a:srgbClr val="059669"/>
          </a:solidFill>
          <a:ln w="12700">
            <a:solidFill>
              <a:srgbClr val="059669"/>
            </a:solidFill>
            <a:prstDash val="solid"/>
          </a:ln>
        </p:spPr>
      </p:sp>
      <p:sp>
        <p:nvSpPr>
          <p:cNvPr id="30" name="Text 28"/>
          <p:cNvSpPr/>
          <p:nvPr/>
        </p:nvSpPr>
        <p:spPr>
          <a:xfrm>
            <a:off x="896112" y="3877056"/>
            <a:ext cx="4901184" cy="256032"/>
          </a:xfrm>
          <a:prstGeom prst="rect">
            <a:avLst/>
          </a:prstGeom>
          <a:noFill/>
          <a:ln/>
        </p:spPr>
        <p:txBody>
          <a:bodyPr wrap="square" rtlCol="0" anchor="ctr"/>
          <a:lstStyle/>
          <a:p>
            <a:pPr indent="0" marL="0">
              <a:buNone/>
            </a:pPr>
            <a:r>
              <a:rPr lang="en-US" sz="920" b="1" dirty="0">
                <a:solidFill>
                  <a:srgbClr val="059669"/>
                </a:solidFill>
                <a:latin typeface="Arial" pitchFamily="34" charset="0"/>
                <a:ea typeface="Arial" pitchFamily="34" charset="-122"/>
                <a:cs typeface="Arial" pitchFamily="34" charset="-120"/>
              </a:rPr>
              <a:t>PILAR 3: LAYANAN INKUBASI (HILIRISASI KE PASAR)</a:t>
            </a:r>
            <a:endParaRPr lang="en-US" sz="920" dirty="0"/>
          </a:p>
        </p:txBody>
      </p:sp>
      <p:sp>
        <p:nvSpPr>
          <p:cNvPr id="31" name="Text 29"/>
          <p:cNvSpPr/>
          <p:nvPr/>
        </p:nvSpPr>
        <p:spPr>
          <a:xfrm>
            <a:off x="896112" y="418795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Pra-Inkubasi &amp; Inkubasi Bisnis Startup Berbasis Riset</a:t>
            </a:r>
            <a:endParaRPr lang="en-US" sz="800" dirty="0"/>
          </a:p>
        </p:txBody>
      </p:sp>
      <p:sp>
        <p:nvSpPr>
          <p:cNvPr id="32" name="Text 30"/>
          <p:cNvSpPr/>
          <p:nvPr/>
        </p:nvSpPr>
        <p:spPr>
          <a:xfrm>
            <a:off x="896112" y="471830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Fasilitasi HKI, Paten Produk, &amp; Hak Cipta Inovator</a:t>
            </a:r>
            <a:endParaRPr lang="en-US" sz="800" dirty="0"/>
          </a:p>
        </p:txBody>
      </p:sp>
      <p:sp>
        <p:nvSpPr>
          <p:cNvPr id="33" name="Text 31"/>
          <p:cNvSpPr/>
          <p:nvPr/>
        </p:nvSpPr>
        <p:spPr>
          <a:xfrm>
            <a:off x="896112" y="524865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Hilirisasi Riset Perguruan Tinggi ke Pasar Industri</a:t>
            </a:r>
            <a:endParaRPr lang="en-US" sz="800" dirty="0"/>
          </a:p>
        </p:txBody>
      </p:sp>
      <p:sp>
        <p:nvSpPr>
          <p:cNvPr id="34" name="Text 32"/>
          <p:cNvSpPr/>
          <p:nvPr/>
        </p:nvSpPr>
        <p:spPr>
          <a:xfrm>
            <a:off x="3328416" y="418795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National Cyber Security Hub &amp; AI Experience Center</a:t>
            </a:r>
            <a:endParaRPr lang="en-US" sz="800" dirty="0"/>
          </a:p>
        </p:txBody>
      </p:sp>
      <p:sp>
        <p:nvSpPr>
          <p:cNvPr id="35" name="Text 33"/>
          <p:cNvSpPr/>
          <p:nvPr/>
        </p:nvSpPr>
        <p:spPr>
          <a:xfrm>
            <a:off x="3328416" y="471830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Digital Technopark, Gaming Hub, &amp; GoTo UMKM Center</a:t>
            </a:r>
            <a:endParaRPr lang="en-US" sz="800" dirty="0"/>
          </a:p>
        </p:txBody>
      </p:sp>
      <p:sp>
        <p:nvSpPr>
          <p:cNvPr id="36" name="Text 34"/>
          <p:cNvSpPr/>
          <p:nvPr/>
        </p:nvSpPr>
        <p:spPr>
          <a:xfrm>
            <a:off x="3328416" y="524865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Co-Working Space, Virtual Office &amp; Akses Permodalan</a:t>
            </a:r>
            <a:endParaRPr lang="en-US" sz="800" dirty="0"/>
          </a:p>
        </p:txBody>
      </p:sp>
      <p:sp>
        <p:nvSpPr>
          <p:cNvPr id="37" name="Shape 35"/>
          <p:cNvSpPr/>
          <p:nvPr/>
        </p:nvSpPr>
        <p:spPr>
          <a:xfrm>
            <a:off x="6227064" y="3749040"/>
            <a:ext cx="5230368" cy="2194560"/>
          </a:xfrm>
          <a:prstGeom prst="rect">
            <a:avLst/>
          </a:prstGeom>
          <a:solidFill>
            <a:srgbClr val="FFFFFF"/>
          </a:solidFill>
          <a:ln w="10160">
            <a:solidFill>
              <a:srgbClr val="CBD5E1"/>
            </a:solidFill>
            <a:prstDash val="solid"/>
          </a:ln>
        </p:spPr>
      </p:sp>
      <p:sp>
        <p:nvSpPr>
          <p:cNvPr id="38" name="Shape 36"/>
          <p:cNvSpPr/>
          <p:nvPr/>
        </p:nvSpPr>
        <p:spPr>
          <a:xfrm>
            <a:off x="6227064" y="3749040"/>
            <a:ext cx="5230368" cy="54864"/>
          </a:xfrm>
          <a:prstGeom prst="rect">
            <a:avLst/>
          </a:prstGeom>
          <a:solidFill>
            <a:srgbClr val="7C3AED"/>
          </a:solidFill>
          <a:ln w="12700">
            <a:solidFill>
              <a:srgbClr val="7C3AED"/>
            </a:solidFill>
            <a:prstDash val="solid"/>
          </a:ln>
        </p:spPr>
      </p:sp>
      <p:sp>
        <p:nvSpPr>
          <p:cNvPr id="39" name="Text 37"/>
          <p:cNvSpPr/>
          <p:nvPr/>
        </p:nvSpPr>
        <p:spPr>
          <a:xfrm>
            <a:off x="6391656" y="3877056"/>
            <a:ext cx="4901184" cy="256032"/>
          </a:xfrm>
          <a:prstGeom prst="rect">
            <a:avLst/>
          </a:prstGeom>
          <a:noFill/>
          <a:ln/>
        </p:spPr>
        <p:txBody>
          <a:bodyPr wrap="square" rtlCol="0" anchor="ctr"/>
          <a:lstStyle/>
          <a:p>
            <a:pPr indent="0" marL="0">
              <a:buNone/>
            </a:pPr>
            <a:r>
              <a:rPr lang="en-US" sz="920" b="1" dirty="0">
                <a:solidFill>
                  <a:srgbClr val="7C3AED"/>
                </a:solidFill>
                <a:latin typeface="Arial" pitchFamily="34" charset="0"/>
                <a:ea typeface="Arial" pitchFamily="34" charset="-122"/>
                <a:cs typeface="Arial" pitchFamily="34" charset="-120"/>
              </a:rPr>
              <a:t>PILAR 4: LAYANAN PENDUKUNG (COMMUNITY &amp; EDUCATION)</a:t>
            </a:r>
            <a:endParaRPr lang="en-US" sz="920" dirty="0"/>
          </a:p>
        </p:txBody>
      </p:sp>
      <p:sp>
        <p:nvSpPr>
          <p:cNvPr id="40" name="Text 38"/>
          <p:cNvSpPr/>
          <p:nvPr/>
        </p:nvSpPr>
        <p:spPr>
          <a:xfrm>
            <a:off x="6391656" y="418795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Prakerin Kerja Industri Siswa SMK Se-Solo Raya</a:t>
            </a:r>
            <a:endParaRPr lang="en-US" sz="800" dirty="0"/>
          </a:p>
        </p:txBody>
      </p:sp>
      <p:sp>
        <p:nvSpPr>
          <p:cNvPr id="41" name="Text 39"/>
          <p:cNvSpPr/>
          <p:nvPr/>
        </p:nvSpPr>
        <p:spPr>
          <a:xfrm>
            <a:off x="6391656" y="471830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Tempat Uji Kompetensi (TUK Mandiri) &amp; Sertifikasi JFT</a:t>
            </a:r>
            <a:endParaRPr lang="en-US" sz="800" dirty="0"/>
          </a:p>
        </p:txBody>
      </p:sp>
      <p:sp>
        <p:nvSpPr>
          <p:cNvPr id="42" name="Text 40"/>
          <p:cNvSpPr/>
          <p:nvPr/>
        </p:nvSpPr>
        <p:spPr>
          <a:xfrm>
            <a:off x="6391656" y="524865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Solo Science Center (Pusat Edukasi IPTEK &amp; Wisata Sains)</a:t>
            </a:r>
            <a:endParaRPr lang="en-US" sz="800" dirty="0"/>
          </a:p>
        </p:txBody>
      </p:sp>
      <p:sp>
        <p:nvSpPr>
          <p:cNvPr id="43" name="Text 41"/>
          <p:cNvSpPr/>
          <p:nvPr/>
        </p:nvSpPr>
        <p:spPr>
          <a:xfrm>
            <a:off x="8823960" y="4187952"/>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Pemanfaatan Sarana Kawasan, Gedung Expo &amp; MICE</a:t>
            </a:r>
            <a:endParaRPr lang="en-US" sz="800" dirty="0"/>
          </a:p>
        </p:txBody>
      </p:sp>
      <p:sp>
        <p:nvSpPr>
          <p:cNvPr id="44" name="Text 42"/>
          <p:cNvSpPr/>
          <p:nvPr/>
        </p:nvSpPr>
        <p:spPr>
          <a:xfrm>
            <a:off x="8823960" y="4718304"/>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Kemitraan Komunitas Kreatif &amp; Kunjungan Industri</a:t>
            </a:r>
            <a:endParaRPr lang="en-US" sz="800" dirty="0"/>
          </a:p>
        </p:txBody>
      </p:sp>
      <p:sp>
        <p:nvSpPr>
          <p:cNvPr id="45" name="Text 43"/>
          <p:cNvSpPr/>
          <p:nvPr/>
        </p:nvSpPr>
        <p:spPr>
          <a:xfrm>
            <a:off x="8823960" y="5248656"/>
            <a:ext cx="2432304" cy="493776"/>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Pusat Kolaborasi Multipihak Pemkot Surakarta</a:t>
            </a:r>
            <a:endParaRPr lang="en-US" sz="800" dirty="0"/>
          </a:p>
        </p:txBody>
      </p:sp>
      <p:sp>
        <p:nvSpPr>
          <p:cNvPr id="46" name="Shape 44"/>
          <p:cNvSpPr/>
          <p:nvPr/>
        </p:nvSpPr>
        <p:spPr>
          <a:xfrm>
            <a:off x="731520" y="6035040"/>
            <a:ext cx="10728655" cy="292608"/>
          </a:xfrm>
          <a:prstGeom prst="rect">
            <a:avLst/>
          </a:prstGeom>
          <a:solidFill>
            <a:srgbClr val="F1F5F9"/>
          </a:solidFill>
          <a:ln w="10160">
            <a:solidFill>
              <a:srgbClr val="E2E8F0"/>
            </a:solidFill>
            <a:prstDash val="solid"/>
          </a:ln>
        </p:spPr>
      </p:sp>
      <p:sp>
        <p:nvSpPr>
          <p:cNvPr id="47" name="Text 45"/>
          <p:cNvSpPr/>
          <p:nvPr/>
        </p:nvSpPr>
        <p:spPr>
          <a:xfrm>
            <a:off x="731520" y="6035040"/>
            <a:ext cx="10728655" cy="292608"/>
          </a:xfrm>
          <a:prstGeom prst="rect">
            <a:avLst/>
          </a:prstGeom>
          <a:noFill/>
          <a:ln/>
        </p:spPr>
        <p:txBody>
          <a:bodyPr wrap="square" rtlCol="0" anchor="ctr"/>
          <a:lstStyle/>
          <a:p>
            <a:pPr algn="ctr" indent="0" marL="0">
              <a:buNone/>
            </a:pPr>
            <a:r>
              <a:rPr lang="en-US" sz="850" b="1" i="1" dirty="0">
                <a:solidFill>
                  <a:srgbClr val="1E40AF"/>
                </a:solidFill>
                <a:latin typeface="Arial" pitchFamily="34" charset="0"/>
                <a:ea typeface="Arial" pitchFamily="34" charset="-122"/>
                <a:cs typeface="Arial" pitchFamily="34" charset="-120"/>
              </a:rPr>
              <a:t>"BLUD menggeser paradigma: Dari sekadar pengelolaan kawasan fisik menjadi penyedia solusi teknologi yang responsif terhadap kebutuhan industri dan masyarakat."</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MEKANISME HILIRISASI INOVASI</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05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PIPELINE HILIRISASI RISET: DARI LABORATORIUM MENUJU PASAR NYATA</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Solo Technopark sebagai Jembatan: Menghubungkan Riset Kampus Menuju Produk Bernilai Ekonomi bagi Industri</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2029968" cy="1874520"/>
          </a:xfrm>
          <a:prstGeom prst="rect">
            <a:avLst/>
          </a:prstGeom>
          <a:solidFill>
            <a:srgbClr val="FFFFFF"/>
          </a:solidFill>
          <a:ln w="10160">
            <a:solidFill>
              <a:srgbClr val="CBD5E1"/>
            </a:solidFill>
            <a:prstDash val="solid"/>
          </a:ln>
        </p:spPr>
      </p:sp>
      <p:sp>
        <p:nvSpPr>
          <p:cNvPr id="11" name="Shape 9"/>
          <p:cNvSpPr/>
          <p:nvPr/>
        </p:nvSpPr>
        <p:spPr>
          <a:xfrm>
            <a:off x="731520" y="1417320"/>
            <a:ext cx="2029968" cy="54864"/>
          </a:xfrm>
          <a:prstGeom prst="rect">
            <a:avLst/>
          </a:prstGeom>
          <a:solidFill>
            <a:srgbClr val="0284C7"/>
          </a:solidFill>
          <a:ln w="12700">
            <a:solidFill>
              <a:srgbClr val="0284C7"/>
            </a:solidFill>
            <a:prstDash val="solid"/>
          </a:ln>
        </p:spPr>
      </p:sp>
      <p:sp>
        <p:nvSpPr>
          <p:cNvPr id="12" name="Text 10"/>
          <p:cNvSpPr/>
          <p:nvPr/>
        </p:nvSpPr>
        <p:spPr>
          <a:xfrm>
            <a:off x="841248" y="1536192"/>
            <a:ext cx="1810512" cy="201168"/>
          </a:xfrm>
          <a:prstGeom prst="rect">
            <a:avLst/>
          </a:prstGeom>
          <a:noFill/>
          <a:ln/>
        </p:spPr>
        <p:txBody>
          <a:bodyPr wrap="square" rtlCol="0" anchor="ctr"/>
          <a:lstStyle/>
          <a:p>
            <a:pPr indent="0" marL="0">
              <a:buNone/>
            </a:pPr>
            <a:r>
              <a:rPr lang="en-US" sz="850" b="1" dirty="0">
                <a:solidFill>
                  <a:srgbClr val="0284C7"/>
                </a:solidFill>
                <a:latin typeface="Arial" pitchFamily="34" charset="0"/>
                <a:ea typeface="Arial" pitchFamily="34" charset="-122"/>
                <a:cs typeface="Arial" pitchFamily="34" charset="-120"/>
              </a:rPr>
              <a:t>TAHAP 01</a:t>
            </a:r>
            <a:endParaRPr lang="en-US" sz="850" dirty="0"/>
          </a:p>
        </p:txBody>
      </p:sp>
      <p:sp>
        <p:nvSpPr>
          <p:cNvPr id="13" name="Text 11"/>
          <p:cNvSpPr/>
          <p:nvPr/>
        </p:nvSpPr>
        <p:spPr>
          <a:xfrm>
            <a:off x="841248" y="1755648"/>
            <a:ext cx="1810512" cy="256032"/>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RISET &amp; INVENSI</a:t>
            </a:r>
            <a:endParaRPr lang="en-US" sz="1000" dirty="0"/>
          </a:p>
        </p:txBody>
      </p:sp>
      <p:sp>
        <p:nvSpPr>
          <p:cNvPr id="14" name="Text 12"/>
          <p:cNvSpPr/>
          <p:nvPr/>
        </p:nvSpPr>
        <p:spPr>
          <a:xfrm>
            <a:off x="841248" y="2029968"/>
            <a:ext cx="1810512" cy="201168"/>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Kampus &amp; Peneliti</a:t>
            </a:r>
            <a:endParaRPr lang="en-US" sz="800" dirty="0"/>
          </a:p>
        </p:txBody>
      </p:sp>
      <p:sp>
        <p:nvSpPr>
          <p:cNvPr id="15" name="Text 13"/>
          <p:cNvSpPr/>
          <p:nvPr/>
        </p:nvSpPr>
        <p:spPr>
          <a:xfrm>
            <a:off x="841248" y="2286000"/>
            <a:ext cx="1810512" cy="896112"/>
          </a:xfrm>
          <a:prstGeom prst="rect">
            <a:avLst/>
          </a:prstGeom>
          <a:noFill/>
          <a:ln/>
        </p:spPr>
        <p:txBody>
          <a:bodyPr wrap="square" rtlCol="0" anchor="ctr"/>
          <a:lstStyle/>
          <a:p>
            <a:pPr indent="0" marL="0">
              <a:lnSpc>
                <a:spcPts val="1100"/>
              </a:lnSpc>
              <a:buNone/>
            </a:pPr>
            <a:r>
              <a:rPr lang="en-US" sz="780" dirty="0">
                <a:solidFill>
                  <a:srgbClr val="334155"/>
                </a:solidFill>
                <a:latin typeface="Arial" pitchFamily="34" charset="0"/>
                <a:ea typeface="Arial" pitchFamily="34" charset="-122"/>
                <a:cs typeface="Arial" pitchFamily="34" charset="-120"/>
              </a:rPr>
              <a:t>Invensi UNS, UMS, ISI, Poltek Solo Raya. Riset dosen &amp; mahasiswa.</a:t>
            </a:r>
            <a:endParaRPr lang="en-US" sz="780" dirty="0"/>
          </a:p>
        </p:txBody>
      </p:sp>
      <p:sp>
        <p:nvSpPr>
          <p:cNvPr id="16" name="Shape 14"/>
          <p:cNvSpPr/>
          <p:nvPr/>
        </p:nvSpPr>
        <p:spPr>
          <a:xfrm>
            <a:off x="2798064" y="2240280"/>
            <a:ext cx="109728" cy="182880"/>
          </a:xfrm>
          <a:prstGeom prst="rightArrow">
            <a:avLst/>
          </a:prstGeom>
          <a:solidFill>
            <a:srgbClr val="64748B"/>
          </a:solidFill>
          <a:ln w="12700">
            <a:solidFill>
              <a:srgbClr val="64748B"/>
            </a:solidFill>
            <a:prstDash val="solid"/>
          </a:ln>
        </p:spPr>
      </p:sp>
      <p:sp>
        <p:nvSpPr>
          <p:cNvPr id="17" name="Shape 15"/>
          <p:cNvSpPr/>
          <p:nvPr/>
        </p:nvSpPr>
        <p:spPr>
          <a:xfrm>
            <a:off x="2907792" y="1417320"/>
            <a:ext cx="2029968" cy="1874520"/>
          </a:xfrm>
          <a:prstGeom prst="rect">
            <a:avLst/>
          </a:prstGeom>
          <a:solidFill>
            <a:srgbClr val="FFFFFF"/>
          </a:solidFill>
          <a:ln w="10160">
            <a:solidFill>
              <a:srgbClr val="CBD5E1"/>
            </a:solidFill>
            <a:prstDash val="solid"/>
          </a:ln>
        </p:spPr>
      </p:sp>
      <p:sp>
        <p:nvSpPr>
          <p:cNvPr id="18" name="Shape 16"/>
          <p:cNvSpPr/>
          <p:nvPr/>
        </p:nvSpPr>
        <p:spPr>
          <a:xfrm>
            <a:off x="2907792" y="1417320"/>
            <a:ext cx="2029968" cy="54864"/>
          </a:xfrm>
          <a:prstGeom prst="rect">
            <a:avLst/>
          </a:prstGeom>
          <a:solidFill>
            <a:srgbClr val="1E40AF"/>
          </a:solidFill>
          <a:ln w="12700">
            <a:solidFill>
              <a:srgbClr val="1E40AF"/>
            </a:solidFill>
            <a:prstDash val="solid"/>
          </a:ln>
        </p:spPr>
      </p:sp>
      <p:sp>
        <p:nvSpPr>
          <p:cNvPr id="19" name="Text 17"/>
          <p:cNvSpPr/>
          <p:nvPr/>
        </p:nvSpPr>
        <p:spPr>
          <a:xfrm>
            <a:off x="3017520" y="1536192"/>
            <a:ext cx="1810512"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TAHAP 02</a:t>
            </a:r>
            <a:endParaRPr lang="en-US" sz="850" dirty="0"/>
          </a:p>
        </p:txBody>
      </p:sp>
      <p:sp>
        <p:nvSpPr>
          <p:cNvPr id="20" name="Text 18"/>
          <p:cNvSpPr/>
          <p:nvPr/>
        </p:nvSpPr>
        <p:spPr>
          <a:xfrm>
            <a:off x="3017520" y="1755648"/>
            <a:ext cx="1810512" cy="256032"/>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SELEKSI &amp; KURASI</a:t>
            </a:r>
            <a:endParaRPr lang="en-US" sz="1000" dirty="0"/>
          </a:p>
        </p:txBody>
      </p:sp>
      <p:sp>
        <p:nvSpPr>
          <p:cNvPr id="21" name="Text 19"/>
          <p:cNvSpPr/>
          <p:nvPr/>
        </p:nvSpPr>
        <p:spPr>
          <a:xfrm>
            <a:off x="3017520" y="2029968"/>
            <a:ext cx="1810512" cy="201168"/>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STP &amp; BRIDA</a:t>
            </a:r>
            <a:endParaRPr lang="en-US" sz="800" dirty="0"/>
          </a:p>
        </p:txBody>
      </p:sp>
      <p:sp>
        <p:nvSpPr>
          <p:cNvPr id="22" name="Text 20"/>
          <p:cNvSpPr/>
          <p:nvPr/>
        </p:nvSpPr>
        <p:spPr>
          <a:xfrm>
            <a:off x="3017520" y="2286000"/>
            <a:ext cx="1810512" cy="896112"/>
          </a:xfrm>
          <a:prstGeom prst="rect">
            <a:avLst/>
          </a:prstGeom>
          <a:noFill/>
          <a:ln/>
        </p:spPr>
        <p:txBody>
          <a:bodyPr wrap="square" rtlCol="0" anchor="ctr"/>
          <a:lstStyle/>
          <a:p>
            <a:pPr indent="0" marL="0">
              <a:lnSpc>
                <a:spcPts val="1100"/>
              </a:lnSpc>
              <a:buNone/>
            </a:pPr>
            <a:r>
              <a:rPr lang="en-US" sz="780" dirty="0">
                <a:solidFill>
                  <a:srgbClr val="334155"/>
                </a:solidFill>
                <a:latin typeface="Arial" pitchFamily="34" charset="0"/>
                <a:ea typeface="Arial" pitchFamily="34" charset="-122"/>
                <a:cs typeface="Arial" pitchFamily="34" charset="-120"/>
              </a:rPr>
              <a:t>Kurasi komersial &amp; relevansi kebutuhan industri serta problem kota Solo.</a:t>
            </a:r>
            <a:endParaRPr lang="en-US" sz="780" dirty="0"/>
          </a:p>
        </p:txBody>
      </p:sp>
      <p:sp>
        <p:nvSpPr>
          <p:cNvPr id="23" name="Shape 21"/>
          <p:cNvSpPr/>
          <p:nvPr/>
        </p:nvSpPr>
        <p:spPr>
          <a:xfrm>
            <a:off x="4974336" y="2240280"/>
            <a:ext cx="109728" cy="182880"/>
          </a:xfrm>
          <a:prstGeom prst="rightArrow">
            <a:avLst/>
          </a:prstGeom>
          <a:solidFill>
            <a:srgbClr val="64748B"/>
          </a:solidFill>
          <a:ln w="12700">
            <a:solidFill>
              <a:srgbClr val="64748B"/>
            </a:solidFill>
            <a:prstDash val="solid"/>
          </a:ln>
        </p:spPr>
      </p:sp>
      <p:sp>
        <p:nvSpPr>
          <p:cNvPr id="24" name="Shape 22"/>
          <p:cNvSpPr/>
          <p:nvPr/>
        </p:nvSpPr>
        <p:spPr>
          <a:xfrm>
            <a:off x="5084064" y="1417320"/>
            <a:ext cx="2029968" cy="1874520"/>
          </a:xfrm>
          <a:prstGeom prst="rect">
            <a:avLst/>
          </a:prstGeom>
          <a:solidFill>
            <a:srgbClr val="FFFFFF"/>
          </a:solidFill>
          <a:ln w="10160">
            <a:solidFill>
              <a:srgbClr val="CBD5E1"/>
            </a:solidFill>
            <a:prstDash val="solid"/>
          </a:ln>
        </p:spPr>
      </p:sp>
      <p:sp>
        <p:nvSpPr>
          <p:cNvPr id="25" name="Shape 23"/>
          <p:cNvSpPr/>
          <p:nvPr/>
        </p:nvSpPr>
        <p:spPr>
          <a:xfrm>
            <a:off x="5084064" y="1417320"/>
            <a:ext cx="2029968" cy="54864"/>
          </a:xfrm>
          <a:prstGeom prst="rect">
            <a:avLst/>
          </a:prstGeom>
          <a:solidFill>
            <a:srgbClr val="D97706"/>
          </a:solidFill>
          <a:ln w="12700">
            <a:solidFill>
              <a:srgbClr val="D97706"/>
            </a:solidFill>
            <a:prstDash val="solid"/>
          </a:ln>
        </p:spPr>
      </p:sp>
      <p:sp>
        <p:nvSpPr>
          <p:cNvPr id="26" name="Text 24"/>
          <p:cNvSpPr/>
          <p:nvPr/>
        </p:nvSpPr>
        <p:spPr>
          <a:xfrm>
            <a:off x="5193792" y="1536192"/>
            <a:ext cx="1810512"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TAHAP 03</a:t>
            </a:r>
            <a:endParaRPr lang="en-US" sz="850" dirty="0"/>
          </a:p>
        </p:txBody>
      </p:sp>
      <p:sp>
        <p:nvSpPr>
          <p:cNvPr id="27" name="Text 25"/>
          <p:cNvSpPr/>
          <p:nvPr/>
        </p:nvSpPr>
        <p:spPr>
          <a:xfrm>
            <a:off x="5193792" y="1755648"/>
            <a:ext cx="1810512" cy="256032"/>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PROTOTYPING</a:t>
            </a:r>
            <a:endParaRPr lang="en-US" sz="1000" dirty="0"/>
          </a:p>
        </p:txBody>
      </p:sp>
      <p:sp>
        <p:nvSpPr>
          <p:cNvPr id="28" name="Text 26"/>
          <p:cNvSpPr/>
          <p:nvPr/>
        </p:nvSpPr>
        <p:spPr>
          <a:xfrm>
            <a:off x="5193792" y="2029968"/>
            <a:ext cx="1810512" cy="201168"/>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Lab Presisi STP</a:t>
            </a:r>
            <a:endParaRPr lang="en-US" sz="800" dirty="0"/>
          </a:p>
        </p:txBody>
      </p:sp>
      <p:sp>
        <p:nvSpPr>
          <p:cNvPr id="29" name="Text 27"/>
          <p:cNvSpPr/>
          <p:nvPr/>
        </p:nvSpPr>
        <p:spPr>
          <a:xfrm>
            <a:off x="5193792" y="2286000"/>
            <a:ext cx="1810512" cy="896112"/>
          </a:xfrm>
          <a:prstGeom prst="rect">
            <a:avLst/>
          </a:prstGeom>
          <a:noFill/>
          <a:ln/>
        </p:spPr>
        <p:txBody>
          <a:bodyPr wrap="square" rtlCol="0" anchor="ctr"/>
          <a:lstStyle/>
          <a:p>
            <a:pPr indent="0" marL="0">
              <a:lnSpc>
                <a:spcPts val="1100"/>
              </a:lnSpc>
              <a:buNone/>
            </a:pPr>
            <a:r>
              <a:rPr lang="en-US" sz="780" dirty="0">
                <a:solidFill>
                  <a:srgbClr val="334155"/>
                </a:solidFill>
                <a:latin typeface="Arial" pitchFamily="34" charset="0"/>
                <a:ea typeface="Arial" pitchFamily="34" charset="-122"/>
                <a:cs typeface="Arial" pitchFamily="34" charset="-120"/>
              </a:rPr>
              <a:t>Uji teknis, penetrant testing, validasi mutu produk &amp; SNI/TKDN.</a:t>
            </a:r>
            <a:endParaRPr lang="en-US" sz="780" dirty="0"/>
          </a:p>
        </p:txBody>
      </p:sp>
      <p:sp>
        <p:nvSpPr>
          <p:cNvPr id="30" name="Shape 28"/>
          <p:cNvSpPr/>
          <p:nvPr/>
        </p:nvSpPr>
        <p:spPr>
          <a:xfrm>
            <a:off x="7150608" y="2240280"/>
            <a:ext cx="109728" cy="182880"/>
          </a:xfrm>
          <a:prstGeom prst="rightArrow">
            <a:avLst/>
          </a:prstGeom>
          <a:solidFill>
            <a:srgbClr val="64748B"/>
          </a:solidFill>
          <a:ln w="12700">
            <a:solidFill>
              <a:srgbClr val="64748B"/>
            </a:solidFill>
            <a:prstDash val="solid"/>
          </a:ln>
        </p:spPr>
      </p:sp>
      <p:sp>
        <p:nvSpPr>
          <p:cNvPr id="31" name="Shape 29"/>
          <p:cNvSpPr/>
          <p:nvPr/>
        </p:nvSpPr>
        <p:spPr>
          <a:xfrm>
            <a:off x="7260336" y="1417320"/>
            <a:ext cx="2029968" cy="1874520"/>
          </a:xfrm>
          <a:prstGeom prst="rect">
            <a:avLst/>
          </a:prstGeom>
          <a:solidFill>
            <a:srgbClr val="FFFFFF"/>
          </a:solidFill>
          <a:ln w="10160">
            <a:solidFill>
              <a:srgbClr val="CBD5E1"/>
            </a:solidFill>
            <a:prstDash val="solid"/>
          </a:ln>
        </p:spPr>
      </p:sp>
      <p:sp>
        <p:nvSpPr>
          <p:cNvPr id="32" name="Shape 30"/>
          <p:cNvSpPr/>
          <p:nvPr/>
        </p:nvSpPr>
        <p:spPr>
          <a:xfrm>
            <a:off x="7260336" y="1417320"/>
            <a:ext cx="2029968" cy="54864"/>
          </a:xfrm>
          <a:prstGeom prst="rect">
            <a:avLst/>
          </a:prstGeom>
          <a:solidFill>
            <a:srgbClr val="059669"/>
          </a:solidFill>
          <a:ln w="12700">
            <a:solidFill>
              <a:srgbClr val="059669"/>
            </a:solidFill>
            <a:prstDash val="solid"/>
          </a:ln>
        </p:spPr>
      </p:sp>
      <p:sp>
        <p:nvSpPr>
          <p:cNvPr id="33" name="Text 31"/>
          <p:cNvSpPr/>
          <p:nvPr/>
        </p:nvSpPr>
        <p:spPr>
          <a:xfrm>
            <a:off x="7370064" y="1536192"/>
            <a:ext cx="1810512" cy="201168"/>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TAHAP 04</a:t>
            </a:r>
            <a:endParaRPr lang="en-US" sz="850" dirty="0"/>
          </a:p>
        </p:txBody>
      </p:sp>
      <p:sp>
        <p:nvSpPr>
          <p:cNvPr id="34" name="Text 32"/>
          <p:cNvSpPr/>
          <p:nvPr/>
        </p:nvSpPr>
        <p:spPr>
          <a:xfrm>
            <a:off x="7370064" y="1755648"/>
            <a:ext cx="1810512" cy="256032"/>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INKUBASI BISNIS</a:t>
            </a:r>
            <a:endParaRPr lang="en-US" sz="1000" dirty="0"/>
          </a:p>
        </p:txBody>
      </p:sp>
      <p:sp>
        <p:nvSpPr>
          <p:cNvPr id="35" name="Text 33"/>
          <p:cNvSpPr/>
          <p:nvPr/>
        </p:nvSpPr>
        <p:spPr>
          <a:xfrm>
            <a:off x="7370064" y="2029968"/>
            <a:ext cx="1810512" cy="201168"/>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Inkubator STP</a:t>
            </a:r>
            <a:endParaRPr lang="en-US" sz="800" dirty="0"/>
          </a:p>
        </p:txBody>
      </p:sp>
      <p:sp>
        <p:nvSpPr>
          <p:cNvPr id="36" name="Text 34"/>
          <p:cNvSpPr/>
          <p:nvPr/>
        </p:nvSpPr>
        <p:spPr>
          <a:xfrm>
            <a:off x="7370064" y="2286000"/>
            <a:ext cx="1810512" cy="896112"/>
          </a:xfrm>
          <a:prstGeom prst="rect">
            <a:avLst/>
          </a:prstGeom>
          <a:noFill/>
          <a:ln/>
        </p:spPr>
        <p:txBody>
          <a:bodyPr wrap="square" rtlCol="0" anchor="ctr"/>
          <a:lstStyle/>
          <a:p>
            <a:pPr indent="0" marL="0">
              <a:lnSpc>
                <a:spcPts val="1100"/>
              </a:lnSpc>
              <a:buNone/>
            </a:pPr>
            <a:r>
              <a:rPr lang="en-US" sz="780" dirty="0">
                <a:solidFill>
                  <a:srgbClr val="334155"/>
                </a:solidFill>
                <a:latin typeface="Arial" pitchFamily="34" charset="0"/>
                <a:ea typeface="Arial" pitchFamily="34" charset="-122"/>
                <a:cs typeface="Arial" pitchFamily="34" charset="-120"/>
              </a:rPr>
              <a:t>Penyusunan business model, proteksi HKI/Paten, akses modal &amp; offtaker.</a:t>
            </a:r>
            <a:endParaRPr lang="en-US" sz="780" dirty="0"/>
          </a:p>
        </p:txBody>
      </p:sp>
      <p:sp>
        <p:nvSpPr>
          <p:cNvPr id="37" name="Shape 35"/>
          <p:cNvSpPr/>
          <p:nvPr/>
        </p:nvSpPr>
        <p:spPr>
          <a:xfrm>
            <a:off x="9326880" y="2240280"/>
            <a:ext cx="109728" cy="182880"/>
          </a:xfrm>
          <a:prstGeom prst="rightArrow">
            <a:avLst/>
          </a:prstGeom>
          <a:solidFill>
            <a:srgbClr val="64748B"/>
          </a:solidFill>
          <a:ln w="12700">
            <a:solidFill>
              <a:srgbClr val="64748B"/>
            </a:solidFill>
            <a:prstDash val="solid"/>
          </a:ln>
        </p:spPr>
      </p:sp>
      <p:sp>
        <p:nvSpPr>
          <p:cNvPr id="38" name="Shape 36"/>
          <p:cNvSpPr/>
          <p:nvPr/>
        </p:nvSpPr>
        <p:spPr>
          <a:xfrm>
            <a:off x="9436608" y="1417320"/>
            <a:ext cx="2029968" cy="1874520"/>
          </a:xfrm>
          <a:prstGeom prst="rect">
            <a:avLst/>
          </a:prstGeom>
          <a:solidFill>
            <a:srgbClr val="FFFFFF"/>
          </a:solidFill>
          <a:ln w="10160">
            <a:solidFill>
              <a:srgbClr val="CBD5E1"/>
            </a:solidFill>
            <a:prstDash val="solid"/>
          </a:ln>
        </p:spPr>
      </p:sp>
      <p:sp>
        <p:nvSpPr>
          <p:cNvPr id="39" name="Shape 37"/>
          <p:cNvSpPr/>
          <p:nvPr/>
        </p:nvSpPr>
        <p:spPr>
          <a:xfrm>
            <a:off x="9436608" y="1417320"/>
            <a:ext cx="2029968" cy="54864"/>
          </a:xfrm>
          <a:prstGeom prst="rect">
            <a:avLst/>
          </a:prstGeom>
          <a:solidFill>
            <a:srgbClr val="7C3AED"/>
          </a:solidFill>
          <a:ln w="12700">
            <a:solidFill>
              <a:srgbClr val="7C3AED"/>
            </a:solidFill>
            <a:prstDash val="solid"/>
          </a:ln>
        </p:spPr>
      </p:sp>
      <p:sp>
        <p:nvSpPr>
          <p:cNvPr id="40" name="Text 38"/>
          <p:cNvSpPr/>
          <p:nvPr/>
        </p:nvSpPr>
        <p:spPr>
          <a:xfrm>
            <a:off x="9546336" y="1536192"/>
            <a:ext cx="1810512" cy="201168"/>
          </a:xfrm>
          <a:prstGeom prst="rect">
            <a:avLst/>
          </a:prstGeom>
          <a:noFill/>
          <a:ln/>
        </p:spPr>
        <p:txBody>
          <a:bodyPr wrap="square" rtlCol="0" anchor="ctr"/>
          <a:lstStyle/>
          <a:p>
            <a:pPr indent="0" marL="0">
              <a:buNone/>
            </a:pPr>
            <a:r>
              <a:rPr lang="en-US" sz="850" b="1" dirty="0">
                <a:solidFill>
                  <a:srgbClr val="7C3AED"/>
                </a:solidFill>
                <a:latin typeface="Arial" pitchFamily="34" charset="0"/>
                <a:ea typeface="Arial" pitchFamily="34" charset="-122"/>
                <a:cs typeface="Arial" pitchFamily="34" charset="-120"/>
              </a:rPr>
              <a:t>TAHAP 05</a:t>
            </a:r>
            <a:endParaRPr lang="en-US" sz="850" dirty="0"/>
          </a:p>
        </p:txBody>
      </p:sp>
      <p:sp>
        <p:nvSpPr>
          <p:cNvPr id="41" name="Text 39"/>
          <p:cNvSpPr/>
          <p:nvPr/>
        </p:nvSpPr>
        <p:spPr>
          <a:xfrm>
            <a:off x="9546336" y="1755648"/>
            <a:ext cx="1810512" cy="256032"/>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KOMERSIALISASI</a:t>
            </a:r>
            <a:endParaRPr lang="en-US" sz="1000" dirty="0"/>
          </a:p>
        </p:txBody>
      </p:sp>
      <p:sp>
        <p:nvSpPr>
          <p:cNvPr id="42" name="Text 40"/>
          <p:cNvSpPr/>
          <p:nvPr/>
        </p:nvSpPr>
        <p:spPr>
          <a:xfrm>
            <a:off x="9546336" y="2029968"/>
            <a:ext cx="1810512" cy="201168"/>
          </a:xfrm>
          <a:prstGeom prst="rect">
            <a:avLst/>
          </a:prstGeom>
          <a:noFill/>
          <a:ln/>
        </p:spPr>
        <p:txBody>
          <a:bodyPr wrap="square" rtlCol="0" anchor="ctr"/>
          <a:lstStyle/>
          <a:p>
            <a:pPr indent="0" marL="0">
              <a:buNone/>
            </a:pPr>
            <a:r>
              <a:rPr lang="en-US" sz="800" i="1" dirty="0">
                <a:solidFill>
                  <a:srgbClr val="64748B"/>
                </a:solidFill>
                <a:latin typeface="Arial" pitchFamily="34" charset="0"/>
                <a:ea typeface="Arial" pitchFamily="34" charset="-122"/>
                <a:cs typeface="Arial" pitchFamily="34" charset="-120"/>
              </a:rPr>
              <a:t>Pasar &amp; Industri</a:t>
            </a:r>
            <a:endParaRPr lang="en-US" sz="800" dirty="0"/>
          </a:p>
        </p:txBody>
      </p:sp>
      <p:sp>
        <p:nvSpPr>
          <p:cNvPr id="43" name="Text 41"/>
          <p:cNvSpPr/>
          <p:nvPr/>
        </p:nvSpPr>
        <p:spPr>
          <a:xfrm>
            <a:off x="9546336" y="2286000"/>
            <a:ext cx="1810512" cy="896112"/>
          </a:xfrm>
          <a:prstGeom prst="rect">
            <a:avLst/>
          </a:prstGeom>
          <a:noFill/>
          <a:ln/>
        </p:spPr>
        <p:txBody>
          <a:bodyPr wrap="square" rtlCol="0" anchor="ctr"/>
          <a:lstStyle/>
          <a:p>
            <a:pPr indent="0" marL="0">
              <a:lnSpc>
                <a:spcPts val="1100"/>
              </a:lnSpc>
              <a:buNone/>
            </a:pPr>
            <a:r>
              <a:rPr lang="en-US" sz="780" dirty="0">
                <a:solidFill>
                  <a:srgbClr val="334155"/>
                </a:solidFill>
                <a:latin typeface="Arial" pitchFamily="34" charset="0"/>
                <a:ea typeface="Arial" pitchFamily="34" charset="-122"/>
                <a:cs typeface="Arial" pitchFamily="34" charset="-120"/>
              </a:rPr>
              <a:t>Penetrasi e-Katalog Lokal OPD, captive market pemda &amp; industri nasional.</a:t>
            </a:r>
            <a:endParaRPr lang="en-US" sz="780" dirty="0"/>
          </a:p>
        </p:txBody>
      </p:sp>
      <p:sp>
        <p:nvSpPr>
          <p:cNvPr id="44" name="Shape 42"/>
          <p:cNvSpPr/>
          <p:nvPr/>
        </p:nvSpPr>
        <p:spPr>
          <a:xfrm>
            <a:off x="731520" y="3474720"/>
            <a:ext cx="6126480" cy="2788920"/>
          </a:xfrm>
          <a:prstGeom prst="rect">
            <a:avLst/>
          </a:prstGeom>
          <a:solidFill>
            <a:srgbClr val="FFFFFF"/>
          </a:solidFill>
          <a:ln w="10160">
            <a:solidFill>
              <a:srgbClr val="CBD5E1"/>
            </a:solidFill>
            <a:prstDash val="solid"/>
          </a:ln>
        </p:spPr>
      </p:sp>
      <p:sp>
        <p:nvSpPr>
          <p:cNvPr id="45" name="Shape 43"/>
          <p:cNvSpPr/>
          <p:nvPr/>
        </p:nvSpPr>
        <p:spPr>
          <a:xfrm>
            <a:off x="731520" y="3474720"/>
            <a:ext cx="6126480" cy="54864"/>
          </a:xfrm>
          <a:prstGeom prst="rect">
            <a:avLst/>
          </a:prstGeom>
          <a:solidFill>
            <a:srgbClr val="1E40AF"/>
          </a:solidFill>
          <a:ln w="12700">
            <a:solidFill>
              <a:srgbClr val="1E40AF"/>
            </a:solidFill>
            <a:prstDash val="solid"/>
          </a:ln>
        </p:spPr>
      </p:sp>
      <p:sp>
        <p:nvSpPr>
          <p:cNvPr id="46" name="Text 44"/>
          <p:cNvSpPr/>
          <p:nvPr/>
        </p:nvSpPr>
        <p:spPr>
          <a:xfrm>
            <a:off x="868680" y="3584448"/>
            <a:ext cx="5852160" cy="219456"/>
          </a:xfrm>
          <a:prstGeom prst="rect">
            <a:avLst/>
          </a:prstGeom>
          <a:noFill/>
          <a:ln/>
        </p:spPr>
        <p:txBody>
          <a:bodyPr wrap="square" rtlCol="0" anchor="ctr"/>
          <a:lstStyle/>
          <a:p>
            <a:pPr indent="0" marL="0">
              <a:buNone/>
            </a:pPr>
            <a:r>
              <a:rPr lang="en-US" sz="880" b="1" dirty="0">
                <a:solidFill>
                  <a:srgbClr val="1E40AF"/>
                </a:solidFill>
                <a:latin typeface="Arial" pitchFamily="34" charset="0"/>
                <a:ea typeface="Arial" pitchFamily="34" charset="-122"/>
                <a:cs typeface="Arial" pitchFamily="34" charset="-120"/>
              </a:rPr>
              <a:t>CONTOH TEKNOLOGI YANG DIHILIRKAN &amp; DIINKUBASI DI STP (DATA RIIL)</a:t>
            </a:r>
            <a:endParaRPr lang="en-US" sz="88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68680" y="3858768"/>
          <a:ext cx="5852160" cy="2240280"/>
        </p:xfrm>
        <a:graphic>
          <a:graphicData uri="http://schemas.openxmlformats.org/drawingml/2006/table">
            <a:tbl>
              <a:tblPr/>
              <a:tblGrid>
                <a:gridCol w="1645920"/>
                <a:gridCol w="2926080"/>
                <a:gridCol w="1280160"/>
              </a:tblGrid>
              <a:tr h="292608">
                <a:tc>
                  <a:txBody>
                    <a:bodyPr/>
                    <a:lstStyle/>
                    <a:p>
                      <a:pPr indent="0" marL="0">
                        <a:buNone/>
                      </a:pPr>
                      <a:r>
                        <a:rPr lang="en-US" sz="800" b="1" dirty="0">
                          <a:solidFill>
                            <a:srgbClr val="0F172A"/>
                          </a:solidFill>
                          <a:latin typeface="Arial" pitchFamily="34" charset="0"/>
                          <a:ea typeface="Arial" pitchFamily="34" charset="-122"/>
                          <a:cs typeface="Arial" pitchFamily="34" charset="-120"/>
                        </a:rPr>
                        <a:t>KLASTER TEKNOLOGI</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00" b="1" dirty="0">
                          <a:solidFill>
                            <a:srgbClr val="0F172A"/>
                          </a:solidFill>
                          <a:latin typeface="Arial" pitchFamily="34" charset="0"/>
                          <a:ea typeface="Arial" pitchFamily="34" charset="-122"/>
                          <a:cs typeface="Arial" pitchFamily="34" charset="-120"/>
                        </a:rPr>
                        <a:t>CONTOH PRODUK INOVASI</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00" b="1" dirty="0">
                          <a:solidFill>
                            <a:srgbClr val="0F172A"/>
                          </a:solidFill>
                          <a:latin typeface="Arial" pitchFamily="34" charset="0"/>
                          <a:ea typeface="Arial" pitchFamily="34" charset="-122"/>
                          <a:cs typeface="Arial" pitchFamily="34" charset="-120"/>
                        </a:rPr>
                        <a:t>STATUS TAHAPAN</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r>
              <a:tr h="347472">
                <a:tc>
                  <a:txBody>
                    <a:bodyPr/>
                    <a:lstStyle/>
                    <a:p>
                      <a:pPr indent="0" marL="0">
                        <a:buNone/>
                      </a:pPr>
                      <a:r>
                        <a:rPr lang="en-US" sz="800" dirty="0">
                          <a:solidFill>
                            <a:srgbClr val="334155"/>
                          </a:solidFill>
                          <a:latin typeface="Arial" pitchFamily="34" charset="0"/>
                          <a:ea typeface="Arial" pitchFamily="34" charset="-122"/>
                          <a:cs typeface="Arial" pitchFamily="34" charset="-120"/>
                        </a:rPr>
                        <a:t>Smart Agriculture IoT</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00" b="1" dirty="0">
                          <a:solidFill>
                            <a:srgbClr val="0F172A"/>
                          </a:solidFill>
                          <a:latin typeface="Arial" pitchFamily="34" charset="0"/>
                          <a:ea typeface="Arial" pitchFamily="34" charset="-122"/>
                          <a:cs typeface="Arial" pitchFamily="34" charset="-120"/>
                        </a:rPr>
                        <a:t>Mesin Sortasi Biji Kopi Otomatis</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E40AF"/>
                          </a:solidFill>
                          <a:latin typeface="Arial" pitchFamily="34" charset="0"/>
                          <a:ea typeface="Arial" pitchFamily="34" charset="-122"/>
                          <a:cs typeface="Arial" pitchFamily="34" charset="-120"/>
                        </a:rPr>
                        <a:t>Prototype Validasi</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800" dirty="0">
                          <a:solidFill>
                            <a:srgbClr val="334155"/>
                          </a:solidFill>
                          <a:latin typeface="Arial" pitchFamily="34" charset="0"/>
                          <a:ea typeface="Arial" pitchFamily="34" charset="-122"/>
                          <a:cs typeface="Arial" pitchFamily="34" charset="-120"/>
                        </a:rPr>
                        <a:t>Smart Agriculture IoT</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00" b="1" dirty="0">
                          <a:solidFill>
                            <a:srgbClr val="0F172A"/>
                          </a:solidFill>
                          <a:latin typeface="Arial" pitchFamily="34" charset="0"/>
                          <a:ea typeface="Arial" pitchFamily="34" charset="-122"/>
                          <a:cs typeface="Arial" pitchFamily="34" charset="-120"/>
                        </a:rPr>
                        <a:t>Teknologi Pertanian Presisi IoT &amp; AI</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E40AF"/>
                          </a:solidFill>
                          <a:latin typeface="Arial" pitchFamily="34" charset="0"/>
                          <a:ea typeface="Arial" pitchFamily="34" charset="-122"/>
                          <a:cs typeface="Arial" pitchFamily="34" charset="-120"/>
                        </a:rPr>
                        <a:t>Uji Lapangan</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800" dirty="0">
                          <a:solidFill>
                            <a:srgbClr val="334155"/>
                          </a:solidFill>
                          <a:latin typeface="Arial" pitchFamily="34" charset="0"/>
                          <a:ea typeface="Arial" pitchFamily="34" charset="-122"/>
                          <a:cs typeface="Arial" pitchFamily="34" charset="-120"/>
                        </a:rPr>
                        <a:t>Smart Agriculture IoT</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00" b="1" dirty="0">
                          <a:solidFill>
                            <a:srgbClr val="0F172A"/>
                          </a:solidFill>
                          <a:latin typeface="Arial" pitchFamily="34" charset="0"/>
                          <a:ea typeface="Arial" pitchFamily="34" charset="-122"/>
                          <a:cs typeface="Arial" pitchFamily="34" charset="-120"/>
                        </a:rPr>
                        <a:t>Mesin Tetas Telur Pintar Mandiri</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59669"/>
                          </a:solidFill>
                          <a:latin typeface="Arial" pitchFamily="34" charset="0"/>
                          <a:ea typeface="Arial" pitchFamily="34" charset="-122"/>
                          <a:cs typeface="Arial" pitchFamily="34" charset="-120"/>
                        </a:rPr>
                        <a:t>Siap e-Katalog</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800" dirty="0">
                          <a:solidFill>
                            <a:srgbClr val="334155"/>
                          </a:solidFill>
                          <a:latin typeface="Arial" pitchFamily="34" charset="0"/>
                          <a:ea typeface="Arial" pitchFamily="34" charset="-122"/>
                          <a:cs typeface="Arial" pitchFamily="34" charset="-120"/>
                        </a:rPr>
                        <a:t>Deep Tech Mobility</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00" b="1" dirty="0">
                          <a:solidFill>
                            <a:srgbClr val="0F172A"/>
                          </a:solidFill>
                          <a:latin typeface="Arial" pitchFamily="34" charset="0"/>
                          <a:ea typeface="Arial" pitchFamily="34" charset="-122"/>
                          <a:cs typeface="Arial" pitchFamily="34" charset="-120"/>
                        </a:rPr>
                        <a:t>Autonomous Vehicle Elektrik Kampus</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D97706"/>
                          </a:solidFill>
                          <a:latin typeface="Arial" pitchFamily="34" charset="0"/>
                          <a:ea typeface="Arial" pitchFamily="34" charset="-122"/>
                          <a:cs typeface="Arial" pitchFamily="34" charset="-120"/>
                        </a:rPr>
                        <a:t>R&amp;D Bersama</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347472">
                <a:tc>
                  <a:txBody>
                    <a:bodyPr/>
                    <a:lstStyle/>
                    <a:p>
                      <a:pPr indent="0" marL="0">
                        <a:buNone/>
                      </a:pPr>
                      <a:r>
                        <a:rPr lang="en-US" sz="800" dirty="0">
                          <a:solidFill>
                            <a:srgbClr val="334155"/>
                          </a:solidFill>
                          <a:latin typeface="Arial" pitchFamily="34" charset="0"/>
                          <a:ea typeface="Arial" pitchFamily="34" charset="-122"/>
                          <a:cs typeface="Arial" pitchFamily="34" charset="-120"/>
                        </a:rPr>
                        <a:t>GovTech &amp; Pelatihan</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00" b="1" dirty="0">
                          <a:solidFill>
                            <a:srgbClr val="0F172A"/>
                          </a:solidFill>
                          <a:latin typeface="Arial" pitchFamily="34" charset="0"/>
                          <a:ea typeface="Arial" pitchFamily="34" charset="-122"/>
                          <a:cs typeface="Arial" pitchFamily="34" charset="-120"/>
                        </a:rPr>
                        <a:t>VR Pelatihan Industri &amp; Chatbot AI OPD</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00" b="1" dirty="0">
                          <a:solidFill>
                            <a:srgbClr val="059669"/>
                          </a:solidFill>
                          <a:latin typeface="Arial" pitchFamily="34" charset="0"/>
                          <a:ea typeface="Arial" pitchFamily="34" charset="-122"/>
                          <a:cs typeface="Arial" pitchFamily="34" charset="-120"/>
                        </a:rPr>
                        <a:t>Komersial Aktif</a:t>
                      </a:r>
                      <a:endParaRPr lang="en-US" sz="80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bl>
          </a:graphicData>
        </a:graphic>
      </p:graphicFrame>
      <p:sp>
        <p:nvSpPr>
          <p:cNvPr id="48" name="Shape 45"/>
          <p:cNvSpPr/>
          <p:nvPr/>
        </p:nvSpPr>
        <p:spPr>
          <a:xfrm>
            <a:off x="7040880" y="3474720"/>
            <a:ext cx="4419295" cy="2788920"/>
          </a:xfrm>
          <a:prstGeom prst="rect">
            <a:avLst/>
          </a:prstGeom>
          <a:solidFill>
            <a:srgbClr val="F8FAFC"/>
          </a:solidFill>
          <a:ln w="10160">
            <a:solidFill>
              <a:srgbClr val="CBD5E1"/>
            </a:solidFill>
            <a:prstDash val="solid"/>
          </a:ln>
        </p:spPr>
      </p:sp>
      <p:sp>
        <p:nvSpPr>
          <p:cNvPr id="49" name="Shape 46"/>
          <p:cNvSpPr/>
          <p:nvPr/>
        </p:nvSpPr>
        <p:spPr>
          <a:xfrm>
            <a:off x="7040880" y="3474720"/>
            <a:ext cx="4419295" cy="54864"/>
          </a:xfrm>
          <a:prstGeom prst="rect">
            <a:avLst/>
          </a:prstGeom>
          <a:solidFill>
            <a:srgbClr val="D97706"/>
          </a:solidFill>
          <a:ln w="12700">
            <a:solidFill>
              <a:srgbClr val="D97706"/>
            </a:solidFill>
            <a:prstDash val="solid"/>
          </a:ln>
        </p:spPr>
      </p:sp>
      <p:sp>
        <p:nvSpPr>
          <p:cNvPr id="50" name="Text 47"/>
          <p:cNvSpPr/>
          <p:nvPr/>
        </p:nvSpPr>
        <p:spPr>
          <a:xfrm>
            <a:off x="7223760" y="3584448"/>
            <a:ext cx="4023360" cy="219456"/>
          </a:xfrm>
          <a:prstGeom prst="rect">
            <a:avLst/>
          </a:prstGeom>
          <a:noFill/>
          <a:ln/>
        </p:spPr>
        <p:txBody>
          <a:bodyPr wrap="square" rtlCol="0" anchor="ctr"/>
          <a:lstStyle/>
          <a:p>
            <a:pPr indent="0" marL="0">
              <a:buNone/>
            </a:pPr>
            <a:r>
              <a:rPr lang="en-US" sz="880" b="1" dirty="0">
                <a:solidFill>
                  <a:srgbClr val="D97706"/>
                </a:solidFill>
                <a:latin typeface="Arial" pitchFamily="34" charset="0"/>
                <a:ea typeface="Arial" pitchFamily="34" charset="-122"/>
                <a:cs typeface="Arial" pitchFamily="34" charset="-120"/>
              </a:rPr>
              <a:t>EKOSISTEM FASILITAS PENDUKUNG AKTIF</a:t>
            </a:r>
            <a:endParaRPr lang="en-US" sz="880" dirty="0"/>
          </a:p>
        </p:txBody>
      </p:sp>
      <p:sp>
        <p:nvSpPr>
          <p:cNvPr id="51" name="Text 48"/>
          <p:cNvSpPr/>
          <p:nvPr/>
        </p:nvSpPr>
        <p:spPr>
          <a:xfrm>
            <a:off x="7223760" y="3877056"/>
            <a:ext cx="4023360" cy="20116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National Cyber Security Hub</a:t>
            </a:r>
            <a:endParaRPr lang="en-US" sz="850" dirty="0"/>
          </a:p>
        </p:txBody>
      </p:sp>
      <p:sp>
        <p:nvSpPr>
          <p:cNvPr id="52" name="Text 49"/>
          <p:cNvSpPr/>
          <p:nvPr/>
        </p:nvSpPr>
        <p:spPr>
          <a:xfrm>
            <a:off x="7406640" y="4078224"/>
            <a:ext cx="3840480" cy="21945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Pusat ketahanan digital &amp; talenta siber nasional bersama BSSN.</a:t>
            </a:r>
            <a:endParaRPr lang="en-US" sz="750" dirty="0"/>
          </a:p>
        </p:txBody>
      </p:sp>
      <p:sp>
        <p:nvSpPr>
          <p:cNvPr id="53" name="Text 50"/>
          <p:cNvSpPr/>
          <p:nvPr/>
        </p:nvSpPr>
        <p:spPr>
          <a:xfrm>
            <a:off x="7223760" y="4334256"/>
            <a:ext cx="4023360" cy="20116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Gaming Hub &amp; Digital Studio</a:t>
            </a:r>
            <a:endParaRPr lang="en-US" sz="850" dirty="0"/>
          </a:p>
        </p:txBody>
      </p:sp>
      <p:sp>
        <p:nvSpPr>
          <p:cNvPr id="54" name="Text 51"/>
          <p:cNvSpPr/>
          <p:nvPr/>
        </p:nvSpPr>
        <p:spPr>
          <a:xfrm>
            <a:off x="7406640" y="4535424"/>
            <a:ext cx="3840480" cy="21945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Pengembangan game, animasi, &amp; konten kreatif e-sport.</a:t>
            </a:r>
            <a:endParaRPr lang="en-US" sz="750" dirty="0"/>
          </a:p>
        </p:txBody>
      </p:sp>
      <p:sp>
        <p:nvSpPr>
          <p:cNvPr id="55" name="Text 52"/>
          <p:cNvSpPr/>
          <p:nvPr/>
        </p:nvSpPr>
        <p:spPr>
          <a:xfrm>
            <a:off x="7223760" y="4791456"/>
            <a:ext cx="4023360" cy="20116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AI Experience Center</a:t>
            </a:r>
            <a:endParaRPr lang="en-US" sz="850" dirty="0"/>
          </a:p>
        </p:txBody>
      </p:sp>
      <p:sp>
        <p:nvSpPr>
          <p:cNvPr id="56" name="Text 53"/>
          <p:cNvSpPr/>
          <p:nvPr/>
        </p:nvSpPr>
        <p:spPr>
          <a:xfrm>
            <a:off x="7406640" y="4992624"/>
            <a:ext cx="3840480" cy="21945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Laboratorium kecerdasan buatan terapan industri &amp; showcase solusi AI.</a:t>
            </a:r>
            <a:endParaRPr lang="en-US" sz="750" dirty="0"/>
          </a:p>
        </p:txBody>
      </p:sp>
      <p:sp>
        <p:nvSpPr>
          <p:cNvPr id="57" name="Text 54"/>
          <p:cNvSpPr/>
          <p:nvPr/>
        </p:nvSpPr>
        <p:spPr>
          <a:xfrm>
            <a:off x="7223760" y="5248656"/>
            <a:ext cx="4023360" cy="20116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GoTo UMKM Center</a:t>
            </a:r>
            <a:endParaRPr lang="en-US" sz="850" dirty="0"/>
          </a:p>
        </p:txBody>
      </p:sp>
      <p:sp>
        <p:nvSpPr>
          <p:cNvPr id="58" name="Text 55"/>
          <p:cNvSpPr/>
          <p:nvPr/>
        </p:nvSpPr>
        <p:spPr>
          <a:xfrm>
            <a:off x="7406640" y="5449824"/>
            <a:ext cx="3840480" cy="21945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Akselerasi digitalisasi, kurasi produk, &amp; onboarding pedagang lokal.</a:t>
            </a:r>
            <a:endParaRPr lang="en-US" sz="750" dirty="0"/>
          </a:p>
        </p:txBody>
      </p:sp>
      <p:sp>
        <p:nvSpPr>
          <p:cNvPr id="59" name="Text 56"/>
          <p:cNvSpPr/>
          <p:nvPr/>
        </p:nvSpPr>
        <p:spPr>
          <a:xfrm>
            <a:off x="7223760" y="5705856"/>
            <a:ext cx="4023360" cy="201168"/>
          </a:xfrm>
          <a:prstGeom prst="rect">
            <a:avLst/>
          </a:prstGeom>
          <a:noFill/>
          <a:ln/>
        </p:spPr>
        <p:txBody>
          <a:bodyPr wrap="square" rtlCol="0" anchor="ctr"/>
          <a:lstStyle/>
          <a:p>
            <a:pPr indent="0" marL="0">
              <a:buNone/>
            </a:pPr>
            <a:r>
              <a:rPr lang="en-US" sz="850" b="1" dirty="0">
                <a:solidFill>
                  <a:srgbClr val="0F172A"/>
                </a:solidFill>
                <a:latin typeface="Arial" pitchFamily="34" charset="0"/>
                <a:ea typeface="Arial" pitchFamily="34" charset="-122"/>
                <a:cs typeface="Arial" pitchFamily="34" charset="-120"/>
              </a:rPr>
              <a:t>•  Laboratorium Rekayasa Presisi</a:t>
            </a:r>
            <a:endParaRPr lang="en-US" sz="850" dirty="0"/>
          </a:p>
        </p:txBody>
      </p:sp>
      <p:sp>
        <p:nvSpPr>
          <p:cNvPr id="60" name="Text 57"/>
          <p:cNvSpPr/>
          <p:nvPr/>
        </p:nvSpPr>
        <p:spPr>
          <a:xfrm>
            <a:off x="7406640" y="5907024"/>
            <a:ext cx="3840480" cy="21945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Fasilitas fabrikasi mesin, permesinan presisi &amp; pengujian NDT industri.</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JEJARING KEMITRAAN STRATEGIS</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06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EKOSISTEM HEXAHELIX: 95+ MITRA STRATEGIS TANPA BEBAN APBD</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Kepercayaan Korporasi Global &amp; Nasional yang Menanamkan Investasi Langsung di Jantung Kota Surakarta</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4389120" cy="4846320"/>
          </a:xfrm>
          <a:prstGeom prst="rect">
            <a:avLst/>
          </a:prstGeom>
          <a:solidFill>
            <a:srgbClr val="FFFFFF"/>
          </a:solidFill>
          <a:ln w="10160">
            <a:solidFill>
              <a:srgbClr val="CBD5E1"/>
            </a:solidFill>
            <a:prstDash val="solid"/>
          </a:ln>
        </p:spPr>
      </p:sp>
      <p:sp>
        <p:nvSpPr>
          <p:cNvPr id="11" name="Shape 9"/>
          <p:cNvSpPr/>
          <p:nvPr/>
        </p:nvSpPr>
        <p:spPr>
          <a:xfrm>
            <a:off x="731520" y="1417320"/>
            <a:ext cx="4389120" cy="54864"/>
          </a:xfrm>
          <a:prstGeom prst="rect">
            <a:avLst/>
          </a:prstGeom>
          <a:solidFill>
            <a:srgbClr val="1E40AF"/>
          </a:solidFill>
          <a:ln w="12700">
            <a:solidFill>
              <a:srgbClr val="1E40AF"/>
            </a:solidFill>
            <a:prstDash val="solid"/>
          </a:ln>
        </p:spPr>
      </p:sp>
      <p:sp>
        <p:nvSpPr>
          <p:cNvPr id="12" name="Text 10"/>
          <p:cNvSpPr/>
          <p:nvPr/>
        </p:nvSpPr>
        <p:spPr>
          <a:xfrm>
            <a:off x="868680" y="1554480"/>
            <a:ext cx="4114800" cy="237744"/>
          </a:xfrm>
          <a:prstGeom prst="rect">
            <a:avLst/>
          </a:prstGeom>
          <a:noFill/>
          <a:ln/>
        </p:spPr>
        <p:txBody>
          <a:bodyPr wrap="square" rtlCol="0" anchor="ctr"/>
          <a:lstStyle/>
          <a:p>
            <a:pPr indent="0" marL="0">
              <a:buNone/>
            </a:pPr>
            <a:r>
              <a:rPr lang="en-US" sz="900" b="1" dirty="0">
                <a:solidFill>
                  <a:srgbClr val="1E40AF"/>
                </a:solidFill>
                <a:latin typeface="Arial" pitchFamily="34" charset="0"/>
                <a:ea typeface="Arial" pitchFamily="34" charset="-122"/>
                <a:cs typeface="Arial" pitchFamily="34" charset="-120"/>
              </a:rPr>
              <a:t>KOMPOSISI 6 AKTOR HEXAHELIX (95+ MITRA)</a:t>
            </a:r>
            <a:endParaRPr lang="en-US" sz="900" dirty="0"/>
          </a:p>
        </p:txBody>
      </p:sp>
      <p:graphicFrame>
        <p:nvGraphicFramePr>
          <p:cNvPr id="13" name="Chart 0" descr=""/>
          <p:cNvGraphicFramePr/>
          <p:nvPr/>
        </p:nvGraphicFramePr>
        <p:xfrm>
          <a:off x="1005840" y="1874520"/>
          <a:ext cx="3840480" cy="219456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868680" y="4206240"/>
            <a:ext cx="109728" cy="109728"/>
          </a:xfrm>
          <a:prstGeom prst="ellipse">
            <a:avLst/>
          </a:prstGeom>
          <a:solidFill>
            <a:srgbClr val="0284C7"/>
          </a:solidFill>
          <a:ln w="12700">
            <a:solidFill>
              <a:srgbClr val="0284C7"/>
            </a:solidFill>
            <a:prstDash val="solid"/>
          </a:ln>
        </p:spPr>
      </p:sp>
      <p:sp>
        <p:nvSpPr>
          <p:cNvPr id="15" name="Text 12"/>
          <p:cNvSpPr/>
          <p:nvPr/>
        </p:nvSpPr>
        <p:spPr>
          <a:xfrm>
            <a:off x="1033272" y="4160520"/>
            <a:ext cx="1965960" cy="219456"/>
          </a:xfrm>
          <a:prstGeom prst="rect">
            <a:avLst/>
          </a:prstGeom>
          <a:noFill/>
          <a:ln/>
        </p:spPr>
        <p:txBody>
          <a:bodyPr wrap="square" rtlCol="0" anchor="ctr"/>
          <a:lstStyle/>
          <a:p>
            <a:pPr indent="0" marL="0">
              <a:buNone/>
            </a:pPr>
            <a:r>
              <a:rPr lang="en-US" sz="780" dirty="0">
                <a:solidFill>
                  <a:srgbClr val="0F172A"/>
                </a:solidFill>
                <a:latin typeface="Arial" pitchFamily="34" charset="0"/>
                <a:ea typeface="Arial" pitchFamily="34" charset="-122"/>
                <a:cs typeface="Arial" pitchFamily="34" charset="-120"/>
              </a:rPr>
              <a:t>Industri &amp; Bisnis:  37% (35)</a:t>
            </a:r>
            <a:endParaRPr lang="en-US" sz="780" dirty="0"/>
          </a:p>
        </p:txBody>
      </p:sp>
      <p:sp>
        <p:nvSpPr>
          <p:cNvPr id="16" name="Shape 13"/>
          <p:cNvSpPr/>
          <p:nvPr/>
        </p:nvSpPr>
        <p:spPr>
          <a:xfrm>
            <a:off x="3063240" y="4206240"/>
            <a:ext cx="109728" cy="109728"/>
          </a:xfrm>
          <a:prstGeom prst="ellipse">
            <a:avLst/>
          </a:prstGeom>
          <a:solidFill>
            <a:srgbClr val="D97706"/>
          </a:solidFill>
          <a:ln w="12700">
            <a:solidFill>
              <a:srgbClr val="D97706"/>
            </a:solidFill>
            <a:prstDash val="solid"/>
          </a:ln>
        </p:spPr>
      </p:sp>
      <p:sp>
        <p:nvSpPr>
          <p:cNvPr id="17" name="Text 14"/>
          <p:cNvSpPr/>
          <p:nvPr/>
        </p:nvSpPr>
        <p:spPr>
          <a:xfrm>
            <a:off x="3227832" y="4160520"/>
            <a:ext cx="1965960" cy="219456"/>
          </a:xfrm>
          <a:prstGeom prst="rect">
            <a:avLst/>
          </a:prstGeom>
          <a:noFill/>
          <a:ln/>
        </p:spPr>
        <p:txBody>
          <a:bodyPr wrap="square" rtlCol="0" anchor="ctr"/>
          <a:lstStyle/>
          <a:p>
            <a:pPr indent="0" marL="0">
              <a:buNone/>
            </a:pPr>
            <a:r>
              <a:rPr lang="en-US" sz="780" dirty="0">
                <a:solidFill>
                  <a:srgbClr val="0F172A"/>
                </a:solidFill>
                <a:latin typeface="Arial" pitchFamily="34" charset="0"/>
                <a:ea typeface="Arial" pitchFamily="34" charset="-122"/>
                <a:cs typeface="Arial" pitchFamily="34" charset="-120"/>
              </a:rPr>
              <a:t>Pemerintah / BUMN:  13% (12)</a:t>
            </a:r>
            <a:endParaRPr lang="en-US" sz="780" dirty="0"/>
          </a:p>
        </p:txBody>
      </p:sp>
      <p:sp>
        <p:nvSpPr>
          <p:cNvPr id="18" name="Shape 15"/>
          <p:cNvSpPr/>
          <p:nvPr/>
        </p:nvSpPr>
        <p:spPr>
          <a:xfrm>
            <a:off x="868680" y="4498848"/>
            <a:ext cx="109728" cy="109728"/>
          </a:xfrm>
          <a:prstGeom prst="ellipse">
            <a:avLst/>
          </a:prstGeom>
          <a:solidFill>
            <a:srgbClr val="1E40AF"/>
          </a:solidFill>
          <a:ln w="12700">
            <a:solidFill>
              <a:srgbClr val="1E40AF"/>
            </a:solidFill>
            <a:prstDash val="solid"/>
          </a:ln>
        </p:spPr>
      </p:sp>
      <p:sp>
        <p:nvSpPr>
          <p:cNvPr id="19" name="Text 16"/>
          <p:cNvSpPr/>
          <p:nvPr/>
        </p:nvSpPr>
        <p:spPr>
          <a:xfrm>
            <a:off x="1033272" y="4453128"/>
            <a:ext cx="1965960" cy="219456"/>
          </a:xfrm>
          <a:prstGeom prst="rect">
            <a:avLst/>
          </a:prstGeom>
          <a:noFill/>
          <a:ln/>
        </p:spPr>
        <p:txBody>
          <a:bodyPr wrap="square" rtlCol="0" anchor="ctr"/>
          <a:lstStyle/>
          <a:p>
            <a:pPr indent="0" marL="0">
              <a:buNone/>
            </a:pPr>
            <a:r>
              <a:rPr lang="en-US" sz="780" dirty="0">
                <a:solidFill>
                  <a:srgbClr val="0F172A"/>
                </a:solidFill>
                <a:latin typeface="Arial" pitchFamily="34" charset="0"/>
                <a:ea typeface="Arial" pitchFamily="34" charset="-122"/>
                <a:cs typeface="Arial" pitchFamily="34" charset="-120"/>
              </a:rPr>
              <a:t>Akademisi / Kampus:  21% (20)</a:t>
            </a:r>
            <a:endParaRPr lang="en-US" sz="780" dirty="0"/>
          </a:p>
        </p:txBody>
      </p:sp>
      <p:sp>
        <p:nvSpPr>
          <p:cNvPr id="20" name="Shape 17"/>
          <p:cNvSpPr/>
          <p:nvPr/>
        </p:nvSpPr>
        <p:spPr>
          <a:xfrm>
            <a:off x="3063240" y="4498848"/>
            <a:ext cx="109728" cy="109728"/>
          </a:xfrm>
          <a:prstGeom prst="ellipse">
            <a:avLst/>
          </a:prstGeom>
          <a:solidFill>
            <a:srgbClr val="7C3AED"/>
          </a:solidFill>
          <a:ln w="12700">
            <a:solidFill>
              <a:srgbClr val="7C3AED"/>
            </a:solidFill>
            <a:prstDash val="solid"/>
          </a:ln>
        </p:spPr>
      </p:sp>
      <p:sp>
        <p:nvSpPr>
          <p:cNvPr id="21" name="Text 18"/>
          <p:cNvSpPr/>
          <p:nvPr/>
        </p:nvSpPr>
        <p:spPr>
          <a:xfrm>
            <a:off x="3227832" y="4453128"/>
            <a:ext cx="1965960" cy="219456"/>
          </a:xfrm>
          <a:prstGeom prst="rect">
            <a:avLst/>
          </a:prstGeom>
          <a:noFill/>
          <a:ln/>
        </p:spPr>
        <p:txBody>
          <a:bodyPr wrap="square" rtlCol="0" anchor="ctr"/>
          <a:lstStyle/>
          <a:p>
            <a:pPr indent="0" marL="0">
              <a:buNone/>
            </a:pPr>
            <a:r>
              <a:rPr lang="en-US" sz="780" dirty="0">
                <a:solidFill>
                  <a:srgbClr val="0F172A"/>
                </a:solidFill>
                <a:latin typeface="Arial" pitchFamily="34" charset="0"/>
                <a:ea typeface="Arial" pitchFamily="34" charset="-122"/>
                <a:cs typeface="Arial" pitchFamily="34" charset="-120"/>
              </a:rPr>
              <a:t>Media Massa:  8% (8)</a:t>
            </a:r>
            <a:endParaRPr lang="en-US" sz="780" dirty="0"/>
          </a:p>
        </p:txBody>
      </p:sp>
      <p:sp>
        <p:nvSpPr>
          <p:cNvPr id="22" name="Shape 19"/>
          <p:cNvSpPr/>
          <p:nvPr/>
        </p:nvSpPr>
        <p:spPr>
          <a:xfrm>
            <a:off x="868680" y="4791456"/>
            <a:ext cx="109728" cy="109728"/>
          </a:xfrm>
          <a:prstGeom prst="ellipse">
            <a:avLst/>
          </a:prstGeom>
          <a:solidFill>
            <a:srgbClr val="059669"/>
          </a:solidFill>
          <a:ln w="12700">
            <a:solidFill>
              <a:srgbClr val="059669"/>
            </a:solidFill>
            <a:prstDash val="solid"/>
          </a:ln>
        </p:spPr>
      </p:sp>
      <p:sp>
        <p:nvSpPr>
          <p:cNvPr id="23" name="Text 20"/>
          <p:cNvSpPr/>
          <p:nvPr/>
        </p:nvSpPr>
        <p:spPr>
          <a:xfrm>
            <a:off x="1033272" y="4745736"/>
            <a:ext cx="1965960" cy="219456"/>
          </a:xfrm>
          <a:prstGeom prst="rect">
            <a:avLst/>
          </a:prstGeom>
          <a:noFill/>
          <a:ln/>
        </p:spPr>
        <p:txBody>
          <a:bodyPr wrap="square" rtlCol="0" anchor="ctr"/>
          <a:lstStyle/>
          <a:p>
            <a:pPr indent="0" marL="0">
              <a:buNone/>
            </a:pPr>
            <a:r>
              <a:rPr lang="en-US" sz="780" dirty="0">
                <a:solidFill>
                  <a:srgbClr val="0F172A"/>
                </a:solidFill>
                <a:latin typeface="Arial" pitchFamily="34" charset="0"/>
                <a:ea typeface="Arial" pitchFamily="34" charset="-122"/>
                <a:cs typeface="Arial" pitchFamily="34" charset="-120"/>
              </a:rPr>
              <a:t>Komunitas &amp; UMKM:  16% (15)</a:t>
            </a:r>
            <a:endParaRPr lang="en-US" sz="780" dirty="0"/>
          </a:p>
        </p:txBody>
      </p:sp>
      <p:sp>
        <p:nvSpPr>
          <p:cNvPr id="24" name="Shape 21"/>
          <p:cNvSpPr/>
          <p:nvPr/>
        </p:nvSpPr>
        <p:spPr>
          <a:xfrm>
            <a:off x="3063240" y="4791456"/>
            <a:ext cx="109728" cy="109728"/>
          </a:xfrm>
          <a:prstGeom prst="ellipse">
            <a:avLst/>
          </a:prstGeom>
          <a:solidFill>
            <a:srgbClr val="DB2777"/>
          </a:solidFill>
          <a:ln w="12700">
            <a:solidFill>
              <a:srgbClr val="DB2777"/>
            </a:solidFill>
            <a:prstDash val="solid"/>
          </a:ln>
        </p:spPr>
      </p:sp>
      <p:sp>
        <p:nvSpPr>
          <p:cNvPr id="25" name="Text 22"/>
          <p:cNvSpPr/>
          <p:nvPr/>
        </p:nvSpPr>
        <p:spPr>
          <a:xfrm>
            <a:off x="3227832" y="4745736"/>
            <a:ext cx="1965960" cy="219456"/>
          </a:xfrm>
          <a:prstGeom prst="rect">
            <a:avLst/>
          </a:prstGeom>
          <a:noFill/>
          <a:ln/>
        </p:spPr>
        <p:txBody>
          <a:bodyPr wrap="square" rtlCol="0" anchor="ctr"/>
          <a:lstStyle/>
          <a:p>
            <a:pPr indent="0" marL="0">
              <a:buNone/>
            </a:pPr>
            <a:r>
              <a:rPr lang="en-US" sz="780" dirty="0">
                <a:solidFill>
                  <a:srgbClr val="0F172A"/>
                </a:solidFill>
                <a:latin typeface="Arial" pitchFamily="34" charset="0"/>
                <a:ea typeface="Arial" pitchFamily="34" charset="-122"/>
                <a:cs typeface="Arial" pitchFamily="34" charset="-120"/>
              </a:rPr>
              <a:t>Lembaga Global:  5% (5)</a:t>
            </a:r>
            <a:endParaRPr lang="en-US" sz="780" dirty="0"/>
          </a:p>
        </p:txBody>
      </p:sp>
      <p:sp>
        <p:nvSpPr>
          <p:cNvPr id="26" name="Shape 23"/>
          <p:cNvSpPr/>
          <p:nvPr/>
        </p:nvSpPr>
        <p:spPr>
          <a:xfrm>
            <a:off x="868680" y="5166360"/>
            <a:ext cx="4114800" cy="960120"/>
          </a:xfrm>
          <a:prstGeom prst="rect">
            <a:avLst/>
          </a:prstGeom>
          <a:solidFill>
            <a:srgbClr val="F8FAFC"/>
          </a:solidFill>
          <a:ln w="10160">
            <a:solidFill>
              <a:srgbClr val="E2E8F0"/>
            </a:solidFill>
            <a:prstDash val="solid"/>
          </a:ln>
        </p:spPr>
      </p:sp>
      <p:sp>
        <p:nvSpPr>
          <p:cNvPr id="27" name="Text 24"/>
          <p:cNvSpPr/>
          <p:nvPr/>
        </p:nvSpPr>
        <p:spPr>
          <a:xfrm>
            <a:off x="960120" y="5230368"/>
            <a:ext cx="3931920" cy="822960"/>
          </a:xfrm>
          <a:prstGeom prst="rect">
            <a:avLst/>
          </a:prstGeom>
          <a:noFill/>
          <a:ln/>
        </p:spPr>
        <p:txBody>
          <a:bodyPr wrap="square" rtlCol="0" anchor="ctr"/>
          <a:lstStyle/>
          <a:p>
            <a:pPr indent="0" marL="0">
              <a:lnSpc>
                <a:spcPts val="1200"/>
              </a:lnSpc>
              <a:buNone/>
            </a:pPr>
            <a:r>
              <a:rPr lang="en-US" sz="800" dirty="0">
                <a:solidFill>
                  <a:srgbClr val="334155"/>
                </a:solidFill>
                <a:latin typeface="Arial" pitchFamily="34" charset="0"/>
                <a:ea typeface="Arial" pitchFamily="34" charset="-122"/>
                <a:cs typeface="Arial" pitchFamily="34" charset="-120"/>
              </a:rPr>
              <a:t>TOTAL: 95+ MITRA STRATEGIS AKTIF</a:t>
            </a:r>
            <a:endParaRPr lang="en-US" sz="800" dirty="0"/>
          </a:p>
          <a:p>
            <a:pPr indent="0" marL="0">
              <a:lnSpc>
                <a:spcPts val="1200"/>
              </a:lnSpc>
              <a:buNone/>
            </a:pPr>
            <a:r>
              <a:rPr lang="en-US" sz="800" dirty="0">
                <a:solidFill>
                  <a:srgbClr val="334155"/>
                </a:solidFill>
                <a:latin typeface="Arial" pitchFamily="34" charset="0"/>
                <a:ea typeface="Arial" pitchFamily="34" charset="-122"/>
                <a:cs typeface="Arial" pitchFamily="34" charset="-120"/>
              </a:rPr>
              <a:t>• 100% Investasi Swasta &amp; PPP (0% Beban APBD)</a:t>
            </a:r>
            <a:endParaRPr lang="en-US" sz="800" dirty="0"/>
          </a:p>
          <a:p>
            <a:pPr indent="0" marL="0">
              <a:lnSpc>
                <a:spcPts val="1200"/>
              </a:lnSpc>
              <a:buNone/>
            </a:pPr>
            <a:r>
              <a:rPr lang="en-US" sz="800" dirty="0">
                <a:solidFill>
                  <a:srgbClr val="334155"/>
                </a:solidFill>
                <a:latin typeface="Arial" pitchFamily="34" charset="0"/>
                <a:ea typeface="Arial" pitchFamily="34" charset="-122"/>
                <a:cs typeface="Arial" pitchFamily="34" charset="-120"/>
              </a:rPr>
              <a:t>• Akses fasilitas 5G, Cyber Security, AI, &amp; Migas</a:t>
            </a:r>
            <a:endParaRPr lang="en-US" sz="800" dirty="0"/>
          </a:p>
          <a:p>
            <a:pPr indent="0" marL="0">
              <a:lnSpc>
                <a:spcPts val="1200"/>
              </a:lnSpc>
              <a:buNone/>
            </a:pPr>
            <a:r>
              <a:rPr lang="en-US" sz="800" dirty="0">
                <a:solidFill>
                  <a:srgbClr val="334155"/>
                </a:solidFill>
                <a:latin typeface="Arial" pitchFamily="34" charset="0"/>
                <a:ea typeface="Arial" pitchFamily="34" charset="-122"/>
                <a:cs typeface="Arial" pitchFamily="34" charset="-120"/>
              </a:rPr>
              <a:t>• Saluran penyerapan kerja langsung bagi warga Solo</a:t>
            </a:r>
            <a:endParaRPr lang="en-US" sz="800" dirty="0"/>
          </a:p>
        </p:txBody>
      </p:sp>
      <p:sp>
        <p:nvSpPr>
          <p:cNvPr id="28" name="Shape 25"/>
          <p:cNvSpPr/>
          <p:nvPr/>
        </p:nvSpPr>
        <p:spPr>
          <a:xfrm>
            <a:off x="5303520" y="1417320"/>
            <a:ext cx="6156655" cy="4846320"/>
          </a:xfrm>
          <a:prstGeom prst="rect">
            <a:avLst/>
          </a:prstGeom>
          <a:solidFill>
            <a:srgbClr val="FFFFFF"/>
          </a:solidFill>
          <a:ln w="10160">
            <a:solidFill>
              <a:srgbClr val="CBD5E1"/>
            </a:solidFill>
            <a:prstDash val="solid"/>
          </a:ln>
        </p:spPr>
      </p:sp>
      <p:sp>
        <p:nvSpPr>
          <p:cNvPr id="29" name="Shape 26"/>
          <p:cNvSpPr/>
          <p:nvPr/>
        </p:nvSpPr>
        <p:spPr>
          <a:xfrm>
            <a:off x="5303520" y="1417320"/>
            <a:ext cx="6156655" cy="54864"/>
          </a:xfrm>
          <a:prstGeom prst="rect">
            <a:avLst/>
          </a:prstGeom>
          <a:solidFill>
            <a:srgbClr val="D97706"/>
          </a:solidFill>
          <a:ln w="12700">
            <a:solidFill>
              <a:srgbClr val="D97706"/>
            </a:solidFill>
            <a:prstDash val="solid"/>
          </a:ln>
        </p:spPr>
      </p:sp>
      <p:sp>
        <p:nvSpPr>
          <p:cNvPr id="30" name="Text 27"/>
          <p:cNvSpPr/>
          <p:nvPr/>
        </p:nvSpPr>
        <p:spPr>
          <a:xfrm>
            <a:off x="5486400" y="1554480"/>
            <a:ext cx="5760720" cy="237744"/>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MITRA INDUSTRI KELAS DUNIA YANG AKTIF BERINVESTASI DI STP</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0" y="1874520"/>
          <a:ext cx="5790895" cy="2834640"/>
        </p:xfrm>
        <a:graphic>
          <a:graphicData uri="http://schemas.openxmlformats.org/drawingml/2006/table">
            <a:tbl>
              <a:tblPr/>
              <a:tblGrid>
                <a:gridCol w="1554480"/>
                <a:gridCol w="1645920"/>
                <a:gridCol w="2590495"/>
              </a:tblGrid>
              <a:tr h="329184">
                <a:tc>
                  <a:txBody>
                    <a:bodyPr/>
                    <a:lstStyle/>
                    <a:p>
                      <a:pPr indent="0" marL="0">
                        <a:buNone/>
                      </a:pPr>
                      <a:r>
                        <a:rPr lang="en-US" sz="820" b="1" dirty="0">
                          <a:solidFill>
                            <a:srgbClr val="0F172A"/>
                          </a:solidFill>
                          <a:latin typeface="Arial" pitchFamily="34" charset="0"/>
                          <a:ea typeface="Arial" pitchFamily="34" charset="-122"/>
                          <a:cs typeface="Arial" pitchFamily="34" charset="-120"/>
                        </a:rPr>
                        <a:t>SEKTOR INDUSTRI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MITRA STRATEGIS</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KONTRIBUSI NYATA BAGI KAWASAN STP</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r>
              <a:tr h="402336">
                <a:tc>
                  <a:txBody>
                    <a:bodyPr/>
                    <a:lstStyle/>
                    <a:p>
                      <a:pPr indent="0" marL="0">
                        <a:buNone/>
                      </a:pPr>
                      <a:r>
                        <a:rPr lang="en-US" sz="820" dirty="0">
                          <a:solidFill>
                            <a:srgbClr val="334155"/>
                          </a:solidFill>
                          <a:latin typeface="Arial" pitchFamily="34" charset="0"/>
                          <a:ea typeface="Arial" pitchFamily="34" charset="-122"/>
                          <a:cs typeface="Arial" pitchFamily="34" charset="-120"/>
                        </a:rPr>
                        <a:t>E-Commerce &amp; Logistik</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Shopee Indonesia</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Infrastruktur UMKM Hub, Co-location, sewa lahan Rp 544 jt/th</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820" dirty="0">
                          <a:solidFill>
                            <a:srgbClr val="334155"/>
                          </a:solidFill>
                          <a:latin typeface="Arial" pitchFamily="34" charset="0"/>
                          <a:ea typeface="Arial" pitchFamily="34" charset="-122"/>
                          <a:cs typeface="Arial" pitchFamily="34" charset="-120"/>
                        </a:rPr>
                        <a:t>Gaming &amp; Kreatif</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Garena</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Gaming studio, beasiswa talenta digital, turnamen esports</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820" dirty="0">
                          <a:solidFill>
                            <a:srgbClr val="334155"/>
                          </a:solidFill>
                          <a:latin typeface="Arial" pitchFamily="34" charset="0"/>
                          <a:ea typeface="Arial" pitchFamily="34" charset="-122"/>
                          <a:cs typeface="Arial" pitchFamily="34" charset="-120"/>
                        </a:rPr>
                        <a:t>Perbankan &amp; Fintech</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Bank Mandiri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Mandiri Innovation Hub, fasilitasi modal startup binaan</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820" dirty="0">
                          <a:solidFill>
                            <a:srgbClr val="334155"/>
                          </a:solidFill>
                          <a:latin typeface="Arial" pitchFamily="34" charset="0"/>
                          <a:ea typeface="Arial" pitchFamily="34" charset="-122"/>
                          <a:cs typeface="Arial" pitchFamily="34" charset="-120"/>
                        </a:rPr>
                        <a:t>Telekomunikasi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Indosat Ooredoo Hutchison</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Laboratorium 5G, konektivitas fiber optik terintegrasi kawasan</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402336">
                <a:tc>
                  <a:txBody>
                    <a:bodyPr/>
                    <a:lstStyle/>
                    <a:p>
                      <a:pPr indent="0" marL="0">
                        <a:buNone/>
                      </a:pPr>
                      <a:r>
                        <a:rPr lang="en-US" sz="820" dirty="0">
                          <a:solidFill>
                            <a:srgbClr val="334155"/>
                          </a:solidFill>
                          <a:latin typeface="Arial" pitchFamily="34" charset="0"/>
                          <a:ea typeface="Arial" pitchFamily="34" charset="-122"/>
                          <a:cs typeface="Arial" pitchFamily="34" charset="-120"/>
                        </a:rPr>
                        <a:t>Ride-Hailing &amp; UMKM</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GoTo (Gojek-Tokopedia)</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GoTo UMKM Center, pelatihan onboarding merchant lokal</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438912">
                <a:tc>
                  <a:txBody>
                    <a:bodyPr/>
                    <a:lstStyle/>
                    <a:p>
                      <a:pPr indent="0" marL="0">
                        <a:buNone/>
                      </a:pPr>
                      <a:r>
                        <a:rPr lang="en-US" sz="820" dirty="0">
                          <a:solidFill>
                            <a:srgbClr val="334155"/>
                          </a:solidFill>
                          <a:latin typeface="Arial" pitchFamily="34" charset="0"/>
                          <a:ea typeface="Arial" pitchFamily="34" charset="-122"/>
                          <a:cs typeface="Arial" pitchFamily="34" charset="-120"/>
                        </a:rPr>
                        <a:t>Migas &amp; Industri Berat</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D97706"/>
                          </a:solidFill>
                          <a:latin typeface="Arial" pitchFamily="34" charset="0"/>
                          <a:ea typeface="Arial" pitchFamily="34" charset="-122"/>
                          <a:cs typeface="Arial" pitchFamily="34" charset="-120"/>
                        </a:rPr>
                        <a:t>OGSCI Consortium</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b="1" dirty="0">
                          <a:solidFill>
                            <a:srgbClr val="D97706"/>
                          </a:solidFill>
                          <a:latin typeface="Arial" pitchFamily="34" charset="0"/>
                          <a:ea typeface="Arial" pitchFamily="34" charset="-122"/>
                          <a:cs typeface="Arial" pitchFamily="34" charset="-120"/>
                        </a:rPr>
                        <a:t>Pelatihan migas internasional: Target Rp 6,25 M (2030)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bl>
          </a:graphicData>
        </a:graphic>
      </p:graphicFrame>
      <p:sp>
        <p:nvSpPr>
          <p:cNvPr id="32" name="Shape 28"/>
          <p:cNvSpPr/>
          <p:nvPr/>
        </p:nvSpPr>
        <p:spPr>
          <a:xfrm>
            <a:off x="5486400" y="4846320"/>
            <a:ext cx="5790895" cy="1234440"/>
          </a:xfrm>
          <a:prstGeom prst="rect">
            <a:avLst/>
          </a:prstGeom>
          <a:solidFill>
            <a:srgbClr val="D1FAE5"/>
          </a:solidFill>
          <a:ln w="15240">
            <a:solidFill>
              <a:srgbClr val="059669"/>
            </a:solidFill>
            <a:prstDash val="solid"/>
          </a:ln>
        </p:spPr>
      </p:sp>
      <p:sp>
        <p:nvSpPr>
          <p:cNvPr id="33" name="Text 29"/>
          <p:cNvSpPr/>
          <p:nvPr/>
        </p:nvSpPr>
        <p:spPr>
          <a:xfrm>
            <a:off x="5623560" y="4937760"/>
            <a:ext cx="5486400" cy="219456"/>
          </a:xfrm>
          <a:prstGeom prst="rect">
            <a:avLst/>
          </a:prstGeom>
          <a:noFill/>
          <a:ln/>
        </p:spPr>
        <p:txBody>
          <a:bodyPr wrap="square" rtlCol="0" anchor="ctr"/>
          <a:lstStyle/>
          <a:p>
            <a:pPr indent="0" marL="0">
              <a:buNone/>
            </a:pPr>
            <a:r>
              <a:rPr lang="en-US" sz="880" b="1" dirty="0">
                <a:solidFill>
                  <a:srgbClr val="065F46"/>
                </a:solidFill>
                <a:latin typeface="Arial" pitchFamily="34" charset="0"/>
                <a:ea typeface="Arial" pitchFamily="34" charset="-122"/>
                <a:cs typeface="Arial" pitchFamily="34" charset="-120"/>
              </a:rPr>
              <a:t>PRINSIP ZERO APBD BURDEN: SELURUH FASILITAS CANGGIH DIBANGUN OLEH SWASTA</a:t>
            </a:r>
            <a:endParaRPr lang="en-US" sz="880" dirty="0"/>
          </a:p>
        </p:txBody>
      </p:sp>
      <p:sp>
        <p:nvSpPr>
          <p:cNvPr id="34" name="Text 30"/>
          <p:cNvSpPr/>
          <p:nvPr/>
        </p:nvSpPr>
        <p:spPr>
          <a:xfrm>
            <a:off x="5623560" y="5193792"/>
            <a:ext cx="5486400" cy="777240"/>
          </a:xfrm>
          <a:prstGeom prst="rect">
            <a:avLst/>
          </a:prstGeom>
          <a:noFill/>
          <a:ln/>
        </p:spPr>
        <p:txBody>
          <a:bodyPr wrap="square" rtlCol="0" anchor="ctr"/>
          <a:lstStyle/>
          <a:p>
            <a:pPr indent="0" marL="0">
              <a:lnSpc>
                <a:spcPts val="1100"/>
              </a:lnSpc>
              <a:buNone/>
            </a:pPr>
            <a:r>
              <a:rPr lang="en-US" sz="820" dirty="0">
                <a:solidFill>
                  <a:srgbClr val="047857"/>
                </a:solidFill>
                <a:latin typeface="Arial" pitchFamily="34" charset="0"/>
                <a:ea typeface="Arial" pitchFamily="34" charset="-122"/>
                <a:cs typeface="Arial" pitchFamily="34" charset="-120"/>
              </a:rPr>
              <a:t>Laboratorium AI, Studio Gaming, 5G Experience, hingga Cyber Security Hub tidak dibangun dengan membebani belanja modal APBD Kota Surakarta. Semuanya hadir melalui kemitraan murni Public-Private Partnership (PPP).</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REFLEKSI STRATEGIS &amp; SOLUSI KONKRET</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07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DIAGNOSA &amp; 5 GAP UTAMA BESERTA SOLUSI TEROBOSANNYA</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Kajian Kritis Berdasarkan Dokumen Strategi STP 2026: Gap Riil, Risiko, dan Solusi Kebijakan Kepala Daerah</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353312"/>
            <a:ext cx="4389120" cy="713232"/>
          </a:xfrm>
          <a:prstGeom prst="rect">
            <a:avLst/>
          </a:prstGeom>
          <a:solidFill>
            <a:srgbClr val="FFFFFF"/>
          </a:solidFill>
          <a:ln w="10160">
            <a:solidFill>
              <a:srgbClr val="CBD5E1"/>
            </a:solidFill>
            <a:prstDash val="solid"/>
          </a:ln>
        </p:spPr>
      </p:sp>
      <p:sp>
        <p:nvSpPr>
          <p:cNvPr id="11" name="Shape 9"/>
          <p:cNvSpPr/>
          <p:nvPr/>
        </p:nvSpPr>
        <p:spPr>
          <a:xfrm>
            <a:off x="841248" y="1444752"/>
            <a:ext cx="685800" cy="201168"/>
          </a:xfrm>
          <a:prstGeom prst="rect">
            <a:avLst/>
          </a:prstGeom>
          <a:solidFill>
            <a:srgbClr val="FEE2E2"/>
          </a:solidFill>
          <a:ln w="10160">
            <a:solidFill>
              <a:srgbClr val="DC2626"/>
            </a:solidFill>
            <a:prstDash val="solid"/>
          </a:ln>
        </p:spPr>
      </p:sp>
      <p:sp>
        <p:nvSpPr>
          <p:cNvPr id="12" name="Text 10"/>
          <p:cNvSpPr/>
          <p:nvPr/>
        </p:nvSpPr>
        <p:spPr>
          <a:xfrm>
            <a:off x="841248" y="1444752"/>
            <a:ext cx="685800" cy="201168"/>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01</a:t>
            </a:r>
            <a:endParaRPr lang="en-US" sz="750" dirty="0"/>
          </a:p>
        </p:txBody>
      </p:sp>
      <p:sp>
        <p:nvSpPr>
          <p:cNvPr id="13" name="Text 11"/>
          <p:cNvSpPr/>
          <p:nvPr/>
        </p:nvSpPr>
        <p:spPr>
          <a:xfrm>
            <a:off x="1600200" y="1426464"/>
            <a:ext cx="3429000" cy="219456"/>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Jenis Pelatihan Masih Terbatas</a:t>
            </a:r>
            <a:endParaRPr lang="en-US" sz="880" dirty="0"/>
          </a:p>
        </p:txBody>
      </p:sp>
      <p:sp>
        <p:nvSpPr>
          <p:cNvPr id="14" name="Text 12"/>
          <p:cNvSpPr/>
          <p:nvPr/>
        </p:nvSpPr>
        <p:spPr>
          <a:xfrm>
            <a:off x="841248" y="1682496"/>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Keterbatasan instruktur ahli internal &amp; sarana diklat berbasis industri masa depan.</a:t>
            </a:r>
            <a:endParaRPr lang="en-US" sz="760" dirty="0"/>
          </a:p>
        </p:txBody>
      </p:sp>
      <p:sp>
        <p:nvSpPr>
          <p:cNvPr id="15" name="Shape 13"/>
          <p:cNvSpPr/>
          <p:nvPr/>
        </p:nvSpPr>
        <p:spPr>
          <a:xfrm>
            <a:off x="5193792" y="1572768"/>
            <a:ext cx="310896" cy="237744"/>
          </a:xfrm>
          <a:prstGeom prst="rightArrow">
            <a:avLst/>
          </a:prstGeom>
          <a:solidFill>
            <a:srgbClr val="1E40AF"/>
          </a:solidFill>
          <a:ln w="12700">
            <a:solidFill>
              <a:srgbClr val="1E40AF"/>
            </a:solidFill>
            <a:prstDash val="solid"/>
          </a:ln>
        </p:spPr>
      </p:sp>
      <p:sp>
        <p:nvSpPr>
          <p:cNvPr id="16" name="Shape 14"/>
          <p:cNvSpPr/>
          <p:nvPr/>
        </p:nvSpPr>
        <p:spPr>
          <a:xfrm>
            <a:off x="5577840" y="1353312"/>
            <a:ext cx="5882335" cy="713232"/>
          </a:xfrm>
          <a:prstGeom prst="rect">
            <a:avLst/>
          </a:prstGeom>
          <a:solidFill>
            <a:srgbClr val="F8FAFC"/>
          </a:solidFill>
          <a:ln w="10160">
            <a:solidFill>
              <a:srgbClr val="CBD5E1"/>
            </a:solidFill>
            <a:prstDash val="solid"/>
          </a:ln>
        </p:spPr>
      </p:sp>
      <p:sp>
        <p:nvSpPr>
          <p:cNvPr id="17" name="Shape 15"/>
          <p:cNvSpPr/>
          <p:nvPr/>
        </p:nvSpPr>
        <p:spPr>
          <a:xfrm>
            <a:off x="5577840" y="1353312"/>
            <a:ext cx="5882335" cy="54864"/>
          </a:xfrm>
          <a:prstGeom prst="rect">
            <a:avLst/>
          </a:prstGeom>
          <a:solidFill>
            <a:srgbClr val="1E40AF"/>
          </a:solidFill>
          <a:ln w="12700">
            <a:solidFill>
              <a:srgbClr val="1E40AF"/>
            </a:solidFill>
            <a:prstDash val="solid"/>
          </a:ln>
        </p:spPr>
      </p:sp>
      <p:sp>
        <p:nvSpPr>
          <p:cNvPr id="18" name="Text 16"/>
          <p:cNvSpPr/>
          <p:nvPr/>
        </p:nvSpPr>
        <p:spPr>
          <a:xfrm>
            <a:off x="5715000" y="1426464"/>
            <a:ext cx="5623560" cy="237744"/>
          </a:xfrm>
          <a:prstGeom prst="rect">
            <a:avLst/>
          </a:prstGeom>
          <a:noFill/>
          <a:ln/>
        </p:spPr>
        <p:txBody>
          <a:bodyPr wrap="square" rtlCol="0" anchor="ctr"/>
          <a:lstStyle/>
          <a:p>
            <a:pPr indent="0" marL="0">
              <a:buNone/>
            </a:pPr>
            <a:r>
              <a:rPr lang="en-US" sz="880" b="1" dirty="0">
                <a:solidFill>
                  <a:srgbClr val="1E40AF"/>
                </a:solidFill>
                <a:latin typeface="Arial" pitchFamily="34" charset="0"/>
                <a:ea typeface="Arial" pitchFamily="34" charset="-122"/>
                <a:cs typeface="Arial" pitchFamily="34" charset="-120"/>
              </a:rPr>
              <a:t>✔  Gandeng Korporasi Global (OGSCI, Kemenperin) Buka Kelas Spesialis</a:t>
            </a:r>
            <a:endParaRPr lang="en-US" sz="880" dirty="0"/>
          </a:p>
        </p:txBody>
      </p:sp>
      <p:sp>
        <p:nvSpPr>
          <p:cNvPr id="19" name="Text 17"/>
          <p:cNvSpPr/>
          <p:nvPr/>
        </p:nvSpPr>
        <p:spPr>
          <a:xfrm>
            <a:off x="5715000" y="1682496"/>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Welder Bawah Air, AI Engineer, Teknisi Baterai EV, &amp; Drone Operator.</a:t>
            </a:r>
            <a:endParaRPr lang="en-US" sz="780" dirty="0"/>
          </a:p>
        </p:txBody>
      </p:sp>
      <p:sp>
        <p:nvSpPr>
          <p:cNvPr id="20" name="Shape 18"/>
          <p:cNvSpPr/>
          <p:nvPr/>
        </p:nvSpPr>
        <p:spPr>
          <a:xfrm>
            <a:off x="731520" y="2139696"/>
            <a:ext cx="4389120" cy="713232"/>
          </a:xfrm>
          <a:prstGeom prst="rect">
            <a:avLst/>
          </a:prstGeom>
          <a:solidFill>
            <a:srgbClr val="FFFFFF"/>
          </a:solidFill>
          <a:ln w="10160">
            <a:solidFill>
              <a:srgbClr val="CBD5E1"/>
            </a:solidFill>
            <a:prstDash val="solid"/>
          </a:ln>
        </p:spPr>
      </p:sp>
      <p:sp>
        <p:nvSpPr>
          <p:cNvPr id="21" name="Shape 19"/>
          <p:cNvSpPr/>
          <p:nvPr/>
        </p:nvSpPr>
        <p:spPr>
          <a:xfrm>
            <a:off x="841248" y="2231136"/>
            <a:ext cx="685800" cy="201168"/>
          </a:xfrm>
          <a:prstGeom prst="rect">
            <a:avLst/>
          </a:prstGeom>
          <a:solidFill>
            <a:srgbClr val="FEE2E2"/>
          </a:solidFill>
          <a:ln w="10160">
            <a:solidFill>
              <a:srgbClr val="DC2626"/>
            </a:solidFill>
            <a:prstDash val="solid"/>
          </a:ln>
        </p:spPr>
      </p:sp>
      <p:sp>
        <p:nvSpPr>
          <p:cNvPr id="22" name="Text 20"/>
          <p:cNvSpPr/>
          <p:nvPr/>
        </p:nvSpPr>
        <p:spPr>
          <a:xfrm>
            <a:off x="841248" y="2231136"/>
            <a:ext cx="685800" cy="201168"/>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02</a:t>
            </a:r>
            <a:endParaRPr lang="en-US" sz="750" dirty="0"/>
          </a:p>
        </p:txBody>
      </p:sp>
      <p:sp>
        <p:nvSpPr>
          <p:cNvPr id="23" name="Text 21"/>
          <p:cNvSpPr/>
          <p:nvPr/>
        </p:nvSpPr>
        <p:spPr>
          <a:xfrm>
            <a:off x="1600200" y="2212848"/>
            <a:ext cx="3429000" cy="219456"/>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R&amp;D Belum Mengarah Hilirisasi</a:t>
            </a:r>
            <a:endParaRPr lang="en-US" sz="880" dirty="0"/>
          </a:p>
        </p:txBody>
      </p:sp>
      <p:sp>
        <p:nvSpPr>
          <p:cNvPr id="24" name="Text 22"/>
          <p:cNvSpPr/>
          <p:nvPr/>
        </p:nvSpPr>
        <p:spPr>
          <a:xfrm>
            <a:off x="841248" y="2468880"/>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Riset kampus berjalan terisolasi, kurang terpetakan, dan belum berorientasi pasar.</a:t>
            </a:r>
            <a:endParaRPr lang="en-US" sz="760" dirty="0"/>
          </a:p>
        </p:txBody>
      </p:sp>
      <p:sp>
        <p:nvSpPr>
          <p:cNvPr id="25" name="Shape 23"/>
          <p:cNvSpPr/>
          <p:nvPr/>
        </p:nvSpPr>
        <p:spPr>
          <a:xfrm>
            <a:off x="5193792" y="2359152"/>
            <a:ext cx="310896" cy="237744"/>
          </a:xfrm>
          <a:prstGeom prst="rightArrow">
            <a:avLst/>
          </a:prstGeom>
          <a:solidFill>
            <a:srgbClr val="1E40AF"/>
          </a:solidFill>
          <a:ln w="12700">
            <a:solidFill>
              <a:srgbClr val="1E40AF"/>
            </a:solidFill>
            <a:prstDash val="solid"/>
          </a:ln>
        </p:spPr>
      </p:sp>
      <p:sp>
        <p:nvSpPr>
          <p:cNvPr id="26" name="Shape 24"/>
          <p:cNvSpPr/>
          <p:nvPr/>
        </p:nvSpPr>
        <p:spPr>
          <a:xfrm>
            <a:off x="5577840" y="2139696"/>
            <a:ext cx="5882335" cy="713232"/>
          </a:xfrm>
          <a:prstGeom prst="rect">
            <a:avLst/>
          </a:prstGeom>
          <a:solidFill>
            <a:srgbClr val="F8FAFC"/>
          </a:solidFill>
          <a:ln w="10160">
            <a:solidFill>
              <a:srgbClr val="CBD5E1"/>
            </a:solidFill>
            <a:prstDash val="solid"/>
          </a:ln>
        </p:spPr>
      </p:sp>
      <p:sp>
        <p:nvSpPr>
          <p:cNvPr id="27" name="Shape 25"/>
          <p:cNvSpPr/>
          <p:nvPr/>
        </p:nvSpPr>
        <p:spPr>
          <a:xfrm>
            <a:off x="5577840" y="2139696"/>
            <a:ext cx="5882335" cy="54864"/>
          </a:xfrm>
          <a:prstGeom prst="rect">
            <a:avLst/>
          </a:prstGeom>
          <a:solidFill>
            <a:srgbClr val="1E40AF"/>
          </a:solidFill>
          <a:ln w="12700">
            <a:solidFill>
              <a:srgbClr val="1E40AF"/>
            </a:solidFill>
            <a:prstDash val="solid"/>
          </a:ln>
        </p:spPr>
      </p:sp>
      <p:sp>
        <p:nvSpPr>
          <p:cNvPr id="28" name="Text 26"/>
          <p:cNvSpPr/>
          <p:nvPr/>
        </p:nvSpPr>
        <p:spPr>
          <a:xfrm>
            <a:off x="5715000" y="2212848"/>
            <a:ext cx="5623560" cy="237744"/>
          </a:xfrm>
          <a:prstGeom prst="rect">
            <a:avLst/>
          </a:prstGeom>
          <a:noFill/>
          <a:ln/>
        </p:spPr>
        <p:txBody>
          <a:bodyPr wrap="square" rtlCol="0" anchor="ctr"/>
          <a:lstStyle/>
          <a:p>
            <a:pPr indent="0" marL="0">
              <a:buNone/>
            </a:pPr>
            <a:r>
              <a:rPr lang="en-US" sz="880" b="1" dirty="0">
                <a:solidFill>
                  <a:srgbClr val="1E40AF"/>
                </a:solidFill>
                <a:latin typeface="Arial" pitchFamily="34" charset="0"/>
                <a:ea typeface="Arial" pitchFamily="34" charset="-122"/>
                <a:cs typeface="Arial" pitchFamily="34" charset="-120"/>
              </a:rPr>
              <a:t>✔  Bentuk Technology Transfer Office (TTO) &amp; Kurasi Riset Terapan Kampus</a:t>
            </a:r>
            <a:endParaRPr lang="en-US" sz="880" dirty="0"/>
          </a:p>
        </p:txBody>
      </p:sp>
      <p:sp>
        <p:nvSpPr>
          <p:cNvPr id="29" name="Text 27"/>
          <p:cNvSpPr/>
          <p:nvPr/>
        </p:nvSpPr>
        <p:spPr>
          <a:xfrm>
            <a:off x="5715000" y="2468880"/>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Konsorsium 5 Perguruan Tinggi Solo Raya (UNS, UMS, ISI, dll.) berbasis problem kota.</a:t>
            </a:r>
            <a:endParaRPr lang="en-US" sz="780" dirty="0"/>
          </a:p>
        </p:txBody>
      </p:sp>
      <p:sp>
        <p:nvSpPr>
          <p:cNvPr id="30" name="Shape 28"/>
          <p:cNvSpPr/>
          <p:nvPr/>
        </p:nvSpPr>
        <p:spPr>
          <a:xfrm>
            <a:off x="731520" y="2926080"/>
            <a:ext cx="4389120" cy="713232"/>
          </a:xfrm>
          <a:prstGeom prst="rect">
            <a:avLst/>
          </a:prstGeom>
          <a:solidFill>
            <a:srgbClr val="FFFFFF"/>
          </a:solidFill>
          <a:ln w="10160">
            <a:solidFill>
              <a:srgbClr val="CBD5E1"/>
            </a:solidFill>
            <a:prstDash val="solid"/>
          </a:ln>
        </p:spPr>
      </p:sp>
      <p:sp>
        <p:nvSpPr>
          <p:cNvPr id="31" name="Shape 29"/>
          <p:cNvSpPr/>
          <p:nvPr/>
        </p:nvSpPr>
        <p:spPr>
          <a:xfrm>
            <a:off x="841248" y="3017520"/>
            <a:ext cx="685800" cy="201168"/>
          </a:xfrm>
          <a:prstGeom prst="rect">
            <a:avLst/>
          </a:prstGeom>
          <a:solidFill>
            <a:srgbClr val="FEE2E2"/>
          </a:solidFill>
          <a:ln w="10160">
            <a:solidFill>
              <a:srgbClr val="DC2626"/>
            </a:solidFill>
            <a:prstDash val="solid"/>
          </a:ln>
        </p:spPr>
      </p:sp>
      <p:sp>
        <p:nvSpPr>
          <p:cNvPr id="32" name="Text 30"/>
          <p:cNvSpPr/>
          <p:nvPr/>
        </p:nvSpPr>
        <p:spPr>
          <a:xfrm>
            <a:off x="841248" y="3017520"/>
            <a:ext cx="685800" cy="201168"/>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03</a:t>
            </a:r>
            <a:endParaRPr lang="en-US" sz="750" dirty="0"/>
          </a:p>
        </p:txBody>
      </p:sp>
      <p:sp>
        <p:nvSpPr>
          <p:cNvPr id="33" name="Text 31"/>
          <p:cNvSpPr/>
          <p:nvPr/>
        </p:nvSpPr>
        <p:spPr>
          <a:xfrm>
            <a:off x="1600200" y="2999232"/>
            <a:ext cx="3429000" cy="219456"/>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Investasi Kawasan Terbatas</a:t>
            </a:r>
            <a:endParaRPr lang="en-US" sz="880" dirty="0"/>
          </a:p>
        </p:txBody>
      </p:sp>
      <p:sp>
        <p:nvSpPr>
          <p:cNvPr id="34" name="Text 32"/>
          <p:cNvSpPr/>
          <p:nvPr/>
        </p:nvSpPr>
        <p:spPr>
          <a:xfrm>
            <a:off x="841248" y="3255264"/>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Lahan kosong belum optimal dikerjasamakan; promosi investor belum sistematis.</a:t>
            </a:r>
            <a:endParaRPr lang="en-US" sz="760" dirty="0"/>
          </a:p>
        </p:txBody>
      </p:sp>
      <p:sp>
        <p:nvSpPr>
          <p:cNvPr id="35" name="Shape 33"/>
          <p:cNvSpPr/>
          <p:nvPr/>
        </p:nvSpPr>
        <p:spPr>
          <a:xfrm>
            <a:off x="5193792" y="3145536"/>
            <a:ext cx="310896" cy="237744"/>
          </a:xfrm>
          <a:prstGeom prst="rightArrow">
            <a:avLst/>
          </a:prstGeom>
          <a:solidFill>
            <a:srgbClr val="1E40AF"/>
          </a:solidFill>
          <a:ln w="12700">
            <a:solidFill>
              <a:srgbClr val="1E40AF"/>
            </a:solidFill>
            <a:prstDash val="solid"/>
          </a:ln>
        </p:spPr>
      </p:sp>
      <p:sp>
        <p:nvSpPr>
          <p:cNvPr id="36" name="Shape 34"/>
          <p:cNvSpPr/>
          <p:nvPr/>
        </p:nvSpPr>
        <p:spPr>
          <a:xfrm>
            <a:off x="5577840" y="2926080"/>
            <a:ext cx="5882335" cy="713232"/>
          </a:xfrm>
          <a:prstGeom prst="rect">
            <a:avLst/>
          </a:prstGeom>
          <a:solidFill>
            <a:srgbClr val="F8FAFC"/>
          </a:solidFill>
          <a:ln w="10160">
            <a:solidFill>
              <a:srgbClr val="CBD5E1"/>
            </a:solidFill>
            <a:prstDash val="solid"/>
          </a:ln>
        </p:spPr>
      </p:sp>
      <p:sp>
        <p:nvSpPr>
          <p:cNvPr id="37" name="Shape 35"/>
          <p:cNvSpPr/>
          <p:nvPr/>
        </p:nvSpPr>
        <p:spPr>
          <a:xfrm>
            <a:off x="5577840" y="2926080"/>
            <a:ext cx="5882335" cy="54864"/>
          </a:xfrm>
          <a:prstGeom prst="rect">
            <a:avLst/>
          </a:prstGeom>
          <a:solidFill>
            <a:srgbClr val="0284C7"/>
          </a:solidFill>
          <a:ln w="12700">
            <a:solidFill>
              <a:srgbClr val="0284C7"/>
            </a:solidFill>
            <a:prstDash val="solid"/>
          </a:ln>
        </p:spPr>
      </p:sp>
      <p:sp>
        <p:nvSpPr>
          <p:cNvPr id="38" name="Text 36"/>
          <p:cNvSpPr/>
          <p:nvPr/>
        </p:nvSpPr>
        <p:spPr>
          <a:xfrm>
            <a:off x="5715000" y="2999232"/>
            <a:ext cx="5623560" cy="237744"/>
          </a:xfrm>
          <a:prstGeom prst="rect">
            <a:avLst/>
          </a:prstGeom>
          <a:noFill/>
          <a:ln/>
        </p:spPr>
        <p:txBody>
          <a:bodyPr wrap="square" rtlCol="0" anchor="ctr"/>
          <a:lstStyle/>
          <a:p>
            <a:pPr indent="0" marL="0">
              <a:buNone/>
            </a:pPr>
            <a:r>
              <a:rPr lang="en-US" sz="880" b="1" dirty="0">
                <a:solidFill>
                  <a:srgbClr val="0284C7"/>
                </a:solidFill>
                <a:latin typeface="Arial" pitchFamily="34" charset="0"/>
                <a:ea typeface="Arial" pitchFamily="34" charset="-122"/>
                <a:cs typeface="Arial" pitchFamily="34" charset="-120"/>
              </a:rPr>
              <a:t>✔  Zonasi Investasi Teknologi Terpadu &amp; Long-Term Revenue Sharing</a:t>
            </a:r>
            <a:endParaRPr lang="en-US" sz="880" dirty="0"/>
          </a:p>
        </p:txBody>
      </p:sp>
      <p:sp>
        <p:nvSpPr>
          <p:cNvPr id="39" name="Text 37"/>
          <p:cNvSpPr/>
          <p:nvPr/>
        </p:nvSpPr>
        <p:spPr>
          <a:xfrm>
            <a:off x="5715000" y="3255264"/>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Skema kemitraan 10–25 tahun bagi korporasi teknologi global tanpa beban belanja APBD.</a:t>
            </a:r>
            <a:endParaRPr lang="en-US" sz="780" dirty="0"/>
          </a:p>
        </p:txBody>
      </p:sp>
      <p:sp>
        <p:nvSpPr>
          <p:cNvPr id="40" name="Shape 38"/>
          <p:cNvSpPr/>
          <p:nvPr/>
        </p:nvSpPr>
        <p:spPr>
          <a:xfrm>
            <a:off x="731520" y="3712464"/>
            <a:ext cx="4389120" cy="713232"/>
          </a:xfrm>
          <a:prstGeom prst="rect">
            <a:avLst/>
          </a:prstGeom>
          <a:solidFill>
            <a:srgbClr val="FFFFFF"/>
          </a:solidFill>
          <a:ln w="10160">
            <a:solidFill>
              <a:srgbClr val="CBD5E1"/>
            </a:solidFill>
            <a:prstDash val="solid"/>
          </a:ln>
        </p:spPr>
      </p:sp>
      <p:sp>
        <p:nvSpPr>
          <p:cNvPr id="41" name="Shape 39"/>
          <p:cNvSpPr/>
          <p:nvPr/>
        </p:nvSpPr>
        <p:spPr>
          <a:xfrm>
            <a:off x="841248" y="3803904"/>
            <a:ext cx="685800" cy="201168"/>
          </a:xfrm>
          <a:prstGeom prst="rect">
            <a:avLst/>
          </a:prstGeom>
          <a:solidFill>
            <a:srgbClr val="FEE2E2"/>
          </a:solidFill>
          <a:ln w="10160">
            <a:solidFill>
              <a:srgbClr val="DC2626"/>
            </a:solidFill>
            <a:prstDash val="solid"/>
          </a:ln>
        </p:spPr>
      </p:sp>
      <p:sp>
        <p:nvSpPr>
          <p:cNvPr id="42" name="Text 40"/>
          <p:cNvSpPr/>
          <p:nvPr/>
        </p:nvSpPr>
        <p:spPr>
          <a:xfrm>
            <a:off x="841248" y="3803904"/>
            <a:ext cx="685800" cy="201168"/>
          </a:xfrm>
          <a:prstGeom prst="rect">
            <a:avLst/>
          </a:prstGeom>
          <a:noFill/>
          <a:ln/>
        </p:spPr>
        <p:txBody>
          <a:bodyPr wrap="square" rtlCol="0" anchor="ctr"/>
          <a:lstStyle/>
          <a:p>
            <a:pPr algn="ctr" indent="0" marL="0">
              <a:buNone/>
            </a:pPr>
            <a:r>
              <a:rPr lang="en-US" sz="750" b="1" dirty="0">
                <a:solidFill>
                  <a:srgbClr val="DC2626"/>
                </a:solidFill>
                <a:latin typeface="Arial" pitchFamily="34" charset="0"/>
                <a:ea typeface="Arial" pitchFamily="34" charset="-122"/>
                <a:cs typeface="Arial" pitchFamily="34" charset="-120"/>
              </a:rPr>
              <a:t>GAP 04</a:t>
            </a:r>
            <a:endParaRPr lang="en-US" sz="750" dirty="0"/>
          </a:p>
        </p:txBody>
      </p:sp>
      <p:sp>
        <p:nvSpPr>
          <p:cNvPr id="43" name="Text 41"/>
          <p:cNvSpPr/>
          <p:nvPr/>
        </p:nvSpPr>
        <p:spPr>
          <a:xfrm>
            <a:off x="1600200" y="3785616"/>
            <a:ext cx="3429000" cy="219456"/>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Kemandirian Finansial Rendah</a:t>
            </a:r>
            <a:endParaRPr lang="en-US" sz="880" dirty="0"/>
          </a:p>
        </p:txBody>
      </p:sp>
      <p:sp>
        <p:nvSpPr>
          <p:cNvPr id="44" name="Text 42"/>
          <p:cNvSpPr/>
          <p:nvPr/>
        </p:nvSpPr>
        <p:spPr>
          <a:xfrm>
            <a:off x="841248" y="4041648"/>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Pendapatan masih bertumpu sewa lahan; hardware lab belum optimal menghasilkan jasa.</a:t>
            </a:r>
            <a:endParaRPr lang="en-US" sz="760" dirty="0"/>
          </a:p>
        </p:txBody>
      </p:sp>
      <p:sp>
        <p:nvSpPr>
          <p:cNvPr id="45" name="Shape 43"/>
          <p:cNvSpPr/>
          <p:nvPr/>
        </p:nvSpPr>
        <p:spPr>
          <a:xfrm>
            <a:off x="5193792" y="3931920"/>
            <a:ext cx="310896" cy="237744"/>
          </a:xfrm>
          <a:prstGeom prst="rightArrow">
            <a:avLst/>
          </a:prstGeom>
          <a:solidFill>
            <a:srgbClr val="1E40AF"/>
          </a:solidFill>
          <a:ln w="12700">
            <a:solidFill>
              <a:srgbClr val="1E40AF"/>
            </a:solidFill>
            <a:prstDash val="solid"/>
          </a:ln>
        </p:spPr>
      </p:sp>
      <p:sp>
        <p:nvSpPr>
          <p:cNvPr id="46" name="Shape 44"/>
          <p:cNvSpPr/>
          <p:nvPr/>
        </p:nvSpPr>
        <p:spPr>
          <a:xfrm>
            <a:off x="5577840" y="3712464"/>
            <a:ext cx="5882335" cy="713232"/>
          </a:xfrm>
          <a:prstGeom prst="rect">
            <a:avLst/>
          </a:prstGeom>
          <a:solidFill>
            <a:srgbClr val="F8FAFC"/>
          </a:solidFill>
          <a:ln w="10160">
            <a:solidFill>
              <a:srgbClr val="CBD5E1"/>
            </a:solidFill>
            <a:prstDash val="solid"/>
          </a:ln>
        </p:spPr>
      </p:sp>
      <p:sp>
        <p:nvSpPr>
          <p:cNvPr id="47" name="Shape 45"/>
          <p:cNvSpPr/>
          <p:nvPr/>
        </p:nvSpPr>
        <p:spPr>
          <a:xfrm>
            <a:off x="5577840" y="3712464"/>
            <a:ext cx="5882335" cy="54864"/>
          </a:xfrm>
          <a:prstGeom prst="rect">
            <a:avLst/>
          </a:prstGeom>
          <a:solidFill>
            <a:srgbClr val="059669"/>
          </a:solidFill>
          <a:ln w="12700">
            <a:solidFill>
              <a:srgbClr val="059669"/>
            </a:solidFill>
            <a:prstDash val="solid"/>
          </a:ln>
        </p:spPr>
      </p:sp>
      <p:sp>
        <p:nvSpPr>
          <p:cNvPr id="48" name="Text 46"/>
          <p:cNvSpPr/>
          <p:nvPr/>
        </p:nvSpPr>
        <p:spPr>
          <a:xfrm>
            <a:off x="5715000" y="3785616"/>
            <a:ext cx="5623560" cy="237744"/>
          </a:xfrm>
          <a:prstGeom prst="rect">
            <a:avLst/>
          </a:prstGeom>
          <a:noFill/>
          <a:ln/>
        </p:spPr>
        <p:txBody>
          <a:bodyPr wrap="square" rtlCol="0" anchor="ctr"/>
          <a:lstStyle/>
          <a:p>
            <a:pPr indent="0" marL="0">
              <a:buNone/>
            </a:pPr>
            <a:r>
              <a:rPr lang="en-US" sz="880" b="1" dirty="0">
                <a:solidFill>
                  <a:srgbClr val="059669"/>
                </a:solidFill>
                <a:latin typeface="Arial" pitchFamily="34" charset="0"/>
                <a:ea typeface="Arial" pitchFamily="34" charset="-122"/>
                <a:cs typeface="Arial" pitchFamily="34" charset="-120"/>
              </a:rPr>
              <a:t>✔  Diversifikasi 6 Revenue Stream Mandiri &amp; Optimalisasi Aset Industri</a:t>
            </a:r>
            <a:endParaRPr lang="en-US" sz="880" dirty="0"/>
          </a:p>
        </p:txBody>
      </p:sp>
      <p:sp>
        <p:nvSpPr>
          <p:cNvPr id="49" name="Text 47"/>
          <p:cNvSpPr/>
          <p:nvPr/>
        </p:nvSpPr>
        <p:spPr>
          <a:xfrm>
            <a:off x="5715000" y="4041648"/>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Uji NDT penetrant, TUK/JFT mandiri, rekayasa manufaktur, co-working, &amp; startup binaan.</a:t>
            </a:r>
            <a:endParaRPr lang="en-US" sz="780" dirty="0"/>
          </a:p>
        </p:txBody>
      </p:sp>
      <p:sp>
        <p:nvSpPr>
          <p:cNvPr id="50" name="Shape 48"/>
          <p:cNvSpPr/>
          <p:nvPr/>
        </p:nvSpPr>
        <p:spPr>
          <a:xfrm>
            <a:off x="731520" y="4498848"/>
            <a:ext cx="4389120" cy="713232"/>
          </a:xfrm>
          <a:prstGeom prst="rect">
            <a:avLst/>
          </a:prstGeom>
          <a:solidFill>
            <a:srgbClr val="FFFFFF"/>
          </a:solidFill>
          <a:ln w="10160">
            <a:solidFill>
              <a:srgbClr val="D97706"/>
            </a:solidFill>
            <a:prstDash val="solid"/>
          </a:ln>
        </p:spPr>
      </p:sp>
      <p:sp>
        <p:nvSpPr>
          <p:cNvPr id="51" name="Shape 49"/>
          <p:cNvSpPr/>
          <p:nvPr/>
        </p:nvSpPr>
        <p:spPr>
          <a:xfrm>
            <a:off x="841248" y="4590288"/>
            <a:ext cx="685800" cy="201168"/>
          </a:xfrm>
          <a:prstGeom prst="rect">
            <a:avLst/>
          </a:prstGeom>
          <a:solidFill>
            <a:srgbClr val="FEF3C7"/>
          </a:solidFill>
          <a:ln w="10160">
            <a:solidFill>
              <a:srgbClr val="D97706"/>
            </a:solidFill>
            <a:prstDash val="solid"/>
          </a:ln>
        </p:spPr>
      </p:sp>
      <p:sp>
        <p:nvSpPr>
          <p:cNvPr id="52" name="Text 50"/>
          <p:cNvSpPr/>
          <p:nvPr/>
        </p:nvSpPr>
        <p:spPr>
          <a:xfrm>
            <a:off x="841248" y="4590288"/>
            <a:ext cx="685800" cy="201168"/>
          </a:xfrm>
          <a:prstGeom prst="rect">
            <a:avLst/>
          </a:prstGeom>
          <a:noFill/>
          <a:ln/>
        </p:spPr>
        <p:txBody>
          <a:bodyPr wrap="square" rtlCol="0" anchor="ctr"/>
          <a:lstStyle/>
          <a:p>
            <a:pPr algn="ctr" indent="0" marL="0">
              <a:buNone/>
            </a:pPr>
            <a:r>
              <a:rPr lang="en-US" sz="750" b="1" dirty="0">
                <a:solidFill>
                  <a:srgbClr val="D97706"/>
                </a:solidFill>
                <a:latin typeface="Arial" pitchFamily="34" charset="0"/>
                <a:ea typeface="Arial" pitchFamily="34" charset="-122"/>
                <a:cs typeface="Arial" pitchFamily="34" charset="-120"/>
              </a:rPr>
              <a:t>GAP 05</a:t>
            </a:r>
            <a:endParaRPr lang="en-US" sz="750" dirty="0"/>
          </a:p>
        </p:txBody>
      </p:sp>
      <p:sp>
        <p:nvSpPr>
          <p:cNvPr id="53" name="Text 51"/>
          <p:cNvSpPr/>
          <p:nvPr/>
        </p:nvSpPr>
        <p:spPr>
          <a:xfrm>
            <a:off x="1600200" y="4572000"/>
            <a:ext cx="3429000" cy="219456"/>
          </a:xfrm>
          <a:prstGeom prst="rect">
            <a:avLst/>
          </a:prstGeom>
          <a:noFill/>
          <a:ln/>
        </p:spPr>
        <p:txBody>
          <a:bodyPr wrap="square" rtlCol="0" anchor="ctr"/>
          <a:lstStyle/>
          <a:p>
            <a:pPr indent="0" marL="0">
              <a:buNone/>
            </a:pPr>
            <a:r>
              <a:rPr lang="en-US" sz="880" b="1" dirty="0">
                <a:solidFill>
                  <a:srgbClr val="0F172A"/>
                </a:solidFill>
                <a:latin typeface="Arial" pitchFamily="34" charset="0"/>
                <a:ea typeface="Arial" pitchFamily="34" charset="-122"/>
                <a:cs typeface="Arial" pitchFamily="34" charset="-120"/>
              </a:rPr>
              <a:t>Promosi &amp; Penyerapan Rendah</a:t>
            </a:r>
            <a:endParaRPr lang="en-US" sz="880" dirty="0"/>
          </a:p>
        </p:txBody>
      </p:sp>
      <p:sp>
        <p:nvSpPr>
          <p:cNvPr id="54" name="Text 52"/>
          <p:cNvSpPr/>
          <p:nvPr/>
        </p:nvSpPr>
        <p:spPr>
          <a:xfrm>
            <a:off x="841248" y="4828032"/>
            <a:ext cx="4187952" cy="347472"/>
          </a:xfrm>
          <a:prstGeom prst="rect">
            <a:avLst/>
          </a:prstGeom>
          <a:noFill/>
          <a:ln/>
        </p:spPr>
        <p:txBody>
          <a:bodyPr wrap="square" rtlCol="0" anchor="ctr"/>
          <a:lstStyle/>
          <a:p>
            <a:pPr indent="0" marL="0">
              <a:lnSpc>
                <a:spcPts val="1000"/>
              </a:lnSpc>
              <a:buNone/>
            </a:pPr>
            <a:r>
              <a:rPr lang="en-US" sz="760" dirty="0">
                <a:solidFill>
                  <a:srgbClr val="334155"/>
                </a:solidFill>
                <a:latin typeface="Arial" pitchFamily="34" charset="0"/>
                <a:ea typeface="Arial" pitchFamily="34" charset="-122"/>
                <a:cs typeface="Arial" pitchFamily="34" charset="-120"/>
              </a:rPr>
              <a:t>Akar Masalah: Networking kurang ter-maintenance; belum ada regulasi penyerapan inovasi lokal.</a:t>
            </a:r>
            <a:endParaRPr lang="en-US" sz="760" dirty="0"/>
          </a:p>
        </p:txBody>
      </p:sp>
      <p:sp>
        <p:nvSpPr>
          <p:cNvPr id="55" name="Shape 53"/>
          <p:cNvSpPr/>
          <p:nvPr/>
        </p:nvSpPr>
        <p:spPr>
          <a:xfrm>
            <a:off x="5193792" y="4718304"/>
            <a:ext cx="310896" cy="237744"/>
          </a:xfrm>
          <a:prstGeom prst="rightArrow">
            <a:avLst/>
          </a:prstGeom>
          <a:solidFill>
            <a:srgbClr val="D97706"/>
          </a:solidFill>
          <a:ln w="12700">
            <a:solidFill>
              <a:srgbClr val="D97706"/>
            </a:solidFill>
            <a:prstDash val="solid"/>
          </a:ln>
        </p:spPr>
      </p:sp>
      <p:sp>
        <p:nvSpPr>
          <p:cNvPr id="56" name="Shape 54"/>
          <p:cNvSpPr/>
          <p:nvPr/>
        </p:nvSpPr>
        <p:spPr>
          <a:xfrm>
            <a:off x="5577840" y="4498848"/>
            <a:ext cx="5882335" cy="713232"/>
          </a:xfrm>
          <a:prstGeom prst="rect">
            <a:avLst/>
          </a:prstGeom>
          <a:solidFill>
            <a:srgbClr val="FEF3C7"/>
          </a:solidFill>
          <a:ln w="10160">
            <a:solidFill>
              <a:srgbClr val="D97706"/>
            </a:solidFill>
            <a:prstDash val="solid"/>
          </a:ln>
        </p:spPr>
      </p:sp>
      <p:sp>
        <p:nvSpPr>
          <p:cNvPr id="57" name="Shape 55"/>
          <p:cNvSpPr/>
          <p:nvPr/>
        </p:nvSpPr>
        <p:spPr>
          <a:xfrm>
            <a:off x="5577840" y="4498848"/>
            <a:ext cx="5882335" cy="54864"/>
          </a:xfrm>
          <a:prstGeom prst="rect">
            <a:avLst/>
          </a:prstGeom>
          <a:solidFill>
            <a:srgbClr val="D97706"/>
          </a:solidFill>
          <a:ln w="12700">
            <a:solidFill>
              <a:srgbClr val="D97706"/>
            </a:solidFill>
            <a:prstDash val="solid"/>
          </a:ln>
        </p:spPr>
      </p:sp>
      <p:sp>
        <p:nvSpPr>
          <p:cNvPr id="58" name="Text 56"/>
          <p:cNvSpPr/>
          <p:nvPr/>
        </p:nvSpPr>
        <p:spPr>
          <a:xfrm>
            <a:off x="5715000" y="4572000"/>
            <a:ext cx="5623560" cy="237744"/>
          </a:xfrm>
          <a:prstGeom prst="rect">
            <a:avLst/>
          </a:prstGeom>
          <a:noFill/>
          <a:ln/>
        </p:spPr>
        <p:txBody>
          <a:bodyPr wrap="square" rtlCol="0" anchor="ctr"/>
          <a:lstStyle/>
          <a:p>
            <a:pPr indent="0" marL="0">
              <a:buNone/>
            </a:pPr>
            <a:r>
              <a:rPr lang="en-US" sz="880" b="1" dirty="0">
                <a:solidFill>
                  <a:srgbClr val="D97706"/>
                </a:solidFill>
                <a:latin typeface="Arial" pitchFamily="34" charset="0"/>
                <a:ea typeface="Arial" pitchFamily="34" charset="-122"/>
                <a:cs typeface="Arial" pitchFamily="34" charset="-120"/>
              </a:rPr>
              <a:t>✔  Penerbitan Instruksi Walikota untuk e-Katalog Lokal Afirmatif</a:t>
            </a:r>
            <a:endParaRPr lang="en-US" sz="880" dirty="0"/>
          </a:p>
        </p:txBody>
      </p:sp>
      <p:sp>
        <p:nvSpPr>
          <p:cNvPr id="59" name="Text 57"/>
          <p:cNvSpPr/>
          <p:nvPr/>
        </p:nvSpPr>
        <p:spPr>
          <a:xfrm>
            <a:off x="5715000" y="4828032"/>
            <a:ext cx="5623560" cy="347472"/>
          </a:xfrm>
          <a:prstGeom prst="rect">
            <a:avLst/>
          </a:prstGeom>
          <a:noFill/>
          <a:ln/>
        </p:spPr>
        <p:txBody>
          <a:bodyPr wrap="square" rtlCol="0" anchor="ctr"/>
          <a:lstStyle/>
          <a:p>
            <a:pPr indent="0" marL="0">
              <a:lnSpc>
                <a:spcPts val="1000"/>
              </a:lnSpc>
              <a:buNone/>
            </a:pPr>
            <a:r>
              <a:rPr lang="en-US" sz="780" dirty="0">
                <a:solidFill>
                  <a:srgbClr val="0F172A"/>
                </a:solidFill>
                <a:latin typeface="Arial" pitchFamily="34" charset="0"/>
                <a:ea typeface="Arial" pitchFamily="34" charset="-122"/>
                <a:cs typeface="Arial" pitchFamily="34" charset="-120"/>
              </a:rPr>
              <a:t>Wajibkan OPD Pemkot menyerap produk/layanan tenant binaan STP (Target: Rp 2,25 Miliar).</a:t>
            </a:r>
            <a:endParaRPr lang="en-US" sz="780" dirty="0"/>
          </a:p>
        </p:txBody>
      </p:sp>
      <p:sp>
        <p:nvSpPr>
          <p:cNvPr id="60" name="Shape 58"/>
          <p:cNvSpPr/>
          <p:nvPr/>
        </p:nvSpPr>
        <p:spPr>
          <a:xfrm>
            <a:off x="731520" y="5413248"/>
            <a:ext cx="10728655" cy="822960"/>
          </a:xfrm>
          <a:prstGeom prst="rect">
            <a:avLst/>
          </a:prstGeom>
          <a:solidFill>
            <a:srgbClr val="FEF3C7"/>
          </a:solidFill>
          <a:ln w="15240">
            <a:solidFill>
              <a:srgbClr val="D97706"/>
            </a:solidFill>
            <a:prstDash val="solid"/>
          </a:ln>
        </p:spPr>
      </p:sp>
      <p:sp>
        <p:nvSpPr>
          <p:cNvPr id="61" name="Text 59"/>
          <p:cNvSpPr/>
          <p:nvPr/>
        </p:nvSpPr>
        <p:spPr>
          <a:xfrm>
            <a:off x="914400" y="5486400"/>
            <a:ext cx="10362895" cy="237744"/>
          </a:xfrm>
          <a:prstGeom prst="rect">
            <a:avLst/>
          </a:prstGeom>
          <a:noFill/>
          <a:ln/>
        </p:spPr>
        <p:txBody>
          <a:bodyPr wrap="square" rtlCol="0" anchor="ctr"/>
          <a:lstStyle/>
          <a:p>
            <a:pPr indent="0" marL="0">
              <a:buNone/>
            </a:pPr>
            <a:r>
              <a:rPr lang="en-US" sz="950" b="1" dirty="0">
                <a:solidFill>
                  <a:srgbClr val="92400E"/>
                </a:solidFill>
                <a:latin typeface="Arial" pitchFamily="34" charset="0"/>
                <a:ea typeface="Arial" pitchFamily="34" charset="-122"/>
                <a:cs typeface="Arial" pitchFamily="34" charset="-120"/>
              </a:rPr>
              <a:t>PRIORITAS UTAMA #5: INSTRUKSI WALIKOTA e-KATALOG LOKAL AFIRMATIF (QUICK WIN 30 HARI)</a:t>
            </a:r>
            <a:endParaRPr lang="en-US" sz="950" dirty="0"/>
          </a:p>
        </p:txBody>
      </p:sp>
      <p:sp>
        <p:nvSpPr>
          <p:cNvPr id="62" name="Text 60"/>
          <p:cNvSpPr/>
          <p:nvPr/>
        </p:nvSpPr>
        <p:spPr>
          <a:xfrm>
            <a:off x="914400" y="5742432"/>
            <a:ext cx="10362895" cy="438912"/>
          </a:xfrm>
          <a:prstGeom prst="rect">
            <a:avLst/>
          </a:prstGeom>
          <a:noFill/>
          <a:ln/>
        </p:spPr>
        <p:txBody>
          <a:bodyPr wrap="square" rtlCol="0" anchor="ctr"/>
          <a:lstStyle/>
          <a:p>
            <a:pPr indent="0" marL="0">
              <a:lnSpc>
                <a:spcPts val="1200"/>
              </a:lnSpc>
              <a:buNone/>
            </a:pPr>
            <a:r>
              <a:rPr lang="en-US" sz="850" dirty="0">
                <a:solidFill>
                  <a:srgbClr val="78350F"/>
                </a:solidFill>
                <a:latin typeface="Arial" pitchFamily="34" charset="0"/>
                <a:ea typeface="Arial" pitchFamily="34" charset="-122"/>
                <a:cs typeface="Arial" pitchFamily="34" charset="-120"/>
              </a:rPr>
              <a:t>Target: Membuka captive market Rp 2,25 Miliar serapan belanja OPD Pemkot Surakarta di 2030 bagi 80+ produk tenant dan startup binaan STP tanpa perlu alokasi pagu belanja baru di APBD. Hanya butuh 1 lembar Instruksi Walikota.</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PETA JALAN STRATEGIS KELEMBAGAAN</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08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ROADMAP 3 FASE TRANSFORMASI: DARI CENTRE MENUJU HOLDING INOVASI DAERAH</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Milestone Terukur dan Bertahap Menuju Kemandirian Finansial Penuh Tanpa Subsidi Belanja APBD 2030</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4133088" y="2560320"/>
            <a:ext cx="237744" cy="320040"/>
          </a:xfrm>
          <a:prstGeom prst="rightArrow">
            <a:avLst/>
          </a:prstGeom>
          <a:solidFill>
            <a:srgbClr val="0284C7"/>
          </a:solidFill>
          <a:ln w="12700">
            <a:solidFill>
              <a:srgbClr val="0284C7"/>
            </a:solidFill>
            <a:prstDash val="solid"/>
          </a:ln>
        </p:spPr>
      </p:sp>
      <p:sp>
        <p:nvSpPr>
          <p:cNvPr id="11" name="Shape 9"/>
          <p:cNvSpPr/>
          <p:nvPr/>
        </p:nvSpPr>
        <p:spPr>
          <a:xfrm>
            <a:off x="7827264" y="2560320"/>
            <a:ext cx="237744" cy="320040"/>
          </a:xfrm>
          <a:prstGeom prst="rightArrow">
            <a:avLst/>
          </a:prstGeom>
          <a:solidFill>
            <a:srgbClr val="D97706"/>
          </a:solidFill>
          <a:ln w="12700">
            <a:solidFill>
              <a:srgbClr val="D97706"/>
            </a:solidFill>
            <a:prstDash val="solid"/>
          </a:ln>
        </p:spPr>
      </p:sp>
      <p:sp>
        <p:nvSpPr>
          <p:cNvPr id="12" name="Shape 10"/>
          <p:cNvSpPr/>
          <p:nvPr/>
        </p:nvSpPr>
        <p:spPr>
          <a:xfrm>
            <a:off x="731520" y="1417320"/>
            <a:ext cx="3337560" cy="3703320"/>
          </a:xfrm>
          <a:prstGeom prst="rect">
            <a:avLst/>
          </a:prstGeom>
          <a:solidFill>
            <a:srgbClr val="FFFFFF"/>
          </a:solidFill>
          <a:ln w="10160">
            <a:solidFill>
              <a:srgbClr val="CBD5E1"/>
            </a:solidFill>
            <a:prstDash val="solid"/>
          </a:ln>
        </p:spPr>
      </p:sp>
      <p:sp>
        <p:nvSpPr>
          <p:cNvPr id="13" name="Shape 11"/>
          <p:cNvSpPr/>
          <p:nvPr/>
        </p:nvSpPr>
        <p:spPr>
          <a:xfrm>
            <a:off x="731520" y="1417320"/>
            <a:ext cx="3337560" cy="54864"/>
          </a:xfrm>
          <a:prstGeom prst="rect">
            <a:avLst/>
          </a:prstGeom>
          <a:solidFill>
            <a:srgbClr val="0284C7"/>
          </a:solidFill>
          <a:ln w="12700">
            <a:solidFill>
              <a:srgbClr val="0284C7"/>
            </a:solidFill>
            <a:prstDash val="solid"/>
          </a:ln>
        </p:spPr>
      </p:sp>
      <p:sp>
        <p:nvSpPr>
          <p:cNvPr id="14" name="Text 12"/>
          <p:cNvSpPr/>
          <p:nvPr/>
        </p:nvSpPr>
        <p:spPr>
          <a:xfrm>
            <a:off x="896112" y="1554480"/>
            <a:ext cx="3008376" cy="201168"/>
          </a:xfrm>
          <a:prstGeom prst="rect">
            <a:avLst/>
          </a:prstGeom>
          <a:noFill/>
          <a:ln/>
        </p:spPr>
        <p:txBody>
          <a:bodyPr wrap="square" rtlCol="0" anchor="ctr"/>
          <a:lstStyle/>
          <a:p>
            <a:pPr indent="0" marL="0">
              <a:buNone/>
            </a:pPr>
            <a:r>
              <a:rPr lang="en-US" sz="850" b="1" dirty="0">
                <a:solidFill>
                  <a:srgbClr val="0284C7"/>
                </a:solidFill>
                <a:latin typeface="Arial" pitchFamily="34" charset="0"/>
                <a:ea typeface="Arial" pitchFamily="34" charset="-122"/>
                <a:cs typeface="Arial" pitchFamily="34" charset="-120"/>
              </a:rPr>
              <a:t>FASE 1 (2026–2027)</a:t>
            </a:r>
            <a:endParaRPr lang="en-US" sz="850" dirty="0"/>
          </a:p>
        </p:txBody>
      </p:sp>
      <p:sp>
        <p:nvSpPr>
          <p:cNvPr id="15" name="Text 13"/>
          <p:cNvSpPr/>
          <p:nvPr/>
        </p:nvSpPr>
        <p:spPr>
          <a:xfrm>
            <a:off x="896112" y="1783080"/>
            <a:ext cx="3008376" cy="29260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CENTRE OF INNOVATION &amp; CONNECTIVITY</a:t>
            </a:r>
            <a:endParaRPr lang="en-US" sz="1000" dirty="0"/>
          </a:p>
        </p:txBody>
      </p:sp>
      <p:sp>
        <p:nvSpPr>
          <p:cNvPr id="16" name="Shape 14"/>
          <p:cNvSpPr/>
          <p:nvPr/>
        </p:nvSpPr>
        <p:spPr>
          <a:xfrm>
            <a:off x="896112" y="2121408"/>
            <a:ext cx="3008376" cy="274320"/>
          </a:xfrm>
          <a:prstGeom prst="rect">
            <a:avLst/>
          </a:prstGeom>
          <a:solidFill>
            <a:srgbClr val="F1F5F9"/>
          </a:solidFill>
          <a:ln w="10160">
            <a:solidFill>
              <a:srgbClr val="E2E8F0"/>
            </a:solidFill>
            <a:prstDash val="solid"/>
          </a:ln>
        </p:spPr>
      </p:sp>
      <p:sp>
        <p:nvSpPr>
          <p:cNvPr id="17" name="Text 15"/>
          <p:cNvSpPr/>
          <p:nvPr/>
        </p:nvSpPr>
        <p:spPr>
          <a:xfrm>
            <a:off x="896112" y="2121408"/>
            <a:ext cx="3008376" cy="274320"/>
          </a:xfrm>
          <a:prstGeom prst="rect">
            <a:avLst/>
          </a:prstGeom>
          <a:noFill/>
          <a:ln/>
        </p:spPr>
        <p:txBody>
          <a:bodyPr wrap="square" rtlCol="0" anchor="ctr"/>
          <a:lstStyle/>
          <a:p>
            <a:pPr algn="ctr" indent="0" marL="0">
              <a:buNone/>
            </a:pPr>
            <a:r>
              <a:rPr lang="en-US" sz="800" b="1" dirty="0">
                <a:solidFill>
                  <a:srgbClr val="0284C7"/>
                </a:solidFill>
                <a:latin typeface="Arial" pitchFamily="34" charset="0"/>
                <a:ea typeface="Arial" pitchFamily="34" charset="-122"/>
                <a:cs typeface="Arial" pitchFamily="34" charset="-120"/>
              </a:rPr>
              <a:t>Target: Rp 7,50 M ➔ Rp 12,53 M (+67%)</a:t>
            </a:r>
            <a:endParaRPr lang="en-US" sz="800" dirty="0"/>
          </a:p>
        </p:txBody>
      </p:sp>
      <p:sp>
        <p:nvSpPr>
          <p:cNvPr id="18" name="Text 16"/>
          <p:cNvSpPr/>
          <p:nvPr/>
        </p:nvSpPr>
        <p:spPr>
          <a:xfrm>
            <a:off x="896112" y="2514600"/>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Pondasi tata kelola kelembagaan BLUD akuntabel</a:t>
            </a:r>
            <a:endParaRPr lang="en-US" sz="820" dirty="0"/>
          </a:p>
        </p:txBody>
      </p:sp>
      <p:sp>
        <p:nvSpPr>
          <p:cNvPr id="19" name="Text 17"/>
          <p:cNvSpPr/>
          <p:nvPr/>
        </p:nvSpPr>
        <p:spPr>
          <a:xfrm>
            <a:off x="896112" y="2990088"/>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Akreditasi laboratorium industri &amp; standarisasi uji</a:t>
            </a:r>
            <a:endParaRPr lang="en-US" sz="820" dirty="0"/>
          </a:p>
        </p:txBody>
      </p:sp>
      <p:sp>
        <p:nvSpPr>
          <p:cNvPr id="20" name="Text 18"/>
          <p:cNvSpPr/>
          <p:nvPr/>
        </p:nvSpPr>
        <p:spPr>
          <a:xfrm>
            <a:off x="896112" y="3465576"/>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Sertifikasi mutu diklat vokasi &amp; kemitraan OGSCI</a:t>
            </a:r>
            <a:endParaRPr lang="en-US" sz="820" dirty="0"/>
          </a:p>
        </p:txBody>
      </p:sp>
      <p:sp>
        <p:nvSpPr>
          <p:cNvPr id="21" name="Text 19"/>
          <p:cNvSpPr/>
          <p:nvPr/>
        </p:nvSpPr>
        <p:spPr>
          <a:xfrm>
            <a:off x="896112" y="3941064"/>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Pembentukan Konsorsium Riset 5 Kampus Solo Raya</a:t>
            </a:r>
            <a:endParaRPr lang="en-US" sz="820" dirty="0"/>
          </a:p>
        </p:txBody>
      </p:sp>
      <p:sp>
        <p:nvSpPr>
          <p:cNvPr id="22" name="Text 20"/>
          <p:cNvSpPr/>
          <p:nvPr/>
        </p:nvSpPr>
        <p:spPr>
          <a:xfrm>
            <a:off x="896112" y="4416552"/>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Aktivasi TUK Mandiri &amp; program SMK GoGlobal</a:t>
            </a:r>
            <a:endParaRPr lang="en-US" sz="820" dirty="0"/>
          </a:p>
        </p:txBody>
      </p:sp>
      <p:sp>
        <p:nvSpPr>
          <p:cNvPr id="23" name="Shape 21"/>
          <p:cNvSpPr/>
          <p:nvPr/>
        </p:nvSpPr>
        <p:spPr>
          <a:xfrm>
            <a:off x="4425696" y="1417320"/>
            <a:ext cx="3337560" cy="3703320"/>
          </a:xfrm>
          <a:prstGeom prst="rect">
            <a:avLst/>
          </a:prstGeom>
          <a:solidFill>
            <a:srgbClr val="FFFFFF"/>
          </a:solidFill>
          <a:ln w="10160">
            <a:solidFill>
              <a:srgbClr val="CBD5E1"/>
            </a:solidFill>
            <a:prstDash val="solid"/>
          </a:ln>
        </p:spPr>
      </p:sp>
      <p:sp>
        <p:nvSpPr>
          <p:cNvPr id="24" name="Shape 22"/>
          <p:cNvSpPr/>
          <p:nvPr/>
        </p:nvSpPr>
        <p:spPr>
          <a:xfrm>
            <a:off x="4425696" y="1417320"/>
            <a:ext cx="3337560" cy="54864"/>
          </a:xfrm>
          <a:prstGeom prst="rect">
            <a:avLst/>
          </a:prstGeom>
          <a:solidFill>
            <a:srgbClr val="D97706"/>
          </a:solidFill>
          <a:ln w="12700">
            <a:solidFill>
              <a:srgbClr val="D97706"/>
            </a:solidFill>
            <a:prstDash val="solid"/>
          </a:ln>
        </p:spPr>
      </p:sp>
      <p:sp>
        <p:nvSpPr>
          <p:cNvPr id="25" name="Text 23"/>
          <p:cNvSpPr/>
          <p:nvPr/>
        </p:nvSpPr>
        <p:spPr>
          <a:xfrm>
            <a:off x="4590288" y="1554480"/>
            <a:ext cx="3008376"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FASE 2 (2028–2029)</a:t>
            </a:r>
            <a:endParaRPr lang="en-US" sz="850" dirty="0"/>
          </a:p>
        </p:txBody>
      </p:sp>
      <p:sp>
        <p:nvSpPr>
          <p:cNvPr id="26" name="Text 24"/>
          <p:cNvSpPr/>
          <p:nvPr/>
        </p:nvSpPr>
        <p:spPr>
          <a:xfrm>
            <a:off x="4590288" y="1783080"/>
            <a:ext cx="3008376" cy="29260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ENTREPRENEUR TECHNOPARK (SBU MANDIRI)</a:t>
            </a:r>
            <a:endParaRPr lang="en-US" sz="1000" dirty="0"/>
          </a:p>
        </p:txBody>
      </p:sp>
      <p:sp>
        <p:nvSpPr>
          <p:cNvPr id="27" name="Shape 25"/>
          <p:cNvSpPr/>
          <p:nvPr/>
        </p:nvSpPr>
        <p:spPr>
          <a:xfrm>
            <a:off x="4590288" y="2121408"/>
            <a:ext cx="3008376" cy="274320"/>
          </a:xfrm>
          <a:prstGeom prst="rect">
            <a:avLst/>
          </a:prstGeom>
          <a:solidFill>
            <a:srgbClr val="F1F5F9"/>
          </a:solidFill>
          <a:ln w="10160">
            <a:solidFill>
              <a:srgbClr val="E2E8F0"/>
            </a:solidFill>
            <a:prstDash val="solid"/>
          </a:ln>
        </p:spPr>
      </p:sp>
      <p:sp>
        <p:nvSpPr>
          <p:cNvPr id="28" name="Text 26"/>
          <p:cNvSpPr/>
          <p:nvPr/>
        </p:nvSpPr>
        <p:spPr>
          <a:xfrm>
            <a:off x="4590288" y="2121408"/>
            <a:ext cx="3008376" cy="274320"/>
          </a:xfrm>
          <a:prstGeom prst="rect">
            <a:avLst/>
          </a:prstGeom>
          <a:noFill/>
          <a:ln/>
        </p:spPr>
        <p:txBody>
          <a:bodyPr wrap="square" rtlCol="0" anchor="ctr"/>
          <a:lstStyle/>
          <a:p>
            <a:pPr algn="ctr" indent="0" marL="0">
              <a:buNone/>
            </a:pPr>
            <a:r>
              <a:rPr lang="en-US" sz="800" b="1" dirty="0">
                <a:solidFill>
                  <a:srgbClr val="D97706"/>
                </a:solidFill>
                <a:latin typeface="Arial" pitchFamily="34" charset="0"/>
                <a:ea typeface="Arial" pitchFamily="34" charset="-122"/>
                <a:cs typeface="Arial" pitchFamily="34" charset="-120"/>
              </a:rPr>
              <a:t>Target: Rp 12,53 M ➔ Rp 20,62 M (+65%)</a:t>
            </a:r>
            <a:endParaRPr lang="en-US" sz="800" dirty="0"/>
          </a:p>
        </p:txBody>
      </p:sp>
      <p:sp>
        <p:nvSpPr>
          <p:cNvPr id="29" name="Text 27"/>
          <p:cNvSpPr/>
          <p:nvPr/>
        </p:nvSpPr>
        <p:spPr>
          <a:xfrm>
            <a:off x="4590288" y="2514600"/>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Pembentukan Strategic Business Unit (SBU) profesional</a:t>
            </a:r>
            <a:endParaRPr lang="en-US" sz="820" dirty="0"/>
          </a:p>
        </p:txBody>
      </p:sp>
      <p:sp>
        <p:nvSpPr>
          <p:cNvPr id="30" name="Text 28"/>
          <p:cNvSpPr/>
          <p:nvPr/>
        </p:nvSpPr>
        <p:spPr>
          <a:xfrm>
            <a:off x="4590288" y="2990088"/>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Hilirisasi 15–20 produk inovasi komersial ber-TKDN</a:t>
            </a:r>
            <a:endParaRPr lang="en-US" sz="820" dirty="0"/>
          </a:p>
        </p:txBody>
      </p:sp>
      <p:sp>
        <p:nvSpPr>
          <p:cNvPr id="31" name="Text 29"/>
          <p:cNvSpPr/>
          <p:nvPr/>
        </p:nvSpPr>
        <p:spPr>
          <a:xfrm>
            <a:off x="4590288" y="3465576"/>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Strategi corporate marketing &amp; penetrasi pasar nasional</a:t>
            </a:r>
            <a:endParaRPr lang="en-US" sz="820" dirty="0"/>
          </a:p>
        </p:txBody>
      </p:sp>
      <p:sp>
        <p:nvSpPr>
          <p:cNvPr id="32" name="Text 30"/>
          <p:cNvSpPr/>
          <p:nvPr/>
        </p:nvSpPr>
        <p:spPr>
          <a:xfrm>
            <a:off x="4590288" y="3941064"/>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Ekspansi revenue OGSCI Migas mencapai Rp 5,5 Miliar</a:t>
            </a:r>
            <a:endParaRPr lang="en-US" sz="820" dirty="0"/>
          </a:p>
        </p:txBody>
      </p:sp>
      <p:sp>
        <p:nvSpPr>
          <p:cNvPr id="33" name="Text 31"/>
          <p:cNvSpPr/>
          <p:nvPr/>
        </p:nvSpPr>
        <p:spPr>
          <a:xfrm>
            <a:off x="4590288" y="4416552"/>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Operasionalisasi Co-Working &amp; Virtual Office penuh</a:t>
            </a:r>
            <a:endParaRPr lang="en-US" sz="820" dirty="0"/>
          </a:p>
        </p:txBody>
      </p:sp>
      <p:sp>
        <p:nvSpPr>
          <p:cNvPr id="34" name="Shape 32"/>
          <p:cNvSpPr/>
          <p:nvPr/>
        </p:nvSpPr>
        <p:spPr>
          <a:xfrm>
            <a:off x="8119872" y="1417320"/>
            <a:ext cx="3337560" cy="3703320"/>
          </a:xfrm>
          <a:prstGeom prst="rect">
            <a:avLst/>
          </a:prstGeom>
          <a:solidFill>
            <a:srgbClr val="FFFFFF"/>
          </a:solidFill>
          <a:ln w="10160">
            <a:solidFill>
              <a:srgbClr val="CBD5E1"/>
            </a:solidFill>
            <a:prstDash val="solid"/>
          </a:ln>
        </p:spPr>
      </p:sp>
      <p:sp>
        <p:nvSpPr>
          <p:cNvPr id="35" name="Shape 33"/>
          <p:cNvSpPr/>
          <p:nvPr/>
        </p:nvSpPr>
        <p:spPr>
          <a:xfrm>
            <a:off x="8119872" y="1417320"/>
            <a:ext cx="3337560" cy="54864"/>
          </a:xfrm>
          <a:prstGeom prst="rect">
            <a:avLst/>
          </a:prstGeom>
          <a:solidFill>
            <a:srgbClr val="059669"/>
          </a:solidFill>
          <a:ln w="12700">
            <a:solidFill>
              <a:srgbClr val="059669"/>
            </a:solidFill>
            <a:prstDash val="solid"/>
          </a:ln>
        </p:spPr>
      </p:sp>
      <p:sp>
        <p:nvSpPr>
          <p:cNvPr id="36" name="Text 34"/>
          <p:cNvSpPr/>
          <p:nvPr/>
        </p:nvSpPr>
        <p:spPr>
          <a:xfrm>
            <a:off x="8284464" y="1554480"/>
            <a:ext cx="3008376" cy="201168"/>
          </a:xfrm>
          <a:prstGeom prst="rect">
            <a:avLst/>
          </a:prstGeom>
          <a:noFill/>
          <a:ln/>
        </p:spPr>
        <p:txBody>
          <a:bodyPr wrap="square" rtlCol="0" anchor="ctr"/>
          <a:lstStyle/>
          <a:p>
            <a:pPr indent="0" marL="0">
              <a:buNone/>
            </a:pPr>
            <a:r>
              <a:rPr lang="en-US" sz="850" b="1" dirty="0">
                <a:solidFill>
                  <a:srgbClr val="059669"/>
                </a:solidFill>
                <a:latin typeface="Arial" pitchFamily="34" charset="0"/>
                <a:ea typeface="Arial" pitchFamily="34" charset="-122"/>
                <a:cs typeface="Arial" pitchFamily="34" charset="-120"/>
              </a:rPr>
              <a:t>FASE 3 (2029–2030)</a:t>
            </a:r>
            <a:endParaRPr lang="en-US" sz="850" dirty="0"/>
          </a:p>
        </p:txBody>
      </p:sp>
      <p:sp>
        <p:nvSpPr>
          <p:cNvPr id="37" name="Text 35"/>
          <p:cNvSpPr/>
          <p:nvPr/>
        </p:nvSpPr>
        <p:spPr>
          <a:xfrm>
            <a:off x="8284464" y="1783080"/>
            <a:ext cx="3008376" cy="292608"/>
          </a:xfrm>
          <a:prstGeom prst="rect">
            <a:avLst/>
          </a:prstGeom>
          <a:noFill/>
          <a:ln/>
        </p:spPr>
        <p:txBody>
          <a:bodyPr wrap="square" rtlCol="0" anchor="ctr"/>
          <a:lstStyle/>
          <a:p>
            <a:pPr indent="0" marL="0">
              <a:buNone/>
            </a:pPr>
            <a:r>
              <a:rPr lang="en-US" sz="1000" b="1" dirty="0">
                <a:solidFill>
                  <a:srgbClr val="0F172A"/>
                </a:solidFill>
                <a:latin typeface="Arial" pitchFamily="34" charset="0"/>
                <a:ea typeface="Arial" pitchFamily="34" charset="-122"/>
                <a:cs typeface="Arial" pitchFamily="34" charset="-120"/>
              </a:rPr>
              <a:t>GLOBAL MARKET POSITIONING &amp; HOLDING</a:t>
            </a:r>
            <a:endParaRPr lang="en-US" sz="1000" dirty="0"/>
          </a:p>
        </p:txBody>
      </p:sp>
      <p:sp>
        <p:nvSpPr>
          <p:cNvPr id="38" name="Shape 36"/>
          <p:cNvSpPr/>
          <p:nvPr/>
        </p:nvSpPr>
        <p:spPr>
          <a:xfrm>
            <a:off x="8284464" y="2121408"/>
            <a:ext cx="3008376" cy="274320"/>
          </a:xfrm>
          <a:prstGeom prst="rect">
            <a:avLst/>
          </a:prstGeom>
          <a:solidFill>
            <a:srgbClr val="F1F5F9"/>
          </a:solidFill>
          <a:ln w="10160">
            <a:solidFill>
              <a:srgbClr val="E2E8F0"/>
            </a:solidFill>
            <a:prstDash val="solid"/>
          </a:ln>
        </p:spPr>
      </p:sp>
      <p:sp>
        <p:nvSpPr>
          <p:cNvPr id="39" name="Text 37"/>
          <p:cNvSpPr/>
          <p:nvPr/>
        </p:nvSpPr>
        <p:spPr>
          <a:xfrm>
            <a:off x="8284464" y="2121408"/>
            <a:ext cx="3008376" cy="274320"/>
          </a:xfrm>
          <a:prstGeom prst="rect">
            <a:avLst/>
          </a:prstGeom>
          <a:noFill/>
          <a:ln/>
        </p:spPr>
        <p:txBody>
          <a:bodyPr wrap="square" rtlCol="0" anchor="ctr"/>
          <a:lstStyle/>
          <a:p>
            <a:pPr algn="ctr" indent="0" marL="0">
              <a:buNone/>
            </a:pPr>
            <a:r>
              <a:rPr lang="en-US" sz="800" b="1" dirty="0">
                <a:solidFill>
                  <a:srgbClr val="059669"/>
                </a:solidFill>
                <a:latin typeface="Arial" pitchFamily="34" charset="0"/>
                <a:ea typeface="Arial" pitchFamily="34" charset="-122"/>
                <a:cs typeface="Arial" pitchFamily="34" charset="-120"/>
              </a:rPr>
              <a:t>Target: Rp 20,62 M ➔ Rp 23,47 M (MANDIRI)</a:t>
            </a:r>
            <a:endParaRPr lang="en-US" sz="800" dirty="0"/>
          </a:p>
        </p:txBody>
      </p:sp>
      <p:sp>
        <p:nvSpPr>
          <p:cNvPr id="40" name="Text 38"/>
          <p:cNvSpPr/>
          <p:nvPr/>
        </p:nvSpPr>
        <p:spPr>
          <a:xfrm>
            <a:off x="8284464" y="2514600"/>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Kemandirian finansial penuh: 0% subsidi belanja APBD</a:t>
            </a:r>
            <a:endParaRPr lang="en-US" sz="820" dirty="0"/>
          </a:p>
        </p:txBody>
      </p:sp>
      <p:sp>
        <p:nvSpPr>
          <p:cNvPr id="41" name="Text 39"/>
          <p:cNvSpPr/>
          <p:nvPr/>
        </p:nvSpPr>
        <p:spPr>
          <a:xfrm>
            <a:off x="8284464" y="2990088"/>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Operasional holding company inovasi daerah pertama</a:t>
            </a:r>
            <a:endParaRPr lang="en-US" sz="820" dirty="0"/>
          </a:p>
        </p:txBody>
      </p:sp>
      <p:sp>
        <p:nvSpPr>
          <p:cNvPr id="42" name="Text 40"/>
          <p:cNvSpPr/>
          <p:nvPr/>
        </p:nvSpPr>
        <p:spPr>
          <a:xfrm>
            <a:off x="8284464" y="3465576"/>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Pusat pengembangan Indonesia Digital Technopark</a:t>
            </a:r>
            <a:endParaRPr lang="en-US" sz="820" dirty="0"/>
          </a:p>
        </p:txBody>
      </p:sp>
      <p:sp>
        <p:nvSpPr>
          <p:cNvPr id="43" name="Text 41"/>
          <p:cNvSpPr/>
          <p:nvPr/>
        </p:nvSpPr>
        <p:spPr>
          <a:xfrm>
            <a:off x="8284464" y="3941064"/>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Realisasi target pendapatan mandiri Rp 23,47 Miliar</a:t>
            </a:r>
            <a:endParaRPr lang="en-US" sz="820" dirty="0"/>
          </a:p>
        </p:txBody>
      </p:sp>
      <p:sp>
        <p:nvSpPr>
          <p:cNvPr id="44" name="Text 42"/>
          <p:cNvSpPr/>
          <p:nvPr/>
        </p:nvSpPr>
        <p:spPr>
          <a:xfrm>
            <a:off x="8284464" y="4416552"/>
            <a:ext cx="3008376" cy="438912"/>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  Ekspansi jejaring kemitraan dan penempatan global</a:t>
            </a:r>
            <a:endParaRPr lang="en-US" sz="820" dirty="0"/>
          </a:p>
        </p:txBody>
      </p:sp>
      <p:sp>
        <p:nvSpPr>
          <p:cNvPr id="45" name="Shape 43"/>
          <p:cNvSpPr/>
          <p:nvPr/>
        </p:nvSpPr>
        <p:spPr>
          <a:xfrm>
            <a:off x="731520" y="5257800"/>
            <a:ext cx="10728655" cy="1005840"/>
          </a:xfrm>
          <a:prstGeom prst="rect">
            <a:avLst/>
          </a:prstGeom>
          <a:solidFill>
            <a:srgbClr val="F8FAFC"/>
          </a:solidFill>
          <a:ln w="10160">
            <a:solidFill>
              <a:srgbClr val="CBD5E1"/>
            </a:solidFill>
            <a:prstDash val="solid"/>
          </a:ln>
        </p:spPr>
      </p:sp>
      <p:sp>
        <p:nvSpPr>
          <p:cNvPr id="46" name="Text 44"/>
          <p:cNvSpPr/>
          <p:nvPr/>
        </p:nvSpPr>
        <p:spPr>
          <a:xfrm>
            <a:off x="914400" y="5321808"/>
            <a:ext cx="10362895" cy="201168"/>
          </a:xfrm>
          <a:prstGeom prst="rect">
            <a:avLst/>
          </a:prstGeom>
          <a:noFill/>
          <a:ln/>
        </p:spPr>
        <p:txBody>
          <a:bodyPr wrap="square" rtlCol="0" anchor="ctr"/>
          <a:lstStyle/>
          <a:p>
            <a:pPr indent="0" marL="0">
              <a:buNone/>
            </a:pPr>
            <a:r>
              <a:rPr lang="en-US" sz="820" b="1" dirty="0">
                <a:solidFill>
                  <a:srgbClr val="1E40AF"/>
                </a:solidFill>
                <a:latin typeface="Arial" pitchFamily="34" charset="0"/>
                <a:ea typeface="Arial" pitchFamily="34" charset="-122"/>
                <a:cs typeface="Arial" pitchFamily="34" charset="-120"/>
              </a:rPr>
              <a:t>RINGKASAN TARGET TAHUNAN MENUJU KEMANDIRIAN 2030 (AUDIT FINANSIAL RIIL):</a:t>
            </a:r>
            <a:endParaRPr lang="en-US" sz="82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14400" y="5559552"/>
          <a:ext cx="10362895" cy="594360"/>
        </p:xfrm>
        <a:graphic>
          <a:graphicData uri="http://schemas.openxmlformats.org/drawingml/2006/table">
            <a:tbl>
              <a:tblPr/>
              <a:tblGrid>
                <a:gridCol w="2066544"/>
                <a:gridCol w="2066544"/>
                <a:gridCol w="2066544"/>
                <a:gridCol w="2066544"/>
                <a:gridCol w="2096719"/>
              </a:tblGrid>
              <a:tr h="274320">
                <a:tc>
                  <a:txBody>
                    <a:bodyPr/>
                    <a:lstStyle/>
                    <a:p>
                      <a:pPr algn="ctr" indent="0" marL="0">
                        <a:buNone/>
                      </a:pPr>
                      <a:r>
                        <a:rPr lang="en-US" sz="850" b="1" dirty="0">
                          <a:solidFill>
                            <a:srgbClr val="0F172A"/>
                          </a:solidFill>
                          <a:latin typeface="Arial" pitchFamily="34" charset="0"/>
                          <a:ea typeface="Arial" pitchFamily="34" charset="-122"/>
                          <a:cs typeface="Arial" pitchFamily="34" charset="-120"/>
                        </a:rPr>
                        <a:t>TAHUN 2026 (Baseline)</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50" b="1" dirty="0">
                          <a:solidFill>
                            <a:srgbClr val="0F172A"/>
                          </a:solidFill>
                          <a:latin typeface="Arial" pitchFamily="34" charset="0"/>
                          <a:ea typeface="Arial" pitchFamily="34" charset="-122"/>
                          <a:cs typeface="Arial" pitchFamily="34" charset="-120"/>
                        </a:rPr>
                        <a:t>TAHUN 2027 (+67,0%)</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50" b="1" dirty="0">
                          <a:solidFill>
                            <a:srgbClr val="0F172A"/>
                          </a:solidFill>
                          <a:latin typeface="Arial" pitchFamily="34" charset="0"/>
                          <a:ea typeface="Arial" pitchFamily="34" charset="-122"/>
                          <a:cs typeface="Arial" pitchFamily="34" charset="-120"/>
                        </a:rPr>
                        <a:t>TAHUN 2028 (+28,5%)</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50" b="1" dirty="0">
                          <a:solidFill>
                            <a:srgbClr val="0F172A"/>
                          </a:solidFill>
                          <a:latin typeface="Arial" pitchFamily="34" charset="0"/>
                          <a:ea typeface="Arial" pitchFamily="34" charset="-122"/>
                          <a:cs typeface="Arial" pitchFamily="34" charset="-120"/>
                        </a:rPr>
                        <a:t>TAHUN 2029 (+28,0%)</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algn="ctr" indent="0" marL="0">
                        <a:buNone/>
                      </a:pPr>
                      <a:r>
                        <a:rPr lang="en-US" sz="850" b="1" dirty="0">
                          <a:solidFill>
                            <a:srgbClr val="D97706"/>
                          </a:solidFill>
                          <a:latin typeface="Arial" pitchFamily="34" charset="0"/>
                          <a:ea typeface="Arial" pitchFamily="34" charset="-122"/>
                          <a:cs typeface="Arial" pitchFamily="34" charset="-120"/>
                        </a:rPr>
                        <a:t>TAHUN 2030 (MANDIRI)</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EF3C7"/>
                    </a:solidFill>
                  </a:tcPr>
                </a:tc>
              </a:tr>
              <a:tr h="292608">
                <a:tc>
                  <a:txBody>
                    <a:bodyPr/>
                    <a:lstStyle/>
                    <a:p>
                      <a:pPr algn="ctr" indent="0" marL="0">
                        <a:buNone/>
                      </a:pPr>
                      <a:r>
                        <a:rPr lang="en-US" sz="850" dirty="0">
                          <a:solidFill>
                            <a:srgbClr val="334155"/>
                          </a:solidFill>
                          <a:latin typeface="Arial" pitchFamily="34" charset="0"/>
                          <a:ea typeface="Arial" pitchFamily="34" charset="-122"/>
                          <a:cs typeface="Arial" pitchFamily="34" charset="-120"/>
                        </a:rPr>
                        <a:t>Rp 7.503.392.698</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40AF"/>
                          </a:solidFill>
                          <a:latin typeface="Arial" pitchFamily="34" charset="0"/>
                          <a:ea typeface="Arial" pitchFamily="34" charset="-122"/>
                          <a:cs typeface="Arial" pitchFamily="34" charset="-120"/>
                        </a:rPr>
                        <a:t>Rp 12.532.185.031</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40AF"/>
                          </a:solidFill>
                          <a:latin typeface="Arial" pitchFamily="34" charset="0"/>
                          <a:ea typeface="Arial" pitchFamily="34" charset="-122"/>
                          <a:cs typeface="Arial" pitchFamily="34" charset="-120"/>
                        </a:rPr>
                        <a:t>Rp 16.100.658.831</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1E40AF"/>
                          </a:solidFill>
                          <a:latin typeface="Arial" pitchFamily="34" charset="0"/>
                          <a:ea typeface="Arial" pitchFamily="34" charset="-122"/>
                          <a:cs typeface="Arial" pitchFamily="34" charset="-120"/>
                        </a:rPr>
                        <a:t>Rp 20.615.658.831</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7706"/>
                          </a:solidFill>
                          <a:latin typeface="Arial" pitchFamily="34" charset="0"/>
                          <a:ea typeface="Arial" pitchFamily="34" charset="-122"/>
                          <a:cs typeface="Arial" pitchFamily="34" charset="-120"/>
                        </a:rPr>
                        <a:t>Rp 23.468.158.831</a:t>
                      </a:r>
                      <a:endParaRPr lang="en-US" sz="85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PROYEKSI KEUANGAN BLUD 2026–2030</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09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RE-SETTING TARGET FINANSIAL: LOMPATAN KEMANDIRIAN BLUD +212,8%</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Proyeksi Pendapatan Mandiri Riil dari Rp 7,50 Miliar (2026) menuju Rp 23,47 Miliar (2030) — Tanpa Subsidi APBD</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5257800" cy="4846320"/>
          </a:xfrm>
          <a:prstGeom prst="rect">
            <a:avLst/>
          </a:prstGeom>
          <a:solidFill>
            <a:srgbClr val="FFFFFF"/>
          </a:solidFill>
          <a:ln w="10160">
            <a:solidFill>
              <a:srgbClr val="CBD5E1"/>
            </a:solidFill>
            <a:prstDash val="solid"/>
          </a:ln>
        </p:spPr>
      </p:sp>
      <p:sp>
        <p:nvSpPr>
          <p:cNvPr id="11" name="Shape 9"/>
          <p:cNvSpPr/>
          <p:nvPr/>
        </p:nvSpPr>
        <p:spPr>
          <a:xfrm>
            <a:off x="731520" y="1417320"/>
            <a:ext cx="5257800" cy="54864"/>
          </a:xfrm>
          <a:prstGeom prst="rect">
            <a:avLst/>
          </a:prstGeom>
          <a:solidFill>
            <a:srgbClr val="1E40AF"/>
          </a:solidFill>
          <a:ln w="12700">
            <a:solidFill>
              <a:srgbClr val="1E40AF"/>
            </a:solidFill>
            <a:prstDash val="solid"/>
          </a:ln>
        </p:spPr>
      </p:sp>
      <p:sp>
        <p:nvSpPr>
          <p:cNvPr id="12" name="Text 10"/>
          <p:cNvSpPr/>
          <p:nvPr/>
        </p:nvSpPr>
        <p:spPr>
          <a:xfrm>
            <a:off x="868680" y="1554480"/>
            <a:ext cx="4937760" cy="228600"/>
          </a:xfrm>
          <a:prstGeom prst="rect">
            <a:avLst/>
          </a:prstGeom>
          <a:noFill/>
          <a:ln/>
        </p:spPr>
        <p:txBody>
          <a:bodyPr wrap="square" rtlCol="0" anchor="ctr"/>
          <a:lstStyle/>
          <a:p>
            <a:pPr indent="0" marL="0">
              <a:buNone/>
            </a:pPr>
            <a:r>
              <a:rPr lang="en-US" sz="880" b="1" dirty="0">
                <a:solidFill>
                  <a:srgbClr val="1E40AF"/>
                </a:solidFill>
                <a:latin typeface="Arial" pitchFamily="34" charset="0"/>
                <a:ea typeface="Arial" pitchFamily="34" charset="-122"/>
                <a:cs typeface="Arial" pitchFamily="34" charset="-120"/>
              </a:rPr>
              <a:t>TREN PERTUMBUHAN PENDAPATAN BLUD 2026–2030 (DALAM RP MILIAR)</a:t>
            </a:r>
            <a:endParaRPr lang="en-US" sz="880" dirty="0"/>
          </a:p>
        </p:txBody>
      </p:sp>
      <p:graphicFrame>
        <p:nvGraphicFramePr>
          <p:cNvPr id="13" name="Chart 0" descr=""/>
          <p:cNvGraphicFramePr/>
          <p:nvPr/>
        </p:nvGraphicFramePr>
        <p:xfrm>
          <a:off x="868680" y="1874520"/>
          <a:ext cx="4983480" cy="274320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868680" y="4754880"/>
            <a:ext cx="4983480" cy="1371600"/>
          </a:xfrm>
          <a:prstGeom prst="rect">
            <a:avLst/>
          </a:prstGeom>
          <a:solidFill>
            <a:srgbClr val="F8FAFC"/>
          </a:solidFill>
          <a:ln w="10160">
            <a:solidFill>
              <a:srgbClr val="E2E8F0"/>
            </a:solidFill>
            <a:prstDash val="solid"/>
          </a:ln>
        </p:spPr>
      </p:sp>
      <p:sp>
        <p:nvSpPr>
          <p:cNvPr id="15" name="Text 12"/>
          <p:cNvSpPr/>
          <p:nvPr/>
        </p:nvSpPr>
        <p:spPr>
          <a:xfrm>
            <a:off x="1005840" y="4846320"/>
            <a:ext cx="4709160" cy="219456"/>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LOMPATAN FINANSIAL: +212,8% (3,1× LIPAT DALAM 4 TAHUN)</a:t>
            </a:r>
            <a:endParaRPr lang="en-US" sz="900" dirty="0"/>
          </a:p>
        </p:txBody>
      </p:sp>
      <p:sp>
        <p:nvSpPr>
          <p:cNvPr id="16" name="Text 13"/>
          <p:cNvSpPr/>
          <p:nvPr/>
        </p:nvSpPr>
        <p:spPr>
          <a:xfrm>
            <a:off x="1005840" y="5102352"/>
            <a:ext cx="4709160" cy="914400"/>
          </a:xfrm>
          <a:prstGeom prst="rect">
            <a:avLst/>
          </a:prstGeom>
          <a:noFill/>
          <a:ln/>
        </p:spPr>
        <p:txBody>
          <a:bodyPr wrap="square" rtlCol="0" anchor="ctr"/>
          <a:lstStyle/>
          <a:p>
            <a:pPr indent="0" marL="0">
              <a:lnSpc>
                <a:spcPts val="1100"/>
              </a:lnSpc>
              <a:buNone/>
            </a:pPr>
            <a:r>
              <a:rPr lang="en-US" sz="800" dirty="0">
                <a:solidFill>
                  <a:srgbClr val="334155"/>
                </a:solidFill>
                <a:latin typeface="Arial" pitchFamily="34" charset="0"/>
                <a:ea typeface="Arial" pitchFamily="34" charset="-122"/>
                <a:cs typeface="Arial" pitchFamily="34" charset="-120"/>
              </a:rPr>
              <a:t>• Mandiri Total Tanpa APBD di 2030: Biaya operasional UPTD STP tertutup 100% dari jasa layanan mandiri.</a:t>
            </a:r>
            <a:endParaRPr lang="en-US" sz="800" dirty="0"/>
          </a:p>
          <a:p>
            <a:pPr indent="0" marL="0">
              <a:lnSpc>
                <a:spcPts val="1100"/>
              </a:lnSpc>
              <a:buNone/>
            </a:pPr>
            <a:r>
              <a:rPr lang="en-US" sz="800" dirty="0">
                <a:solidFill>
                  <a:srgbClr val="334155"/>
                </a:solidFill>
                <a:latin typeface="Arial" pitchFamily="34" charset="0"/>
                <a:ea typeface="Arial" pitchFamily="34" charset="-122"/>
                <a:cs typeface="Arial" pitchFamily="34" charset="-120"/>
              </a:rPr>
              <a:t>• Titik Impas (BEP) di Tahun 2028: Tercapai di angka Rp 16,10 Miliar seiring beroperasinya SBU manufaktur.</a:t>
            </a:r>
            <a:endParaRPr lang="en-US" sz="800" dirty="0"/>
          </a:p>
          <a:p>
            <a:pPr indent="0" marL="0">
              <a:lnSpc>
                <a:spcPts val="1100"/>
              </a:lnSpc>
              <a:buNone/>
            </a:pPr>
            <a:r>
              <a:rPr lang="en-US" sz="800" dirty="0">
                <a:solidFill>
                  <a:srgbClr val="334155"/>
                </a:solidFill>
                <a:latin typeface="Arial" pitchFamily="34" charset="0"/>
                <a:ea typeface="Arial" pitchFamily="34" charset="-122"/>
                <a:cs typeface="Arial" pitchFamily="34" charset="-120"/>
              </a:rPr>
              <a:t>• Kualitas Pendapatan Berkelanjutan: 88% pendapatan disumbang oleh riset, vokasi industri, &amp; startup binaan.</a:t>
            </a:r>
            <a:endParaRPr lang="en-US" sz="800" dirty="0"/>
          </a:p>
        </p:txBody>
      </p:sp>
      <p:sp>
        <p:nvSpPr>
          <p:cNvPr id="17" name="Shape 14"/>
          <p:cNvSpPr/>
          <p:nvPr/>
        </p:nvSpPr>
        <p:spPr>
          <a:xfrm>
            <a:off x="6199632" y="1417320"/>
            <a:ext cx="5260543" cy="4846320"/>
          </a:xfrm>
          <a:prstGeom prst="rect">
            <a:avLst/>
          </a:prstGeom>
          <a:solidFill>
            <a:srgbClr val="FFFFFF"/>
          </a:solidFill>
          <a:ln w="10160">
            <a:solidFill>
              <a:srgbClr val="CBD5E1"/>
            </a:solidFill>
            <a:prstDash val="solid"/>
          </a:ln>
        </p:spPr>
      </p:sp>
      <p:sp>
        <p:nvSpPr>
          <p:cNvPr id="18" name="Shape 15"/>
          <p:cNvSpPr/>
          <p:nvPr/>
        </p:nvSpPr>
        <p:spPr>
          <a:xfrm>
            <a:off x="6199632" y="1417320"/>
            <a:ext cx="5260543" cy="54864"/>
          </a:xfrm>
          <a:prstGeom prst="rect">
            <a:avLst/>
          </a:prstGeom>
          <a:solidFill>
            <a:srgbClr val="D97706"/>
          </a:solidFill>
          <a:ln w="12700">
            <a:solidFill>
              <a:srgbClr val="D97706"/>
            </a:solidFill>
            <a:prstDash val="solid"/>
          </a:ln>
        </p:spPr>
      </p:sp>
      <p:sp>
        <p:nvSpPr>
          <p:cNvPr id="19" name="Text 16"/>
          <p:cNvSpPr/>
          <p:nvPr/>
        </p:nvSpPr>
        <p:spPr>
          <a:xfrm>
            <a:off x="6355080" y="1554480"/>
            <a:ext cx="4937760" cy="228600"/>
          </a:xfrm>
          <a:prstGeom prst="rect">
            <a:avLst/>
          </a:prstGeom>
          <a:noFill/>
          <a:ln/>
        </p:spPr>
        <p:txBody>
          <a:bodyPr wrap="square" rtlCol="0" anchor="ctr"/>
          <a:lstStyle/>
          <a:p>
            <a:pPr indent="0" marL="0">
              <a:buNone/>
            </a:pPr>
            <a:r>
              <a:rPr lang="en-US" sz="880" b="1" dirty="0">
                <a:solidFill>
                  <a:srgbClr val="D97706"/>
                </a:solidFill>
                <a:latin typeface="Arial" pitchFamily="34" charset="0"/>
                <a:ea typeface="Arial" pitchFamily="34" charset="-122"/>
                <a:cs typeface="Arial" pitchFamily="34" charset="-120"/>
              </a:rPr>
              <a:t>STRUKTUR REVENUE STREAM 2030 (RP 23,47 M)</a:t>
            </a:r>
            <a:endParaRPr lang="en-US" sz="880" dirty="0"/>
          </a:p>
        </p:txBody>
      </p:sp>
      <p:graphicFrame>
        <p:nvGraphicFramePr>
          <p:cNvPr id="20" name="Chart 1" descr=""/>
          <p:cNvGraphicFramePr/>
          <p:nvPr/>
        </p:nvGraphicFramePr>
        <p:xfrm>
          <a:off x="6400800" y="1874520"/>
          <a:ext cx="4846320" cy="2011680"/>
        </p:xfrm>
        <a:graphic xmlns:a="http://schemas.openxmlformats.org/drawingml/2006/main">
          <a:graphicData uri="http://schemas.openxmlformats.org/drawingml/2006/chart">
            <c:chart xmlns:c="http://schemas.openxmlformats.org/drawingml/2006/chart" r:id="rId2"/>
          </a:graphicData>
        </a:graphic>
      </p:graphicFrame>
      <p:sp>
        <p:nvSpPr>
          <p:cNvPr id="21" name="Shape 17"/>
          <p:cNvSpPr/>
          <p:nvPr/>
        </p:nvSpPr>
        <p:spPr>
          <a:xfrm>
            <a:off x="6355080" y="4023360"/>
            <a:ext cx="109728" cy="109728"/>
          </a:xfrm>
          <a:prstGeom prst="ellipse">
            <a:avLst/>
          </a:prstGeom>
          <a:solidFill>
            <a:srgbClr val="0284C7"/>
          </a:solidFill>
          <a:ln w="12700">
            <a:solidFill>
              <a:srgbClr val="0284C7"/>
            </a:solidFill>
            <a:prstDash val="solid"/>
          </a:ln>
        </p:spPr>
      </p:sp>
      <p:sp>
        <p:nvSpPr>
          <p:cNvPr id="22" name="Text 18"/>
          <p:cNvSpPr/>
          <p:nvPr/>
        </p:nvSpPr>
        <p:spPr>
          <a:xfrm>
            <a:off x="6519672" y="3977640"/>
            <a:ext cx="2331720" cy="274320"/>
          </a:xfrm>
          <a:prstGeom prst="rect">
            <a:avLst/>
          </a:prstGeom>
          <a:noFill/>
          <a:ln/>
        </p:spPr>
        <p:txBody>
          <a:bodyPr wrap="square" rtlCol="0" anchor="ctr"/>
          <a:lstStyle/>
          <a:p>
            <a:pPr indent="0" marL="0">
              <a:lnSpc>
                <a:spcPts val="900"/>
              </a:lnSpc>
              <a:buNone/>
            </a:pPr>
            <a:r>
              <a:rPr lang="en-US" sz="720" dirty="0">
                <a:solidFill>
                  <a:srgbClr val="0F172A"/>
                </a:solidFill>
                <a:latin typeface="Arial" pitchFamily="34" charset="0"/>
                <a:ea typeface="Arial" pitchFamily="34" charset="-122"/>
                <a:cs typeface="Arial" pitchFamily="34" charset="-120"/>
              </a:rPr>
              <a:t>Program Kemitraan:</a:t>
            </a:r>
            <a:endParaRPr lang="en-US" sz="720" dirty="0"/>
          </a:p>
          <a:p>
            <a:pPr indent="0" marL="0">
              <a:lnSpc>
                <a:spcPts val="900"/>
              </a:lnSpc>
              <a:buNone/>
            </a:pPr>
            <a:r>
              <a:rPr lang="en-US" sz="720" dirty="0">
                <a:solidFill>
                  <a:srgbClr val="0F172A"/>
                </a:solidFill>
                <a:latin typeface="Arial" pitchFamily="34" charset="0"/>
                <a:ea typeface="Arial" pitchFamily="34" charset="-122"/>
                <a:cs typeface="Arial" pitchFamily="34" charset="-120"/>
              </a:rPr>
              <a:t>54,6% (Rp 12,83 M)</a:t>
            </a:r>
            <a:endParaRPr lang="en-US" sz="720" dirty="0"/>
          </a:p>
        </p:txBody>
      </p:sp>
      <p:sp>
        <p:nvSpPr>
          <p:cNvPr id="23" name="Shape 19"/>
          <p:cNvSpPr/>
          <p:nvPr/>
        </p:nvSpPr>
        <p:spPr>
          <a:xfrm>
            <a:off x="8915400" y="4023360"/>
            <a:ext cx="109728" cy="109728"/>
          </a:xfrm>
          <a:prstGeom prst="ellipse">
            <a:avLst/>
          </a:prstGeom>
          <a:solidFill>
            <a:srgbClr val="059669"/>
          </a:solidFill>
          <a:ln w="12700">
            <a:solidFill>
              <a:srgbClr val="059669"/>
            </a:solidFill>
            <a:prstDash val="solid"/>
          </a:ln>
        </p:spPr>
      </p:sp>
      <p:sp>
        <p:nvSpPr>
          <p:cNvPr id="24" name="Text 20"/>
          <p:cNvSpPr/>
          <p:nvPr/>
        </p:nvSpPr>
        <p:spPr>
          <a:xfrm>
            <a:off x="9079992" y="3977640"/>
            <a:ext cx="2331720" cy="274320"/>
          </a:xfrm>
          <a:prstGeom prst="rect">
            <a:avLst/>
          </a:prstGeom>
          <a:noFill/>
          <a:ln/>
        </p:spPr>
        <p:txBody>
          <a:bodyPr wrap="square" rtlCol="0" anchor="ctr"/>
          <a:lstStyle/>
          <a:p>
            <a:pPr indent="0" marL="0">
              <a:lnSpc>
                <a:spcPts val="900"/>
              </a:lnSpc>
              <a:buNone/>
            </a:pPr>
            <a:r>
              <a:rPr lang="en-US" sz="720" dirty="0">
                <a:solidFill>
                  <a:srgbClr val="0F172A"/>
                </a:solidFill>
                <a:latin typeface="Arial" pitchFamily="34" charset="0"/>
                <a:ea typeface="Arial" pitchFamily="34" charset="-122"/>
                <a:cs typeface="Arial" pitchFamily="34" charset="-120"/>
              </a:rPr>
              <a:t>Lain-lain BLUD / MICE:</a:t>
            </a:r>
            <a:endParaRPr lang="en-US" sz="720" dirty="0"/>
          </a:p>
          <a:p>
            <a:pPr indent="0" marL="0">
              <a:lnSpc>
                <a:spcPts val="900"/>
              </a:lnSpc>
              <a:buNone/>
            </a:pPr>
            <a:r>
              <a:rPr lang="en-US" sz="720" dirty="0">
                <a:solidFill>
                  <a:srgbClr val="0F172A"/>
                </a:solidFill>
                <a:latin typeface="Arial" pitchFamily="34" charset="0"/>
                <a:ea typeface="Arial" pitchFamily="34" charset="-122"/>
                <a:cs typeface="Arial" pitchFamily="34" charset="-120"/>
              </a:rPr>
              <a:t>10,4% (Rp 2,45 M)</a:t>
            </a:r>
            <a:endParaRPr lang="en-US" sz="720" dirty="0"/>
          </a:p>
        </p:txBody>
      </p:sp>
      <p:sp>
        <p:nvSpPr>
          <p:cNvPr id="25" name="Shape 21"/>
          <p:cNvSpPr/>
          <p:nvPr/>
        </p:nvSpPr>
        <p:spPr>
          <a:xfrm>
            <a:off x="6355080" y="4315968"/>
            <a:ext cx="109728" cy="109728"/>
          </a:xfrm>
          <a:prstGeom prst="ellipse">
            <a:avLst/>
          </a:prstGeom>
          <a:solidFill>
            <a:srgbClr val="1E40AF"/>
          </a:solidFill>
          <a:ln w="12700">
            <a:solidFill>
              <a:srgbClr val="1E40AF"/>
            </a:solidFill>
            <a:prstDash val="solid"/>
          </a:ln>
        </p:spPr>
      </p:sp>
      <p:sp>
        <p:nvSpPr>
          <p:cNvPr id="26" name="Text 22"/>
          <p:cNvSpPr/>
          <p:nvPr/>
        </p:nvSpPr>
        <p:spPr>
          <a:xfrm>
            <a:off x="6519672" y="4270248"/>
            <a:ext cx="2331720" cy="274320"/>
          </a:xfrm>
          <a:prstGeom prst="rect">
            <a:avLst/>
          </a:prstGeom>
          <a:noFill/>
          <a:ln/>
        </p:spPr>
        <p:txBody>
          <a:bodyPr wrap="square" rtlCol="0" anchor="ctr"/>
          <a:lstStyle/>
          <a:p>
            <a:pPr indent="0" marL="0">
              <a:lnSpc>
                <a:spcPts val="900"/>
              </a:lnSpc>
              <a:buNone/>
            </a:pPr>
            <a:r>
              <a:rPr lang="en-US" sz="720" dirty="0">
                <a:solidFill>
                  <a:srgbClr val="0F172A"/>
                </a:solidFill>
                <a:latin typeface="Arial" pitchFamily="34" charset="0"/>
                <a:ea typeface="Arial" pitchFamily="34" charset="-122"/>
                <a:cs typeface="Arial" pitchFamily="34" charset="-120"/>
              </a:rPr>
              <a:t>Pelatihan &amp; Sertifikasi:</a:t>
            </a:r>
            <a:endParaRPr lang="en-US" sz="720" dirty="0"/>
          </a:p>
          <a:p>
            <a:pPr indent="0" marL="0">
              <a:lnSpc>
                <a:spcPts val="900"/>
              </a:lnSpc>
              <a:buNone/>
            </a:pPr>
            <a:r>
              <a:rPr lang="en-US" sz="720" dirty="0">
                <a:solidFill>
                  <a:srgbClr val="0F172A"/>
                </a:solidFill>
                <a:latin typeface="Arial" pitchFamily="34" charset="0"/>
                <a:ea typeface="Arial" pitchFamily="34" charset="-122"/>
                <a:cs typeface="Arial" pitchFamily="34" charset="-120"/>
              </a:rPr>
              <a:t>15,7% (Rp 3,68 M)</a:t>
            </a:r>
            <a:endParaRPr lang="en-US" sz="720" dirty="0"/>
          </a:p>
        </p:txBody>
      </p:sp>
      <p:sp>
        <p:nvSpPr>
          <p:cNvPr id="27" name="Shape 23"/>
          <p:cNvSpPr/>
          <p:nvPr/>
        </p:nvSpPr>
        <p:spPr>
          <a:xfrm>
            <a:off x="8915400" y="4315968"/>
            <a:ext cx="109728" cy="109728"/>
          </a:xfrm>
          <a:prstGeom prst="ellipse">
            <a:avLst/>
          </a:prstGeom>
          <a:solidFill>
            <a:srgbClr val="7C3AED"/>
          </a:solidFill>
          <a:ln w="12700">
            <a:solidFill>
              <a:srgbClr val="7C3AED"/>
            </a:solidFill>
            <a:prstDash val="solid"/>
          </a:ln>
        </p:spPr>
      </p:sp>
      <p:sp>
        <p:nvSpPr>
          <p:cNvPr id="28" name="Text 24"/>
          <p:cNvSpPr/>
          <p:nvPr/>
        </p:nvSpPr>
        <p:spPr>
          <a:xfrm>
            <a:off x="9079992" y="4270248"/>
            <a:ext cx="2331720" cy="274320"/>
          </a:xfrm>
          <a:prstGeom prst="rect">
            <a:avLst/>
          </a:prstGeom>
          <a:noFill/>
          <a:ln/>
        </p:spPr>
        <p:txBody>
          <a:bodyPr wrap="square" rtlCol="0" anchor="ctr"/>
          <a:lstStyle/>
          <a:p>
            <a:pPr indent="0" marL="0">
              <a:lnSpc>
                <a:spcPts val="900"/>
              </a:lnSpc>
              <a:buNone/>
            </a:pPr>
            <a:r>
              <a:rPr lang="en-US" sz="720" dirty="0">
                <a:solidFill>
                  <a:srgbClr val="0F172A"/>
                </a:solidFill>
                <a:latin typeface="Arial" pitchFamily="34" charset="0"/>
                <a:ea typeface="Arial" pitchFamily="34" charset="-122"/>
                <a:cs typeface="Arial" pitchFamily="34" charset="-120"/>
              </a:rPr>
              <a:t>Rekayasa Manufaktur:</a:t>
            </a:r>
            <a:endParaRPr lang="en-US" sz="720" dirty="0"/>
          </a:p>
          <a:p>
            <a:pPr indent="0" marL="0">
              <a:lnSpc>
                <a:spcPts val="900"/>
              </a:lnSpc>
              <a:buNone/>
            </a:pPr>
            <a:r>
              <a:rPr lang="en-US" sz="720" dirty="0">
                <a:solidFill>
                  <a:srgbClr val="0F172A"/>
                </a:solidFill>
                <a:latin typeface="Arial" pitchFamily="34" charset="0"/>
                <a:ea typeface="Arial" pitchFamily="34" charset="-122"/>
                <a:cs typeface="Arial" pitchFamily="34" charset="-120"/>
              </a:rPr>
              <a:t>6,2% (Rp 1,47 M)</a:t>
            </a:r>
            <a:endParaRPr lang="en-US" sz="720" dirty="0"/>
          </a:p>
        </p:txBody>
      </p:sp>
      <p:sp>
        <p:nvSpPr>
          <p:cNvPr id="29" name="Shape 25"/>
          <p:cNvSpPr/>
          <p:nvPr/>
        </p:nvSpPr>
        <p:spPr>
          <a:xfrm>
            <a:off x="6355080" y="4608576"/>
            <a:ext cx="109728" cy="109728"/>
          </a:xfrm>
          <a:prstGeom prst="ellipse">
            <a:avLst/>
          </a:prstGeom>
          <a:solidFill>
            <a:srgbClr val="D97706"/>
          </a:solidFill>
          <a:ln w="12700">
            <a:solidFill>
              <a:srgbClr val="D97706"/>
            </a:solidFill>
            <a:prstDash val="solid"/>
          </a:ln>
        </p:spPr>
      </p:sp>
      <p:sp>
        <p:nvSpPr>
          <p:cNvPr id="30" name="Text 26"/>
          <p:cNvSpPr/>
          <p:nvPr/>
        </p:nvSpPr>
        <p:spPr>
          <a:xfrm>
            <a:off x="6519672" y="4562856"/>
            <a:ext cx="2331720" cy="274320"/>
          </a:xfrm>
          <a:prstGeom prst="rect">
            <a:avLst/>
          </a:prstGeom>
          <a:noFill/>
          <a:ln/>
        </p:spPr>
        <p:txBody>
          <a:bodyPr wrap="square" rtlCol="0" anchor="ctr"/>
          <a:lstStyle/>
          <a:p>
            <a:pPr indent="0" marL="0">
              <a:lnSpc>
                <a:spcPts val="900"/>
              </a:lnSpc>
              <a:buNone/>
            </a:pPr>
            <a:r>
              <a:rPr lang="en-US" sz="720" dirty="0">
                <a:solidFill>
                  <a:srgbClr val="0F172A"/>
                </a:solidFill>
                <a:latin typeface="Arial" pitchFamily="34" charset="0"/>
                <a:ea typeface="Arial" pitchFamily="34" charset="-122"/>
                <a:cs typeface="Arial" pitchFamily="34" charset="-120"/>
              </a:rPr>
              <a:t>Diklat Mandiri Spesialis:</a:t>
            </a:r>
            <a:endParaRPr lang="en-US" sz="720" dirty="0"/>
          </a:p>
          <a:p>
            <a:pPr indent="0" marL="0">
              <a:lnSpc>
                <a:spcPts val="900"/>
              </a:lnSpc>
              <a:buNone/>
            </a:pPr>
            <a:r>
              <a:rPr lang="en-US" sz="720" dirty="0">
                <a:solidFill>
                  <a:srgbClr val="0F172A"/>
                </a:solidFill>
                <a:latin typeface="Arial" pitchFamily="34" charset="0"/>
                <a:ea typeface="Arial" pitchFamily="34" charset="-122"/>
                <a:cs typeface="Arial" pitchFamily="34" charset="-120"/>
              </a:rPr>
              <a:t>10,5% (Rp 2,47 M)</a:t>
            </a:r>
            <a:endParaRPr lang="en-US" sz="720" dirty="0"/>
          </a:p>
        </p:txBody>
      </p:sp>
      <p:sp>
        <p:nvSpPr>
          <p:cNvPr id="31" name="Shape 27"/>
          <p:cNvSpPr/>
          <p:nvPr/>
        </p:nvSpPr>
        <p:spPr>
          <a:xfrm>
            <a:off x="8915400" y="4608576"/>
            <a:ext cx="109728" cy="109728"/>
          </a:xfrm>
          <a:prstGeom prst="ellipse">
            <a:avLst/>
          </a:prstGeom>
          <a:solidFill>
            <a:srgbClr val="94A3B8"/>
          </a:solidFill>
          <a:ln w="12700">
            <a:solidFill>
              <a:srgbClr val="94A3B8"/>
            </a:solidFill>
            <a:prstDash val="solid"/>
          </a:ln>
        </p:spPr>
      </p:sp>
      <p:sp>
        <p:nvSpPr>
          <p:cNvPr id="32" name="Text 28"/>
          <p:cNvSpPr/>
          <p:nvPr/>
        </p:nvSpPr>
        <p:spPr>
          <a:xfrm>
            <a:off x="9079992" y="4562856"/>
            <a:ext cx="2331720" cy="274320"/>
          </a:xfrm>
          <a:prstGeom prst="rect">
            <a:avLst/>
          </a:prstGeom>
          <a:noFill/>
          <a:ln/>
        </p:spPr>
        <p:txBody>
          <a:bodyPr wrap="square" rtlCol="0" anchor="ctr"/>
          <a:lstStyle/>
          <a:p>
            <a:pPr indent="0" marL="0">
              <a:lnSpc>
                <a:spcPts val="900"/>
              </a:lnSpc>
              <a:buNone/>
            </a:pPr>
            <a:r>
              <a:rPr lang="en-US" sz="720" dirty="0">
                <a:solidFill>
                  <a:srgbClr val="0F172A"/>
                </a:solidFill>
                <a:latin typeface="Arial" pitchFamily="34" charset="0"/>
                <a:ea typeface="Arial" pitchFamily="34" charset="-122"/>
                <a:cs typeface="Arial" pitchFamily="34" charset="-120"/>
              </a:rPr>
              <a:t>Kemitraan Lahan Eksisting:</a:t>
            </a:r>
            <a:endParaRPr lang="en-US" sz="720" dirty="0"/>
          </a:p>
          <a:p>
            <a:pPr indent="0" marL="0">
              <a:lnSpc>
                <a:spcPts val="900"/>
              </a:lnSpc>
              <a:buNone/>
            </a:pPr>
            <a:r>
              <a:rPr lang="en-US" sz="720" dirty="0">
                <a:solidFill>
                  <a:srgbClr val="0F172A"/>
                </a:solidFill>
                <a:latin typeface="Arial" pitchFamily="34" charset="0"/>
                <a:ea typeface="Arial" pitchFamily="34" charset="-122"/>
                <a:cs typeface="Arial" pitchFamily="34" charset="-120"/>
              </a:rPr>
              <a:t>2,5% (Rp 0,58 M)</a:t>
            </a:r>
            <a:endParaRPr lang="en-US" sz="720" dirty="0"/>
          </a:p>
        </p:txBody>
      </p:sp>
      <p:sp>
        <p:nvSpPr>
          <p:cNvPr id="33" name="Shape 29"/>
          <p:cNvSpPr/>
          <p:nvPr/>
        </p:nvSpPr>
        <p:spPr>
          <a:xfrm>
            <a:off x="6355080" y="4937760"/>
            <a:ext cx="4937760" cy="1188720"/>
          </a:xfrm>
          <a:prstGeom prst="rect">
            <a:avLst/>
          </a:prstGeom>
          <a:solidFill>
            <a:srgbClr val="F8FAFC"/>
          </a:solidFill>
          <a:ln w="10160">
            <a:solidFill>
              <a:srgbClr val="E2E8F0"/>
            </a:solidFill>
            <a:prstDash val="solid"/>
          </a:ln>
        </p:spPr>
      </p:sp>
      <p:sp>
        <p:nvSpPr>
          <p:cNvPr id="34" name="Text 30"/>
          <p:cNvSpPr/>
          <p:nvPr/>
        </p:nvSpPr>
        <p:spPr>
          <a:xfrm>
            <a:off x="6446520" y="4992624"/>
            <a:ext cx="4754880" cy="182880"/>
          </a:xfrm>
          <a:prstGeom prst="rect">
            <a:avLst/>
          </a:prstGeom>
          <a:noFill/>
          <a:ln/>
        </p:spPr>
        <p:txBody>
          <a:bodyPr wrap="square" rtlCol="0" anchor="ctr"/>
          <a:lstStyle/>
          <a:p>
            <a:pPr indent="0" marL="0">
              <a:buNone/>
            </a:pPr>
            <a:r>
              <a:rPr lang="en-US" sz="800" b="1" dirty="0">
                <a:solidFill>
                  <a:srgbClr val="1E40AF"/>
                </a:solidFill>
                <a:latin typeface="Arial" pitchFamily="34" charset="0"/>
                <a:ea typeface="Arial" pitchFamily="34" charset="-122"/>
                <a:cs typeface="Arial" pitchFamily="34" charset="-120"/>
              </a:rPr>
              <a:t>TOP 5 KATALISATOR PENDAPATAN 2030:</a:t>
            </a:r>
            <a:endParaRPr lang="en-US" sz="800" dirty="0"/>
          </a:p>
        </p:txBody>
      </p:sp>
      <p:sp>
        <p:nvSpPr>
          <p:cNvPr id="35" name="Text 31"/>
          <p:cNvSpPr/>
          <p:nvPr/>
        </p:nvSpPr>
        <p:spPr>
          <a:xfrm>
            <a:off x="6446520" y="5193792"/>
            <a:ext cx="2926080" cy="16459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#1 OGSCI Program Migas</a:t>
            </a:r>
            <a:endParaRPr lang="en-US" sz="720" dirty="0"/>
          </a:p>
        </p:txBody>
      </p:sp>
      <p:sp>
        <p:nvSpPr>
          <p:cNvPr id="36" name="Text 32"/>
          <p:cNvSpPr/>
          <p:nvPr/>
        </p:nvSpPr>
        <p:spPr>
          <a:xfrm>
            <a:off x="9372600" y="5193792"/>
            <a:ext cx="1828800" cy="164592"/>
          </a:xfrm>
          <a:prstGeom prst="rect">
            <a:avLst/>
          </a:prstGeom>
          <a:noFill/>
          <a:ln/>
        </p:spPr>
        <p:txBody>
          <a:bodyPr wrap="square" rtlCol="0" anchor="ctr"/>
          <a:lstStyle/>
          <a:p>
            <a:pPr algn="r" indent="0" marL="0">
              <a:buNone/>
            </a:pPr>
            <a:r>
              <a:rPr lang="en-US" sz="750" b="1" dirty="0">
                <a:solidFill>
                  <a:srgbClr val="D97706"/>
                </a:solidFill>
                <a:latin typeface="Arial" pitchFamily="34" charset="0"/>
                <a:ea typeface="Arial" pitchFamily="34" charset="-122"/>
                <a:cs typeface="Arial" pitchFamily="34" charset="-120"/>
              </a:rPr>
              <a:t>Rp 6.250.000.000</a:t>
            </a:r>
            <a:endParaRPr lang="en-US" sz="750" dirty="0"/>
          </a:p>
        </p:txBody>
      </p:sp>
      <p:sp>
        <p:nvSpPr>
          <p:cNvPr id="37" name="Text 33"/>
          <p:cNvSpPr/>
          <p:nvPr/>
        </p:nvSpPr>
        <p:spPr>
          <a:xfrm>
            <a:off x="6446520" y="5367528"/>
            <a:ext cx="2926080" cy="16459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#2 Pemda e-Katalog Inovasi</a:t>
            </a:r>
            <a:endParaRPr lang="en-US" sz="720" dirty="0"/>
          </a:p>
        </p:txBody>
      </p:sp>
      <p:sp>
        <p:nvSpPr>
          <p:cNvPr id="38" name="Text 34"/>
          <p:cNvSpPr/>
          <p:nvPr/>
        </p:nvSpPr>
        <p:spPr>
          <a:xfrm>
            <a:off x="9372600" y="5367528"/>
            <a:ext cx="1828800" cy="164592"/>
          </a:xfrm>
          <a:prstGeom prst="rect">
            <a:avLst/>
          </a:prstGeom>
          <a:noFill/>
          <a:ln/>
        </p:spPr>
        <p:txBody>
          <a:bodyPr wrap="square" rtlCol="0" anchor="ctr"/>
          <a:lstStyle/>
          <a:p>
            <a:pPr algn="r" indent="0" marL="0">
              <a:buNone/>
            </a:pPr>
            <a:r>
              <a:rPr lang="en-US" sz="750" b="1" dirty="0">
                <a:solidFill>
                  <a:srgbClr val="1E40AF"/>
                </a:solidFill>
                <a:latin typeface="Arial" pitchFamily="34" charset="0"/>
                <a:ea typeface="Arial" pitchFamily="34" charset="-122"/>
                <a:cs typeface="Arial" pitchFamily="34" charset="-120"/>
              </a:rPr>
              <a:t>Rp 2.250.000.000</a:t>
            </a:r>
            <a:endParaRPr lang="en-US" sz="750" dirty="0"/>
          </a:p>
        </p:txBody>
      </p:sp>
      <p:sp>
        <p:nvSpPr>
          <p:cNvPr id="39" name="Text 35"/>
          <p:cNvSpPr/>
          <p:nvPr/>
        </p:nvSpPr>
        <p:spPr>
          <a:xfrm>
            <a:off x="6446520" y="5541264"/>
            <a:ext cx="2926080" cy="16459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#3 Startup Binaan STP</a:t>
            </a:r>
            <a:endParaRPr lang="en-US" sz="720" dirty="0"/>
          </a:p>
        </p:txBody>
      </p:sp>
      <p:sp>
        <p:nvSpPr>
          <p:cNvPr id="40" name="Text 36"/>
          <p:cNvSpPr/>
          <p:nvPr/>
        </p:nvSpPr>
        <p:spPr>
          <a:xfrm>
            <a:off x="9372600" y="5541264"/>
            <a:ext cx="1828800" cy="164592"/>
          </a:xfrm>
          <a:prstGeom prst="rect">
            <a:avLst/>
          </a:prstGeom>
          <a:noFill/>
          <a:ln/>
        </p:spPr>
        <p:txBody>
          <a:bodyPr wrap="square" rtlCol="0" anchor="ctr"/>
          <a:lstStyle/>
          <a:p>
            <a:pPr algn="r" indent="0" marL="0">
              <a:buNone/>
            </a:pPr>
            <a:r>
              <a:rPr lang="en-US" sz="750" b="1" dirty="0">
                <a:solidFill>
                  <a:srgbClr val="059669"/>
                </a:solidFill>
                <a:latin typeface="Arial" pitchFamily="34" charset="0"/>
                <a:ea typeface="Arial" pitchFamily="34" charset="-122"/>
                <a:cs typeface="Arial" pitchFamily="34" charset="-120"/>
              </a:rPr>
              <a:t>Rp 2.000.000.000</a:t>
            </a:r>
            <a:endParaRPr lang="en-US" sz="750" dirty="0"/>
          </a:p>
        </p:txBody>
      </p:sp>
      <p:sp>
        <p:nvSpPr>
          <p:cNvPr id="41" name="Text 37"/>
          <p:cNvSpPr/>
          <p:nvPr/>
        </p:nvSpPr>
        <p:spPr>
          <a:xfrm>
            <a:off x="6446520" y="5715000"/>
            <a:ext cx="2926080" cy="16459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#4 Sertifikasi Tenaga JFT</a:t>
            </a:r>
            <a:endParaRPr lang="en-US" sz="720" dirty="0"/>
          </a:p>
        </p:txBody>
      </p:sp>
      <p:sp>
        <p:nvSpPr>
          <p:cNvPr id="42" name="Text 38"/>
          <p:cNvSpPr/>
          <p:nvPr/>
        </p:nvSpPr>
        <p:spPr>
          <a:xfrm>
            <a:off x="9372600" y="5715000"/>
            <a:ext cx="1828800" cy="164592"/>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1.375.000.000</a:t>
            </a:r>
            <a:endParaRPr lang="en-US" sz="750" dirty="0"/>
          </a:p>
        </p:txBody>
      </p:sp>
      <p:sp>
        <p:nvSpPr>
          <p:cNvPr id="43" name="Text 39"/>
          <p:cNvSpPr/>
          <p:nvPr/>
        </p:nvSpPr>
        <p:spPr>
          <a:xfrm>
            <a:off x="6446520" y="5888736"/>
            <a:ext cx="2926080" cy="16459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#5 Tempat Uji Kompetensi</a:t>
            </a:r>
            <a:endParaRPr lang="en-US" sz="720" dirty="0"/>
          </a:p>
        </p:txBody>
      </p:sp>
      <p:sp>
        <p:nvSpPr>
          <p:cNvPr id="44" name="Text 40"/>
          <p:cNvSpPr/>
          <p:nvPr/>
        </p:nvSpPr>
        <p:spPr>
          <a:xfrm>
            <a:off x="9372600" y="5888736"/>
            <a:ext cx="1828800" cy="164592"/>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1.350.000.000</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TRANSPARANSI ANGGARAN &amp; STRUKTUR PENDAPATAN</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10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ANATOMY MESIN PENDAPATAN 2030: RINCIAN PER MATA ANGGARAN</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Transparansi Total Hasil Rekonsiliasi: Dari Mana Setiap Rupiah dari Target Rp 23,47 Miliar Berasal</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353312"/>
            <a:ext cx="5844922" cy="256032"/>
          </a:xfrm>
          <a:prstGeom prst="rect">
            <a:avLst/>
          </a:prstGeom>
          <a:solidFill>
            <a:srgbClr val="0284C7"/>
          </a:solidFill>
          <a:ln w="12700">
            <a:solidFill>
              <a:srgbClr val="0284C7"/>
            </a:solidFill>
            <a:prstDash val="solid"/>
          </a:ln>
        </p:spPr>
      </p:sp>
      <p:sp>
        <p:nvSpPr>
          <p:cNvPr id="11" name="Text 9"/>
          <p:cNvSpPr/>
          <p:nvPr/>
        </p:nvSpPr>
        <p:spPr>
          <a:xfrm>
            <a:off x="731520" y="1353312"/>
            <a:ext cx="5844922" cy="256032"/>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Klaster A: Kemitraan Strategis (54,6%)</a:t>
            </a:r>
            <a:endParaRPr lang="en-US" sz="750" dirty="0"/>
          </a:p>
        </p:txBody>
      </p:sp>
      <p:sp>
        <p:nvSpPr>
          <p:cNvPr id="12" name="Shape 10"/>
          <p:cNvSpPr/>
          <p:nvPr/>
        </p:nvSpPr>
        <p:spPr>
          <a:xfrm>
            <a:off x="6594730" y="1353312"/>
            <a:ext cx="1663965" cy="256032"/>
          </a:xfrm>
          <a:prstGeom prst="rect">
            <a:avLst/>
          </a:prstGeom>
          <a:solidFill>
            <a:srgbClr val="1E40AF"/>
          </a:solidFill>
          <a:ln w="12700">
            <a:solidFill>
              <a:srgbClr val="1E40AF"/>
            </a:solidFill>
            <a:prstDash val="solid"/>
          </a:ln>
        </p:spPr>
      </p:sp>
      <p:sp>
        <p:nvSpPr>
          <p:cNvPr id="13" name="Text 11"/>
          <p:cNvSpPr/>
          <p:nvPr/>
        </p:nvSpPr>
        <p:spPr>
          <a:xfrm>
            <a:off x="6594730" y="1353312"/>
            <a:ext cx="1663965" cy="256032"/>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B: Vokasi (15,7%)</a:t>
            </a:r>
            <a:endParaRPr lang="en-US" sz="750" dirty="0"/>
          </a:p>
        </p:txBody>
      </p:sp>
      <p:sp>
        <p:nvSpPr>
          <p:cNvPr id="14" name="Shape 12"/>
          <p:cNvSpPr/>
          <p:nvPr/>
        </p:nvSpPr>
        <p:spPr>
          <a:xfrm>
            <a:off x="8276983" y="1353312"/>
            <a:ext cx="1110367" cy="256032"/>
          </a:xfrm>
          <a:prstGeom prst="rect">
            <a:avLst/>
          </a:prstGeom>
          <a:solidFill>
            <a:srgbClr val="D97706"/>
          </a:solidFill>
          <a:ln w="12700">
            <a:solidFill>
              <a:srgbClr val="D97706"/>
            </a:solidFill>
            <a:prstDash val="solid"/>
          </a:ln>
        </p:spPr>
      </p:sp>
      <p:sp>
        <p:nvSpPr>
          <p:cNvPr id="15" name="Text 13"/>
          <p:cNvSpPr/>
          <p:nvPr/>
        </p:nvSpPr>
        <p:spPr>
          <a:xfrm>
            <a:off x="8276983" y="1353312"/>
            <a:ext cx="1110367" cy="256032"/>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C: Diklat (10,5%)</a:t>
            </a:r>
            <a:endParaRPr lang="en-US" sz="750" dirty="0"/>
          </a:p>
        </p:txBody>
      </p:sp>
      <p:sp>
        <p:nvSpPr>
          <p:cNvPr id="16" name="Shape 14"/>
          <p:cNvSpPr/>
          <p:nvPr/>
        </p:nvSpPr>
        <p:spPr>
          <a:xfrm>
            <a:off x="9405638" y="1353312"/>
            <a:ext cx="1101784" cy="256032"/>
          </a:xfrm>
          <a:prstGeom prst="rect">
            <a:avLst/>
          </a:prstGeom>
          <a:solidFill>
            <a:srgbClr val="059669"/>
          </a:solidFill>
          <a:ln w="12700">
            <a:solidFill>
              <a:srgbClr val="059669"/>
            </a:solidFill>
            <a:prstDash val="solid"/>
          </a:ln>
        </p:spPr>
      </p:sp>
      <p:sp>
        <p:nvSpPr>
          <p:cNvPr id="17" name="Text 15"/>
          <p:cNvSpPr/>
          <p:nvPr/>
        </p:nvSpPr>
        <p:spPr>
          <a:xfrm>
            <a:off x="9405638" y="1353312"/>
            <a:ext cx="1101784" cy="256032"/>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D: MICE (10,4%)</a:t>
            </a:r>
            <a:endParaRPr lang="en-US" sz="750" dirty="0"/>
          </a:p>
        </p:txBody>
      </p:sp>
      <p:sp>
        <p:nvSpPr>
          <p:cNvPr id="18" name="Shape 16"/>
          <p:cNvSpPr/>
          <p:nvPr/>
        </p:nvSpPr>
        <p:spPr>
          <a:xfrm>
            <a:off x="10525709" y="1353312"/>
            <a:ext cx="651180" cy="256032"/>
          </a:xfrm>
          <a:prstGeom prst="rect">
            <a:avLst/>
          </a:prstGeom>
          <a:solidFill>
            <a:srgbClr val="7C3AED"/>
          </a:solidFill>
          <a:ln w="12700">
            <a:solidFill>
              <a:srgbClr val="7C3AED"/>
            </a:solidFill>
            <a:prstDash val="solid"/>
          </a:ln>
        </p:spPr>
      </p:sp>
      <p:sp>
        <p:nvSpPr>
          <p:cNvPr id="19" name="Text 17"/>
          <p:cNvSpPr/>
          <p:nvPr/>
        </p:nvSpPr>
        <p:spPr>
          <a:xfrm>
            <a:off x="10525709" y="1353312"/>
            <a:ext cx="651180" cy="256032"/>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E: 6,2%</a:t>
            </a:r>
            <a:endParaRPr lang="en-US" sz="750" dirty="0"/>
          </a:p>
        </p:txBody>
      </p:sp>
      <p:sp>
        <p:nvSpPr>
          <p:cNvPr id="20" name="Shape 18"/>
          <p:cNvSpPr/>
          <p:nvPr/>
        </p:nvSpPr>
        <p:spPr>
          <a:xfrm>
            <a:off x="11195177" y="1353312"/>
            <a:ext cx="246710" cy="256032"/>
          </a:xfrm>
          <a:prstGeom prst="rect">
            <a:avLst/>
          </a:prstGeom>
          <a:solidFill>
            <a:srgbClr val="94A3B8"/>
          </a:solidFill>
          <a:ln w="12700">
            <a:solidFill>
              <a:srgbClr val="94A3B8"/>
            </a:solidFill>
            <a:prstDash val="solid"/>
          </a:ln>
        </p:spPr>
      </p:sp>
      <p:sp>
        <p:nvSpPr>
          <p:cNvPr id="21" name="Text 19"/>
          <p:cNvSpPr/>
          <p:nvPr/>
        </p:nvSpPr>
        <p:spPr>
          <a:xfrm>
            <a:off x="11195177" y="1353312"/>
            <a:ext cx="246710" cy="256032"/>
          </a:xfrm>
          <a:prstGeom prst="rect">
            <a:avLst/>
          </a:prstGeom>
          <a:noFill/>
          <a:ln/>
        </p:spPr>
        <p:txBody>
          <a:bodyPr wrap="square" rtlCol="0" anchor="ctr"/>
          <a:lstStyle/>
          <a:p>
            <a:pPr algn="ctr" indent="0" marL="0">
              <a:buNone/>
            </a:pPr>
            <a:r>
              <a:rPr lang="en-US" sz="750" b="1" dirty="0">
                <a:solidFill>
                  <a:srgbClr val="FFFFFF"/>
                </a:solidFill>
                <a:latin typeface="Arial" pitchFamily="34" charset="0"/>
                <a:ea typeface="Arial" pitchFamily="34" charset="-122"/>
                <a:cs typeface="Arial" pitchFamily="34" charset="-120"/>
              </a:rPr>
              <a:t>F: 2,5%</a:t>
            </a:r>
            <a:endParaRPr lang="en-US" sz="750" dirty="0"/>
          </a:p>
        </p:txBody>
      </p:sp>
      <p:sp>
        <p:nvSpPr>
          <p:cNvPr id="22" name="Shape 20"/>
          <p:cNvSpPr/>
          <p:nvPr/>
        </p:nvSpPr>
        <p:spPr>
          <a:xfrm>
            <a:off x="731520" y="1719072"/>
            <a:ext cx="4389120" cy="4023360"/>
          </a:xfrm>
          <a:prstGeom prst="rect">
            <a:avLst/>
          </a:prstGeom>
          <a:solidFill>
            <a:srgbClr val="FFFFFF"/>
          </a:solidFill>
          <a:ln w="19050">
            <a:solidFill>
              <a:srgbClr val="1E40AF"/>
            </a:solidFill>
            <a:prstDash val="solid"/>
          </a:ln>
        </p:spPr>
      </p:sp>
      <p:sp>
        <p:nvSpPr>
          <p:cNvPr id="23" name="Shape 21"/>
          <p:cNvSpPr/>
          <p:nvPr/>
        </p:nvSpPr>
        <p:spPr>
          <a:xfrm>
            <a:off x="731520" y="1719072"/>
            <a:ext cx="4389120" cy="54864"/>
          </a:xfrm>
          <a:prstGeom prst="rect">
            <a:avLst/>
          </a:prstGeom>
          <a:solidFill>
            <a:srgbClr val="1E40AF"/>
          </a:solidFill>
          <a:ln w="12700">
            <a:solidFill>
              <a:srgbClr val="1E40AF"/>
            </a:solidFill>
            <a:prstDash val="solid"/>
          </a:ln>
        </p:spPr>
      </p:sp>
      <p:sp>
        <p:nvSpPr>
          <p:cNvPr id="24" name="Text 22"/>
          <p:cNvSpPr/>
          <p:nvPr/>
        </p:nvSpPr>
        <p:spPr>
          <a:xfrm>
            <a:off x="896112" y="1810512"/>
            <a:ext cx="2286000" cy="457200"/>
          </a:xfrm>
          <a:prstGeom prst="rect">
            <a:avLst/>
          </a:prstGeom>
          <a:noFill/>
          <a:ln/>
        </p:spPr>
        <p:txBody>
          <a:bodyPr wrap="square" rtlCol="0" anchor="ctr"/>
          <a:lstStyle/>
          <a:p>
            <a:pPr indent="0" marL="0">
              <a:buNone/>
            </a:pPr>
            <a:r>
              <a:rPr lang="en-US" sz="880" b="1" dirty="0">
                <a:solidFill>
                  <a:srgbClr val="1E40AF"/>
                </a:solidFill>
                <a:latin typeface="Arial" pitchFamily="34" charset="0"/>
                <a:ea typeface="Arial" pitchFamily="34" charset="-122"/>
                <a:cs typeface="Arial" pitchFamily="34" charset="-120"/>
              </a:rPr>
              <a:t>ENGINE UTAMA (54,6% REVENUE)</a:t>
            </a:r>
            <a:endParaRPr lang="en-US" sz="880" dirty="0"/>
          </a:p>
          <a:p>
            <a:pPr indent="0" marL="0">
              <a:buNone/>
            </a:pPr>
            <a:r>
              <a:rPr lang="en-US" sz="880" b="1" dirty="0">
                <a:solidFill>
                  <a:srgbClr val="1E40AF"/>
                </a:solidFill>
                <a:latin typeface="Arial" pitchFamily="34" charset="0"/>
                <a:ea typeface="Arial" pitchFamily="34" charset="-122"/>
                <a:cs typeface="Arial" pitchFamily="34" charset="-120"/>
              </a:rPr>
              <a:t>KLASTER A: KERJASAMA STRATEGIS</a:t>
            </a:r>
            <a:endParaRPr lang="en-US" sz="880" dirty="0"/>
          </a:p>
        </p:txBody>
      </p:sp>
      <p:sp>
        <p:nvSpPr>
          <p:cNvPr id="25" name="Shape 23"/>
          <p:cNvSpPr/>
          <p:nvPr/>
        </p:nvSpPr>
        <p:spPr>
          <a:xfrm>
            <a:off x="3200400" y="1810512"/>
            <a:ext cx="1783080" cy="530352"/>
          </a:xfrm>
          <a:prstGeom prst="rect">
            <a:avLst/>
          </a:prstGeom>
          <a:solidFill>
            <a:srgbClr val="FEF3C7"/>
          </a:solidFill>
          <a:ln w="12700">
            <a:solidFill>
              <a:srgbClr val="D97706"/>
            </a:solidFill>
            <a:prstDash val="solid"/>
          </a:ln>
        </p:spPr>
      </p:sp>
      <p:sp>
        <p:nvSpPr>
          <p:cNvPr id="26" name="Text 24"/>
          <p:cNvSpPr/>
          <p:nvPr/>
        </p:nvSpPr>
        <p:spPr>
          <a:xfrm>
            <a:off x="3200400" y="1810512"/>
            <a:ext cx="1783080" cy="530352"/>
          </a:xfrm>
          <a:prstGeom prst="rect">
            <a:avLst/>
          </a:prstGeom>
          <a:noFill/>
          <a:ln/>
        </p:spPr>
        <p:txBody>
          <a:bodyPr wrap="square" rtlCol="0" anchor="ctr"/>
          <a:lstStyle/>
          <a:p>
            <a:pPr algn="ctr" indent="0" marL="0">
              <a:buNone/>
            </a:pPr>
            <a:r>
              <a:rPr lang="en-US" sz="1000" b="1" dirty="0">
                <a:solidFill>
                  <a:srgbClr val="D97706"/>
                </a:solidFill>
                <a:latin typeface="Arial" pitchFamily="34" charset="0"/>
                <a:ea typeface="Arial" pitchFamily="34" charset="-122"/>
                <a:cs typeface="Arial" pitchFamily="34" charset="-120"/>
              </a:rPr>
              <a:t>Rp 12.825.000.000
</a:t>
            </a:r>
            <a:pPr algn="ctr" indent="0" marL="0">
              <a:buNone/>
            </a:pPr>
            <a:r>
              <a:rPr lang="en-US" sz="680" b="1" dirty="0">
                <a:solidFill>
                  <a:srgbClr val="92400E"/>
                </a:solidFill>
                <a:latin typeface="Arial" pitchFamily="34" charset="0"/>
                <a:ea typeface="Arial" pitchFamily="34" charset="-122"/>
                <a:cs typeface="Arial" pitchFamily="34" charset="-120"/>
              </a:rPr>
              <a:t>54,65% DARI TOTAL TARGET</a:t>
            </a:r>
            <a:endParaRPr lang="en-US" sz="1000" dirty="0"/>
          </a:p>
        </p:txBody>
      </p:sp>
      <p:sp>
        <p:nvSpPr>
          <p:cNvPr id="27" name="Shape 25"/>
          <p:cNvSpPr/>
          <p:nvPr/>
        </p:nvSpPr>
        <p:spPr>
          <a:xfrm>
            <a:off x="896112" y="2450592"/>
            <a:ext cx="4059936" cy="475488"/>
          </a:xfrm>
          <a:prstGeom prst="rect">
            <a:avLst/>
          </a:prstGeom>
          <a:solidFill>
            <a:srgbClr val="FEF3C7"/>
          </a:solidFill>
          <a:ln w="10160">
            <a:solidFill>
              <a:srgbClr val="D97706"/>
            </a:solidFill>
            <a:prstDash val="solid"/>
          </a:ln>
        </p:spPr>
      </p:sp>
      <p:sp>
        <p:nvSpPr>
          <p:cNvPr id="28" name="Text 26"/>
          <p:cNvSpPr/>
          <p:nvPr/>
        </p:nvSpPr>
        <p:spPr>
          <a:xfrm>
            <a:off x="1005840" y="2487168"/>
            <a:ext cx="2560320" cy="402336"/>
          </a:xfrm>
          <a:prstGeom prst="rect">
            <a:avLst/>
          </a:prstGeom>
          <a:noFill/>
          <a:ln/>
        </p:spPr>
        <p:txBody>
          <a:bodyPr wrap="square" rtlCol="0" anchor="ctr"/>
          <a:lstStyle/>
          <a:p>
            <a:pPr indent="0" marL="0">
              <a:lnSpc>
                <a:spcPts val="900"/>
              </a:lnSpc>
              <a:buNone/>
            </a:pPr>
            <a:r>
              <a:rPr lang="en-US" sz="820" b="1" dirty="0">
                <a:solidFill>
                  <a:srgbClr val="0F172A"/>
                </a:solidFill>
                <a:latin typeface="Arial" pitchFamily="34" charset="0"/>
                <a:ea typeface="Arial" pitchFamily="34" charset="-122"/>
                <a:cs typeface="Arial" pitchFamily="34" charset="-120"/>
              </a:rPr>
              <a:t>OGSCI Migas &amp; Maritim (Konsorsium)
</a:t>
            </a:r>
            <a:pPr indent="0" marL="0">
              <a:lnSpc>
                <a:spcPts val="900"/>
              </a:lnSpc>
              <a:buNone/>
            </a:pPr>
            <a:r>
              <a:rPr lang="en-US" sz="700" dirty="0">
                <a:solidFill>
                  <a:srgbClr val="D97706"/>
                </a:solidFill>
                <a:latin typeface="Arial" pitchFamily="34" charset="0"/>
                <a:ea typeface="Arial" pitchFamily="34" charset="-122"/>
                <a:cs typeface="Arial" pitchFamily="34" charset="-120"/>
              </a:rPr>
              <a:t>[Anchor Revenue Mandiri]</a:t>
            </a:r>
            <a:endParaRPr lang="en-US" sz="820" dirty="0"/>
          </a:p>
        </p:txBody>
      </p:sp>
      <p:sp>
        <p:nvSpPr>
          <p:cNvPr id="29" name="Text 27"/>
          <p:cNvSpPr/>
          <p:nvPr/>
        </p:nvSpPr>
        <p:spPr>
          <a:xfrm>
            <a:off x="3474720" y="2523744"/>
            <a:ext cx="1371600" cy="329184"/>
          </a:xfrm>
          <a:prstGeom prst="rect">
            <a:avLst/>
          </a:prstGeom>
          <a:noFill/>
          <a:ln/>
        </p:spPr>
        <p:txBody>
          <a:bodyPr wrap="square" rtlCol="0" anchor="ctr"/>
          <a:lstStyle/>
          <a:p>
            <a:pPr algn="r" indent="0" marL="0">
              <a:buNone/>
            </a:pPr>
            <a:r>
              <a:rPr lang="en-US" sz="850" b="1" dirty="0">
                <a:solidFill>
                  <a:srgbClr val="D97706"/>
                </a:solidFill>
                <a:latin typeface="Arial" pitchFamily="34" charset="0"/>
                <a:ea typeface="Arial" pitchFamily="34" charset="-122"/>
                <a:cs typeface="Arial" pitchFamily="34" charset="-120"/>
              </a:rPr>
              <a:t>Rp 6.250.000.000</a:t>
            </a:r>
            <a:endParaRPr lang="en-US" sz="850" dirty="0"/>
          </a:p>
        </p:txBody>
      </p:sp>
      <p:sp>
        <p:nvSpPr>
          <p:cNvPr id="30" name="Shape 28"/>
          <p:cNvSpPr/>
          <p:nvPr/>
        </p:nvSpPr>
        <p:spPr>
          <a:xfrm>
            <a:off x="896112" y="2980944"/>
            <a:ext cx="4059936" cy="475488"/>
          </a:xfrm>
          <a:prstGeom prst="rect">
            <a:avLst/>
          </a:prstGeom>
          <a:solidFill>
            <a:srgbClr val="F8FAFC"/>
          </a:solidFill>
          <a:ln w="10160">
            <a:solidFill>
              <a:srgbClr val="E2E8F0"/>
            </a:solidFill>
            <a:prstDash val="solid"/>
          </a:ln>
        </p:spPr>
      </p:sp>
      <p:sp>
        <p:nvSpPr>
          <p:cNvPr id="31" name="Text 29"/>
          <p:cNvSpPr/>
          <p:nvPr/>
        </p:nvSpPr>
        <p:spPr>
          <a:xfrm>
            <a:off x="1005840" y="3017520"/>
            <a:ext cx="2560320" cy="402336"/>
          </a:xfrm>
          <a:prstGeom prst="rect">
            <a:avLst/>
          </a:prstGeom>
          <a:noFill/>
          <a:ln/>
        </p:spPr>
        <p:txBody>
          <a:bodyPr wrap="square" rtlCol="0" anchor="ctr"/>
          <a:lstStyle/>
          <a:p>
            <a:pPr indent="0" marL="0">
              <a:lnSpc>
                <a:spcPts val="900"/>
              </a:lnSpc>
              <a:buNone/>
            </a:pPr>
            <a:r>
              <a:rPr lang="en-US" sz="820" b="1" dirty="0">
                <a:solidFill>
                  <a:srgbClr val="0F172A"/>
                </a:solidFill>
                <a:latin typeface="Arial" pitchFamily="34" charset="0"/>
                <a:ea typeface="Arial" pitchFamily="34" charset="-122"/>
                <a:cs typeface="Arial" pitchFamily="34" charset="-120"/>
              </a:rPr>
              <a:t>Pemda Solo (e-Katalog Inovasi)
</a:t>
            </a:r>
            <a:pPr indent="0" marL="0">
              <a:lnSpc>
                <a:spcPts val="900"/>
              </a:lnSpc>
              <a:buNone/>
            </a:pPr>
            <a:r>
              <a:rPr lang="en-US" sz="700" dirty="0">
                <a:solidFill>
                  <a:srgbClr val="64748B"/>
                </a:solidFill>
                <a:latin typeface="Arial" pitchFamily="34" charset="0"/>
                <a:ea typeface="Arial" pitchFamily="34" charset="-122"/>
                <a:cs typeface="Arial" pitchFamily="34" charset="-120"/>
              </a:rPr>
              <a:t>[Instruksi Walikota]</a:t>
            </a:r>
            <a:endParaRPr lang="en-US" sz="820" dirty="0"/>
          </a:p>
        </p:txBody>
      </p:sp>
      <p:sp>
        <p:nvSpPr>
          <p:cNvPr id="32" name="Text 30"/>
          <p:cNvSpPr/>
          <p:nvPr/>
        </p:nvSpPr>
        <p:spPr>
          <a:xfrm>
            <a:off x="3474720" y="3054096"/>
            <a:ext cx="1371600" cy="329184"/>
          </a:xfrm>
          <a:prstGeom prst="rect">
            <a:avLst/>
          </a:prstGeom>
          <a:noFill/>
          <a:ln/>
        </p:spPr>
        <p:txBody>
          <a:bodyPr wrap="square" rtlCol="0" anchor="ctr"/>
          <a:lstStyle/>
          <a:p>
            <a:pPr algn="r" indent="0" marL="0">
              <a:buNone/>
            </a:pPr>
            <a:r>
              <a:rPr lang="en-US" sz="850" b="1" dirty="0">
                <a:solidFill>
                  <a:srgbClr val="1E40AF"/>
                </a:solidFill>
                <a:latin typeface="Arial" pitchFamily="34" charset="0"/>
                <a:ea typeface="Arial" pitchFamily="34" charset="-122"/>
                <a:cs typeface="Arial" pitchFamily="34" charset="-120"/>
              </a:rPr>
              <a:t>Rp 2.250.000.000</a:t>
            </a:r>
            <a:endParaRPr lang="en-US" sz="850" dirty="0"/>
          </a:p>
        </p:txBody>
      </p:sp>
      <p:sp>
        <p:nvSpPr>
          <p:cNvPr id="33" name="Shape 31"/>
          <p:cNvSpPr/>
          <p:nvPr/>
        </p:nvSpPr>
        <p:spPr>
          <a:xfrm>
            <a:off x="896112" y="3511296"/>
            <a:ext cx="4059936" cy="475488"/>
          </a:xfrm>
          <a:prstGeom prst="rect">
            <a:avLst/>
          </a:prstGeom>
          <a:solidFill>
            <a:srgbClr val="F8FAFC"/>
          </a:solidFill>
          <a:ln w="10160">
            <a:solidFill>
              <a:srgbClr val="E2E8F0"/>
            </a:solidFill>
            <a:prstDash val="solid"/>
          </a:ln>
        </p:spPr>
      </p:sp>
      <p:sp>
        <p:nvSpPr>
          <p:cNvPr id="34" name="Text 32"/>
          <p:cNvSpPr/>
          <p:nvPr/>
        </p:nvSpPr>
        <p:spPr>
          <a:xfrm>
            <a:off x="1005840" y="3547872"/>
            <a:ext cx="2560320" cy="402336"/>
          </a:xfrm>
          <a:prstGeom prst="rect">
            <a:avLst/>
          </a:prstGeom>
          <a:noFill/>
          <a:ln/>
        </p:spPr>
        <p:txBody>
          <a:bodyPr wrap="square" rtlCol="0" anchor="ctr"/>
          <a:lstStyle/>
          <a:p>
            <a:pPr indent="0" marL="0">
              <a:lnSpc>
                <a:spcPts val="900"/>
              </a:lnSpc>
              <a:buNone/>
            </a:pPr>
            <a:r>
              <a:rPr lang="en-US" sz="820" b="1" dirty="0">
                <a:solidFill>
                  <a:srgbClr val="0F172A"/>
                </a:solidFill>
                <a:latin typeface="Arial" pitchFamily="34" charset="0"/>
                <a:ea typeface="Arial" pitchFamily="34" charset="-122"/>
                <a:cs typeface="Arial" pitchFamily="34" charset="-120"/>
              </a:rPr>
              <a:t>Startup Binaan STP (Komersialisasi)
</a:t>
            </a:r>
            <a:pPr indent="0" marL="0">
              <a:lnSpc>
                <a:spcPts val="900"/>
              </a:lnSpc>
              <a:buNone/>
            </a:pPr>
            <a:r>
              <a:rPr lang="en-US" sz="700" dirty="0">
                <a:solidFill>
                  <a:srgbClr val="64748B"/>
                </a:solidFill>
                <a:latin typeface="Arial" pitchFamily="34" charset="0"/>
                <a:ea typeface="Arial" pitchFamily="34" charset="-122"/>
                <a:cs typeface="Arial" pitchFamily="34" charset="-120"/>
              </a:rPr>
              <a:t>[Success Fee &amp; Jasa]</a:t>
            </a:r>
            <a:endParaRPr lang="en-US" sz="820" dirty="0"/>
          </a:p>
        </p:txBody>
      </p:sp>
      <p:sp>
        <p:nvSpPr>
          <p:cNvPr id="35" name="Text 33"/>
          <p:cNvSpPr/>
          <p:nvPr/>
        </p:nvSpPr>
        <p:spPr>
          <a:xfrm>
            <a:off x="3474720" y="3584448"/>
            <a:ext cx="1371600" cy="329184"/>
          </a:xfrm>
          <a:prstGeom prst="rect">
            <a:avLst/>
          </a:prstGeom>
          <a:noFill/>
          <a:ln/>
        </p:spPr>
        <p:txBody>
          <a:bodyPr wrap="square" rtlCol="0" anchor="ctr"/>
          <a:lstStyle/>
          <a:p>
            <a:pPr algn="r" indent="0" marL="0">
              <a:buNone/>
            </a:pPr>
            <a:r>
              <a:rPr lang="en-US" sz="850" b="1" dirty="0">
                <a:solidFill>
                  <a:srgbClr val="1E40AF"/>
                </a:solidFill>
                <a:latin typeface="Arial" pitchFamily="34" charset="0"/>
                <a:ea typeface="Arial" pitchFamily="34" charset="-122"/>
                <a:cs typeface="Arial" pitchFamily="34" charset="-120"/>
              </a:rPr>
              <a:t>Rp 2.000.000.000</a:t>
            </a:r>
            <a:endParaRPr lang="en-US" sz="850" dirty="0"/>
          </a:p>
        </p:txBody>
      </p:sp>
      <p:sp>
        <p:nvSpPr>
          <p:cNvPr id="36" name="Shape 34"/>
          <p:cNvSpPr/>
          <p:nvPr/>
        </p:nvSpPr>
        <p:spPr>
          <a:xfrm>
            <a:off x="896112" y="4041648"/>
            <a:ext cx="4059936" cy="475488"/>
          </a:xfrm>
          <a:prstGeom prst="rect">
            <a:avLst/>
          </a:prstGeom>
          <a:solidFill>
            <a:srgbClr val="F8FAFC"/>
          </a:solidFill>
          <a:ln w="10160">
            <a:solidFill>
              <a:srgbClr val="E2E8F0"/>
            </a:solidFill>
            <a:prstDash val="solid"/>
          </a:ln>
        </p:spPr>
      </p:sp>
      <p:sp>
        <p:nvSpPr>
          <p:cNvPr id="37" name="Text 35"/>
          <p:cNvSpPr/>
          <p:nvPr/>
        </p:nvSpPr>
        <p:spPr>
          <a:xfrm>
            <a:off x="1005840" y="4078224"/>
            <a:ext cx="2560320" cy="402336"/>
          </a:xfrm>
          <a:prstGeom prst="rect">
            <a:avLst/>
          </a:prstGeom>
          <a:noFill/>
          <a:ln/>
        </p:spPr>
        <p:txBody>
          <a:bodyPr wrap="square" rtlCol="0" anchor="ctr"/>
          <a:lstStyle/>
          <a:p>
            <a:pPr indent="0" marL="0">
              <a:lnSpc>
                <a:spcPts val="900"/>
              </a:lnSpc>
              <a:buNone/>
            </a:pPr>
            <a:r>
              <a:rPr lang="en-US" sz="820" b="1" dirty="0">
                <a:solidFill>
                  <a:srgbClr val="0F172A"/>
                </a:solidFill>
                <a:latin typeface="Arial" pitchFamily="34" charset="0"/>
                <a:ea typeface="Arial" pitchFamily="34" charset="-122"/>
                <a:cs typeface="Arial" pitchFamily="34" charset="-120"/>
              </a:rPr>
              <a:t>BP3MI - SMK GoGlobal (Talenta Luar Negeri)
</a:t>
            </a:r>
            <a:pPr indent="0" marL="0">
              <a:lnSpc>
                <a:spcPts val="900"/>
              </a:lnSpc>
              <a:buNone/>
            </a:pPr>
            <a:r>
              <a:rPr lang="en-US" sz="700" dirty="0">
                <a:solidFill>
                  <a:srgbClr val="64748B"/>
                </a:solidFill>
                <a:latin typeface="Arial" pitchFamily="34" charset="0"/>
                <a:ea typeface="Arial" pitchFamily="34" charset="-122"/>
                <a:cs typeface="Arial" pitchFamily="34" charset="-120"/>
              </a:rPr>
              <a:t>[Penempatan Global]</a:t>
            </a:r>
            <a:endParaRPr lang="en-US" sz="820" dirty="0"/>
          </a:p>
        </p:txBody>
      </p:sp>
      <p:sp>
        <p:nvSpPr>
          <p:cNvPr id="38" name="Text 36"/>
          <p:cNvSpPr/>
          <p:nvPr/>
        </p:nvSpPr>
        <p:spPr>
          <a:xfrm>
            <a:off x="3474720" y="4114800"/>
            <a:ext cx="1371600" cy="329184"/>
          </a:xfrm>
          <a:prstGeom prst="rect">
            <a:avLst/>
          </a:prstGeom>
          <a:noFill/>
          <a:ln/>
        </p:spPr>
        <p:txBody>
          <a:bodyPr wrap="square" rtlCol="0" anchor="ctr"/>
          <a:lstStyle/>
          <a:p>
            <a:pPr algn="r" indent="0" marL="0">
              <a:buNone/>
            </a:pPr>
            <a:r>
              <a:rPr lang="en-US" sz="850" b="1" dirty="0">
                <a:solidFill>
                  <a:srgbClr val="1E40AF"/>
                </a:solidFill>
                <a:latin typeface="Arial" pitchFamily="34" charset="0"/>
                <a:ea typeface="Arial" pitchFamily="34" charset="-122"/>
                <a:cs typeface="Arial" pitchFamily="34" charset="-120"/>
              </a:rPr>
              <a:t>Rp 1.500.000.000</a:t>
            </a:r>
            <a:endParaRPr lang="en-US" sz="850" dirty="0"/>
          </a:p>
        </p:txBody>
      </p:sp>
      <p:sp>
        <p:nvSpPr>
          <p:cNvPr id="39" name="Shape 37"/>
          <p:cNvSpPr/>
          <p:nvPr/>
        </p:nvSpPr>
        <p:spPr>
          <a:xfrm>
            <a:off x="896112" y="4572000"/>
            <a:ext cx="4059936" cy="475488"/>
          </a:xfrm>
          <a:prstGeom prst="rect">
            <a:avLst/>
          </a:prstGeom>
          <a:solidFill>
            <a:srgbClr val="F8FAFC"/>
          </a:solidFill>
          <a:ln w="10160">
            <a:solidFill>
              <a:srgbClr val="E2E8F0"/>
            </a:solidFill>
            <a:prstDash val="solid"/>
          </a:ln>
        </p:spPr>
      </p:sp>
      <p:sp>
        <p:nvSpPr>
          <p:cNvPr id="40" name="Text 38"/>
          <p:cNvSpPr/>
          <p:nvPr/>
        </p:nvSpPr>
        <p:spPr>
          <a:xfrm>
            <a:off x="1005840" y="4608576"/>
            <a:ext cx="2560320" cy="402336"/>
          </a:xfrm>
          <a:prstGeom prst="rect">
            <a:avLst/>
          </a:prstGeom>
          <a:noFill/>
          <a:ln/>
        </p:spPr>
        <p:txBody>
          <a:bodyPr wrap="square" rtlCol="0" anchor="ctr"/>
          <a:lstStyle/>
          <a:p>
            <a:pPr indent="0" marL="0">
              <a:lnSpc>
                <a:spcPts val="900"/>
              </a:lnSpc>
              <a:buNone/>
            </a:pPr>
            <a:r>
              <a:rPr lang="en-US" sz="820" b="1" dirty="0">
                <a:solidFill>
                  <a:srgbClr val="0F172A"/>
                </a:solidFill>
                <a:latin typeface="Arial" pitchFamily="34" charset="0"/>
                <a:ea typeface="Arial" pitchFamily="34" charset="-122"/>
                <a:cs typeface="Arial" pitchFamily="34" charset="-120"/>
              </a:rPr>
              <a:t>Kemenperin &amp; Mitra LPK Industri
</a:t>
            </a:r>
            <a:pPr indent="0" marL="0">
              <a:lnSpc>
                <a:spcPts val="900"/>
              </a:lnSpc>
              <a:buNone/>
            </a:pPr>
            <a:r>
              <a:rPr lang="en-US" sz="700" dirty="0">
                <a:solidFill>
                  <a:srgbClr val="64748B"/>
                </a:solidFill>
                <a:latin typeface="Arial" pitchFamily="34" charset="0"/>
                <a:ea typeface="Arial" pitchFamily="34" charset="-122"/>
                <a:cs typeface="Arial" pitchFamily="34" charset="-120"/>
              </a:rPr>
              <a:t>[Subsidi Pelatihan]</a:t>
            </a:r>
            <a:endParaRPr lang="en-US" sz="820" dirty="0"/>
          </a:p>
        </p:txBody>
      </p:sp>
      <p:sp>
        <p:nvSpPr>
          <p:cNvPr id="41" name="Text 39"/>
          <p:cNvSpPr/>
          <p:nvPr/>
        </p:nvSpPr>
        <p:spPr>
          <a:xfrm>
            <a:off x="3474720" y="4645152"/>
            <a:ext cx="1371600" cy="329184"/>
          </a:xfrm>
          <a:prstGeom prst="rect">
            <a:avLst/>
          </a:prstGeom>
          <a:noFill/>
          <a:ln/>
        </p:spPr>
        <p:txBody>
          <a:bodyPr wrap="square" rtlCol="0" anchor="ctr"/>
          <a:lstStyle/>
          <a:p>
            <a:pPr algn="r" indent="0" marL="0">
              <a:buNone/>
            </a:pPr>
            <a:r>
              <a:rPr lang="en-US" sz="850" b="1" dirty="0">
                <a:solidFill>
                  <a:srgbClr val="1E40AF"/>
                </a:solidFill>
                <a:latin typeface="Arial" pitchFamily="34" charset="0"/>
                <a:ea typeface="Arial" pitchFamily="34" charset="-122"/>
                <a:cs typeface="Arial" pitchFamily="34" charset="-120"/>
              </a:rPr>
              <a:t>Rp 825.000.000</a:t>
            </a:r>
            <a:endParaRPr lang="en-US" sz="850" dirty="0"/>
          </a:p>
        </p:txBody>
      </p:sp>
      <p:sp>
        <p:nvSpPr>
          <p:cNvPr id="42" name="Shape 40"/>
          <p:cNvSpPr/>
          <p:nvPr/>
        </p:nvSpPr>
        <p:spPr>
          <a:xfrm>
            <a:off x="896112" y="5193792"/>
            <a:ext cx="4059936" cy="457200"/>
          </a:xfrm>
          <a:prstGeom prst="rect">
            <a:avLst/>
          </a:prstGeom>
          <a:solidFill>
            <a:srgbClr val="F1F5F9"/>
          </a:solidFill>
          <a:ln w="10160">
            <a:solidFill>
              <a:srgbClr val="E2E8F0"/>
            </a:solidFill>
            <a:prstDash val="solid"/>
          </a:ln>
        </p:spPr>
      </p:sp>
      <p:sp>
        <p:nvSpPr>
          <p:cNvPr id="43" name="Text 41"/>
          <p:cNvSpPr/>
          <p:nvPr/>
        </p:nvSpPr>
        <p:spPr>
          <a:xfrm>
            <a:off x="969264" y="5230368"/>
            <a:ext cx="3913632" cy="384048"/>
          </a:xfrm>
          <a:prstGeom prst="rect">
            <a:avLst/>
          </a:prstGeom>
          <a:noFill/>
          <a:ln/>
        </p:spPr>
        <p:txBody>
          <a:bodyPr wrap="square" rtlCol="0" anchor="ctr"/>
          <a:lstStyle/>
          <a:p>
            <a:pPr indent="0" marL="0">
              <a:lnSpc>
                <a:spcPts val="900"/>
              </a:lnSpc>
              <a:buNone/>
            </a:pPr>
            <a:r>
              <a:rPr lang="en-US" sz="720" dirty="0">
                <a:solidFill>
                  <a:srgbClr val="1E40AF"/>
                </a:solidFill>
                <a:latin typeface="Arial" pitchFamily="34" charset="0"/>
                <a:ea typeface="Arial" pitchFamily="34" charset="-122"/>
                <a:cs typeface="Arial" pitchFamily="34" charset="-120"/>
              </a:rPr>
              <a:t>CATATAN STRATEGIS: 1 program konsorsium OGSCI (Rp 6,25 M) setara 83% pendapatan STP tahun 2026. Ditambah e-Katalog Pemda, klaster ini menjamin kemandirian tanpa APBD.</a:t>
            </a:r>
            <a:endParaRPr lang="en-US" sz="720" dirty="0"/>
          </a:p>
        </p:txBody>
      </p:sp>
      <p:sp>
        <p:nvSpPr>
          <p:cNvPr id="44" name="Shape 42"/>
          <p:cNvSpPr/>
          <p:nvPr/>
        </p:nvSpPr>
        <p:spPr>
          <a:xfrm>
            <a:off x="5257800" y="1719072"/>
            <a:ext cx="3017520" cy="1965960"/>
          </a:xfrm>
          <a:prstGeom prst="rect">
            <a:avLst/>
          </a:prstGeom>
          <a:solidFill>
            <a:srgbClr val="FFFFFF"/>
          </a:solidFill>
          <a:ln w="10160">
            <a:solidFill>
              <a:srgbClr val="CBD5E1"/>
            </a:solidFill>
            <a:prstDash val="solid"/>
          </a:ln>
        </p:spPr>
      </p:sp>
      <p:sp>
        <p:nvSpPr>
          <p:cNvPr id="45" name="Shape 43"/>
          <p:cNvSpPr/>
          <p:nvPr/>
        </p:nvSpPr>
        <p:spPr>
          <a:xfrm>
            <a:off x="5257800" y="1719072"/>
            <a:ext cx="3017520" cy="54864"/>
          </a:xfrm>
          <a:prstGeom prst="rect">
            <a:avLst/>
          </a:prstGeom>
          <a:solidFill>
            <a:srgbClr val="1E40AF"/>
          </a:solidFill>
          <a:ln w="12700">
            <a:solidFill>
              <a:srgbClr val="1E40AF"/>
            </a:solidFill>
            <a:prstDash val="solid"/>
          </a:ln>
        </p:spPr>
      </p:sp>
      <p:sp>
        <p:nvSpPr>
          <p:cNvPr id="46" name="Text 44"/>
          <p:cNvSpPr/>
          <p:nvPr/>
        </p:nvSpPr>
        <p:spPr>
          <a:xfrm>
            <a:off x="5376672" y="1792224"/>
            <a:ext cx="2779776" cy="347472"/>
          </a:xfrm>
          <a:prstGeom prst="rect">
            <a:avLst/>
          </a:prstGeom>
          <a:noFill/>
          <a:ln/>
        </p:spPr>
        <p:txBody>
          <a:bodyPr wrap="square" rtlCol="0" anchor="ctr"/>
          <a:lstStyle/>
          <a:p>
            <a:pPr indent="0" marL="0">
              <a:buNone/>
            </a:pPr>
            <a:r>
              <a:rPr lang="en-US" sz="820" b="1" dirty="0">
                <a:solidFill>
                  <a:srgbClr val="1E40AF"/>
                </a:solidFill>
                <a:latin typeface="Arial" pitchFamily="34" charset="0"/>
                <a:ea typeface="Arial" pitchFamily="34" charset="-122"/>
                <a:cs typeface="Arial" pitchFamily="34" charset="-120"/>
              </a:rPr>
              <a:t>KLASTER B: VOKASI &amp; SERTIFIKASI</a:t>
            </a:r>
            <a:endParaRPr lang="en-US" sz="820" dirty="0"/>
          </a:p>
          <a:p>
            <a:pPr indent="0" marL="0">
              <a:buNone/>
            </a:pPr>
            <a:r>
              <a:rPr lang="en-US" sz="820" b="1" dirty="0">
                <a:solidFill>
                  <a:srgbClr val="1E40AF"/>
                </a:solidFill>
                <a:latin typeface="Arial" pitchFamily="34" charset="0"/>
                <a:ea typeface="Arial" pitchFamily="34" charset="-122"/>
                <a:cs typeface="Arial" pitchFamily="34" charset="-120"/>
              </a:rPr>
              <a:t>Rp 3.679.800.000 (15,7%)</a:t>
            </a:r>
            <a:endParaRPr lang="en-US" sz="820" dirty="0"/>
          </a:p>
        </p:txBody>
      </p:sp>
      <p:sp>
        <p:nvSpPr>
          <p:cNvPr id="47" name="Text 45"/>
          <p:cNvSpPr/>
          <p:nvPr/>
        </p:nvSpPr>
        <p:spPr>
          <a:xfrm>
            <a:off x="5376672" y="2194560"/>
            <a:ext cx="1645920" cy="31089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Sertifikasi JFT Fungsional</a:t>
            </a:r>
            <a:endParaRPr lang="en-US" sz="750" dirty="0"/>
          </a:p>
        </p:txBody>
      </p:sp>
      <p:sp>
        <p:nvSpPr>
          <p:cNvPr id="48" name="Text 46"/>
          <p:cNvSpPr/>
          <p:nvPr/>
        </p:nvSpPr>
        <p:spPr>
          <a:xfrm>
            <a:off x="7022592" y="2194560"/>
            <a:ext cx="1133856" cy="310896"/>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1.375.000.000</a:t>
            </a:r>
            <a:endParaRPr lang="en-US" sz="750" dirty="0"/>
          </a:p>
        </p:txBody>
      </p:sp>
      <p:sp>
        <p:nvSpPr>
          <p:cNvPr id="49" name="Text 47"/>
          <p:cNvSpPr/>
          <p:nvPr/>
        </p:nvSpPr>
        <p:spPr>
          <a:xfrm>
            <a:off x="5376672" y="2542032"/>
            <a:ext cx="1645920" cy="31089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TUK Mandiri Terakreditasi</a:t>
            </a:r>
            <a:endParaRPr lang="en-US" sz="750" dirty="0"/>
          </a:p>
        </p:txBody>
      </p:sp>
      <p:sp>
        <p:nvSpPr>
          <p:cNvPr id="50" name="Text 48"/>
          <p:cNvSpPr/>
          <p:nvPr/>
        </p:nvSpPr>
        <p:spPr>
          <a:xfrm>
            <a:off x="7022592" y="2542032"/>
            <a:ext cx="1133856" cy="310896"/>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1.350.000.000</a:t>
            </a:r>
            <a:endParaRPr lang="en-US" sz="750" dirty="0"/>
          </a:p>
        </p:txBody>
      </p:sp>
      <p:sp>
        <p:nvSpPr>
          <p:cNvPr id="51" name="Text 49"/>
          <p:cNvSpPr/>
          <p:nvPr/>
        </p:nvSpPr>
        <p:spPr>
          <a:xfrm>
            <a:off x="5376672" y="2889504"/>
            <a:ext cx="1645920" cy="31089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Konsultasi Lab &amp; Data Center</a:t>
            </a:r>
            <a:endParaRPr lang="en-US" sz="750" dirty="0"/>
          </a:p>
        </p:txBody>
      </p:sp>
      <p:sp>
        <p:nvSpPr>
          <p:cNvPr id="52" name="Text 50"/>
          <p:cNvSpPr/>
          <p:nvPr/>
        </p:nvSpPr>
        <p:spPr>
          <a:xfrm>
            <a:off x="7022592" y="2889504"/>
            <a:ext cx="1133856" cy="310896"/>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950.000.000</a:t>
            </a:r>
            <a:endParaRPr lang="en-US" sz="750" dirty="0"/>
          </a:p>
        </p:txBody>
      </p:sp>
      <p:sp>
        <p:nvSpPr>
          <p:cNvPr id="53" name="Text 51"/>
          <p:cNvSpPr/>
          <p:nvPr/>
        </p:nvSpPr>
        <p:spPr>
          <a:xfrm>
            <a:off x="5376672" y="3236976"/>
            <a:ext cx="1645920" cy="310896"/>
          </a:xfrm>
          <a:prstGeom prst="rect">
            <a:avLst/>
          </a:prstGeom>
          <a:noFill/>
          <a:ln/>
        </p:spPr>
        <p:txBody>
          <a:bodyPr wrap="square" rtlCol="0" anchor="ctr"/>
          <a:lstStyle/>
          <a:p>
            <a:pPr indent="0" marL="0">
              <a:buNone/>
            </a:pPr>
            <a:r>
              <a:rPr lang="en-US" sz="750" dirty="0">
                <a:solidFill>
                  <a:srgbClr val="334155"/>
                </a:solidFill>
                <a:latin typeface="Arial" pitchFamily="34" charset="0"/>
                <a:ea typeface="Arial" pitchFamily="34" charset="-122"/>
                <a:cs typeface="Arial" pitchFamily="34" charset="-120"/>
              </a:rPr>
              <a:t>Prakerin SMK Solo Raya</a:t>
            </a:r>
            <a:endParaRPr lang="en-US" sz="750" dirty="0"/>
          </a:p>
        </p:txBody>
      </p:sp>
      <p:sp>
        <p:nvSpPr>
          <p:cNvPr id="54" name="Text 52"/>
          <p:cNvSpPr/>
          <p:nvPr/>
        </p:nvSpPr>
        <p:spPr>
          <a:xfrm>
            <a:off x="7022592" y="3236976"/>
            <a:ext cx="1133856" cy="310896"/>
          </a:xfrm>
          <a:prstGeom prst="rect">
            <a:avLst/>
          </a:prstGeom>
          <a:noFill/>
          <a:ln/>
        </p:spPr>
        <p:txBody>
          <a:bodyPr wrap="square" rtlCol="0" anchor="ctr"/>
          <a:lstStyle/>
          <a:p>
            <a:pPr algn="r" indent="0" marL="0">
              <a:buNone/>
            </a:pPr>
            <a:r>
              <a:rPr lang="en-US" sz="750" b="1" dirty="0">
                <a:solidFill>
                  <a:srgbClr val="0F172A"/>
                </a:solidFill>
                <a:latin typeface="Arial" pitchFamily="34" charset="0"/>
                <a:ea typeface="Arial" pitchFamily="34" charset="-122"/>
                <a:cs typeface="Arial" pitchFamily="34" charset="-120"/>
              </a:rPr>
              <a:t>Rp 4.800.000</a:t>
            </a:r>
            <a:endParaRPr lang="en-US" sz="750" dirty="0"/>
          </a:p>
        </p:txBody>
      </p:sp>
      <p:sp>
        <p:nvSpPr>
          <p:cNvPr id="55" name="Shape 53"/>
          <p:cNvSpPr/>
          <p:nvPr/>
        </p:nvSpPr>
        <p:spPr>
          <a:xfrm>
            <a:off x="8412480" y="1719072"/>
            <a:ext cx="3047695" cy="1965960"/>
          </a:xfrm>
          <a:prstGeom prst="rect">
            <a:avLst/>
          </a:prstGeom>
          <a:solidFill>
            <a:srgbClr val="FFFFFF"/>
          </a:solidFill>
          <a:ln w="10160">
            <a:solidFill>
              <a:srgbClr val="CBD5E1"/>
            </a:solidFill>
            <a:prstDash val="solid"/>
          </a:ln>
        </p:spPr>
      </p:sp>
      <p:sp>
        <p:nvSpPr>
          <p:cNvPr id="56" name="Shape 54"/>
          <p:cNvSpPr/>
          <p:nvPr/>
        </p:nvSpPr>
        <p:spPr>
          <a:xfrm>
            <a:off x="8412480" y="1719072"/>
            <a:ext cx="3047695" cy="54864"/>
          </a:xfrm>
          <a:prstGeom prst="rect">
            <a:avLst/>
          </a:prstGeom>
          <a:solidFill>
            <a:srgbClr val="D97706"/>
          </a:solidFill>
          <a:ln w="12700">
            <a:solidFill>
              <a:srgbClr val="D97706"/>
            </a:solidFill>
            <a:prstDash val="solid"/>
          </a:ln>
        </p:spPr>
      </p:sp>
      <p:sp>
        <p:nvSpPr>
          <p:cNvPr id="57" name="Text 55"/>
          <p:cNvSpPr/>
          <p:nvPr/>
        </p:nvSpPr>
        <p:spPr>
          <a:xfrm>
            <a:off x="8531352" y="1792224"/>
            <a:ext cx="2807208" cy="347472"/>
          </a:xfrm>
          <a:prstGeom prst="rect">
            <a:avLst/>
          </a:prstGeom>
          <a:noFill/>
          <a:ln/>
        </p:spPr>
        <p:txBody>
          <a:bodyPr wrap="square" rtlCol="0" anchor="ctr"/>
          <a:lstStyle/>
          <a:p>
            <a:pPr indent="0" marL="0">
              <a:buNone/>
            </a:pPr>
            <a:r>
              <a:rPr lang="en-US" sz="820" b="1" dirty="0">
                <a:solidFill>
                  <a:srgbClr val="D97706"/>
                </a:solidFill>
                <a:latin typeface="Arial" pitchFamily="34" charset="0"/>
                <a:ea typeface="Arial" pitchFamily="34" charset="-122"/>
                <a:cs typeface="Arial" pitchFamily="34" charset="-120"/>
              </a:rPr>
              <a:t>KLASTER C: DIKLAT SPESIALIS</a:t>
            </a:r>
            <a:endParaRPr lang="en-US" sz="820" dirty="0"/>
          </a:p>
          <a:p>
            <a:pPr indent="0" marL="0">
              <a:buNone/>
            </a:pPr>
            <a:r>
              <a:rPr lang="en-US" sz="820" b="1" dirty="0">
                <a:solidFill>
                  <a:srgbClr val="D97706"/>
                </a:solidFill>
                <a:latin typeface="Arial" pitchFamily="34" charset="0"/>
                <a:ea typeface="Arial" pitchFamily="34" charset="-122"/>
                <a:cs typeface="Arial" pitchFamily="34" charset="-120"/>
              </a:rPr>
              <a:t>Rp 2.469.000.000 (10,5%)</a:t>
            </a:r>
            <a:endParaRPr lang="en-US" sz="820" dirty="0"/>
          </a:p>
        </p:txBody>
      </p:sp>
      <p:sp>
        <p:nvSpPr>
          <p:cNvPr id="58" name="Text 56"/>
          <p:cNvSpPr/>
          <p:nvPr/>
        </p:nvSpPr>
        <p:spPr>
          <a:xfrm>
            <a:off x="8531352" y="2176272"/>
            <a:ext cx="164592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Underwater Wet Welding</a:t>
            </a:r>
            <a:endParaRPr lang="en-US" sz="720" dirty="0"/>
          </a:p>
        </p:txBody>
      </p:sp>
      <p:sp>
        <p:nvSpPr>
          <p:cNvPr id="59" name="Text 57"/>
          <p:cNvSpPr/>
          <p:nvPr/>
        </p:nvSpPr>
        <p:spPr>
          <a:xfrm>
            <a:off x="10177272" y="2176272"/>
            <a:ext cx="1161288"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846.000.000</a:t>
            </a:r>
            <a:endParaRPr lang="en-US" sz="720" dirty="0"/>
          </a:p>
        </p:txBody>
      </p:sp>
      <p:sp>
        <p:nvSpPr>
          <p:cNvPr id="60" name="Text 58"/>
          <p:cNvSpPr/>
          <p:nvPr/>
        </p:nvSpPr>
        <p:spPr>
          <a:xfrm>
            <a:off x="8531352" y="2459736"/>
            <a:ext cx="164592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Manufaktur &amp; Welding Intensif</a:t>
            </a:r>
            <a:endParaRPr lang="en-US" sz="720" dirty="0"/>
          </a:p>
        </p:txBody>
      </p:sp>
      <p:sp>
        <p:nvSpPr>
          <p:cNvPr id="61" name="Text 59"/>
          <p:cNvSpPr/>
          <p:nvPr/>
        </p:nvSpPr>
        <p:spPr>
          <a:xfrm>
            <a:off x="10177272" y="2459736"/>
            <a:ext cx="1161288"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728.000.000</a:t>
            </a:r>
            <a:endParaRPr lang="en-US" sz="720" dirty="0"/>
          </a:p>
        </p:txBody>
      </p:sp>
      <p:sp>
        <p:nvSpPr>
          <p:cNvPr id="62" name="Text 60"/>
          <p:cNvSpPr/>
          <p:nvPr/>
        </p:nvSpPr>
        <p:spPr>
          <a:xfrm>
            <a:off x="8531352" y="2743200"/>
            <a:ext cx="164592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Desain, Manajerial &amp; EV</a:t>
            </a:r>
            <a:endParaRPr lang="en-US" sz="720" dirty="0"/>
          </a:p>
        </p:txBody>
      </p:sp>
      <p:sp>
        <p:nvSpPr>
          <p:cNvPr id="63" name="Text 61"/>
          <p:cNvSpPr/>
          <p:nvPr/>
        </p:nvSpPr>
        <p:spPr>
          <a:xfrm>
            <a:off x="10177272" y="2743200"/>
            <a:ext cx="1161288"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555.000.000</a:t>
            </a:r>
            <a:endParaRPr lang="en-US" sz="720" dirty="0"/>
          </a:p>
        </p:txBody>
      </p:sp>
      <p:sp>
        <p:nvSpPr>
          <p:cNvPr id="64" name="Text 62"/>
          <p:cNvSpPr/>
          <p:nvPr/>
        </p:nvSpPr>
        <p:spPr>
          <a:xfrm>
            <a:off x="8531352" y="3026664"/>
            <a:ext cx="164592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Digital Tech (AI &amp; Cyber)</a:t>
            </a:r>
            <a:endParaRPr lang="en-US" sz="720" dirty="0"/>
          </a:p>
        </p:txBody>
      </p:sp>
      <p:sp>
        <p:nvSpPr>
          <p:cNvPr id="65" name="Text 63"/>
          <p:cNvSpPr/>
          <p:nvPr/>
        </p:nvSpPr>
        <p:spPr>
          <a:xfrm>
            <a:off x="10177272" y="3026664"/>
            <a:ext cx="1161288"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225.000.000</a:t>
            </a:r>
            <a:endParaRPr lang="en-US" sz="720" dirty="0"/>
          </a:p>
        </p:txBody>
      </p:sp>
      <p:sp>
        <p:nvSpPr>
          <p:cNvPr id="66" name="Text 64"/>
          <p:cNvSpPr/>
          <p:nvPr/>
        </p:nvSpPr>
        <p:spPr>
          <a:xfrm>
            <a:off x="8531352" y="3310128"/>
            <a:ext cx="1645920" cy="256032"/>
          </a:xfrm>
          <a:prstGeom prst="rect">
            <a:avLst/>
          </a:prstGeom>
          <a:noFill/>
          <a:ln/>
        </p:spPr>
        <p:txBody>
          <a:bodyPr wrap="square" rtlCol="0" anchor="ctr"/>
          <a:lstStyle/>
          <a:p>
            <a:pPr indent="0" marL="0">
              <a:buNone/>
            </a:pPr>
            <a:r>
              <a:rPr lang="en-US" sz="720" dirty="0">
                <a:solidFill>
                  <a:srgbClr val="334155"/>
                </a:solidFill>
                <a:latin typeface="Arial" pitchFamily="34" charset="0"/>
                <a:ea typeface="Arial" pitchFamily="34" charset="-122"/>
                <a:cs typeface="Arial" pitchFamily="34" charset="-120"/>
              </a:rPr>
              <a:t>Kewirausahaan &amp; UMKM</a:t>
            </a:r>
            <a:endParaRPr lang="en-US" sz="720" dirty="0"/>
          </a:p>
        </p:txBody>
      </p:sp>
      <p:sp>
        <p:nvSpPr>
          <p:cNvPr id="67" name="Text 65"/>
          <p:cNvSpPr/>
          <p:nvPr/>
        </p:nvSpPr>
        <p:spPr>
          <a:xfrm>
            <a:off x="10177272" y="3310128"/>
            <a:ext cx="1161288" cy="256032"/>
          </a:xfrm>
          <a:prstGeom prst="rect">
            <a:avLst/>
          </a:prstGeom>
          <a:noFill/>
          <a:ln/>
        </p:spPr>
        <p:txBody>
          <a:bodyPr wrap="square" rtlCol="0" anchor="ctr"/>
          <a:lstStyle/>
          <a:p>
            <a:pPr algn="r" indent="0" marL="0">
              <a:buNone/>
            </a:pPr>
            <a:r>
              <a:rPr lang="en-US" sz="720" b="1" dirty="0">
                <a:solidFill>
                  <a:srgbClr val="0F172A"/>
                </a:solidFill>
                <a:latin typeface="Arial" pitchFamily="34" charset="0"/>
                <a:ea typeface="Arial" pitchFamily="34" charset="-122"/>
                <a:cs typeface="Arial" pitchFamily="34" charset="-120"/>
              </a:rPr>
              <a:t>Rp 115.000.000</a:t>
            </a:r>
            <a:endParaRPr lang="en-US" sz="720" dirty="0"/>
          </a:p>
        </p:txBody>
      </p:sp>
      <p:sp>
        <p:nvSpPr>
          <p:cNvPr id="68" name="Shape 66"/>
          <p:cNvSpPr/>
          <p:nvPr/>
        </p:nvSpPr>
        <p:spPr>
          <a:xfrm>
            <a:off x="5257800" y="3794760"/>
            <a:ext cx="1965960" cy="1947672"/>
          </a:xfrm>
          <a:prstGeom prst="rect">
            <a:avLst/>
          </a:prstGeom>
          <a:solidFill>
            <a:srgbClr val="FFFFFF"/>
          </a:solidFill>
          <a:ln w="10160">
            <a:solidFill>
              <a:srgbClr val="CBD5E1"/>
            </a:solidFill>
            <a:prstDash val="solid"/>
          </a:ln>
        </p:spPr>
      </p:sp>
      <p:sp>
        <p:nvSpPr>
          <p:cNvPr id="69" name="Shape 67"/>
          <p:cNvSpPr/>
          <p:nvPr/>
        </p:nvSpPr>
        <p:spPr>
          <a:xfrm>
            <a:off x="5257800" y="3794760"/>
            <a:ext cx="1965960" cy="54864"/>
          </a:xfrm>
          <a:prstGeom prst="rect">
            <a:avLst/>
          </a:prstGeom>
          <a:solidFill>
            <a:srgbClr val="059669"/>
          </a:solidFill>
          <a:ln w="12700">
            <a:solidFill>
              <a:srgbClr val="059669"/>
            </a:solidFill>
            <a:prstDash val="solid"/>
          </a:ln>
        </p:spPr>
      </p:sp>
      <p:sp>
        <p:nvSpPr>
          <p:cNvPr id="70" name="Text 68"/>
          <p:cNvSpPr/>
          <p:nvPr/>
        </p:nvSpPr>
        <p:spPr>
          <a:xfrm>
            <a:off x="5349240" y="3858768"/>
            <a:ext cx="1783080" cy="310896"/>
          </a:xfrm>
          <a:prstGeom prst="rect">
            <a:avLst/>
          </a:prstGeom>
          <a:noFill/>
          <a:ln/>
        </p:spPr>
        <p:txBody>
          <a:bodyPr wrap="square" rtlCol="0" anchor="ctr"/>
          <a:lstStyle/>
          <a:p>
            <a:pPr indent="0" marL="0">
              <a:buNone/>
            </a:pPr>
            <a:r>
              <a:rPr lang="en-US" sz="780" b="1" dirty="0">
                <a:solidFill>
                  <a:srgbClr val="059669"/>
                </a:solidFill>
                <a:latin typeface="Arial" pitchFamily="34" charset="0"/>
                <a:ea typeface="Arial" pitchFamily="34" charset="-122"/>
                <a:cs typeface="Arial" pitchFamily="34" charset="-120"/>
              </a:rPr>
              <a:t>KLASTER D: MICE</a:t>
            </a:r>
            <a:endParaRPr lang="en-US" sz="780" dirty="0"/>
          </a:p>
          <a:p>
            <a:pPr indent="0" marL="0">
              <a:buNone/>
            </a:pPr>
            <a:r>
              <a:rPr lang="en-US" sz="780" b="1" dirty="0">
                <a:solidFill>
                  <a:srgbClr val="059669"/>
                </a:solidFill>
                <a:latin typeface="Arial" pitchFamily="34" charset="0"/>
                <a:ea typeface="Arial" pitchFamily="34" charset="-122"/>
                <a:cs typeface="Arial" pitchFamily="34" charset="-120"/>
              </a:rPr>
              <a:t>Rp 2.450.000.000 (10,4%)</a:t>
            </a:r>
            <a:endParaRPr lang="en-US" sz="780" dirty="0"/>
          </a:p>
        </p:txBody>
      </p:sp>
      <p:sp>
        <p:nvSpPr>
          <p:cNvPr id="71" name="Text 69"/>
          <p:cNvSpPr/>
          <p:nvPr/>
        </p:nvSpPr>
        <p:spPr>
          <a:xfrm>
            <a:off x="5349240" y="4224528"/>
            <a:ext cx="1783080" cy="1280160"/>
          </a:xfrm>
          <a:prstGeom prst="rect">
            <a:avLst/>
          </a:prstGeom>
          <a:noFill/>
          <a:ln/>
        </p:spPr>
        <p:txBody>
          <a:bodyPr wrap="square" rtlCol="0" anchor="ctr"/>
          <a:lstStyle/>
          <a:p>
            <a:pPr indent="0" marL="0">
              <a:lnSpc>
                <a:spcPts val="1200"/>
              </a:lnSpc>
              <a:buNone/>
            </a:pPr>
            <a:r>
              <a:rPr lang="en-US" sz="750" dirty="0">
                <a:solidFill>
                  <a:srgbClr val="334155"/>
                </a:solidFill>
                <a:latin typeface="Arial" pitchFamily="34" charset="0"/>
                <a:ea typeface="Arial" pitchFamily="34" charset="-122"/>
                <a:cs typeface="Arial" pitchFamily="34" charset="-120"/>
              </a:rPr>
              <a:t>• Sarana/MICE: Rp 1,50 M</a:t>
            </a:r>
            <a:endParaRPr lang="en-US" sz="750" dirty="0"/>
          </a:p>
          <a:p>
            <a:pPr indent="0" marL="0">
              <a:lnSpc>
                <a:spcPts val="1200"/>
              </a:lnSpc>
              <a:buNone/>
            </a:pPr>
            <a:r>
              <a:rPr lang="en-US" sz="750" dirty="0">
                <a:solidFill>
                  <a:srgbClr val="334155"/>
                </a:solidFill>
                <a:latin typeface="Arial" pitchFamily="34" charset="0"/>
                <a:ea typeface="Arial" pitchFamily="34" charset="-122"/>
                <a:cs typeface="Arial" pitchFamily="34" charset="-120"/>
              </a:rPr>
              <a:t>• Co-Working: Rp 900 Jt</a:t>
            </a:r>
            <a:endParaRPr lang="en-US" sz="750" dirty="0"/>
          </a:p>
          <a:p>
            <a:pPr indent="0" marL="0">
              <a:lnSpc>
                <a:spcPts val="1200"/>
              </a:lnSpc>
              <a:buNone/>
            </a:pPr>
            <a:r>
              <a:rPr lang="en-US" sz="750" dirty="0">
                <a:solidFill>
                  <a:srgbClr val="334155"/>
                </a:solidFill>
                <a:latin typeface="Arial" pitchFamily="34" charset="0"/>
                <a:ea typeface="Arial" pitchFamily="34" charset="-122"/>
                <a:cs typeface="Arial" pitchFamily="34" charset="-120"/>
              </a:rPr>
              <a:t>• Jasa Giro Kas: Rp 50 Jt</a:t>
            </a:r>
            <a:endParaRPr lang="en-US" sz="750" dirty="0"/>
          </a:p>
        </p:txBody>
      </p:sp>
      <p:sp>
        <p:nvSpPr>
          <p:cNvPr id="72" name="Shape 70"/>
          <p:cNvSpPr/>
          <p:nvPr/>
        </p:nvSpPr>
        <p:spPr>
          <a:xfrm>
            <a:off x="7360920" y="3794760"/>
            <a:ext cx="1965960" cy="1947672"/>
          </a:xfrm>
          <a:prstGeom prst="rect">
            <a:avLst/>
          </a:prstGeom>
          <a:solidFill>
            <a:srgbClr val="FFFFFF"/>
          </a:solidFill>
          <a:ln w="10160">
            <a:solidFill>
              <a:srgbClr val="CBD5E1"/>
            </a:solidFill>
            <a:prstDash val="solid"/>
          </a:ln>
        </p:spPr>
      </p:sp>
      <p:sp>
        <p:nvSpPr>
          <p:cNvPr id="73" name="Shape 71"/>
          <p:cNvSpPr/>
          <p:nvPr/>
        </p:nvSpPr>
        <p:spPr>
          <a:xfrm>
            <a:off x="7360920" y="3794760"/>
            <a:ext cx="1965960" cy="54864"/>
          </a:xfrm>
          <a:prstGeom prst="rect">
            <a:avLst/>
          </a:prstGeom>
          <a:solidFill>
            <a:srgbClr val="7C3AED"/>
          </a:solidFill>
          <a:ln w="12700">
            <a:solidFill>
              <a:srgbClr val="7C3AED"/>
            </a:solidFill>
            <a:prstDash val="solid"/>
          </a:ln>
        </p:spPr>
      </p:sp>
      <p:sp>
        <p:nvSpPr>
          <p:cNvPr id="74" name="Text 72"/>
          <p:cNvSpPr/>
          <p:nvPr/>
        </p:nvSpPr>
        <p:spPr>
          <a:xfrm>
            <a:off x="7452360" y="3858768"/>
            <a:ext cx="1783080" cy="310896"/>
          </a:xfrm>
          <a:prstGeom prst="rect">
            <a:avLst/>
          </a:prstGeom>
          <a:noFill/>
          <a:ln/>
        </p:spPr>
        <p:txBody>
          <a:bodyPr wrap="square" rtlCol="0" anchor="ctr"/>
          <a:lstStyle/>
          <a:p>
            <a:pPr indent="0" marL="0">
              <a:buNone/>
            </a:pPr>
            <a:r>
              <a:rPr lang="en-US" sz="780" b="1" dirty="0">
                <a:solidFill>
                  <a:srgbClr val="7C3AED"/>
                </a:solidFill>
                <a:latin typeface="Arial" pitchFamily="34" charset="0"/>
                <a:ea typeface="Arial" pitchFamily="34" charset="-122"/>
                <a:cs typeface="Arial" pitchFamily="34" charset="-120"/>
              </a:rPr>
              <a:t>KLASTER E: LAB &amp; NDT</a:t>
            </a:r>
            <a:endParaRPr lang="en-US" sz="780" dirty="0"/>
          </a:p>
          <a:p>
            <a:pPr indent="0" marL="0">
              <a:buNone/>
            </a:pPr>
            <a:r>
              <a:rPr lang="en-US" sz="780" b="1" dirty="0">
                <a:solidFill>
                  <a:srgbClr val="7C3AED"/>
                </a:solidFill>
                <a:latin typeface="Arial" pitchFamily="34" charset="0"/>
                <a:ea typeface="Arial" pitchFamily="34" charset="-122"/>
                <a:cs typeface="Arial" pitchFamily="34" charset="-120"/>
              </a:rPr>
              <a:t>Rp 1.465.000.000 (6,2%)</a:t>
            </a:r>
            <a:endParaRPr lang="en-US" sz="780" dirty="0"/>
          </a:p>
        </p:txBody>
      </p:sp>
      <p:sp>
        <p:nvSpPr>
          <p:cNvPr id="75" name="Text 73"/>
          <p:cNvSpPr/>
          <p:nvPr/>
        </p:nvSpPr>
        <p:spPr>
          <a:xfrm>
            <a:off x="7452360" y="4224528"/>
            <a:ext cx="1783080" cy="1280160"/>
          </a:xfrm>
          <a:prstGeom prst="rect">
            <a:avLst/>
          </a:prstGeom>
          <a:noFill/>
          <a:ln/>
        </p:spPr>
        <p:txBody>
          <a:bodyPr wrap="square" rtlCol="0" anchor="ctr"/>
          <a:lstStyle/>
          <a:p>
            <a:pPr indent="0" marL="0">
              <a:lnSpc>
                <a:spcPts val="1200"/>
              </a:lnSpc>
              <a:buNone/>
            </a:pPr>
            <a:r>
              <a:rPr lang="en-US" sz="750" dirty="0">
                <a:solidFill>
                  <a:srgbClr val="334155"/>
                </a:solidFill>
                <a:latin typeface="Arial" pitchFamily="34" charset="0"/>
                <a:ea typeface="Arial" pitchFamily="34" charset="-122"/>
                <a:cs typeface="Arial" pitchFamily="34" charset="-120"/>
              </a:rPr>
              <a:t>• Fabrikasi Mesin: Rp 1,22 M</a:t>
            </a:r>
            <a:endParaRPr lang="en-US" sz="750" dirty="0"/>
          </a:p>
          <a:p>
            <a:pPr indent="0" marL="0">
              <a:lnSpc>
                <a:spcPts val="1200"/>
              </a:lnSpc>
              <a:buNone/>
            </a:pPr>
            <a:r>
              <a:rPr lang="en-US" sz="750" dirty="0">
                <a:solidFill>
                  <a:srgbClr val="334155"/>
                </a:solidFill>
                <a:latin typeface="Arial" pitchFamily="34" charset="0"/>
                <a:ea typeface="Arial" pitchFamily="34" charset="-122"/>
                <a:cs typeface="Arial" pitchFamily="34" charset="-120"/>
              </a:rPr>
              <a:t>• Uji Mutu SNI: Rp 135 Jt</a:t>
            </a:r>
            <a:endParaRPr lang="en-US" sz="750" dirty="0"/>
          </a:p>
          <a:p>
            <a:pPr indent="0" marL="0">
              <a:lnSpc>
                <a:spcPts val="1200"/>
              </a:lnSpc>
              <a:buNone/>
            </a:pPr>
            <a:r>
              <a:rPr lang="en-US" sz="750" dirty="0">
                <a:solidFill>
                  <a:srgbClr val="334155"/>
                </a:solidFill>
                <a:latin typeface="Arial" pitchFamily="34" charset="0"/>
                <a:ea typeface="Arial" pitchFamily="34" charset="-122"/>
                <a:cs typeface="Arial" pitchFamily="34" charset="-120"/>
              </a:rPr>
              <a:t>• Pesanan Pemda: Rp 105 Jt</a:t>
            </a:r>
            <a:endParaRPr lang="en-US" sz="750" dirty="0"/>
          </a:p>
        </p:txBody>
      </p:sp>
      <p:sp>
        <p:nvSpPr>
          <p:cNvPr id="76" name="Shape 74"/>
          <p:cNvSpPr/>
          <p:nvPr/>
        </p:nvSpPr>
        <p:spPr>
          <a:xfrm>
            <a:off x="9464040" y="3794760"/>
            <a:ext cx="1996135" cy="1947672"/>
          </a:xfrm>
          <a:prstGeom prst="rect">
            <a:avLst/>
          </a:prstGeom>
          <a:solidFill>
            <a:srgbClr val="F8FAFC"/>
          </a:solidFill>
          <a:ln w="10160">
            <a:solidFill>
              <a:srgbClr val="CBD5E1"/>
            </a:solidFill>
            <a:prstDash val="solid"/>
          </a:ln>
        </p:spPr>
      </p:sp>
      <p:sp>
        <p:nvSpPr>
          <p:cNvPr id="77" name="Shape 75"/>
          <p:cNvSpPr/>
          <p:nvPr/>
        </p:nvSpPr>
        <p:spPr>
          <a:xfrm>
            <a:off x="9464040" y="3794760"/>
            <a:ext cx="1996135" cy="54864"/>
          </a:xfrm>
          <a:prstGeom prst="rect">
            <a:avLst/>
          </a:prstGeom>
          <a:solidFill>
            <a:srgbClr val="94A3B8"/>
          </a:solidFill>
          <a:ln w="12700">
            <a:solidFill>
              <a:srgbClr val="94A3B8"/>
            </a:solidFill>
            <a:prstDash val="solid"/>
          </a:ln>
        </p:spPr>
      </p:sp>
      <p:sp>
        <p:nvSpPr>
          <p:cNvPr id="78" name="Text 76"/>
          <p:cNvSpPr/>
          <p:nvPr/>
        </p:nvSpPr>
        <p:spPr>
          <a:xfrm>
            <a:off x="9555480" y="3858768"/>
            <a:ext cx="1810512" cy="310896"/>
          </a:xfrm>
          <a:prstGeom prst="rect">
            <a:avLst/>
          </a:prstGeom>
          <a:noFill/>
          <a:ln/>
        </p:spPr>
        <p:txBody>
          <a:bodyPr wrap="square" rtlCol="0" anchor="ctr"/>
          <a:lstStyle/>
          <a:p>
            <a:pPr indent="0" marL="0">
              <a:buNone/>
            </a:pPr>
            <a:r>
              <a:rPr lang="en-US" sz="780" b="1" dirty="0">
                <a:solidFill>
                  <a:srgbClr val="64748B"/>
                </a:solidFill>
                <a:latin typeface="Arial" pitchFamily="34" charset="0"/>
                <a:ea typeface="Arial" pitchFamily="34" charset="-122"/>
                <a:cs typeface="Arial" pitchFamily="34" charset="-120"/>
              </a:rPr>
              <a:t>KLASTER F: SEWA LAHAN</a:t>
            </a:r>
            <a:endParaRPr lang="en-US" sz="780" dirty="0"/>
          </a:p>
          <a:p>
            <a:pPr indent="0" marL="0">
              <a:buNone/>
            </a:pPr>
            <a:r>
              <a:rPr lang="en-US" sz="780" b="1" dirty="0">
                <a:solidFill>
                  <a:srgbClr val="64748B"/>
                </a:solidFill>
                <a:latin typeface="Arial" pitchFamily="34" charset="0"/>
                <a:ea typeface="Arial" pitchFamily="34" charset="-122"/>
                <a:cs typeface="Arial" pitchFamily="34" charset="-120"/>
              </a:rPr>
              <a:t>Rp 579.358.831 (2,5%)</a:t>
            </a:r>
            <a:endParaRPr lang="en-US" sz="780" dirty="0"/>
          </a:p>
        </p:txBody>
      </p:sp>
      <p:sp>
        <p:nvSpPr>
          <p:cNvPr id="79" name="Text 77"/>
          <p:cNvSpPr/>
          <p:nvPr/>
        </p:nvSpPr>
        <p:spPr>
          <a:xfrm>
            <a:off x="9555480" y="4224528"/>
            <a:ext cx="1810512" cy="1371600"/>
          </a:xfrm>
          <a:prstGeom prst="rect">
            <a:avLst/>
          </a:prstGeom>
          <a:noFill/>
          <a:ln/>
        </p:spPr>
        <p:txBody>
          <a:bodyPr wrap="square" rtlCol="0" anchor="ctr"/>
          <a:lstStyle/>
          <a:p>
            <a:pPr indent="0" marL="0">
              <a:lnSpc>
                <a:spcPts val="1100"/>
              </a:lnSpc>
              <a:buNone/>
            </a:pPr>
            <a:r>
              <a:rPr lang="en-US" sz="720" dirty="0">
                <a:solidFill>
                  <a:srgbClr val="334155"/>
                </a:solidFill>
                <a:latin typeface="Arial" pitchFamily="34" charset="0"/>
                <a:ea typeface="Arial" pitchFamily="34" charset="-122"/>
                <a:cs typeface="Arial" pitchFamily="34" charset="-120"/>
              </a:rPr>
              <a:t>• Shopee Hub: Rp 544 Jt</a:t>
            </a:r>
            <a:endParaRPr lang="en-US" sz="720" dirty="0"/>
          </a:p>
          <a:p>
            <a:pPr indent="0" marL="0">
              <a:lnSpc>
                <a:spcPts val="1100"/>
              </a:lnSpc>
              <a:buNone/>
            </a:pPr>
            <a:r>
              <a:rPr lang="en-US" sz="720" dirty="0">
                <a:solidFill>
                  <a:srgbClr val="334155"/>
                </a:solidFill>
                <a:latin typeface="Arial" pitchFamily="34" charset="0"/>
                <a:ea typeface="Arial" pitchFamily="34" charset="-122"/>
                <a:cs typeface="Arial" pitchFamily="34" charset="-120"/>
              </a:rPr>
              <a:t>• Katulondi: Rp 35 Jt</a:t>
            </a:r>
            <a:endParaRPr lang="en-US" sz="720" dirty="0"/>
          </a:p>
          <a:p>
            <a:pPr indent="0" marL="0">
              <a:lnSpc>
                <a:spcPts val="1100"/>
              </a:lnSpc>
              <a:buNone/>
            </a:pPr>
            <a:endParaRPr lang="en-US" sz="720" dirty="0"/>
          </a:p>
          <a:p>
            <a:pPr indent="0" marL="0">
              <a:lnSpc>
                <a:spcPts val="1100"/>
              </a:lnSpc>
              <a:buNone/>
            </a:pPr>
            <a:r>
              <a:rPr lang="en-US" sz="720" dirty="0">
                <a:solidFill>
                  <a:srgbClr val="334155"/>
                </a:solidFill>
                <a:latin typeface="Arial" pitchFamily="34" charset="0"/>
                <a:ea typeface="Arial" pitchFamily="34" charset="-122"/>
                <a:cs typeface="Arial" pitchFamily="34" charset="-120"/>
              </a:rPr>
              <a:t>DE-ESKALASI SEWA:</a:t>
            </a:r>
            <a:endParaRPr lang="en-US" sz="720" dirty="0"/>
          </a:p>
          <a:p>
            <a:pPr indent="0" marL="0">
              <a:lnSpc>
                <a:spcPts val="1100"/>
              </a:lnSpc>
              <a:buNone/>
            </a:pPr>
            <a:r>
              <a:rPr lang="en-US" sz="720" dirty="0">
                <a:solidFill>
                  <a:srgbClr val="334155"/>
                </a:solidFill>
                <a:latin typeface="Arial" pitchFamily="34" charset="0"/>
                <a:ea typeface="Arial" pitchFamily="34" charset="-122"/>
                <a:cs typeface="Arial" pitchFamily="34" charset="-120"/>
              </a:rPr>
              <a:t>Ditekan ke 2,5% demi beralih ke inovasi.</a:t>
            </a:r>
            <a:endParaRPr lang="en-US" sz="720" dirty="0"/>
          </a:p>
        </p:txBody>
      </p:sp>
      <p:sp>
        <p:nvSpPr>
          <p:cNvPr id="80" name="Shape 78"/>
          <p:cNvSpPr/>
          <p:nvPr/>
        </p:nvSpPr>
        <p:spPr>
          <a:xfrm>
            <a:off x="731520" y="5833872"/>
            <a:ext cx="10728655" cy="530352"/>
          </a:xfrm>
          <a:prstGeom prst="rect">
            <a:avLst/>
          </a:prstGeom>
          <a:solidFill>
            <a:srgbClr val="0F2942"/>
          </a:solidFill>
          <a:ln w="19050">
            <a:solidFill>
              <a:srgbClr val="D97706"/>
            </a:solidFill>
            <a:prstDash val="solid"/>
          </a:ln>
        </p:spPr>
      </p:sp>
      <p:sp>
        <p:nvSpPr>
          <p:cNvPr id="81" name="Text 79"/>
          <p:cNvSpPr/>
          <p:nvPr/>
        </p:nvSpPr>
        <p:spPr>
          <a:xfrm>
            <a:off x="914400" y="5833872"/>
            <a:ext cx="10362895" cy="530352"/>
          </a:xfrm>
          <a:prstGeom prst="rect">
            <a:avLst/>
          </a:prstGeom>
          <a:noFill/>
          <a:ln/>
        </p:spPr>
        <p:txBody>
          <a:bodyPr wrap="square"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TOTAL TARGET PENDAPATAN BLUD 2030:   </a:t>
            </a:r>
            <a:pPr algn="ctr" indent="0" marL="0">
              <a:buNone/>
            </a:pPr>
            <a:r>
              <a:rPr lang="en-US" sz="1150" b="1" dirty="0">
                <a:solidFill>
                  <a:srgbClr val="F59E0B"/>
                </a:solidFill>
                <a:latin typeface="Arial" pitchFamily="34" charset="0"/>
                <a:ea typeface="Arial" pitchFamily="34" charset="-122"/>
                <a:cs typeface="Arial" pitchFamily="34" charset="-120"/>
              </a:rPr>
              <a:t>Rp 23.468.158.831   </a:t>
            </a:r>
            <a:pPr algn="ctr" indent="0" marL="0">
              <a:buNone/>
            </a:pPr>
            <a:r>
              <a:rPr lang="en-US" sz="800" i="1" dirty="0">
                <a:solidFill>
                  <a:srgbClr val="93C5FD"/>
                </a:solidFill>
                <a:latin typeface="Arial" pitchFamily="34" charset="0"/>
                <a:ea typeface="Arial" pitchFamily="34" charset="-122"/>
                <a:cs typeface="Arial" pitchFamily="34" charset="-120"/>
              </a:rPr>
              <a:t>(Dua Puluh Tiga Miliar Empat Ratus Enam Puluh Delapan Juta Rupiah) — 100% Mandiri Bebas APBD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DAMPAK SOSIAL-EKONOMI DAERAH</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11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6 DIMENSI KEBERDAMPAKAN: SOLO TECHNOPARK UNTUK WARGA SURAKARTA</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"Indikator Keberhasilan Harus Mengukur IMPACT — Bukan Sekadar Aktivitas dan Pendapatan Kas" (Dokumen Strategi STP 2026)</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4937760" cy="4846320"/>
          </a:xfrm>
          <a:prstGeom prst="rect">
            <a:avLst/>
          </a:prstGeom>
          <a:solidFill>
            <a:srgbClr val="FFFFFF"/>
          </a:solidFill>
          <a:ln w="10160">
            <a:solidFill>
              <a:srgbClr val="CBD5E1"/>
            </a:solidFill>
            <a:prstDash val="solid"/>
          </a:ln>
        </p:spPr>
      </p:sp>
      <p:sp>
        <p:nvSpPr>
          <p:cNvPr id="11" name="Shape 9"/>
          <p:cNvSpPr/>
          <p:nvPr/>
        </p:nvSpPr>
        <p:spPr>
          <a:xfrm>
            <a:off x="731520" y="1417320"/>
            <a:ext cx="4937760" cy="54864"/>
          </a:xfrm>
          <a:prstGeom prst="rect">
            <a:avLst/>
          </a:prstGeom>
          <a:solidFill>
            <a:srgbClr val="1E40AF"/>
          </a:solidFill>
          <a:ln w="12700">
            <a:solidFill>
              <a:srgbClr val="1E40AF"/>
            </a:solidFill>
            <a:prstDash val="solid"/>
          </a:ln>
        </p:spPr>
      </p:sp>
      <p:sp>
        <p:nvSpPr>
          <p:cNvPr id="12" name="Text 10"/>
          <p:cNvSpPr/>
          <p:nvPr/>
        </p:nvSpPr>
        <p:spPr>
          <a:xfrm>
            <a:off x="868680" y="1554480"/>
            <a:ext cx="4663440" cy="228600"/>
          </a:xfrm>
          <a:prstGeom prst="rect">
            <a:avLst/>
          </a:prstGeom>
          <a:noFill/>
          <a:ln/>
        </p:spPr>
        <p:txBody>
          <a:bodyPr wrap="square" rtlCol="0" anchor="ctr"/>
          <a:lstStyle/>
          <a:p>
            <a:pPr indent="0" marL="0">
              <a:buNone/>
            </a:pPr>
            <a:r>
              <a:rPr lang="en-US" sz="880" b="1" dirty="0">
                <a:solidFill>
                  <a:srgbClr val="1E40AF"/>
                </a:solidFill>
                <a:latin typeface="Arial" pitchFamily="34" charset="0"/>
                <a:ea typeface="Arial" pitchFamily="34" charset="-122"/>
                <a:cs typeface="Arial" pitchFamily="34" charset="-120"/>
              </a:rPr>
              <a:t>SKOR CAPAIAN 6 DIMENSI DAMPAK 2030 (%)</a:t>
            </a:r>
            <a:endParaRPr lang="en-US" sz="880" dirty="0"/>
          </a:p>
        </p:txBody>
      </p:sp>
      <p:graphicFrame>
        <p:nvGraphicFramePr>
          <p:cNvPr id="13" name="Chart 0" descr=""/>
          <p:cNvGraphicFramePr/>
          <p:nvPr/>
        </p:nvGraphicFramePr>
        <p:xfrm>
          <a:off x="868680" y="1874520"/>
          <a:ext cx="4663440" cy="2834640"/>
        </p:xfrm>
        <a:graphic xmlns:a="http://schemas.openxmlformats.org/drawingml/2006/main">
          <a:graphicData uri="http://schemas.openxmlformats.org/drawingml/2006/chart">
            <c:chart xmlns:c="http://schemas.openxmlformats.org/drawingml/2006/chart" r:id="rId1"/>
          </a:graphicData>
        </a:graphic>
      </p:graphicFrame>
      <p:sp>
        <p:nvSpPr>
          <p:cNvPr id="14" name="Shape 11"/>
          <p:cNvSpPr/>
          <p:nvPr/>
        </p:nvSpPr>
        <p:spPr>
          <a:xfrm>
            <a:off x="868680" y="4800600"/>
            <a:ext cx="4663440" cy="1325880"/>
          </a:xfrm>
          <a:prstGeom prst="rect">
            <a:avLst/>
          </a:prstGeom>
          <a:solidFill>
            <a:srgbClr val="F8FAFC"/>
          </a:solidFill>
          <a:ln w="10160">
            <a:solidFill>
              <a:srgbClr val="E2E8F0"/>
            </a:solidFill>
            <a:prstDash val="solid"/>
          </a:ln>
        </p:spPr>
      </p:sp>
      <p:sp>
        <p:nvSpPr>
          <p:cNvPr id="15" name="Text 12"/>
          <p:cNvSpPr/>
          <p:nvPr/>
        </p:nvSpPr>
        <p:spPr>
          <a:xfrm>
            <a:off x="1005840" y="4892040"/>
            <a:ext cx="4389120" cy="201168"/>
          </a:xfrm>
          <a:prstGeom prst="rect">
            <a:avLst/>
          </a:prstGeom>
          <a:noFill/>
          <a:ln/>
        </p:spPr>
        <p:txBody>
          <a:bodyPr wrap="square" rtlCol="0" anchor="ctr"/>
          <a:lstStyle/>
          <a:p>
            <a:pPr indent="0" marL="0">
              <a:buNone/>
            </a:pPr>
            <a:r>
              <a:rPr lang="en-US" sz="850" b="1" dirty="0">
                <a:solidFill>
                  <a:srgbClr val="D97706"/>
                </a:solidFill>
                <a:latin typeface="Arial" pitchFamily="34" charset="0"/>
                <a:ea typeface="Arial" pitchFamily="34" charset="-122"/>
                <a:cs typeface="Arial" pitchFamily="34" charset="-120"/>
              </a:rPr>
              <a:t>FILOSOFI IMPACT MEASUREMENT KOTA:</a:t>
            </a:r>
            <a:endParaRPr lang="en-US" sz="850" dirty="0"/>
          </a:p>
        </p:txBody>
      </p:sp>
      <p:sp>
        <p:nvSpPr>
          <p:cNvPr id="16" name="Text 13"/>
          <p:cNvSpPr/>
          <p:nvPr/>
        </p:nvSpPr>
        <p:spPr>
          <a:xfrm>
            <a:off x="1005840" y="5120640"/>
            <a:ext cx="4389120" cy="914400"/>
          </a:xfrm>
          <a:prstGeom prst="rect">
            <a:avLst/>
          </a:prstGeom>
          <a:noFill/>
          <a:ln/>
        </p:spPr>
        <p:txBody>
          <a:bodyPr wrap="square" rtlCol="0" anchor="ctr"/>
          <a:lstStyle/>
          <a:p>
            <a:pPr indent="0" marL="0">
              <a:lnSpc>
                <a:spcPts val="1100"/>
              </a:lnSpc>
              <a:buNone/>
            </a:pPr>
            <a:r>
              <a:rPr lang="en-US" sz="780" dirty="0">
                <a:solidFill>
                  <a:srgbClr val="334155"/>
                </a:solidFill>
                <a:latin typeface="Arial" pitchFamily="34" charset="0"/>
                <a:ea typeface="Arial" pitchFamily="34" charset="-122"/>
                <a:cs typeface="Arial" pitchFamily="34" charset="-120"/>
              </a:rPr>
              <a:t>Keberhasilan Solo Technopark tidak diukur dari megahnya gedung atau saldo kas BLUD semata, melainkan dari kesejahteraan nyata warga Surakarta: lapangan kerja yang terserap, UMKM yang naik kelas, serta keterhubungan riset kampus dengan kebutuhan industri.</a:t>
            </a:r>
            <a:endParaRPr lang="en-US" sz="780" dirty="0"/>
          </a:p>
        </p:txBody>
      </p:sp>
      <p:sp>
        <p:nvSpPr>
          <p:cNvPr id="17" name="Shape 14"/>
          <p:cNvSpPr/>
          <p:nvPr/>
        </p:nvSpPr>
        <p:spPr>
          <a:xfrm>
            <a:off x="5870448" y="1417320"/>
            <a:ext cx="2697480" cy="1517904"/>
          </a:xfrm>
          <a:prstGeom prst="rect">
            <a:avLst/>
          </a:prstGeom>
          <a:solidFill>
            <a:srgbClr val="FFFFFF"/>
          </a:solidFill>
          <a:ln w="10160">
            <a:solidFill>
              <a:srgbClr val="CBD5E1"/>
            </a:solidFill>
            <a:prstDash val="solid"/>
          </a:ln>
        </p:spPr>
      </p:sp>
      <p:sp>
        <p:nvSpPr>
          <p:cNvPr id="18" name="Shape 15"/>
          <p:cNvSpPr/>
          <p:nvPr/>
        </p:nvSpPr>
        <p:spPr>
          <a:xfrm>
            <a:off x="5870448" y="1417320"/>
            <a:ext cx="2697480" cy="54864"/>
          </a:xfrm>
          <a:prstGeom prst="rect">
            <a:avLst/>
          </a:prstGeom>
          <a:solidFill>
            <a:srgbClr val="1E40AF"/>
          </a:solidFill>
          <a:ln w="12700">
            <a:solidFill>
              <a:srgbClr val="1E40AF"/>
            </a:solidFill>
            <a:prstDash val="solid"/>
          </a:ln>
        </p:spPr>
      </p:sp>
      <p:sp>
        <p:nvSpPr>
          <p:cNvPr id="19" name="Text 16"/>
          <p:cNvSpPr/>
          <p:nvPr/>
        </p:nvSpPr>
        <p:spPr>
          <a:xfrm>
            <a:off x="5998464" y="1527048"/>
            <a:ext cx="2441448" cy="201168"/>
          </a:xfrm>
          <a:prstGeom prst="rect">
            <a:avLst/>
          </a:prstGeom>
          <a:noFill/>
          <a:ln/>
        </p:spPr>
        <p:txBody>
          <a:bodyPr wrap="square" rtlCol="0" anchor="ctr"/>
          <a:lstStyle/>
          <a:p>
            <a:pPr indent="0" marL="0">
              <a:buNone/>
            </a:pPr>
            <a:r>
              <a:rPr lang="en-US" sz="800" b="1" dirty="0">
                <a:solidFill>
                  <a:srgbClr val="1E40AF"/>
                </a:solidFill>
                <a:latin typeface="Arial" pitchFamily="34" charset="0"/>
                <a:ea typeface="Arial" pitchFamily="34" charset="-122"/>
                <a:cs typeface="Arial" pitchFamily="34" charset="-120"/>
              </a:rPr>
              <a:t>SDM LEBIH KOMPETEN</a:t>
            </a:r>
            <a:endParaRPr lang="en-US" sz="800" dirty="0"/>
          </a:p>
        </p:txBody>
      </p:sp>
      <p:sp>
        <p:nvSpPr>
          <p:cNvPr id="20" name="Text 17"/>
          <p:cNvSpPr/>
          <p:nvPr/>
        </p:nvSpPr>
        <p:spPr>
          <a:xfrm>
            <a:off x="5998464" y="1764792"/>
            <a:ext cx="2441448" cy="36576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9.000 Peserta/Thn</a:t>
            </a:r>
            <a:endParaRPr lang="en-US" sz="1450" dirty="0"/>
          </a:p>
        </p:txBody>
      </p:sp>
      <p:sp>
        <p:nvSpPr>
          <p:cNvPr id="21" name="Text 18"/>
          <p:cNvSpPr/>
          <p:nvPr/>
        </p:nvSpPr>
        <p:spPr>
          <a:xfrm>
            <a:off x="5998464" y="2167128"/>
            <a:ext cx="2441448" cy="658368"/>
          </a:xfrm>
          <a:prstGeom prst="rect">
            <a:avLst/>
          </a:prstGeom>
          <a:noFill/>
          <a:ln/>
        </p:spPr>
        <p:txBody>
          <a:bodyPr wrap="square" rtlCol="0" anchor="ctr"/>
          <a:lstStyle/>
          <a:p>
            <a:pPr indent="0" marL="0">
              <a:lnSpc>
                <a:spcPts val="1000"/>
              </a:lnSpc>
              <a:buNone/>
            </a:pPr>
            <a:r>
              <a:rPr lang="en-US" sz="780" dirty="0">
                <a:solidFill>
                  <a:srgbClr val="334155"/>
                </a:solidFill>
                <a:latin typeface="Arial" pitchFamily="34" charset="0"/>
                <a:ea typeface="Arial" pitchFamily="34" charset="-122"/>
                <a:cs typeface="Arial" pitchFamily="34" charset="-120"/>
              </a:rPr>
              <a:t>Afirmasi kuota minimal 65% warga KTP Surakarta.</a:t>
            </a:r>
            <a:endParaRPr lang="en-US" sz="780" dirty="0"/>
          </a:p>
        </p:txBody>
      </p:sp>
      <p:sp>
        <p:nvSpPr>
          <p:cNvPr id="22" name="Shape 19"/>
          <p:cNvSpPr/>
          <p:nvPr/>
        </p:nvSpPr>
        <p:spPr>
          <a:xfrm>
            <a:off x="8659368" y="1417320"/>
            <a:ext cx="2697480" cy="1517904"/>
          </a:xfrm>
          <a:prstGeom prst="rect">
            <a:avLst/>
          </a:prstGeom>
          <a:solidFill>
            <a:srgbClr val="FFFFFF"/>
          </a:solidFill>
          <a:ln w="10160">
            <a:solidFill>
              <a:srgbClr val="CBD5E1"/>
            </a:solidFill>
            <a:prstDash val="solid"/>
          </a:ln>
        </p:spPr>
      </p:sp>
      <p:sp>
        <p:nvSpPr>
          <p:cNvPr id="23" name="Shape 20"/>
          <p:cNvSpPr/>
          <p:nvPr/>
        </p:nvSpPr>
        <p:spPr>
          <a:xfrm>
            <a:off x="8659368" y="1417320"/>
            <a:ext cx="2697480" cy="54864"/>
          </a:xfrm>
          <a:prstGeom prst="rect">
            <a:avLst/>
          </a:prstGeom>
          <a:solidFill>
            <a:srgbClr val="D97706"/>
          </a:solidFill>
          <a:ln w="12700">
            <a:solidFill>
              <a:srgbClr val="D97706"/>
            </a:solidFill>
            <a:prstDash val="solid"/>
          </a:ln>
        </p:spPr>
      </p:sp>
      <p:sp>
        <p:nvSpPr>
          <p:cNvPr id="24" name="Text 21"/>
          <p:cNvSpPr/>
          <p:nvPr/>
        </p:nvSpPr>
        <p:spPr>
          <a:xfrm>
            <a:off x="8787384" y="1527048"/>
            <a:ext cx="2441448" cy="201168"/>
          </a:xfrm>
          <a:prstGeom prst="rect">
            <a:avLst/>
          </a:prstGeom>
          <a:noFill/>
          <a:ln/>
        </p:spPr>
        <p:txBody>
          <a:bodyPr wrap="square" rtlCol="0" anchor="ctr"/>
          <a:lstStyle/>
          <a:p>
            <a:pPr indent="0" marL="0">
              <a:buNone/>
            </a:pPr>
            <a:r>
              <a:rPr lang="en-US" sz="800" b="1" dirty="0">
                <a:solidFill>
                  <a:srgbClr val="D97706"/>
                </a:solidFill>
                <a:latin typeface="Arial" pitchFamily="34" charset="0"/>
                <a:ea typeface="Arial" pitchFamily="34" charset="-122"/>
                <a:cs typeface="Arial" pitchFamily="34" charset="-120"/>
              </a:rPr>
              <a:t>UMKM &amp; STARTUP TUMBUH</a:t>
            </a:r>
            <a:endParaRPr lang="en-US" sz="800" dirty="0"/>
          </a:p>
        </p:txBody>
      </p:sp>
      <p:sp>
        <p:nvSpPr>
          <p:cNvPr id="25" name="Text 22"/>
          <p:cNvSpPr/>
          <p:nvPr/>
        </p:nvSpPr>
        <p:spPr>
          <a:xfrm>
            <a:off x="8787384" y="1764792"/>
            <a:ext cx="2441448" cy="36576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80+ Wirausaha</a:t>
            </a:r>
            <a:endParaRPr lang="en-US" sz="1450" dirty="0"/>
          </a:p>
        </p:txBody>
      </p:sp>
      <p:sp>
        <p:nvSpPr>
          <p:cNvPr id="26" name="Text 23"/>
          <p:cNvSpPr/>
          <p:nvPr/>
        </p:nvSpPr>
        <p:spPr>
          <a:xfrm>
            <a:off x="8787384" y="2167128"/>
            <a:ext cx="2441448" cy="658368"/>
          </a:xfrm>
          <a:prstGeom prst="rect">
            <a:avLst/>
          </a:prstGeom>
          <a:noFill/>
          <a:ln/>
        </p:spPr>
        <p:txBody>
          <a:bodyPr wrap="square" rtlCol="0" anchor="ctr"/>
          <a:lstStyle/>
          <a:p>
            <a:pPr indent="0" marL="0">
              <a:lnSpc>
                <a:spcPts val="1000"/>
              </a:lnSpc>
              <a:buNone/>
            </a:pPr>
            <a:r>
              <a:rPr lang="en-US" sz="780" dirty="0">
                <a:solidFill>
                  <a:srgbClr val="334155"/>
                </a:solidFill>
                <a:latin typeface="Arial" pitchFamily="34" charset="0"/>
                <a:ea typeface="Arial" pitchFamily="34" charset="-122"/>
                <a:cs typeface="Arial" pitchFamily="34" charset="-120"/>
              </a:rPr>
              <a:t>Pendampingan inkubasi &amp; digital onboarding GoTo Hub.</a:t>
            </a:r>
            <a:endParaRPr lang="en-US" sz="780" dirty="0"/>
          </a:p>
        </p:txBody>
      </p:sp>
      <p:sp>
        <p:nvSpPr>
          <p:cNvPr id="27" name="Shape 24"/>
          <p:cNvSpPr/>
          <p:nvPr/>
        </p:nvSpPr>
        <p:spPr>
          <a:xfrm>
            <a:off x="5870448" y="3026664"/>
            <a:ext cx="2697480" cy="1517904"/>
          </a:xfrm>
          <a:prstGeom prst="rect">
            <a:avLst/>
          </a:prstGeom>
          <a:solidFill>
            <a:srgbClr val="FFFFFF"/>
          </a:solidFill>
          <a:ln w="10160">
            <a:solidFill>
              <a:srgbClr val="CBD5E1"/>
            </a:solidFill>
            <a:prstDash val="solid"/>
          </a:ln>
        </p:spPr>
      </p:sp>
      <p:sp>
        <p:nvSpPr>
          <p:cNvPr id="28" name="Shape 25"/>
          <p:cNvSpPr/>
          <p:nvPr/>
        </p:nvSpPr>
        <p:spPr>
          <a:xfrm>
            <a:off x="5870448" y="3026664"/>
            <a:ext cx="2697480" cy="54864"/>
          </a:xfrm>
          <a:prstGeom prst="rect">
            <a:avLst/>
          </a:prstGeom>
          <a:solidFill>
            <a:srgbClr val="059669"/>
          </a:solidFill>
          <a:ln w="12700">
            <a:solidFill>
              <a:srgbClr val="059669"/>
            </a:solidFill>
            <a:prstDash val="solid"/>
          </a:ln>
        </p:spPr>
      </p:sp>
      <p:sp>
        <p:nvSpPr>
          <p:cNvPr id="29" name="Text 26"/>
          <p:cNvSpPr/>
          <p:nvPr/>
        </p:nvSpPr>
        <p:spPr>
          <a:xfrm>
            <a:off x="5998464" y="3136392"/>
            <a:ext cx="2441448" cy="201168"/>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RISET DEKAT KE PASAR</a:t>
            </a:r>
            <a:endParaRPr lang="en-US" sz="800" dirty="0"/>
          </a:p>
        </p:txBody>
      </p:sp>
      <p:sp>
        <p:nvSpPr>
          <p:cNvPr id="30" name="Text 27"/>
          <p:cNvSpPr/>
          <p:nvPr/>
        </p:nvSpPr>
        <p:spPr>
          <a:xfrm>
            <a:off x="5998464" y="3374136"/>
            <a:ext cx="2441448" cy="36576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45+ Produk</a:t>
            </a:r>
            <a:endParaRPr lang="en-US" sz="1450" dirty="0"/>
          </a:p>
        </p:txBody>
      </p:sp>
      <p:sp>
        <p:nvSpPr>
          <p:cNvPr id="31" name="Text 28"/>
          <p:cNvSpPr/>
          <p:nvPr/>
        </p:nvSpPr>
        <p:spPr>
          <a:xfrm>
            <a:off x="5998464" y="3776472"/>
            <a:ext cx="2441448" cy="658368"/>
          </a:xfrm>
          <a:prstGeom prst="rect">
            <a:avLst/>
          </a:prstGeom>
          <a:noFill/>
          <a:ln/>
        </p:spPr>
        <p:txBody>
          <a:bodyPr wrap="square" rtlCol="0" anchor="ctr"/>
          <a:lstStyle/>
          <a:p>
            <a:pPr indent="0" marL="0">
              <a:lnSpc>
                <a:spcPts val="1000"/>
              </a:lnSpc>
              <a:buNone/>
            </a:pPr>
            <a:r>
              <a:rPr lang="en-US" sz="780" dirty="0">
                <a:solidFill>
                  <a:srgbClr val="334155"/>
                </a:solidFill>
                <a:latin typeface="Arial" pitchFamily="34" charset="0"/>
                <a:ea typeface="Arial" pitchFamily="34" charset="-122"/>
                <a:cs typeface="Arial" pitchFamily="34" charset="-120"/>
              </a:rPr>
              <a:t>Paten HKI, Uji Presisi NDT &amp; sertifikasi TKDN.</a:t>
            </a:r>
            <a:endParaRPr lang="en-US" sz="780" dirty="0"/>
          </a:p>
        </p:txBody>
      </p:sp>
      <p:sp>
        <p:nvSpPr>
          <p:cNvPr id="32" name="Shape 29"/>
          <p:cNvSpPr/>
          <p:nvPr/>
        </p:nvSpPr>
        <p:spPr>
          <a:xfrm>
            <a:off x="8659368" y="3026664"/>
            <a:ext cx="2697480" cy="1517904"/>
          </a:xfrm>
          <a:prstGeom prst="rect">
            <a:avLst/>
          </a:prstGeom>
          <a:solidFill>
            <a:srgbClr val="FFFFFF"/>
          </a:solidFill>
          <a:ln w="10160">
            <a:solidFill>
              <a:srgbClr val="CBD5E1"/>
            </a:solidFill>
            <a:prstDash val="solid"/>
          </a:ln>
        </p:spPr>
      </p:sp>
      <p:sp>
        <p:nvSpPr>
          <p:cNvPr id="33" name="Shape 30"/>
          <p:cNvSpPr/>
          <p:nvPr/>
        </p:nvSpPr>
        <p:spPr>
          <a:xfrm>
            <a:off x="8659368" y="3026664"/>
            <a:ext cx="2697480" cy="54864"/>
          </a:xfrm>
          <a:prstGeom prst="rect">
            <a:avLst/>
          </a:prstGeom>
          <a:solidFill>
            <a:srgbClr val="0284C7"/>
          </a:solidFill>
          <a:ln w="12700">
            <a:solidFill>
              <a:srgbClr val="0284C7"/>
            </a:solidFill>
            <a:prstDash val="solid"/>
          </a:ln>
        </p:spPr>
      </p:sp>
      <p:sp>
        <p:nvSpPr>
          <p:cNvPr id="34" name="Text 31"/>
          <p:cNvSpPr/>
          <p:nvPr/>
        </p:nvSpPr>
        <p:spPr>
          <a:xfrm>
            <a:off x="8787384" y="3136392"/>
            <a:ext cx="2441448" cy="201168"/>
          </a:xfrm>
          <a:prstGeom prst="rect">
            <a:avLst/>
          </a:prstGeom>
          <a:noFill/>
          <a:ln/>
        </p:spPr>
        <p:txBody>
          <a:bodyPr wrap="square" rtlCol="0" anchor="ctr"/>
          <a:lstStyle/>
          <a:p>
            <a:pPr indent="0" marL="0">
              <a:buNone/>
            </a:pPr>
            <a:r>
              <a:rPr lang="en-US" sz="800" b="1" dirty="0">
                <a:solidFill>
                  <a:srgbClr val="0284C7"/>
                </a:solidFill>
                <a:latin typeface="Arial" pitchFamily="34" charset="0"/>
                <a:ea typeface="Arial" pitchFamily="34" charset="-122"/>
                <a:cs typeface="Arial" pitchFamily="34" charset="-120"/>
              </a:rPr>
              <a:t>AKSES TEKNOLOGI TERBUKA</a:t>
            </a:r>
            <a:endParaRPr lang="en-US" sz="800" dirty="0"/>
          </a:p>
        </p:txBody>
      </p:sp>
      <p:sp>
        <p:nvSpPr>
          <p:cNvPr id="35" name="Text 32"/>
          <p:cNvSpPr/>
          <p:nvPr/>
        </p:nvSpPr>
        <p:spPr>
          <a:xfrm>
            <a:off x="8787384" y="3374136"/>
            <a:ext cx="2441448" cy="36576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10.000+ Visit/Thn</a:t>
            </a:r>
            <a:endParaRPr lang="en-US" sz="1450" dirty="0"/>
          </a:p>
        </p:txBody>
      </p:sp>
      <p:sp>
        <p:nvSpPr>
          <p:cNvPr id="36" name="Text 33"/>
          <p:cNvSpPr/>
          <p:nvPr/>
        </p:nvSpPr>
        <p:spPr>
          <a:xfrm>
            <a:off x="8787384" y="3776472"/>
            <a:ext cx="2441448" cy="658368"/>
          </a:xfrm>
          <a:prstGeom prst="rect">
            <a:avLst/>
          </a:prstGeom>
          <a:noFill/>
          <a:ln/>
        </p:spPr>
        <p:txBody>
          <a:bodyPr wrap="square" rtlCol="0" anchor="ctr"/>
          <a:lstStyle/>
          <a:p>
            <a:pPr indent="0" marL="0">
              <a:lnSpc>
                <a:spcPts val="1000"/>
              </a:lnSpc>
              <a:buNone/>
            </a:pPr>
            <a:r>
              <a:rPr lang="en-US" sz="780" dirty="0">
                <a:solidFill>
                  <a:srgbClr val="334155"/>
                </a:solidFill>
                <a:latin typeface="Arial" pitchFamily="34" charset="0"/>
                <a:ea typeface="Arial" pitchFamily="34" charset="-122"/>
                <a:cs typeface="Arial" pitchFamily="34" charset="-120"/>
              </a:rPr>
              <a:t>Kunjungan lab AI, Cyber, &amp; magang siswa SMK Solo Raya.</a:t>
            </a:r>
            <a:endParaRPr lang="en-US" sz="780" dirty="0"/>
          </a:p>
        </p:txBody>
      </p:sp>
      <p:sp>
        <p:nvSpPr>
          <p:cNvPr id="37" name="Shape 34"/>
          <p:cNvSpPr/>
          <p:nvPr/>
        </p:nvSpPr>
        <p:spPr>
          <a:xfrm>
            <a:off x="5870448" y="4636008"/>
            <a:ext cx="2697480" cy="1517904"/>
          </a:xfrm>
          <a:prstGeom prst="rect">
            <a:avLst/>
          </a:prstGeom>
          <a:solidFill>
            <a:srgbClr val="FFFFFF"/>
          </a:solidFill>
          <a:ln w="10160">
            <a:solidFill>
              <a:srgbClr val="CBD5E1"/>
            </a:solidFill>
            <a:prstDash val="solid"/>
          </a:ln>
        </p:spPr>
      </p:sp>
      <p:sp>
        <p:nvSpPr>
          <p:cNvPr id="38" name="Shape 35"/>
          <p:cNvSpPr/>
          <p:nvPr/>
        </p:nvSpPr>
        <p:spPr>
          <a:xfrm>
            <a:off x="5870448" y="4636008"/>
            <a:ext cx="2697480" cy="54864"/>
          </a:xfrm>
          <a:prstGeom prst="rect">
            <a:avLst/>
          </a:prstGeom>
          <a:solidFill>
            <a:srgbClr val="7C3AED"/>
          </a:solidFill>
          <a:ln w="12700">
            <a:solidFill>
              <a:srgbClr val="7C3AED"/>
            </a:solidFill>
            <a:prstDash val="solid"/>
          </a:ln>
        </p:spPr>
      </p:sp>
      <p:sp>
        <p:nvSpPr>
          <p:cNvPr id="39" name="Text 36"/>
          <p:cNvSpPr/>
          <p:nvPr/>
        </p:nvSpPr>
        <p:spPr>
          <a:xfrm>
            <a:off x="5998464" y="4745736"/>
            <a:ext cx="2441448" cy="201168"/>
          </a:xfrm>
          <a:prstGeom prst="rect">
            <a:avLst/>
          </a:prstGeom>
          <a:noFill/>
          <a:ln/>
        </p:spPr>
        <p:txBody>
          <a:bodyPr wrap="square" rtlCol="0" anchor="ctr"/>
          <a:lstStyle/>
          <a:p>
            <a:pPr indent="0" marL="0">
              <a:buNone/>
            </a:pPr>
            <a:r>
              <a:rPr lang="en-US" sz="800" b="1" dirty="0">
                <a:solidFill>
                  <a:srgbClr val="7C3AED"/>
                </a:solidFill>
                <a:latin typeface="Arial" pitchFamily="34" charset="0"/>
                <a:ea typeface="Arial" pitchFamily="34" charset="-122"/>
                <a:cs typeface="Arial" pitchFamily="34" charset="-120"/>
              </a:rPr>
              <a:t>PELUANG KERJA BARU</a:t>
            </a:r>
            <a:endParaRPr lang="en-US" sz="800" dirty="0"/>
          </a:p>
        </p:txBody>
      </p:sp>
      <p:sp>
        <p:nvSpPr>
          <p:cNvPr id="40" name="Text 37"/>
          <p:cNvSpPr/>
          <p:nvPr/>
        </p:nvSpPr>
        <p:spPr>
          <a:xfrm>
            <a:off x="5998464" y="4983480"/>
            <a:ext cx="2441448" cy="36576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Rp 180 M Multiplier</a:t>
            </a:r>
            <a:endParaRPr lang="en-US" sz="1450" dirty="0"/>
          </a:p>
        </p:txBody>
      </p:sp>
      <p:sp>
        <p:nvSpPr>
          <p:cNvPr id="41" name="Text 38"/>
          <p:cNvSpPr/>
          <p:nvPr/>
        </p:nvSpPr>
        <p:spPr>
          <a:xfrm>
            <a:off x="5998464" y="5385816"/>
            <a:ext cx="2441448" cy="658368"/>
          </a:xfrm>
          <a:prstGeom prst="rect">
            <a:avLst/>
          </a:prstGeom>
          <a:noFill/>
          <a:ln/>
        </p:spPr>
        <p:txBody>
          <a:bodyPr wrap="square" rtlCol="0" anchor="ctr"/>
          <a:lstStyle/>
          <a:p>
            <a:pPr indent="0" marL="0">
              <a:lnSpc>
                <a:spcPts val="1000"/>
              </a:lnSpc>
              <a:buNone/>
            </a:pPr>
            <a:r>
              <a:rPr lang="en-US" sz="780" dirty="0">
                <a:solidFill>
                  <a:srgbClr val="334155"/>
                </a:solidFill>
                <a:latin typeface="Arial" pitchFamily="34" charset="0"/>
                <a:ea typeface="Arial" pitchFamily="34" charset="-122"/>
                <a:cs typeface="Arial" pitchFamily="34" charset="-120"/>
              </a:rPr>
              <a:t>Estimasi perputaran ekonomi hotel, resto &amp; MICE.</a:t>
            </a:r>
            <a:endParaRPr lang="en-US" sz="780" dirty="0"/>
          </a:p>
        </p:txBody>
      </p:sp>
      <p:sp>
        <p:nvSpPr>
          <p:cNvPr id="42" name="Shape 39"/>
          <p:cNvSpPr/>
          <p:nvPr/>
        </p:nvSpPr>
        <p:spPr>
          <a:xfrm>
            <a:off x="8659368" y="4636008"/>
            <a:ext cx="2697480" cy="1517904"/>
          </a:xfrm>
          <a:prstGeom prst="rect">
            <a:avLst/>
          </a:prstGeom>
          <a:solidFill>
            <a:srgbClr val="FFFFFF"/>
          </a:solidFill>
          <a:ln w="10160">
            <a:solidFill>
              <a:srgbClr val="CBD5E1"/>
            </a:solidFill>
            <a:prstDash val="solid"/>
          </a:ln>
        </p:spPr>
      </p:sp>
      <p:sp>
        <p:nvSpPr>
          <p:cNvPr id="43" name="Shape 40"/>
          <p:cNvSpPr/>
          <p:nvPr/>
        </p:nvSpPr>
        <p:spPr>
          <a:xfrm>
            <a:off x="8659368" y="4636008"/>
            <a:ext cx="2697480" cy="54864"/>
          </a:xfrm>
          <a:prstGeom prst="rect">
            <a:avLst/>
          </a:prstGeom>
          <a:solidFill>
            <a:srgbClr val="059669"/>
          </a:solidFill>
          <a:ln w="12700">
            <a:solidFill>
              <a:srgbClr val="059669"/>
            </a:solidFill>
            <a:prstDash val="solid"/>
          </a:ln>
        </p:spPr>
      </p:sp>
      <p:sp>
        <p:nvSpPr>
          <p:cNvPr id="44" name="Text 41"/>
          <p:cNvSpPr/>
          <p:nvPr/>
        </p:nvSpPr>
        <p:spPr>
          <a:xfrm>
            <a:off x="8787384" y="4745736"/>
            <a:ext cx="2441448" cy="201168"/>
          </a:xfrm>
          <a:prstGeom prst="rect">
            <a:avLst/>
          </a:prstGeom>
          <a:noFill/>
          <a:ln/>
        </p:spPr>
        <p:txBody>
          <a:bodyPr wrap="square" rtlCol="0" anchor="ctr"/>
          <a:lstStyle/>
          <a:p>
            <a:pPr indent="0" marL="0">
              <a:buNone/>
            </a:pPr>
            <a:r>
              <a:rPr lang="en-US" sz="800" b="1" dirty="0">
                <a:solidFill>
                  <a:srgbClr val="059669"/>
                </a:solidFill>
                <a:latin typeface="Arial" pitchFamily="34" charset="0"/>
                <a:ea typeface="Arial" pitchFamily="34" charset="-122"/>
                <a:cs typeface="Arial" pitchFamily="34" charset="-120"/>
              </a:rPr>
              <a:t>KOLABORASI INDUSTRI MURNI</a:t>
            </a:r>
            <a:endParaRPr lang="en-US" sz="800" dirty="0"/>
          </a:p>
        </p:txBody>
      </p:sp>
      <p:sp>
        <p:nvSpPr>
          <p:cNvPr id="45" name="Text 42"/>
          <p:cNvSpPr/>
          <p:nvPr/>
        </p:nvSpPr>
        <p:spPr>
          <a:xfrm>
            <a:off x="8787384" y="4983480"/>
            <a:ext cx="2441448" cy="365760"/>
          </a:xfrm>
          <a:prstGeom prst="rect">
            <a:avLst/>
          </a:prstGeom>
          <a:noFill/>
          <a:ln/>
        </p:spPr>
        <p:txBody>
          <a:bodyPr wrap="square" rtlCol="0" anchor="ctr"/>
          <a:lstStyle/>
          <a:p>
            <a:pPr indent="0" marL="0">
              <a:buNone/>
            </a:pPr>
            <a:r>
              <a:rPr lang="en-US" sz="1450" b="1" dirty="0">
                <a:solidFill>
                  <a:srgbClr val="0F172A"/>
                </a:solidFill>
                <a:latin typeface="Arial" pitchFamily="34" charset="0"/>
                <a:ea typeface="Arial" pitchFamily="34" charset="-122"/>
                <a:cs typeface="Arial" pitchFamily="34" charset="-120"/>
              </a:rPr>
              <a:t>100% Swasta</a:t>
            </a:r>
            <a:endParaRPr lang="en-US" sz="1450" dirty="0"/>
          </a:p>
        </p:txBody>
      </p:sp>
      <p:sp>
        <p:nvSpPr>
          <p:cNvPr id="46" name="Text 43"/>
          <p:cNvSpPr/>
          <p:nvPr/>
        </p:nvSpPr>
        <p:spPr>
          <a:xfrm>
            <a:off x="8787384" y="5385816"/>
            <a:ext cx="2441448" cy="658368"/>
          </a:xfrm>
          <a:prstGeom prst="rect">
            <a:avLst/>
          </a:prstGeom>
          <a:noFill/>
          <a:ln/>
        </p:spPr>
        <p:txBody>
          <a:bodyPr wrap="square" rtlCol="0" anchor="ctr"/>
          <a:lstStyle/>
          <a:p>
            <a:pPr indent="0" marL="0">
              <a:lnSpc>
                <a:spcPts val="1000"/>
              </a:lnSpc>
              <a:buNone/>
            </a:pPr>
            <a:r>
              <a:rPr lang="en-US" sz="780" dirty="0">
                <a:solidFill>
                  <a:srgbClr val="334155"/>
                </a:solidFill>
                <a:latin typeface="Arial" pitchFamily="34" charset="0"/>
                <a:ea typeface="Arial" pitchFamily="34" charset="-122"/>
                <a:cs typeface="Arial" pitchFamily="34" charset="-120"/>
              </a:rPr>
              <a:t>95+ korporasi dunia berinvestasi tanpa beban belanja APBD.</a:t>
            </a:r>
            <a:endParaRPr lang="en-US" sz="7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31520" y="347472"/>
            <a:ext cx="8686800"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UPTD KST SOLO TECHNOPARK  //  DUKUNGAN KEPEMIMPINAN &amp; KOMITMEN EKSEKUSI</a:t>
            </a:r>
            <a:endParaRPr lang="en-US" sz="850" dirty="0"/>
          </a:p>
        </p:txBody>
      </p:sp>
      <p:sp>
        <p:nvSpPr>
          <p:cNvPr id="3" name="Text 1"/>
          <p:cNvSpPr/>
          <p:nvPr/>
        </p:nvSpPr>
        <p:spPr>
          <a:xfrm>
            <a:off x="9601200" y="347472"/>
            <a:ext cx="1858975" cy="201168"/>
          </a:xfrm>
          <a:prstGeom prst="rect">
            <a:avLst/>
          </a:prstGeom>
          <a:noFill/>
          <a:ln/>
        </p:spPr>
        <p:txBody>
          <a:bodyPr wrap="square" rtlCol="0" anchor="ctr"/>
          <a:lstStyle/>
          <a:p>
            <a:pPr algn="r" indent="0" marL="0">
              <a:buNone/>
            </a:pPr>
            <a:r>
              <a:rPr lang="en-US" sz="900" b="1" dirty="0">
                <a:solidFill>
                  <a:srgbClr val="64748B"/>
                </a:solidFill>
                <a:latin typeface="Arial" pitchFamily="34" charset="0"/>
                <a:ea typeface="Arial" pitchFamily="34" charset="-122"/>
                <a:cs typeface="Arial" pitchFamily="34" charset="-120"/>
              </a:rPr>
              <a:t>12  /  12</a:t>
            </a:r>
            <a:endParaRPr lang="en-US" sz="900" dirty="0"/>
          </a:p>
        </p:txBody>
      </p:sp>
      <p:sp>
        <p:nvSpPr>
          <p:cNvPr id="4" name="Text 2"/>
          <p:cNvSpPr/>
          <p:nvPr/>
        </p:nvSpPr>
        <p:spPr>
          <a:xfrm>
            <a:off x="731520" y="585216"/>
            <a:ext cx="10728655" cy="365760"/>
          </a:xfrm>
          <a:prstGeom prst="rect">
            <a:avLst/>
          </a:prstGeom>
          <a:noFill/>
          <a:ln/>
        </p:spPr>
        <p:txBody>
          <a:bodyPr wrap="square" rtlCol="0" anchor="ctr"/>
          <a:lstStyle/>
          <a:p>
            <a:pPr indent="0" marL="0">
              <a:buNone/>
            </a:pPr>
            <a:r>
              <a:rPr lang="en-US" sz="1800" b="1" dirty="0">
                <a:solidFill>
                  <a:srgbClr val="0F172A"/>
                </a:solidFill>
                <a:latin typeface="Arial" pitchFamily="34" charset="0"/>
                <a:ea typeface="Arial" pitchFamily="34" charset="-122"/>
                <a:cs typeface="Arial" pitchFamily="34" charset="-120"/>
              </a:rPr>
              <a:t>3 PERMOHONAN KEBIJAKAN KEPADA WALIKOTA &amp; RENCANA AKSI 100 HARI</a:t>
            </a:r>
            <a:endParaRPr lang="en-US" sz="1800" dirty="0"/>
          </a:p>
        </p:txBody>
      </p:sp>
      <p:sp>
        <p:nvSpPr>
          <p:cNvPr id="5" name="Text 3"/>
          <p:cNvSpPr/>
          <p:nvPr/>
        </p:nvSpPr>
        <p:spPr>
          <a:xfrm>
            <a:off x="731520" y="950976"/>
            <a:ext cx="10728655" cy="237744"/>
          </a:xfrm>
          <a:prstGeom prst="rect">
            <a:avLst/>
          </a:prstGeom>
          <a:noFill/>
          <a:ln/>
        </p:spPr>
        <p:txBody>
          <a:bodyPr wrap="square" rtlCol="0" anchor="ctr"/>
          <a:lstStyle/>
          <a:p>
            <a:pPr indent="0" marL="0">
              <a:buNone/>
            </a:pPr>
            <a:r>
              <a:rPr lang="en-US" sz="950" i="1" dirty="0">
                <a:solidFill>
                  <a:srgbClr val="334155"/>
                </a:solidFill>
                <a:latin typeface="Arial" pitchFamily="34" charset="0"/>
                <a:ea typeface="Arial" pitchFamily="34" charset="-122"/>
                <a:cs typeface="Arial" pitchFamily="34" charset="-120"/>
              </a:rPr>
              <a:t>Kami Tidak Memohon Tambahan Pagu APBD — Kami Memohon 3 Payung Regulasi Kepemimpinan Walikota</a:t>
            </a:r>
            <a:endParaRPr lang="en-US" sz="950" dirty="0"/>
          </a:p>
        </p:txBody>
      </p:sp>
      <p:sp>
        <p:nvSpPr>
          <p:cNvPr id="6" name="Shape 4"/>
          <p:cNvSpPr/>
          <p:nvPr/>
        </p:nvSpPr>
        <p:spPr>
          <a:xfrm>
            <a:off x="731520" y="1225296"/>
            <a:ext cx="10728655" cy="13716"/>
          </a:xfrm>
          <a:prstGeom prst="rect">
            <a:avLst/>
          </a:prstGeom>
          <a:solidFill>
            <a:srgbClr val="E2E8F0"/>
          </a:solidFill>
          <a:ln w="12700">
            <a:solidFill>
              <a:srgbClr val="E2E8F0"/>
            </a:solidFill>
            <a:prstDash val="solid"/>
          </a:ln>
        </p:spPr>
      </p:sp>
      <p:sp>
        <p:nvSpPr>
          <p:cNvPr id="7" name="Shape 5"/>
          <p:cNvSpPr/>
          <p:nvPr/>
        </p:nvSpPr>
        <p:spPr>
          <a:xfrm>
            <a:off x="731520" y="6419088"/>
            <a:ext cx="10728655" cy="13716"/>
          </a:xfrm>
          <a:prstGeom prst="rect">
            <a:avLst/>
          </a:prstGeom>
          <a:solidFill>
            <a:srgbClr val="E2E8F0"/>
          </a:solidFill>
          <a:ln w="12700">
            <a:solidFill>
              <a:srgbClr val="E2E8F0"/>
            </a:solidFill>
            <a:prstDash val="solid"/>
          </a:ln>
        </p:spPr>
      </p:sp>
      <p:sp>
        <p:nvSpPr>
          <p:cNvPr id="8" name="Text 6"/>
          <p:cNvSpPr/>
          <p:nvPr/>
        </p:nvSpPr>
        <p:spPr>
          <a:xfrm>
            <a:off x="731520" y="6473952"/>
            <a:ext cx="7772400" cy="256032"/>
          </a:xfrm>
          <a:prstGeom prst="rect">
            <a:avLst/>
          </a:prstGeom>
          <a:noFill/>
          <a:ln/>
        </p:spPr>
        <p:txBody>
          <a:bodyPr wrap="square" rtlCol="0" anchor="ctr"/>
          <a:lstStyle/>
          <a:p>
            <a:pPr indent="0" marL="0">
              <a:buNone/>
            </a:pPr>
            <a:r>
              <a:rPr lang="en-US" sz="800" dirty="0">
                <a:solidFill>
                  <a:srgbClr val="64748B"/>
                </a:solidFill>
                <a:latin typeface="Arial" pitchFamily="34" charset="0"/>
                <a:ea typeface="Arial" pitchFamily="34" charset="-122"/>
                <a:cs typeface="Arial" pitchFamily="34" charset="-120"/>
              </a:rPr>
              <a:t>PEMERINTAH KOTA SURAKARTA  •  BADAN RISET DAN INOVASI DAERAH (BRIDA)  •  ROADMAP 2026–2030</a:t>
            </a:r>
            <a:endParaRPr lang="en-US" sz="800" dirty="0"/>
          </a:p>
        </p:txBody>
      </p:sp>
      <p:sp>
        <p:nvSpPr>
          <p:cNvPr id="9" name="Text 7"/>
          <p:cNvSpPr/>
          <p:nvPr/>
        </p:nvSpPr>
        <p:spPr>
          <a:xfrm>
            <a:off x="8686800" y="6473952"/>
            <a:ext cx="2773375" cy="256032"/>
          </a:xfrm>
          <a:prstGeom prst="rect">
            <a:avLst/>
          </a:prstGeom>
          <a:noFill/>
          <a:ln/>
        </p:spPr>
        <p:txBody>
          <a:bodyPr wrap="square" rtlCol="0" anchor="ctr"/>
          <a:lstStyle/>
          <a:p>
            <a:pPr algn="r" indent="0" marL="0">
              <a:buNone/>
            </a:pPr>
            <a:r>
              <a:rPr lang="en-US" sz="800" b="1" dirty="0">
                <a:solidFill>
                  <a:srgbClr val="1E40AF"/>
                </a:solidFill>
                <a:latin typeface="Arial" pitchFamily="34" charset="0"/>
                <a:ea typeface="Arial" pitchFamily="34" charset="-122"/>
                <a:cs typeface="Arial" pitchFamily="34" charset="-120"/>
              </a:rPr>
              <a:t>EDISI EKSEKUTIF ENTERPRISE (V8)</a:t>
            </a:r>
            <a:endParaRPr lang="en-US" sz="800" dirty="0"/>
          </a:p>
        </p:txBody>
      </p:sp>
      <p:sp>
        <p:nvSpPr>
          <p:cNvPr id="10" name="Shape 8"/>
          <p:cNvSpPr/>
          <p:nvPr/>
        </p:nvSpPr>
        <p:spPr>
          <a:xfrm>
            <a:off x="731520" y="1417320"/>
            <a:ext cx="3337560" cy="2560320"/>
          </a:xfrm>
          <a:prstGeom prst="rect">
            <a:avLst/>
          </a:prstGeom>
          <a:solidFill>
            <a:srgbClr val="FFFFFF"/>
          </a:solidFill>
          <a:ln w="10160">
            <a:solidFill>
              <a:srgbClr val="CBD5E1"/>
            </a:solidFill>
            <a:prstDash val="solid"/>
          </a:ln>
        </p:spPr>
      </p:sp>
      <p:sp>
        <p:nvSpPr>
          <p:cNvPr id="11" name="Shape 9"/>
          <p:cNvSpPr/>
          <p:nvPr/>
        </p:nvSpPr>
        <p:spPr>
          <a:xfrm>
            <a:off x="731520" y="1417320"/>
            <a:ext cx="3337560" cy="54864"/>
          </a:xfrm>
          <a:prstGeom prst="rect">
            <a:avLst/>
          </a:prstGeom>
          <a:solidFill>
            <a:srgbClr val="0284C7"/>
          </a:solidFill>
          <a:ln w="12700">
            <a:solidFill>
              <a:srgbClr val="0284C7"/>
            </a:solidFill>
            <a:prstDash val="solid"/>
          </a:ln>
        </p:spPr>
      </p:sp>
      <p:sp>
        <p:nvSpPr>
          <p:cNvPr id="12" name="Text 10"/>
          <p:cNvSpPr/>
          <p:nvPr/>
        </p:nvSpPr>
        <p:spPr>
          <a:xfrm>
            <a:off x="877824" y="1536192"/>
            <a:ext cx="3044952" cy="201168"/>
          </a:xfrm>
          <a:prstGeom prst="rect">
            <a:avLst/>
          </a:prstGeom>
          <a:noFill/>
          <a:ln/>
        </p:spPr>
        <p:txBody>
          <a:bodyPr wrap="square" rtlCol="0" anchor="ctr"/>
          <a:lstStyle/>
          <a:p>
            <a:pPr indent="0" marL="0">
              <a:buNone/>
            </a:pPr>
            <a:r>
              <a:rPr lang="en-US" sz="750" b="1" dirty="0">
                <a:solidFill>
                  <a:srgbClr val="0284C7"/>
                </a:solidFill>
                <a:latin typeface="Arial" pitchFamily="34" charset="0"/>
                <a:ea typeface="Arial" pitchFamily="34" charset="-122"/>
                <a:cs typeface="Arial" pitchFamily="34" charset="-120"/>
              </a:rPr>
              <a:t>PRIORITAS UTAMA // QUICK WIN 30 HARI</a:t>
            </a:r>
            <a:endParaRPr lang="en-US" sz="750" dirty="0"/>
          </a:p>
        </p:txBody>
      </p:sp>
      <p:sp>
        <p:nvSpPr>
          <p:cNvPr id="13" name="Text 11"/>
          <p:cNvSpPr/>
          <p:nvPr/>
        </p:nvSpPr>
        <p:spPr>
          <a:xfrm>
            <a:off x="877824" y="1773936"/>
            <a:ext cx="3044952" cy="347472"/>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PERMOHONAN 1: INSTRUKSI WALIKOTA AFIRMASI e-KATALOG</a:t>
            </a:r>
            <a:endParaRPr lang="en-US" sz="950" dirty="0"/>
          </a:p>
        </p:txBody>
      </p:sp>
      <p:sp>
        <p:nvSpPr>
          <p:cNvPr id="14" name="Text 12"/>
          <p:cNvSpPr/>
          <p:nvPr/>
        </p:nvSpPr>
        <p:spPr>
          <a:xfrm>
            <a:off x="877824" y="2157984"/>
            <a:ext cx="3044952" cy="658368"/>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Mengarahkan seluruh OPD Pemkot memprioritaskan belanja produk teknologi &amp; layanan tenant STP via e-Katalog Lokal.</a:t>
            </a:r>
            <a:endParaRPr lang="en-US" sz="820" dirty="0"/>
          </a:p>
        </p:txBody>
      </p:sp>
      <p:sp>
        <p:nvSpPr>
          <p:cNvPr id="15" name="Shape 13"/>
          <p:cNvSpPr/>
          <p:nvPr/>
        </p:nvSpPr>
        <p:spPr>
          <a:xfrm>
            <a:off x="877824" y="2880360"/>
            <a:ext cx="3044952" cy="402336"/>
          </a:xfrm>
          <a:prstGeom prst="rect">
            <a:avLst/>
          </a:prstGeom>
          <a:solidFill>
            <a:srgbClr val="F1F5F9"/>
          </a:solidFill>
          <a:ln w="10160">
            <a:solidFill>
              <a:srgbClr val="E2E8F0"/>
            </a:solidFill>
            <a:prstDash val="solid"/>
          </a:ln>
        </p:spPr>
      </p:sp>
      <p:sp>
        <p:nvSpPr>
          <p:cNvPr id="16" name="Text 14"/>
          <p:cNvSpPr/>
          <p:nvPr/>
        </p:nvSpPr>
        <p:spPr>
          <a:xfrm>
            <a:off x="932688" y="2907792"/>
            <a:ext cx="2935224" cy="347472"/>
          </a:xfrm>
          <a:prstGeom prst="rect">
            <a:avLst/>
          </a:prstGeom>
          <a:noFill/>
          <a:ln/>
        </p:spPr>
        <p:txBody>
          <a:bodyPr wrap="square" rtlCol="0" anchor="ctr"/>
          <a:lstStyle/>
          <a:p>
            <a:pPr indent="0" marL="0">
              <a:buNone/>
            </a:pPr>
            <a:r>
              <a:rPr lang="en-US" sz="780" b="1" dirty="0">
                <a:solidFill>
                  <a:srgbClr val="0284C7"/>
                </a:solidFill>
                <a:latin typeface="Arial" pitchFamily="34" charset="0"/>
                <a:ea typeface="Arial" pitchFamily="34" charset="-122"/>
                <a:cs typeface="Arial" pitchFamily="34" charset="-120"/>
              </a:rPr>
              <a:t>Target: Rp 2,25 M / Thn di 2030 (80+ Produk Terserap)</a:t>
            </a:r>
            <a:endParaRPr lang="en-US" sz="780" dirty="0"/>
          </a:p>
        </p:txBody>
      </p:sp>
      <p:sp>
        <p:nvSpPr>
          <p:cNvPr id="17" name="Text 15"/>
          <p:cNvSpPr/>
          <p:nvPr/>
        </p:nvSpPr>
        <p:spPr>
          <a:xfrm>
            <a:off x="877824" y="3429000"/>
            <a:ext cx="3044952" cy="411480"/>
          </a:xfrm>
          <a:prstGeom prst="rect">
            <a:avLst/>
          </a:prstGeom>
          <a:noFill/>
          <a:ln/>
        </p:spPr>
        <p:txBody>
          <a:bodyPr wrap="square" rtlCol="0" anchor="ctr"/>
          <a:lstStyle/>
          <a:p>
            <a:pPr indent="0" marL="0">
              <a:buNone/>
            </a:pPr>
            <a:r>
              <a:rPr lang="en-US" sz="750" i="1" dirty="0">
                <a:solidFill>
                  <a:srgbClr val="64748B"/>
                </a:solidFill>
                <a:latin typeface="Arial" pitchFamily="34" charset="0"/>
                <a:ea typeface="Arial" pitchFamily="34" charset="-122"/>
                <a:cs typeface="Arial" pitchFamily="34" charset="-120"/>
              </a:rPr>
              <a:t>⚡ Bisa langsung diterbitkan dalam 30 hari pertama</a:t>
            </a:r>
            <a:endParaRPr lang="en-US" sz="750" dirty="0"/>
          </a:p>
        </p:txBody>
      </p:sp>
      <p:sp>
        <p:nvSpPr>
          <p:cNvPr id="18" name="Shape 16"/>
          <p:cNvSpPr/>
          <p:nvPr/>
        </p:nvSpPr>
        <p:spPr>
          <a:xfrm>
            <a:off x="4425696" y="1417320"/>
            <a:ext cx="3337560" cy="2560320"/>
          </a:xfrm>
          <a:prstGeom prst="rect">
            <a:avLst/>
          </a:prstGeom>
          <a:solidFill>
            <a:srgbClr val="FFFFFF"/>
          </a:solidFill>
          <a:ln w="10160">
            <a:solidFill>
              <a:srgbClr val="CBD5E1"/>
            </a:solidFill>
            <a:prstDash val="solid"/>
          </a:ln>
        </p:spPr>
      </p:sp>
      <p:sp>
        <p:nvSpPr>
          <p:cNvPr id="19" name="Shape 17"/>
          <p:cNvSpPr/>
          <p:nvPr/>
        </p:nvSpPr>
        <p:spPr>
          <a:xfrm>
            <a:off x="4425696" y="1417320"/>
            <a:ext cx="3337560" cy="54864"/>
          </a:xfrm>
          <a:prstGeom prst="rect">
            <a:avLst/>
          </a:prstGeom>
          <a:solidFill>
            <a:srgbClr val="D97706"/>
          </a:solidFill>
          <a:ln w="12700">
            <a:solidFill>
              <a:srgbClr val="D97706"/>
            </a:solidFill>
            <a:prstDash val="solid"/>
          </a:ln>
        </p:spPr>
      </p:sp>
      <p:sp>
        <p:nvSpPr>
          <p:cNvPr id="20" name="Text 18"/>
          <p:cNvSpPr/>
          <p:nvPr/>
        </p:nvSpPr>
        <p:spPr>
          <a:xfrm>
            <a:off x="4572000" y="1536192"/>
            <a:ext cx="3044952" cy="201168"/>
          </a:xfrm>
          <a:prstGeom prst="rect">
            <a:avLst/>
          </a:prstGeom>
          <a:noFill/>
          <a:ln/>
        </p:spPr>
        <p:txBody>
          <a:bodyPr wrap="square" rtlCol="0" anchor="ctr"/>
          <a:lstStyle/>
          <a:p>
            <a:pPr indent="0" marL="0">
              <a:buNone/>
            </a:pPr>
            <a:r>
              <a:rPr lang="en-US" sz="750" b="1" dirty="0">
                <a:solidFill>
                  <a:srgbClr val="D97706"/>
                </a:solidFill>
                <a:latin typeface="Arial" pitchFamily="34" charset="0"/>
                <a:ea typeface="Arial" pitchFamily="34" charset="-122"/>
                <a:cs typeface="Arial" pitchFamily="34" charset="-120"/>
              </a:rPr>
              <a:t>INVESTASI JANGKA PANJANG (10–25 TAHUN)</a:t>
            </a:r>
            <a:endParaRPr lang="en-US" sz="750" dirty="0"/>
          </a:p>
        </p:txBody>
      </p:sp>
      <p:sp>
        <p:nvSpPr>
          <p:cNvPr id="21" name="Text 19"/>
          <p:cNvSpPr/>
          <p:nvPr/>
        </p:nvSpPr>
        <p:spPr>
          <a:xfrm>
            <a:off x="4572000" y="1773936"/>
            <a:ext cx="3044952" cy="347472"/>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PERMOHONAN 2: FLEKSIBILITAS KERJASAMA LAHAN BLUD</a:t>
            </a:r>
            <a:endParaRPr lang="en-US" sz="950" dirty="0"/>
          </a:p>
        </p:txBody>
      </p:sp>
      <p:sp>
        <p:nvSpPr>
          <p:cNvPr id="22" name="Text 20"/>
          <p:cNvSpPr/>
          <p:nvPr/>
        </p:nvSpPr>
        <p:spPr>
          <a:xfrm>
            <a:off x="4572000" y="2157984"/>
            <a:ext cx="3044952" cy="658368"/>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Peraturan Walikota skema Long-Term Revenue Sharing yang fleksibel bagi investor teknologi global di kawasan STP.</a:t>
            </a:r>
            <a:endParaRPr lang="en-US" sz="820" dirty="0"/>
          </a:p>
        </p:txBody>
      </p:sp>
      <p:sp>
        <p:nvSpPr>
          <p:cNvPr id="23" name="Shape 21"/>
          <p:cNvSpPr/>
          <p:nvPr/>
        </p:nvSpPr>
        <p:spPr>
          <a:xfrm>
            <a:off x="4572000" y="2880360"/>
            <a:ext cx="3044952" cy="402336"/>
          </a:xfrm>
          <a:prstGeom prst="rect">
            <a:avLst/>
          </a:prstGeom>
          <a:solidFill>
            <a:srgbClr val="F1F5F9"/>
          </a:solidFill>
          <a:ln w="10160">
            <a:solidFill>
              <a:srgbClr val="E2E8F0"/>
            </a:solidFill>
            <a:prstDash val="solid"/>
          </a:ln>
        </p:spPr>
      </p:sp>
      <p:sp>
        <p:nvSpPr>
          <p:cNvPr id="24" name="Text 22"/>
          <p:cNvSpPr/>
          <p:nvPr/>
        </p:nvSpPr>
        <p:spPr>
          <a:xfrm>
            <a:off x="4626864" y="2907792"/>
            <a:ext cx="2935224" cy="347472"/>
          </a:xfrm>
          <a:prstGeom prst="rect">
            <a:avLst/>
          </a:prstGeom>
          <a:noFill/>
          <a:ln/>
        </p:spPr>
        <p:txBody>
          <a:bodyPr wrap="square" rtlCol="0" anchor="ctr"/>
          <a:lstStyle/>
          <a:p>
            <a:pPr indent="0" marL="0">
              <a:buNone/>
            </a:pPr>
            <a:r>
              <a:rPr lang="en-US" sz="780" b="1" dirty="0">
                <a:solidFill>
                  <a:srgbClr val="D97706"/>
                </a:solidFill>
                <a:latin typeface="Arial" pitchFamily="34" charset="0"/>
                <a:ea typeface="Arial" pitchFamily="34" charset="-122"/>
                <a:cs typeface="Arial" pitchFamily="34" charset="-120"/>
              </a:rPr>
              <a:t>Target: Menarik 3–5 Investor Baru Tanpa Beban APBD</a:t>
            </a:r>
            <a:endParaRPr lang="en-US" sz="780" dirty="0"/>
          </a:p>
        </p:txBody>
      </p:sp>
      <p:sp>
        <p:nvSpPr>
          <p:cNvPr id="25" name="Text 23"/>
          <p:cNvSpPr/>
          <p:nvPr/>
        </p:nvSpPr>
        <p:spPr>
          <a:xfrm>
            <a:off x="4572000" y="3429000"/>
            <a:ext cx="3044952" cy="411480"/>
          </a:xfrm>
          <a:prstGeom prst="rect">
            <a:avLst/>
          </a:prstGeom>
          <a:noFill/>
          <a:ln/>
        </p:spPr>
        <p:txBody>
          <a:bodyPr wrap="square" rtlCol="0" anchor="ctr"/>
          <a:lstStyle/>
          <a:p>
            <a:pPr indent="0" marL="0">
              <a:buNone/>
            </a:pPr>
            <a:r>
              <a:rPr lang="en-US" sz="750" i="1" dirty="0">
                <a:solidFill>
                  <a:srgbClr val="64748B"/>
                </a:solidFill>
                <a:latin typeface="Arial" pitchFamily="34" charset="0"/>
                <a:ea typeface="Arial" pitchFamily="34" charset="-122"/>
                <a:cs typeface="Arial" pitchFamily="34" charset="-120"/>
              </a:rPr>
              <a:t>⚡ Harmonisasi bersama BPKAD &amp; Bagian Hukum Setda</a:t>
            </a:r>
            <a:endParaRPr lang="en-US" sz="750" dirty="0"/>
          </a:p>
        </p:txBody>
      </p:sp>
      <p:sp>
        <p:nvSpPr>
          <p:cNvPr id="26" name="Shape 24"/>
          <p:cNvSpPr/>
          <p:nvPr/>
        </p:nvSpPr>
        <p:spPr>
          <a:xfrm>
            <a:off x="8119872" y="1417320"/>
            <a:ext cx="3337560" cy="2560320"/>
          </a:xfrm>
          <a:prstGeom prst="rect">
            <a:avLst/>
          </a:prstGeom>
          <a:solidFill>
            <a:srgbClr val="FFFFFF"/>
          </a:solidFill>
          <a:ln w="10160">
            <a:solidFill>
              <a:srgbClr val="CBD5E1"/>
            </a:solidFill>
            <a:prstDash val="solid"/>
          </a:ln>
        </p:spPr>
      </p:sp>
      <p:sp>
        <p:nvSpPr>
          <p:cNvPr id="27" name="Shape 25"/>
          <p:cNvSpPr/>
          <p:nvPr/>
        </p:nvSpPr>
        <p:spPr>
          <a:xfrm>
            <a:off x="8119872" y="1417320"/>
            <a:ext cx="3337560" cy="54864"/>
          </a:xfrm>
          <a:prstGeom prst="rect">
            <a:avLst/>
          </a:prstGeom>
          <a:solidFill>
            <a:srgbClr val="059669"/>
          </a:solidFill>
          <a:ln w="12700">
            <a:solidFill>
              <a:srgbClr val="059669"/>
            </a:solidFill>
            <a:prstDash val="solid"/>
          </a:ln>
        </p:spPr>
      </p:sp>
      <p:sp>
        <p:nvSpPr>
          <p:cNvPr id="28" name="Text 26"/>
          <p:cNvSpPr/>
          <p:nvPr/>
        </p:nvSpPr>
        <p:spPr>
          <a:xfrm>
            <a:off x="8266176" y="1536192"/>
            <a:ext cx="3044952" cy="201168"/>
          </a:xfrm>
          <a:prstGeom prst="rect">
            <a:avLst/>
          </a:prstGeom>
          <a:noFill/>
          <a:ln/>
        </p:spPr>
        <p:txBody>
          <a:bodyPr wrap="square" rtlCol="0" anchor="ctr"/>
          <a:lstStyle/>
          <a:p>
            <a:pPr indent="0" marL="0">
              <a:buNone/>
            </a:pPr>
            <a:r>
              <a:rPr lang="en-US" sz="750" b="1" dirty="0">
                <a:solidFill>
                  <a:srgbClr val="059669"/>
                </a:solidFill>
                <a:latin typeface="Arial" pitchFamily="34" charset="0"/>
                <a:ea typeface="Arial" pitchFamily="34" charset="-122"/>
                <a:cs typeface="Arial" pitchFamily="34" charset="-120"/>
              </a:rPr>
              <a:t>KONSORSIUM RISET 5 KAMPUS SOLO RAYA</a:t>
            </a:r>
            <a:endParaRPr lang="en-US" sz="750" dirty="0"/>
          </a:p>
        </p:txBody>
      </p:sp>
      <p:sp>
        <p:nvSpPr>
          <p:cNvPr id="29" name="Text 27"/>
          <p:cNvSpPr/>
          <p:nvPr/>
        </p:nvSpPr>
        <p:spPr>
          <a:xfrm>
            <a:off x="8266176" y="1773936"/>
            <a:ext cx="3044952" cy="347472"/>
          </a:xfrm>
          <a:prstGeom prst="rect">
            <a:avLst/>
          </a:prstGeom>
          <a:noFill/>
          <a:ln/>
        </p:spPr>
        <p:txBody>
          <a:bodyPr wrap="square" rtlCol="0" anchor="ctr"/>
          <a:lstStyle/>
          <a:p>
            <a:pPr indent="0" marL="0">
              <a:buNone/>
            </a:pPr>
            <a:r>
              <a:rPr lang="en-US" sz="950" b="1" dirty="0">
                <a:solidFill>
                  <a:srgbClr val="0F172A"/>
                </a:solidFill>
                <a:latin typeface="Arial" pitchFamily="34" charset="0"/>
                <a:ea typeface="Arial" pitchFamily="34" charset="-122"/>
                <a:cs typeface="Arial" pitchFamily="34" charset="-120"/>
              </a:rPr>
              <a:t>PERMOHONAN 3: SURAT EDARAN KONSORSIUM RISET DAERAH</a:t>
            </a:r>
            <a:endParaRPr lang="en-US" sz="950" dirty="0"/>
          </a:p>
        </p:txBody>
      </p:sp>
      <p:sp>
        <p:nvSpPr>
          <p:cNvPr id="30" name="Text 28"/>
          <p:cNvSpPr/>
          <p:nvPr/>
        </p:nvSpPr>
        <p:spPr>
          <a:xfrm>
            <a:off x="8266176" y="2157984"/>
            <a:ext cx="3044952" cy="658368"/>
          </a:xfrm>
          <a:prstGeom prst="rect">
            <a:avLst/>
          </a:prstGeom>
          <a:noFill/>
          <a:ln/>
        </p:spPr>
        <p:txBody>
          <a:bodyPr wrap="square" rtlCol="0" anchor="ctr"/>
          <a:lstStyle/>
          <a:p>
            <a:pPr indent="0" marL="0">
              <a:lnSpc>
                <a:spcPts val="1100"/>
              </a:lnSpc>
              <a:buNone/>
            </a:pPr>
            <a:r>
              <a:rPr lang="en-US" sz="820" dirty="0">
                <a:solidFill>
                  <a:srgbClr val="334155"/>
                </a:solidFill>
                <a:latin typeface="Arial" pitchFamily="34" charset="0"/>
                <a:ea typeface="Arial" pitchFamily="34" charset="-122"/>
                <a:cs typeface="Arial" pitchFamily="34" charset="-120"/>
              </a:rPr>
              <a:t>Mendorong perguruan tinggi (UNS, UMS, ISI, Poltek) mengarahkan minimal 30% riset terapan menyelesaikan problem kota di STP.</a:t>
            </a:r>
            <a:endParaRPr lang="en-US" sz="820" dirty="0"/>
          </a:p>
        </p:txBody>
      </p:sp>
      <p:sp>
        <p:nvSpPr>
          <p:cNvPr id="31" name="Shape 29"/>
          <p:cNvSpPr/>
          <p:nvPr/>
        </p:nvSpPr>
        <p:spPr>
          <a:xfrm>
            <a:off x="8266176" y="2880360"/>
            <a:ext cx="3044952" cy="402336"/>
          </a:xfrm>
          <a:prstGeom prst="rect">
            <a:avLst/>
          </a:prstGeom>
          <a:solidFill>
            <a:srgbClr val="F1F5F9"/>
          </a:solidFill>
          <a:ln w="10160">
            <a:solidFill>
              <a:srgbClr val="E2E8F0"/>
            </a:solidFill>
            <a:prstDash val="solid"/>
          </a:ln>
        </p:spPr>
      </p:sp>
      <p:sp>
        <p:nvSpPr>
          <p:cNvPr id="32" name="Text 30"/>
          <p:cNvSpPr/>
          <p:nvPr/>
        </p:nvSpPr>
        <p:spPr>
          <a:xfrm>
            <a:off x="8321040" y="2907792"/>
            <a:ext cx="2935224" cy="347472"/>
          </a:xfrm>
          <a:prstGeom prst="rect">
            <a:avLst/>
          </a:prstGeom>
          <a:noFill/>
          <a:ln/>
        </p:spPr>
        <p:txBody>
          <a:bodyPr wrap="square" rtlCol="0" anchor="ctr"/>
          <a:lstStyle/>
          <a:p>
            <a:pPr indent="0" marL="0">
              <a:buNone/>
            </a:pPr>
            <a:r>
              <a:rPr lang="en-US" sz="780" b="1" dirty="0">
                <a:solidFill>
                  <a:srgbClr val="059669"/>
                </a:solidFill>
                <a:latin typeface="Arial" pitchFamily="34" charset="0"/>
                <a:ea typeface="Arial" pitchFamily="34" charset="-122"/>
                <a:cs typeface="Arial" pitchFamily="34" charset="-120"/>
              </a:rPr>
              <a:t>Target: 5 Kampus Mitra, 30 Klaster Riset Terapan</a:t>
            </a:r>
            <a:endParaRPr lang="en-US" sz="780" dirty="0"/>
          </a:p>
        </p:txBody>
      </p:sp>
      <p:sp>
        <p:nvSpPr>
          <p:cNvPr id="33" name="Text 31"/>
          <p:cNvSpPr/>
          <p:nvPr/>
        </p:nvSpPr>
        <p:spPr>
          <a:xfrm>
            <a:off x="8266176" y="3429000"/>
            <a:ext cx="3044952" cy="411480"/>
          </a:xfrm>
          <a:prstGeom prst="rect">
            <a:avLst/>
          </a:prstGeom>
          <a:noFill/>
          <a:ln/>
        </p:spPr>
        <p:txBody>
          <a:bodyPr wrap="square" rtlCol="0" anchor="ctr"/>
          <a:lstStyle/>
          <a:p>
            <a:pPr indent="0" marL="0">
              <a:buNone/>
            </a:pPr>
            <a:r>
              <a:rPr lang="en-US" sz="750" i="1" dirty="0">
                <a:solidFill>
                  <a:srgbClr val="64748B"/>
                </a:solidFill>
                <a:latin typeface="Arial" pitchFamily="34" charset="0"/>
                <a:ea typeface="Arial" pitchFamily="34" charset="-122"/>
                <a:cs typeface="Arial" pitchFamily="34" charset="-120"/>
              </a:rPr>
              <a:t>⚡ Penyusunan MoU bersama 5 Rektor Solo Raya</a:t>
            </a:r>
            <a:endParaRPr lang="en-US" sz="750" dirty="0"/>
          </a:p>
        </p:txBody>
      </p:sp>
      <p:sp>
        <p:nvSpPr>
          <p:cNvPr id="34" name="Shape 32"/>
          <p:cNvSpPr/>
          <p:nvPr/>
        </p:nvSpPr>
        <p:spPr>
          <a:xfrm>
            <a:off x="731520" y="4160520"/>
            <a:ext cx="10728655" cy="2103120"/>
          </a:xfrm>
          <a:prstGeom prst="rect">
            <a:avLst/>
          </a:prstGeom>
          <a:solidFill>
            <a:srgbClr val="FFFFFF"/>
          </a:solidFill>
          <a:ln w="10160">
            <a:solidFill>
              <a:srgbClr val="CBD5E1"/>
            </a:solidFill>
            <a:prstDash val="solid"/>
          </a:ln>
        </p:spPr>
      </p:sp>
      <p:sp>
        <p:nvSpPr>
          <p:cNvPr id="35" name="Shape 33"/>
          <p:cNvSpPr/>
          <p:nvPr/>
        </p:nvSpPr>
        <p:spPr>
          <a:xfrm>
            <a:off x="731520" y="4160520"/>
            <a:ext cx="10728655" cy="54864"/>
          </a:xfrm>
          <a:prstGeom prst="rect">
            <a:avLst/>
          </a:prstGeom>
          <a:solidFill>
            <a:srgbClr val="1E40AF"/>
          </a:solidFill>
          <a:ln w="12700">
            <a:solidFill>
              <a:srgbClr val="1E40AF"/>
            </a:solidFill>
            <a:prstDash val="solid"/>
          </a:ln>
        </p:spPr>
      </p:sp>
      <p:sp>
        <p:nvSpPr>
          <p:cNvPr id="36" name="Text 34"/>
          <p:cNvSpPr/>
          <p:nvPr/>
        </p:nvSpPr>
        <p:spPr>
          <a:xfrm>
            <a:off x="914400" y="4251960"/>
            <a:ext cx="10362895" cy="201168"/>
          </a:xfrm>
          <a:prstGeom prst="rect">
            <a:avLst/>
          </a:prstGeom>
          <a:noFill/>
          <a:ln/>
        </p:spPr>
        <p:txBody>
          <a:bodyPr wrap="square" rtlCol="0" anchor="ctr"/>
          <a:lstStyle/>
          <a:p>
            <a:pPr indent="0" marL="0">
              <a:buNone/>
            </a:pPr>
            <a:r>
              <a:rPr lang="en-US" sz="850" b="1" dirty="0">
                <a:solidFill>
                  <a:srgbClr val="1E40AF"/>
                </a:solidFill>
                <a:latin typeface="Arial" pitchFamily="34" charset="0"/>
                <a:ea typeface="Arial" pitchFamily="34" charset="-122"/>
                <a:cs typeface="Arial" pitchFamily="34" charset="-120"/>
              </a:rPr>
              <a:t>RENCANA AKSI 100 HARI PERTAMA (QUICK WINS PASCA-ARAHAN WALIKOTA SURAKARTA):</a:t>
            </a:r>
            <a:endParaRPr lang="en-US" sz="8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914400" y="4498848"/>
          <a:ext cx="10362895" cy="1691640"/>
        </p:xfrm>
        <a:graphic>
          <a:graphicData uri="http://schemas.openxmlformats.org/drawingml/2006/table">
            <a:tbl>
              <a:tblPr/>
              <a:tblGrid>
                <a:gridCol w="1280160"/>
                <a:gridCol w="3474720"/>
                <a:gridCol w="5608015"/>
              </a:tblGrid>
              <a:tr h="237744">
                <a:tc>
                  <a:txBody>
                    <a:bodyPr/>
                    <a:lstStyle/>
                    <a:p>
                      <a:pPr algn="ctr" indent="0" marL="0">
                        <a:buNone/>
                      </a:pPr>
                      <a:r>
                        <a:rPr lang="en-US" sz="820" b="1" dirty="0">
                          <a:solidFill>
                            <a:srgbClr val="0F172A"/>
                          </a:solidFill>
                          <a:latin typeface="Arial" pitchFamily="34" charset="0"/>
                          <a:ea typeface="Arial" pitchFamily="34" charset="-122"/>
                          <a:cs typeface="Arial" pitchFamily="34" charset="-120"/>
                        </a:rPr>
                        <a:t>PERIODE</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AGENDA STRATEGIS</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820" b="1" dirty="0">
                          <a:solidFill>
                            <a:srgbClr val="0F172A"/>
                          </a:solidFill>
                          <a:latin typeface="Arial" pitchFamily="34" charset="0"/>
                          <a:ea typeface="Arial" pitchFamily="34" charset="-122"/>
                          <a:cs typeface="Arial" pitchFamily="34" charset="-120"/>
                        </a:rPr>
                        <a:t>OUTPUT KONKRET &amp; TARGET KEBERHASILAN</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1F5F9"/>
                    </a:solidFill>
                  </a:tcPr>
                </a:tc>
              </a:tr>
              <a:tr h="228600">
                <a:tc>
                  <a:txBody>
                    <a:bodyPr/>
                    <a:lstStyle/>
                    <a:p>
                      <a:pPr algn="ctr" indent="0" marL="0">
                        <a:buNone/>
                      </a:pPr>
                      <a:r>
                        <a:rPr lang="en-US" sz="820" b="1" dirty="0">
                          <a:solidFill>
                            <a:srgbClr val="1E40AF"/>
                          </a:solidFill>
                          <a:latin typeface="Arial" pitchFamily="34" charset="0"/>
                          <a:ea typeface="Arial" pitchFamily="34" charset="-122"/>
                          <a:cs typeface="Arial" pitchFamily="34" charset="-120"/>
                        </a:rPr>
                        <a:t>Hari 1–10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Penyusunan Draf Instruksi Walikota e-Katalog</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Draf Inkwal Afirmatif siap harmonisasi bersama Bagian Hukum Setda &amp; BPKAD.</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228600">
                <a:tc>
                  <a:txBody>
                    <a:bodyPr/>
                    <a:lstStyle/>
                    <a:p>
                      <a:pPr algn="ctr" indent="0" marL="0">
                        <a:buNone/>
                      </a:pPr>
                      <a:r>
                        <a:rPr lang="en-US" sz="820" b="1" dirty="0">
                          <a:solidFill>
                            <a:srgbClr val="D97706"/>
                          </a:solidFill>
                          <a:latin typeface="Arial" pitchFamily="34" charset="0"/>
                          <a:ea typeface="Arial" pitchFamily="34" charset="-122"/>
                          <a:cs typeface="Arial" pitchFamily="34" charset="-120"/>
                        </a:rPr>
                        <a:t>Hari 11–30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EF3C7"/>
                    </a:solidFill>
                  </a:tcPr>
                </a:tc>
                <a:tc>
                  <a:txBody>
                    <a:bodyPr/>
                    <a:lstStyle/>
                    <a:p>
                      <a:pPr indent="0" marL="0">
                        <a:buNone/>
                      </a:pPr>
                      <a:r>
                        <a:rPr lang="en-US" sz="820" b="1" dirty="0">
                          <a:solidFill>
                            <a:srgbClr val="D97706"/>
                          </a:solidFill>
                          <a:latin typeface="Arial" pitchFamily="34" charset="0"/>
                          <a:ea typeface="Arial" pitchFamily="34" charset="-122"/>
                          <a:cs typeface="Arial" pitchFamily="34" charset="-120"/>
                        </a:rPr>
                        <a:t>Harmonisasi &amp; Penerbitan Instruksi Walikota</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EF3C7"/>
                    </a:solidFill>
                  </a:tcPr>
                </a:tc>
                <a:tc>
                  <a:txBody>
                    <a:bodyPr/>
                    <a:lstStyle/>
                    <a:p>
                      <a:pPr indent="0" marL="0">
                        <a:buNone/>
                      </a:pPr>
                      <a:r>
                        <a:rPr lang="en-US" sz="820" b="1" dirty="0">
                          <a:solidFill>
                            <a:srgbClr val="D97706"/>
                          </a:solidFill>
                          <a:latin typeface="Arial" pitchFamily="34" charset="0"/>
                          <a:ea typeface="Arial" pitchFamily="34" charset="-122"/>
                          <a:cs typeface="Arial" pitchFamily="34" charset="-120"/>
                        </a:rPr>
                        <a:t>Inkwal ditandatangani Walikota; Sosialisasi ke seluruh OPD prioritas Pemkot.</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EF3C7"/>
                    </a:solidFill>
                  </a:tcPr>
                </a:tc>
              </a:tr>
              <a:tr h="228600">
                <a:tc>
                  <a:txBody>
                    <a:bodyPr/>
                    <a:lstStyle/>
                    <a:p>
                      <a:pPr algn="ctr" indent="0" marL="0">
                        <a:buNone/>
                      </a:pPr>
                      <a:r>
                        <a:rPr lang="en-US" sz="820" b="1" dirty="0">
                          <a:solidFill>
                            <a:srgbClr val="1E40AF"/>
                          </a:solidFill>
                          <a:latin typeface="Arial" pitchFamily="34" charset="0"/>
                          <a:ea typeface="Arial" pitchFamily="34" charset="-122"/>
                          <a:cs typeface="Arial" pitchFamily="34" charset="-120"/>
                        </a:rPr>
                        <a:t>Hari 31–50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Kurasi &amp; Seleksi 5 Produk Inovasi Unggulan</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Katalog 5 Produk Unggulan Hilirisasi STP (Smart Agri IoT, Alkes, Mesin Sortasi).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228600">
                <a:tc>
                  <a:txBody>
                    <a:bodyPr/>
                    <a:lstStyle/>
                    <a:p>
                      <a:pPr algn="ctr" indent="0" marL="0">
                        <a:buNone/>
                      </a:pPr>
                      <a:r>
                        <a:rPr lang="en-US" sz="820" b="1" dirty="0">
                          <a:solidFill>
                            <a:srgbClr val="1E40AF"/>
                          </a:solidFill>
                          <a:latin typeface="Arial" pitchFamily="34" charset="0"/>
                          <a:ea typeface="Arial" pitchFamily="34" charset="-122"/>
                          <a:cs typeface="Arial" pitchFamily="34" charset="-120"/>
                        </a:rPr>
                        <a:t>Hari 51–60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Showcase Inovasi di Depan Walikota &amp; OPD</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Demonstrasi produk di hadapan Walikota &amp; media; komitmen serapan perdana OPD.</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228600">
                <a:tc>
                  <a:txBody>
                    <a:bodyPr/>
                    <a:lstStyle/>
                    <a:p>
                      <a:pPr algn="ctr" indent="0" marL="0">
                        <a:buNone/>
                      </a:pPr>
                      <a:r>
                        <a:rPr lang="en-US" sz="820" b="1" dirty="0">
                          <a:solidFill>
                            <a:srgbClr val="1E40AF"/>
                          </a:solidFill>
                          <a:latin typeface="Arial" pitchFamily="34" charset="0"/>
                          <a:ea typeface="Arial" pitchFamily="34" charset="-122"/>
                          <a:cs typeface="Arial" pitchFamily="34" charset="-120"/>
                        </a:rPr>
                        <a:t>Hari 61–80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Inisiasi Konsorsium Riset 5 Perguruan Tinggi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820" dirty="0">
                          <a:solidFill>
                            <a:srgbClr val="334155"/>
                          </a:solidFill>
                          <a:latin typeface="Arial" pitchFamily="34" charset="0"/>
                          <a:ea typeface="Arial" pitchFamily="34" charset="-122"/>
                          <a:cs typeface="Arial" pitchFamily="34" charset="-120"/>
                        </a:rPr>
                        <a:t>MoU Pra-Konsorsium bersama Rektor UNS, UMS, ISI, Poltek Solo Raya.</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FFFFFF"/>
                    </a:solidFill>
                  </a:tcPr>
                </a:tc>
              </a:tr>
              <a:tr h="228600">
                <a:tc>
                  <a:txBody>
                    <a:bodyPr/>
                    <a:lstStyle/>
                    <a:p>
                      <a:pPr algn="ctr" indent="0" marL="0">
                        <a:buNone/>
                      </a:pPr>
                      <a:r>
                        <a:rPr lang="en-US" sz="820" b="1" dirty="0">
                          <a:solidFill>
                            <a:srgbClr val="059669"/>
                          </a:solidFill>
                          <a:latin typeface="Arial" pitchFamily="34" charset="0"/>
                          <a:ea typeface="Arial" pitchFamily="34" charset="-122"/>
                          <a:cs typeface="Arial" pitchFamily="34" charset="-120"/>
                        </a:rPr>
                        <a:t>Hari 81–100</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D1FAE5"/>
                    </a:solidFill>
                  </a:tcPr>
                </a:tc>
                <a:tc>
                  <a:txBody>
                    <a:bodyPr/>
                    <a:lstStyle/>
                    <a:p>
                      <a:pPr indent="0" marL="0">
                        <a:buNone/>
                      </a:pPr>
                      <a:r>
                        <a:rPr lang="en-US" sz="820" b="1" dirty="0">
                          <a:solidFill>
                            <a:srgbClr val="059669"/>
                          </a:solidFill>
                          <a:latin typeface="Arial" pitchFamily="34" charset="0"/>
                          <a:ea typeface="Arial" pitchFamily="34" charset="-122"/>
                          <a:cs typeface="Arial" pitchFamily="34" charset="-120"/>
                        </a:rPr>
                        <a:t>Launching Resmi Konsorsium &amp; Hilirisasi Inovasi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D1FAE5"/>
                    </a:solidFill>
                  </a:tcPr>
                </a:tc>
                <a:tc>
                  <a:txBody>
                    <a:bodyPr/>
                    <a:lstStyle/>
                    <a:p>
                      <a:pPr indent="0" marL="0">
                        <a:buNone/>
                      </a:pPr>
                      <a:r>
                        <a:rPr lang="en-US" sz="820" b="1" dirty="0">
                          <a:solidFill>
                            <a:srgbClr val="059669"/>
                          </a:solidFill>
                          <a:latin typeface="Arial" pitchFamily="34" charset="0"/>
                          <a:ea typeface="Arial" pitchFamily="34" charset="-122"/>
                          <a:cs typeface="Arial" pitchFamily="34" charset="-120"/>
                        </a:rPr>
                        <a:t>Penandatanganan MoU Riset Terapan bersama Kadin/Apindo di STP; kick-off hilirisasi.</a:t>
                      </a:r>
                      <a:endParaRPr lang="en-US" sz="820" dirty="0">
                        <a:latin typeface="Arial" charset="0"/>
                        <a:ea typeface="Arial" charset="0"/>
                        <a:cs typeface="Arial" charset="0"/>
                      </a:endParaRPr>
                    </a:p>
                  </a:txBody>
                  <a:tcPr marL="91440" marR="91440" marT="45720" marB="45720" anchor="ct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D1FAE5"/>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Pemerintah Kota Surakarta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Solo Technopark: Dari Kawasan Sains Menuju Mesin Impact Daerah (V8 - Swiss Enterprise White Edition)</dc:title>
  <dc:subject>Bahan Paparan Resmi Walikota Surakarta 2026–2030 (Edisi Eksekutif V8 Clean Enterprise)</dc:subject>
  <dc:creator>UPTD KST Solo Technopark &amp; BRIDA Kota Surakarta</dc:creator>
  <cp:lastModifiedBy>UPTD KST Solo Technopark &amp; BRIDA Kota Surakarta</cp:lastModifiedBy>
  <cp:revision>1</cp:revision>
  <dcterms:created xsi:type="dcterms:W3CDTF">2026-09-11T05:19:18Z</dcterms:created>
  <dcterms:modified xsi:type="dcterms:W3CDTF">2026-09-11T05:19:18Z</dcterms:modified>
</cp:coreProperties>
</file>