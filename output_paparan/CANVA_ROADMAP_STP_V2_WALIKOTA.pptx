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 World" charset="1" panose="020B0500040000020004"/>
      <p:regular r:id="rId17"/>
    </p:embeddedFont>
    <p:embeddedFont>
      <p:font typeface="Georgia Pro Condensed" charset="1" panose="02040506050405020303"/>
      <p:regular r:id="rId18"/>
    </p:embeddedFont>
    <p:embeddedFont>
      <p:font typeface="Helvetica World Bold" charset="1" panose="020B080004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070D1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[Nama Presenter]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879818"/>
            <a:ext cx="9754495" cy="393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125"/>
              </a:lnSpc>
            </a:pPr>
            <a:r>
              <a:rPr lang="en-US" sz="10125" spc="-354" strike="noStrike" u="none">
                <a:solidFill>
                  <a:srgbClr val="070D1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STRATEGI INOVATIF PENGEMBANGAN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8BD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70D1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4895850"/>
            <a:chOff x="0" y="0"/>
            <a:chExt cx="17259300" cy="65278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3455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59E0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Sinergi Kelembagaan BRIDA-STP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9498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Peran Strategis dan Harmonisasi Kelembagaan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217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BRIDA berfungsi sebagai perumus kebijakan, sedangkan STP adalah unit eksekusi operasional, menciptakan sinergi yang efektif dalam mendorong hilirisasi riset dan inovasi di Kota Surakarta.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8BDF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308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070D1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Empat Pilar Layanan Terintegrasi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Inkubasi Bisnis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Fasilitasi startup dan pengembangan produk inovasi.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8BD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8BD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8BD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370648"/>
            <a:chOff x="0" y="0"/>
            <a:chExt cx="9182100" cy="18275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Pengembangan Teknologi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Jasa rekayasa industri dan pengujian laboratorium.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Layanan Teknis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Diklat vokasi spesialis untuk industri terkini.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8BD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70D1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59E0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Pipeline Hilirisasi Riset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Dari Laboratorium Kampus Menuju Pasar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197100"/>
            <a:chOff x="0" y="0"/>
            <a:chExt cx="7670800" cy="2929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Rantai Nilai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Rantai nilai hilirisasi mengubah riset terapan menjadi produk yang siap dipasarkan, memastikan inovasi kampus memiliki dampak ekonomi langsung dan relevansi industri.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549525"/>
            <a:chOff x="0" y="0"/>
            <a:chExt cx="7264400" cy="33993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Solusi Nyata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2319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Dengan fokus pada pengembangan produk inovatif seperti Smart Agriculture IoT dan autonomous vehicle, Solo Technopark berkomitmen untuk menjembatani kesenjangan antara riset dan pasar.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2908300"/>
            <a:ext cx="5448300" cy="6711950"/>
            <a:chOff x="0" y="0"/>
            <a:chExt cx="1434943" cy="17677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2908300"/>
            <a:ext cx="5448300" cy="6711950"/>
            <a:chOff x="0" y="0"/>
            <a:chExt cx="1434943" cy="17677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2908300"/>
            <a:ext cx="5448300" cy="6711950"/>
            <a:chOff x="0" y="0"/>
            <a:chExt cx="1434943" cy="17677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4943" cy="1767756"/>
            </a:xfrm>
            <a:custGeom>
              <a:avLst/>
              <a:gdLst/>
              <a:ahLst/>
              <a:cxnLst/>
              <a:rect r="r" b="b" t="t" l="l"/>
              <a:pathLst>
                <a:path h="1767756" w="1434943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6053" y="4248150"/>
            <a:ext cx="4649694" cy="3581400"/>
            <a:chOff x="0" y="0"/>
            <a:chExt cx="1259398" cy="9700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260" t="0" r="-26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819153" y="4248150"/>
            <a:ext cx="4649694" cy="3581400"/>
            <a:chOff x="0" y="0"/>
            <a:chExt cx="1259398" cy="9700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260" t="0" r="-26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572253" y="4248150"/>
            <a:ext cx="4649694" cy="3581400"/>
            <a:chOff x="0" y="0"/>
            <a:chExt cx="1259398" cy="970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9398" cy="970044"/>
            </a:xfrm>
            <a:custGeom>
              <a:avLst/>
              <a:gdLst/>
              <a:ahLst/>
              <a:cxnLst/>
              <a:rect r="r" b="b" t="t" l="l"/>
              <a:pathLst>
                <a:path h="970044" w="1259398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260" t="0" r="-26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1783" y="8292521"/>
            <a:ext cx="4738234" cy="78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1"/>
              </a:lnSpc>
            </a:pPr>
            <a:r>
              <a:rPr lang="en-US" b="true" sz="1494" spc="-22">
                <a:solidFill>
                  <a:srgbClr val="070D1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95+ international corporations</a:t>
            </a:r>
            <a:r>
              <a:rPr lang="en-US" sz="1494" spc="-22">
                <a:solidFill>
                  <a:srgbClr val="070D1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collaborate with Solo Technopark, enhancing technology and innovation in the region.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1066" y="3381375"/>
            <a:ext cx="4699667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070D1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Mitra Teknologi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73192" y="8292521"/>
            <a:ext cx="4741615" cy="504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1"/>
              </a:lnSpc>
            </a:pPr>
            <a:r>
              <a:rPr lang="en-US" sz="1494" spc="-22">
                <a:solidFill>
                  <a:srgbClr val="070D1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Strategic investments boost local initiatives, driving innovation and sustainable growth in Surakarta's economy.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73192" y="3381375"/>
            <a:ext cx="4741615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  <a:spcBef>
                <a:spcPct val="0"/>
              </a:spcBef>
            </a:pPr>
            <a:r>
              <a:rPr lang="en-US" sz="3800" spc="-95" strike="noStrike" u="none">
                <a:solidFill>
                  <a:srgbClr val="070D1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Investasi Strategis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51109" y="8291369"/>
            <a:ext cx="4691983" cy="52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1"/>
              </a:lnSpc>
            </a:pPr>
            <a:r>
              <a:rPr lang="en-US" sz="1494" spc="-22">
                <a:solidFill>
                  <a:srgbClr val="070D1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Community engagement fosters startup growth, benefiting over </a:t>
            </a:r>
            <a:r>
              <a:rPr lang="en-US" b="true" sz="1494" spc="-22">
                <a:solidFill>
                  <a:srgbClr val="070D1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9,000 jobs</a:t>
            </a:r>
            <a:r>
              <a:rPr lang="en-US" sz="1494" spc="-22">
                <a:solidFill>
                  <a:srgbClr val="070D1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local residents in Surakarta.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551109" y="3381375"/>
            <a:ext cx="4691983" cy="54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80"/>
              </a:lnSpc>
            </a:pPr>
            <a:r>
              <a:rPr lang="en-US" sz="3800" spc="-95">
                <a:solidFill>
                  <a:srgbClr val="070D1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Dampak Sosial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 spc="-200">
                <a:solidFill>
                  <a:srgbClr val="F59E0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Ekosistem Kolaborasi Global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38BDF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070D1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Analisis Gap Strategis &amp; Solusi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96400" y="65722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8BD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513397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8BD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734675" y="666750"/>
            <a:ext cx="6886575" cy="2599373"/>
            <a:chOff x="0" y="0"/>
            <a:chExt cx="9182100" cy="346583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Gap SDM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04714"/>
              <a:ext cx="9182100" cy="2161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Terdapat kekurangan dalam pelatihan dan keahlian SDM, yang menghambat inovasi. Solusi yang diusulkan adalah menggandeng mitra korporasi untuk membuka kelas keahlian masa depan.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734675" y="5143500"/>
            <a:ext cx="6886575" cy="3008948"/>
            <a:chOff x="0" y="0"/>
            <a:chExt cx="9182100" cy="40119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Gap Hilirisasi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304714"/>
              <a:ext cx="9182100" cy="2707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Rendahnya hilirisasi penelitian menjadi produk komersial memerlukan perhatian. Dibentuknya Technology Transfer Office (TTO) akan mengoptimalkan riset berbasis kebutuhan pasar, mengatasi masalah ini.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54459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8BDF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2026–2027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544593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8BD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Penguatan fondasi kelembagaan BLUD, sertifikasi aset kawasan, dan akreditasi lab vokasi industri akan dilakukan untuk membangun kekuatan dan keberlanjutan Solo Technopark.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9850" y="3367087"/>
            <a:ext cx="544618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8BDF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2028–2029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21966" y="5105400"/>
            <a:ext cx="5446184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8BD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Pembentukan Strategic Business Unit (SBU) mandiri dan hilirisasi 20 produk komersial TKDN sebagai langkah awal untuk meningkatkan daya saing ekonomi lokal dan nasional.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2950" y="3367087"/>
            <a:ext cx="54483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8BDF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2029–2030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2950" y="5105400"/>
            <a:ext cx="544830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8BD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Mencapai kemandirian finansial penuh dengan tata kelola holding company dan membangun Pusat Indonesia Digital Technopark sebagai langkah strategis menuju global positioning.</a:t>
            </a:r>
          </a:p>
        </p:txBody>
      </p:sp>
      <p:sp>
        <p:nvSpPr>
          <p:cNvPr name="AutoShape 8" id="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8BD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21966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2950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F59E0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Pentahapan Roadmap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070D1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1152525"/>
            <a:ext cx="6886575" cy="425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0"/>
              </a:lnSpc>
            </a:pPr>
            <a:r>
              <a:rPr lang="en-US" sz="15000" spc="-450">
                <a:solidFill>
                  <a:srgbClr val="F59E0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Rp 23,47 Miliar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7207250"/>
            <a:ext cx="6886575" cy="2413000"/>
            <a:chOff x="0" y="0"/>
            <a:chExt cx="9182100" cy="321733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Target Pendapatan BLUD 2030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25500"/>
              <a:ext cx="9182100" cy="2391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Pendapatan BLUD diproyeksikan mencapai </a:t>
              </a:r>
              <a:r>
                <a:rPr lang="en-US" b="true" sz="2499" spc="-37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Rp 23,47 miliar</a:t>
              </a:r>
              <a:r>
                <a:rPr lang="en-US" sz="2499" spc="-37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pada tahun 2030, meningkat lebih dari 300% dari Rp 7,50 miliar di 2026, menciptakan peluang ekonomi baru di Surakarta.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070D1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417" t="0" r="-41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1152525"/>
            <a:ext cx="6886575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0"/>
              </a:lnSpc>
            </a:pPr>
            <a:r>
              <a:rPr lang="en-US" sz="15000" spc="-450">
                <a:solidFill>
                  <a:srgbClr val="F59E0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9.000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66750" y="7207250"/>
            <a:ext cx="6886575" cy="2413000"/>
            <a:chOff x="0" y="0"/>
            <a:chExt cx="9182100" cy="321733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Tenaga Kerja KTP Solo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825500"/>
              <a:ext cx="9182100" cy="2391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Solo Technopark berkomitmen untuk </a:t>
              </a:r>
              <a:r>
                <a:rPr lang="en-US" b="true" sz="2499" spc="-37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menyerap 9.000 tenaga kerja</a:t>
              </a:r>
              <a:r>
                <a:rPr lang="en-US" sz="2499" spc="-37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baru, dengan kuota minimal 65% bagi warga pemegang KTP Kota Surakarta, memastikan peluang kerja yang adil.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8BD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70D18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59E0B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Tiga Permohonan Kebijakan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untuk Pengembangan Solo Technopark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49525"/>
            <a:chOff x="0" y="0"/>
            <a:chExt cx="5744662" cy="33993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Afirmasi Belanja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319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Memprioritaskan penggunaan e-Katalog Lokal untuk produk tenant, dengan target alokasi Rp 2,25 M dalam anggaran belanja Pemkot untuk inovasi STP.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549525"/>
            <a:chOff x="0" y="0"/>
            <a:chExt cx="5346700" cy="33993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Fleksibilitas Lahan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319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Mengatur kolaborasi pemanfaatan lahan BLUD dengan skema Revenue Sharing, untuk menarik lebih banyak investor global dan memaksimalkan potensi aset.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549525"/>
            <a:chOff x="0" y="0"/>
            <a:chExt cx="5346700" cy="33993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8BD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Konsorsium Riset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319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8BD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Mendirikan konsorsium riset lintas kampus di Solo Raya untuk menyinkronkan anggaran litbang dalam menyelesaikan tantangan kota yang ada melalui inovasi.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8BD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8963660"/>
            <a:ext cx="832485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b="true" sz="3800" spc="-57">
                <a:solidFill>
                  <a:srgbClr val="38BDF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 bright future for Solo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F59E0B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Terima Kasih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STRATEGI INOVATIF PENGEMBANGAN</dc:description>
  <dc:identifier>DAHU2jWmW3E</dc:identifier>
  <dcterms:modified xsi:type="dcterms:W3CDTF">2011-08-01T06:04:30Z</dcterms:modified>
  <cp:revision>1</cp:revision>
  <dc:title>Presentasi - STRATEGI INOVATIF PENGEMBANGAN</dc:title>
</cp:coreProperties>
</file>