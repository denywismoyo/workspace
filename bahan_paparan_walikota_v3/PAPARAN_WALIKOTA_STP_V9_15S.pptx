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Proporsi Mitra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4C7"/>
              </a:solidFill>
              <a:effectLst/>
            </c:spPr>
          </c:dPt>
          <c:dPt>
            <c:idx val="1"/>
            <c:bubble3D val="0"/>
            <c:spPr>
              <a:solidFill>
                <a:srgbClr val="1E3A8A"/>
              </a:solidFill>
              <a:effectLst/>
            </c:spPr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Industri &amp; Bisnis</c:v>
                </c:pt>
                <c:pt idx="1">
                  <c:v>Akademisi / Kampus</c:v>
                </c:pt>
                <c:pt idx="2">
                  <c:v>Komunitas &amp; UMKM</c:v>
                </c:pt>
                <c:pt idx="3">
                  <c:v>Pemerintah / BUMN</c:v>
                </c:pt>
                <c:pt idx="4">
                  <c:v>Media Massa</c:v>
                </c:pt>
                <c:pt idx="5">
                  <c:v>Lembaga Global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35</c:v>
                </c:pt>
                <c:pt idx="1">
                  <c:v>20</c:v>
                </c:pt>
                <c:pt idx="2">
                  <c:v>15</c:v>
                </c:pt>
                <c:pt idx="3">
                  <c:v>12</c:v>
                </c:pt>
                <c:pt idx="4">
                  <c:v>8</c:v>
                </c:pt>
                <c:pt idx="5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Pendapatan (Rp M)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2026
(Baseline)</c:v>
                  </c:pt>
                  <c:pt idx="1">
                    <c:v>2027
(+67%)</c:v>
                  </c:pt>
                  <c:pt idx="2">
                    <c:v>2028
(+28,5%)</c:v>
                  </c:pt>
                  <c:pt idx="3">
                    <c:v>2029
(+28%)</c:v>
                  </c:pt>
                  <c:pt idx="4">
                    <c:v>2030
(MANDIRI)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12.53</c:v>
                </c:pt>
                <c:pt idx="2">
                  <c:v>16.1</c:v>
                </c:pt>
                <c:pt idx="3">
                  <c:v>20.62</c:v>
                </c:pt>
                <c:pt idx="4">
                  <c:v>23.47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Klaster Pendapatan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4C7"/>
              </a:solidFill>
              <a:effectLst/>
            </c:spPr>
          </c:dPt>
          <c:dPt>
            <c:idx val="1"/>
            <c:bubble3D val="0"/>
            <c:spPr>
              <a:solidFill>
                <a:srgbClr val="1E3A8A"/>
              </a:solidFill>
              <a:effectLst/>
            </c:spPr>
          </c:dPt>
          <c:dPt>
            <c:idx val="2"/>
            <c:bubble3D val="0"/>
            <c:spPr>
              <a:solidFill>
                <a:srgbClr val="EA580C"/>
              </a:solidFill>
              <a:effectLst/>
            </c:spPr>
          </c:dPt>
          <c:dPt>
            <c:idx val="3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Program Kemitraan</c:v>
                </c:pt>
                <c:pt idx="1">
                  <c:v>Pelatihan &amp; Sertifikasi</c:v>
                </c:pt>
                <c:pt idx="2">
                  <c:v>Diklat Mandiri Spesialis</c:v>
                </c:pt>
                <c:pt idx="3">
                  <c:v>Lain-lain BLUD / MICE</c:v>
                </c:pt>
                <c:pt idx="4">
                  <c:v>Rekayasa Manufaktur</c:v>
                </c:pt>
                <c:pt idx="5">
                  <c:v>Kemitraan Lahan Eksisting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12.83</c:v>
                </c:pt>
                <c:pt idx="1">
                  <c:v>3.68</c:v>
                </c:pt>
                <c:pt idx="2">
                  <c:v>2.47</c:v>
                </c:pt>
                <c:pt idx="3">
                  <c:v>2.45</c:v>
                </c:pt>
                <c:pt idx="4">
                  <c:v>1.47</c:v>
                </c:pt>
                <c:pt idx="5">
                  <c:v>0.58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Skor Dampak (%)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Hilirisasi Riset Kampus</c:v>
                  </c:pt>
                  <c:pt idx="1">
                    <c:v>Peluang Kerja Daerah</c:v>
                  </c:pt>
                  <c:pt idx="2">
                    <c:v>UMKM &amp; Startup Mandiri</c:v>
                  </c:pt>
                  <c:pt idx="3">
                    <c:v>Akses Fasilitas Publik</c:v>
                  </c:pt>
                  <c:pt idx="4">
                    <c:v>SDM Kompeten &amp; Sertifikasi</c:v>
                  </c:pt>
                  <c:pt idx="5">
                    <c:v>Kolaborasi Industri Murni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75</c:v>
                </c:pt>
                <c:pt idx="2">
                  <c:v>80</c:v>
                </c:pt>
                <c:pt idx="3">
                  <c:v>85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image" Target="../media/image-2-29.png"/><Relationship Id="rId30" Type="http://schemas.openxmlformats.org/officeDocument/2006/relationships/image" Target="../media/image-2-30.svg"/><Relationship Id="rId31" Type="http://schemas.openxmlformats.org/officeDocument/2006/relationships/image" Target="../media/image-2-31.png"/><Relationship Id="rId32" Type="http://schemas.openxmlformats.org/officeDocument/2006/relationships/image" Target="../media/image-2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33.png"/><Relationship Id="rId34" Type="http://schemas.openxmlformats.org/officeDocument/2006/relationships/image" Target="../media/image-4-34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37.png"/><Relationship Id="rId38" Type="http://schemas.openxmlformats.org/officeDocument/2006/relationships/image" Target="../media/image-4-38.svg"/><Relationship Id="rId39" Type="http://schemas.openxmlformats.org/officeDocument/2006/relationships/image" Target="../media/image-4-39.png"/><Relationship Id="rId40" Type="http://schemas.openxmlformats.org/officeDocument/2006/relationships/image" Target="../media/image-4-40.svg"/><Relationship Id="rId41" Type="http://schemas.openxmlformats.org/officeDocument/2006/relationships/image" Target="../media/image-4-41.png"/><Relationship Id="rId42" Type="http://schemas.openxmlformats.org/officeDocument/2006/relationships/image" Target="../media/image-4-42.svg"/><Relationship Id="rId43" Type="http://schemas.openxmlformats.org/officeDocument/2006/relationships/image" Target="../media/image-4-43.png"/><Relationship Id="rId44" Type="http://schemas.openxmlformats.org/officeDocument/2006/relationships/image" Target="../media/image-4-44.svg"/><Relationship Id="rId45" Type="http://schemas.openxmlformats.org/officeDocument/2006/relationships/image" Target="../media/image-4-45.png"/><Relationship Id="rId46" Type="http://schemas.openxmlformats.org/officeDocument/2006/relationships/image" Target="../media/image-4-46.svg"/><Relationship Id="rId47" Type="http://schemas.openxmlformats.org/officeDocument/2006/relationships/image" Target="../media/image-4-47.png"/><Relationship Id="rId48" Type="http://schemas.openxmlformats.org/officeDocument/2006/relationships/image" Target="../media/image-4-48.svg"/><Relationship Id="rId49" Type="http://schemas.openxmlformats.org/officeDocument/2006/relationships/image" Target="../media/image-4-49.png"/><Relationship Id="rId50" Type="http://schemas.openxmlformats.org/officeDocument/2006/relationships/image" Target="../media/image-4-50.svg"/><Relationship Id="rId51" Type="http://schemas.openxmlformats.org/officeDocument/2006/relationships/image" Target="../media/image-4-51.png"/><Relationship Id="rId52" Type="http://schemas.openxmlformats.org/officeDocument/2006/relationships/image" Target="../media/image-4-52.svg"/><Relationship Id="rId53" Type="http://schemas.openxmlformats.org/officeDocument/2006/relationships/image" Target="../media/image-4-53.png"/><Relationship Id="rId54" Type="http://schemas.openxmlformats.org/officeDocument/2006/relationships/image" Target="../media/image-4-54.svg"/><Relationship Id="rId55" Type="http://schemas.openxmlformats.org/officeDocument/2006/relationships/image" Target="../media/image-4-55.png"/><Relationship Id="rId56" Type="http://schemas.openxmlformats.org/officeDocument/2006/relationships/image" Target="../media/image-4-56.svg"/><Relationship Id="rId57" Type="http://schemas.openxmlformats.org/officeDocument/2006/relationships/slideLayout" Target="../slideLayouts/slideLayout1.xml"/><Relationship Id="rId5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4" Type="http://schemas.openxmlformats.org/officeDocument/2006/relationships/image" Target="../media/image-7-3.png"/><Relationship Id="rId5" Type="http://schemas.openxmlformats.org/officeDocument/2006/relationships/image" Target="../media/image-7-4.svg"/><Relationship Id="rId6" Type="http://schemas.openxmlformats.org/officeDocument/2006/relationships/image" Target="../media/image-7-5.png"/><Relationship Id="rId7" Type="http://schemas.openxmlformats.org/officeDocument/2006/relationships/image" Target="../media/image-7-6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29.png"/><Relationship Id="rId30" Type="http://schemas.openxmlformats.org/officeDocument/2006/relationships/image" Target="../media/image-9-30.svg"/><Relationship Id="rId31" Type="http://schemas.openxmlformats.org/officeDocument/2006/relationships/image" Target="../media/image-9-31.png"/><Relationship Id="rId32" Type="http://schemas.openxmlformats.org/officeDocument/2006/relationships/image" Target="../media/image-9-32.svg"/><Relationship Id="rId33" Type="http://schemas.openxmlformats.org/officeDocument/2006/relationships/image" Target="../media/image-9-33.png"/><Relationship Id="rId34" Type="http://schemas.openxmlformats.org/officeDocument/2006/relationships/image" Target="../media/image-9-34.svg"/><Relationship Id="rId35" Type="http://schemas.openxmlformats.org/officeDocument/2006/relationships/image" Target="../media/image-9-35.png"/><Relationship Id="rId36" Type="http://schemas.openxmlformats.org/officeDocument/2006/relationships/image" Target="../media/image-9-36.sv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4" Type="http://schemas.openxmlformats.org/officeDocument/2006/relationships/image" Target="../media/image-10-3.png"/><Relationship Id="rId5" Type="http://schemas.openxmlformats.org/officeDocument/2006/relationships/image" Target="../media/image-10-4.svg"/><Relationship Id="rId6" Type="http://schemas.openxmlformats.org/officeDocument/2006/relationships/image" Target="../media/image-10-5.png"/><Relationship Id="rId7" Type="http://schemas.openxmlformats.org/officeDocument/2006/relationships/image" Target="../media/image-10-6.svg"/><Relationship Id="rId8" Type="http://schemas.openxmlformats.org/officeDocument/2006/relationships/image" Target="../media/image-10-7.png"/><Relationship Id="rId9" Type="http://schemas.openxmlformats.org/officeDocument/2006/relationships/image" Target="../media/image-10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image" Target="../media/image-11-3.png"/><Relationship Id="rId5" Type="http://schemas.openxmlformats.org/officeDocument/2006/relationships/image" Target="../media/image-11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4.xml"/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4" Type="http://schemas.openxmlformats.org/officeDocument/2006/relationships/image" Target="../media/image-13-3.png"/><Relationship Id="rId5" Type="http://schemas.openxmlformats.org/officeDocument/2006/relationships/image" Target="../media/image-13-4.svg"/><Relationship Id="rId6" Type="http://schemas.openxmlformats.org/officeDocument/2006/relationships/image" Target="../media/image-13-5.png"/><Relationship Id="rId7" Type="http://schemas.openxmlformats.org/officeDocument/2006/relationships/image" Target="../media/image-13-6.svg"/><Relationship Id="rId8" Type="http://schemas.openxmlformats.org/officeDocument/2006/relationships/image" Target="../media/image-13-7.png"/><Relationship Id="rId9" Type="http://schemas.openxmlformats.org/officeDocument/2006/relationships/image" Target="../media/image-13-8.svg"/><Relationship Id="rId10" Type="http://schemas.openxmlformats.org/officeDocument/2006/relationships/image" Target="../media/image-13-9.png"/><Relationship Id="rId11" Type="http://schemas.openxmlformats.org/officeDocument/2006/relationships/image" Target="../media/image-13-10.svg"/><Relationship Id="rId12" Type="http://schemas.openxmlformats.org/officeDocument/2006/relationships/image" Target="../media/image-13-11.png"/><Relationship Id="rId13" Type="http://schemas.openxmlformats.org/officeDocument/2006/relationships/image" Target="../media/image-13-12.svg"/><Relationship Id="rId14" Type="http://schemas.openxmlformats.org/officeDocument/2006/relationships/image" Target="../media/image-13-13.png"/><Relationship Id="rId15" Type="http://schemas.openxmlformats.org/officeDocument/2006/relationships/image" Target="../media/image-13-14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// BADAN RISET DAN INOVASI DAERAH (BRIDA)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TECHNOPARK: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KAWASAN SAINS MENUJU MESIN IMPACT DAERAH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"Roadmap Transformasi UPTD KST Surakarta: Mewujudkan Kemandirian BLUD, Hilirisasi Riset Kampus, dan Kesejahteraan Nyata Warga Kota"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670048"/>
            <a:ext cx="1072865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880360"/>
            <a:ext cx="2523744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80360"/>
            <a:ext cx="2523744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026664"/>
            <a:ext cx="1837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+212,8%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2724912" y="3044952"/>
            <a:ext cx="384048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41" y="3114081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35753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Lompatan Finansial Mandiri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6112" y="39593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tumbuh 3,1x dalam 4 tahun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465576" y="2880360"/>
            <a:ext cx="2523744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65576" y="2880360"/>
            <a:ext cx="2523744" cy="411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0168" y="3026664"/>
            <a:ext cx="1837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23,47 M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5458968" y="3044952"/>
            <a:ext cx="384048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8097" y="3114081"/>
            <a:ext cx="245791" cy="2457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30168" y="35753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Pendapatan BLUD 2030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30168" y="39593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Subsidi Kas Daerah APBD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199632" y="2880360"/>
            <a:ext cx="2523744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99632" y="2880360"/>
            <a:ext cx="2523744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64224" y="3026664"/>
            <a:ext cx="1837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9.000</a:t>
            </a:r>
            <a:endParaRPr lang="en-US" sz="2300" dirty="0"/>
          </a:p>
        </p:txBody>
      </p:sp>
      <p:sp>
        <p:nvSpPr>
          <p:cNvPr id="23" name="Shape 19"/>
          <p:cNvSpPr/>
          <p:nvPr/>
        </p:nvSpPr>
        <p:spPr>
          <a:xfrm>
            <a:off x="8193024" y="3044952"/>
            <a:ext cx="384048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2153" y="3114081"/>
            <a:ext cx="245791" cy="24579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64224" y="35753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SDM Terlatih / Thn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364224" y="39593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Afirmasi min. 65% KTP Surakarta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8933688" y="2880360"/>
            <a:ext cx="2523744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933688" y="2880360"/>
            <a:ext cx="2523744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098280" y="3026664"/>
            <a:ext cx="1837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95+</a:t>
            </a:r>
            <a:endParaRPr lang="en-US" sz="2300" dirty="0"/>
          </a:p>
        </p:txBody>
      </p:sp>
      <p:sp>
        <p:nvSpPr>
          <p:cNvPr id="30" name="Shape 25"/>
          <p:cNvSpPr/>
          <p:nvPr/>
        </p:nvSpPr>
        <p:spPr>
          <a:xfrm>
            <a:off x="10927080" y="3044952"/>
            <a:ext cx="384048" cy="384048"/>
          </a:xfrm>
          <a:prstGeom prst="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96209" y="3114081"/>
            <a:ext cx="245791" cy="245791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098280" y="35753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Industri Global &amp; Nasional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9098280" y="39593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Zero APBD Burden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31520" y="4526280"/>
            <a:ext cx="3429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31520" y="4526280"/>
            <a:ext cx="342900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14400" y="4709160"/>
            <a:ext cx="402336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6820" y="4781580"/>
            <a:ext cx="257495" cy="25749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417320" y="47274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// PARADIGMA BARU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1417320" y="49103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Sekadar Gedung Fisik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914400" y="5276088"/>
            <a:ext cx="30632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914400" y="539496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Beralih dari pengelola sewa lahan menjadi DELIVERY UNIT inovasi BRIDA yang menghasilkan IMPACT nyata bagi masyarakat dan industri.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4379976" y="4526280"/>
            <a:ext cx="3429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379976" y="4526280"/>
            <a:ext cx="342900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562856" y="4709160"/>
            <a:ext cx="402336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276" y="4781580"/>
            <a:ext cx="257495" cy="25749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065776" y="47274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// KEMANDIRIAN PENUH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5065776" y="49103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BLUD Mandiri Tanpa APBD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4562856" y="5276088"/>
            <a:ext cx="30632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562856" y="539496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Lompatan pendapatan terukur dari Rp 7,50 M (2026) menuju Rp 23,47 M (2030) — tumbuh +212,8% dengan 0% subsidi kas daerah.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8028432" y="4526280"/>
            <a:ext cx="3429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8028432" y="4526280"/>
            <a:ext cx="3429000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8211312" y="4709160"/>
            <a:ext cx="402336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83732" y="4781580"/>
            <a:ext cx="257495" cy="257495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8714232" y="47274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// HEXAHELIX &amp; DAMPAK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8714232" y="49103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95+ Mitra Korporasi Dunia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8211312" y="5276088"/>
            <a:ext cx="30632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8211312" y="539496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 swasta murni berkolaborasi menyerap 9.000 tenaga kerja dengan komitmen afirmasi minimal 65% warga KTP Surakarta.</a:t>
            </a:r>
            <a:endParaRPr lang="en-US" sz="1000" dirty="0"/>
          </a:p>
        </p:txBody>
      </p:sp>
      <p:sp>
        <p:nvSpPr>
          <p:cNvPr id="58" name="Text 49"/>
          <p:cNvSpPr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Disampaikan oleh: Kepala UPTD KST Solo Technopark  •  Didampingi: Kepala BRIDA Kota Surakarta  •  Surakarta,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TATA KELOLA PEMERINTAHAN &amp; KELEMBAGAAN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KEDUDUKAN KELEMBAGAAN &amp; RANTAI DAMPAK (CHAIN OF IMPACT)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Nilai: BRIDA sebagai Otak Kebijakan, STP sebagai Tangan Eksekutor, Warga &amp; Industri sebagai Penerima Dampak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33375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3337560" cy="45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2540" y="1791492"/>
            <a:ext cx="257495" cy="2574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7373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INPUT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463040" y="19202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BRIDA KOTA SURAKARTA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2249424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Otak &amp; Regulator Kebijakan Daerah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60120" y="2496312"/>
            <a:ext cx="28803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2679192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07008" y="26334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Merumuskan arah kebijakan riset &amp; inovasi daerah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120" y="3191256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1455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kajian teknokratik &amp; roadmap strategis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20" y="3703320"/>
            <a:ext cx="164592" cy="1645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07008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Orkestrasi ekosistem iptek antar-OPD &amp; perguruan tinggi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0120" y="4215384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416966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evaluasi akuntabilitas dampak sosial-ekonomi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914400" y="4754880"/>
            <a:ext cx="29718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960120" y="478231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Regulasi, Roadmap, &amp; Pengawasan Kebijakan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160520" y="3227832"/>
            <a:ext cx="173736" cy="256032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25696" y="1536192"/>
            <a:ext cx="33375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425696" y="1536192"/>
            <a:ext cx="33375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654296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6716" y="1791492"/>
            <a:ext cx="257495" cy="25749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57216" y="17373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PROSES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5157216" y="19202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654296" y="2249424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Tangan Eksekutor &amp; Operator Bisnis BLUD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4654296" y="2496312"/>
            <a:ext cx="28803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54296" y="2679192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901184" y="26334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Penyelenggaraan diklat vokasi &amp; sertifikasi industri</a:t>
            </a:r>
            <a:endParaRPr lang="en-US" sz="10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54296" y="3191256"/>
            <a:ext cx="164592" cy="16459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901184" y="31455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Inkubasi bisnis, alih teknologi &amp; komersialisasi riset</a:t>
            </a:r>
            <a:endParaRPr lang="en-US" sz="10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54296" y="3703320"/>
            <a:ext cx="164592" cy="16459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901184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prototipe lab presisi &amp; penetrant testing (NDT)</a:t>
            </a:r>
            <a:endParaRPr lang="en-US" sz="10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54296" y="4215384"/>
            <a:ext cx="164592" cy="16459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4901184" y="416966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portofolio bisnis BLUD mandiri &amp; kemitraan</a:t>
            </a:r>
            <a:endParaRPr lang="en-US" sz="1000" dirty="0"/>
          </a:p>
        </p:txBody>
      </p:sp>
      <p:sp>
        <p:nvSpPr>
          <p:cNvPr id="42" name="Shape 30"/>
          <p:cNvSpPr/>
          <p:nvPr/>
        </p:nvSpPr>
        <p:spPr>
          <a:xfrm>
            <a:off x="4608576" y="4754880"/>
            <a:ext cx="29718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4654296" y="478231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Layanan Teknis, Inkubasi, &amp; Hilirisasi Produk</a:t>
            </a:r>
            <a:endParaRPr lang="en-US" sz="900" dirty="0"/>
          </a:p>
        </p:txBody>
      </p:sp>
      <p:sp>
        <p:nvSpPr>
          <p:cNvPr id="44" name="Shape 32"/>
          <p:cNvSpPr/>
          <p:nvPr/>
        </p:nvSpPr>
        <p:spPr>
          <a:xfrm>
            <a:off x="7854696" y="3227832"/>
            <a:ext cx="173736" cy="256032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8119872" y="1536192"/>
            <a:ext cx="33375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8119872" y="1536192"/>
            <a:ext cx="33375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8348472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420892" y="1791492"/>
            <a:ext cx="257495" cy="257495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8851392" y="17373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OUTCOME</a:t>
            </a:r>
            <a:endParaRPr lang="en-US" sz="850" dirty="0"/>
          </a:p>
        </p:txBody>
      </p:sp>
      <p:sp>
        <p:nvSpPr>
          <p:cNvPr id="50" name="Text 37"/>
          <p:cNvSpPr/>
          <p:nvPr/>
        </p:nvSpPr>
        <p:spPr>
          <a:xfrm>
            <a:off x="8851392" y="19202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WARGA SURAKARTA &amp; INDUSTRI</a:t>
            </a:r>
            <a:endParaRPr lang="en-US" sz="1200" dirty="0"/>
          </a:p>
        </p:txBody>
      </p:sp>
      <p:sp>
        <p:nvSpPr>
          <p:cNvPr id="51" name="Text 38"/>
          <p:cNvSpPr/>
          <p:nvPr/>
        </p:nvSpPr>
        <p:spPr>
          <a:xfrm>
            <a:off x="8348472" y="2249424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 Manfaat Utama (Benefisiari)</a:t>
            </a:r>
            <a:endParaRPr lang="en-US" sz="950" dirty="0"/>
          </a:p>
        </p:txBody>
      </p:sp>
      <p:sp>
        <p:nvSpPr>
          <p:cNvPr id="52" name="Shape 39"/>
          <p:cNvSpPr/>
          <p:nvPr/>
        </p:nvSpPr>
        <p:spPr>
          <a:xfrm>
            <a:off x="8348472" y="2496312"/>
            <a:ext cx="28803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48472" y="2679192"/>
            <a:ext cx="164592" cy="164592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8595360" y="26334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 lokal kompeten &amp; tersertifikasi kerja industri global</a:t>
            </a:r>
            <a:endParaRPr lang="en-US" sz="100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348472" y="3191256"/>
            <a:ext cx="164592" cy="164592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8595360" y="31455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&amp; startup teknologi tumbuh mandiri omzetnya</a:t>
            </a:r>
            <a:endParaRPr lang="en-US" sz="1000" dirty="0"/>
          </a:p>
        </p:txBody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48472" y="3703320"/>
            <a:ext cx="164592" cy="164592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8595360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inovasi kampus terserap pasar &amp; e-Katalog Pemda</a:t>
            </a:r>
            <a:endParaRPr lang="en-US" sz="1000" dirty="0"/>
          </a:p>
        </p:txBody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348472" y="4215384"/>
            <a:ext cx="164592" cy="164592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8595360" y="416966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Masuknya investasi swasta &amp; penyerapan 9.000 tenaga kerja</a:t>
            </a:r>
            <a:endParaRPr lang="en-US" sz="1000" dirty="0"/>
          </a:p>
        </p:txBody>
      </p:sp>
      <p:sp>
        <p:nvSpPr>
          <p:cNvPr id="61" name="Shape 44"/>
          <p:cNvSpPr/>
          <p:nvPr/>
        </p:nvSpPr>
        <p:spPr>
          <a:xfrm>
            <a:off x="8302752" y="4754880"/>
            <a:ext cx="29718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45"/>
          <p:cNvSpPr/>
          <p:nvPr/>
        </p:nvSpPr>
        <p:spPr>
          <a:xfrm>
            <a:off x="8348472" y="478231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Lapangan Kerja, Daya Saing, &amp; PAD Mandiri</a:t>
            </a:r>
            <a:endParaRPr lang="en-US" sz="900" dirty="0"/>
          </a:p>
        </p:txBody>
      </p:sp>
      <p:sp>
        <p:nvSpPr>
          <p:cNvPr id="63" name="Shape 46"/>
          <p:cNvSpPr/>
          <p:nvPr/>
        </p:nvSpPr>
        <p:spPr>
          <a:xfrm>
            <a:off x="731520" y="5532120"/>
            <a:ext cx="10728655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47"/>
          <p:cNvSpPr/>
          <p:nvPr/>
        </p:nvSpPr>
        <p:spPr>
          <a:xfrm>
            <a:off x="896112" y="5632704"/>
            <a:ext cx="420624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71824" y="5708416"/>
            <a:ext cx="269199" cy="269199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463040" y="5596128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HUKUM TATA KELOLA PEMKOT SURAKARTA: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Perwali Surakarta No. 15 Tahun 2022: Kedudukan UPTD KST Solo Technopark sebagai unit pelaksana teknis operasional di bawah naungan BRIDA.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Perwali Surakarta No. 38 Tahun 2022: Pola Tata Kelola BLUD UPTD KST Solo Technopark yang memberikan fleksibilitas bisnis sehat &amp; akuntabel.</a:t>
            </a:r>
            <a:endParaRPr lang="en-US" sz="900" dirty="0"/>
          </a:p>
        </p:txBody>
      </p:sp>
      <p:sp>
        <p:nvSpPr>
          <p:cNvPr id="67" name="Shape 49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50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69" name="Text 51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LANDASAN REGULASI &amp; TATA KELOLA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HUKUM YANG KOKOH: MANDAT &amp; FLEKSIBILITAS BLUD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Pilar Regulasi yang Memberi Kewenangan, Fleksibilitas Bisnis Sehat, dan Arah Strategis KST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33375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333756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2540" y="1791492"/>
            <a:ext cx="257495" cy="2574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73736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PERMENDAGRI 79/2018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463040" y="193852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Kelola Keuangan BLUD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14400" y="2249424"/>
            <a:ext cx="29718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322576"/>
            <a:ext cx="269748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"Fleksibilitas BLUD adalah keleluasaan dalam pola pengelolaan keuangan dengan menerapkan praktik bisnis yang sehat untuk meningkatkan layanan kepada masyarakat tanpa mencari keuntungan semata."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3776472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07008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Keleluasaan bermitra dengan swasta tanpa birokrasi kaku APBD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120" y="4343400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43159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dan memutar pendapatan fungsional jasa secara mandiri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20" y="4910328"/>
            <a:ext cx="164592" cy="1645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07008" y="488289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Rekrutmen tenaga ahli &amp; instruktur profesional sesuai kebutuhan pasar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425696" y="1536192"/>
            <a:ext cx="33375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425696" y="1536192"/>
            <a:ext cx="33375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654296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6716" y="1791492"/>
            <a:ext cx="257495" cy="25749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57216" y="173736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PERPRES 106/2017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157216" y="193852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Kawasan Sains &amp; Teknologi (KST)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608576" y="2249424"/>
            <a:ext cx="29718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745736" y="2322576"/>
            <a:ext cx="269748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"KST berfungsi sebagai wahana kerja sama riset berkelanjutan antara Pemerintah, PT, dan Industri, wajib menyediakan 4 layanan: Teknis, Teknologi, Inkubasi, &amp; Pendukung."</a:t>
            </a:r>
            <a:endParaRPr lang="en-US" sz="9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54296" y="3776472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01184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nasional fasilitasi hilirisasi &amp; spin-off perusahaan riset</a:t>
            </a:r>
            <a:endParaRPr lang="en-US" sz="9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54296" y="4343400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901184" y="43159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Kewajiban menyediakan 4 pilar layanan iptek terintegrasi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54296" y="4910328"/>
            <a:ext cx="164592" cy="16459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901184" y="488289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kolaborasi hexahelix multi-stakeholder formal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8119872" y="1536192"/>
            <a:ext cx="33375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8119872" y="1536192"/>
            <a:ext cx="33375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348472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20892" y="1791492"/>
            <a:ext cx="257495" cy="25749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851392" y="173736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PERWALI 15 &amp; 38/2022</a:t>
            </a:r>
            <a:endParaRPr lang="en-US" sz="1150" dirty="0"/>
          </a:p>
        </p:txBody>
      </p:sp>
      <p:sp>
        <p:nvSpPr>
          <p:cNvPr id="40" name="Text 29"/>
          <p:cNvSpPr/>
          <p:nvPr/>
        </p:nvSpPr>
        <p:spPr>
          <a:xfrm>
            <a:off x="8851392" y="193852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UPTD &amp; Pola Tata Kelola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8302752" y="2249424"/>
            <a:ext cx="29718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8439912" y="2322576"/>
            <a:ext cx="269748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"Menetapkan struktur UPTD KST Solo Technopark dalam naungan BRIDA Kota Surakarta dengan pola tata kelola BLUD profesional berorientasi layanan publik."</a:t>
            </a:r>
            <a:endParaRPr lang="en-US" sz="9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48472" y="3776472"/>
            <a:ext cx="164592" cy="16459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595360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Payung hukum operasional tingkat kota yang sah dan mengikat</a:t>
            </a:r>
            <a:endParaRPr lang="en-US" sz="95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48472" y="4343400"/>
            <a:ext cx="164592" cy="16459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595360" y="43159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peran teknis yang presisi antara BRIDA dan STP</a:t>
            </a:r>
            <a:endParaRPr lang="en-US" sz="95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48472" y="4910328"/>
            <a:ext cx="164592" cy="164592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8595360" y="488289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legalitas pemanfaatan aset kawasan &amp; kerjasama industri</a:t>
            </a:r>
            <a:endParaRPr lang="en-US" sz="950" dirty="0"/>
          </a:p>
        </p:txBody>
      </p:sp>
      <p:sp>
        <p:nvSpPr>
          <p:cNvPr id="49" name="Shape 35"/>
          <p:cNvSpPr/>
          <p:nvPr/>
        </p:nvSpPr>
        <p:spPr>
          <a:xfrm>
            <a:off x="731520" y="5687568"/>
            <a:ext cx="10728655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914400" y="5742432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YURIDIS: Solo Technopark telah memiliki legitimasi hukum lengkap dari tingkat nasional (Perpres &amp; Permendagri) hingga regulasi kepala daerah (Perwali) untuk bermanuver cepat, profesional, dan akuntabel.</a:t>
            </a:r>
            <a:endParaRPr lang="en-US" sz="1000" dirty="0"/>
          </a:p>
        </p:txBody>
      </p:sp>
      <p:sp>
        <p:nvSpPr>
          <p:cNvPr id="51" name="Shape 3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38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53" name="Text 39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MANDAT LAYANAN PERPRES 106/2017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PILAR LAYANAN TERINTEGRASI: MEMENUHI MANDAT KST NASIONAL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Portofolio Layanan Terintegrasi yang Menjawab Kebutuhan Industri Spesialis &amp; Masyarakat Kota Surakarta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523036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5230368" cy="411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00784"/>
            <a:ext cx="384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29" y="1769913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9888" y="1755648"/>
            <a:ext cx="4407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LAYANAN TEKNIS (DIKLAT VOKASI INDUSTRI)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221992"/>
            <a:ext cx="146304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3856" y="219456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Mekanik, Otomasi &amp; Desain Manufaktur Presisi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2715768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268833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Intensif (Pengelasan Konstruksi &amp; Pipa)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320954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33856" y="3182112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OGSCI: Oil, Gas, Coal, Shipbuilding &amp; Infra Training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9000" y="2221992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648456" y="219456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Wet Welding (Keahlian Langka Nasional)</a:t>
            </a:r>
            <a:endParaRPr lang="en-US" sz="9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29000" y="2715768"/>
            <a:ext cx="146304" cy="14630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648456" y="268833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Kendaraan Listrik (EV Conversion Lab)</a:t>
            </a:r>
            <a:endParaRPr lang="en-US" sz="9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29000" y="3209544"/>
            <a:ext cx="146304" cy="14630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648456" y="3182112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&amp; Artificial Intelligence Practitioner</a:t>
            </a:r>
            <a:endParaRPr lang="en-US" sz="950" dirty="0"/>
          </a:p>
        </p:txBody>
      </p:sp>
      <p:sp>
        <p:nvSpPr>
          <p:cNvPr id="24" name="Shape 15"/>
          <p:cNvSpPr/>
          <p:nvPr/>
        </p:nvSpPr>
        <p:spPr>
          <a:xfrm>
            <a:off x="6227064" y="1536192"/>
            <a:ext cx="523036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6227064" y="1536192"/>
            <a:ext cx="5230368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6409944" y="1700784"/>
            <a:ext cx="384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9073" y="1769913"/>
            <a:ext cx="245791" cy="245791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885432" y="1755648"/>
            <a:ext cx="4407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TEKNOLOGI (REKAYASA MANUFAKTUR)</a:t>
            </a:r>
            <a:endParaRPr lang="en-US" sz="10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09944" y="2221992"/>
            <a:ext cx="146304" cy="14630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629400" y="219456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Jasa Layanan Rekayasa Industri &amp; Permesinan Presisi</a:t>
            </a:r>
            <a:endParaRPr lang="en-US" sz="9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09944" y="2715768"/>
            <a:ext cx="146304" cy="14630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629400" y="268833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Komponen Presisi (Precision Parts Industri)</a:t>
            </a:r>
            <a:endParaRPr lang="en-US" sz="9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09944" y="3209544"/>
            <a:ext cx="146304" cy="14630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629400" y="3182112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Pembuatan &amp; Uji Prototipe IKM/UKM Kota Surakarta</a:t>
            </a:r>
            <a:endParaRPr lang="en-US" sz="9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924544" y="2221992"/>
            <a:ext cx="146304" cy="146304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144000" y="219456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 Testing: Uji Penetrant Testing (NDT)</a:t>
            </a:r>
            <a:endParaRPr lang="en-US" sz="9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924544" y="2715768"/>
            <a:ext cx="146304" cy="14630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9144000" y="268833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 Laboratorium Terpadu &amp; Data Center</a:t>
            </a:r>
            <a:endParaRPr lang="en-US" sz="95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924544" y="3209544"/>
            <a:ext cx="146304" cy="146304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9144000" y="3182112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Standarisasi Mutu &amp; Sertifikasi TKDN / SNI Produk</a:t>
            </a:r>
            <a:endParaRPr lang="en-US" sz="950" dirty="0"/>
          </a:p>
        </p:txBody>
      </p:sp>
      <p:sp>
        <p:nvSpPr>
          <p:cNvPr id="41" name="Shape 25"/>
          <p:cNvSpPr/>
          <p:nvPr/>
        </p:nvSpPr>
        <p:spPr>
          <a:xfrm>
            <a:off x="731520" y="3977640"/>
            <a:ext cx="523036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26"/>
          <p:cNvSpPr/>
          <p:nvPr/>
        </p:nvSpPr>
        <p:spPr>
          <a:xfrm>
            <a:off x="731520" y="3977640"/>
            <a:ext cx="5230368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27"/>
          <p:cNvSpPr/>
          <p:nvPr/>
        </p:nvSpPr>
        <p:spPr>
          <a:xfrm>
            <a:off x="914400" y="4142232"/>
            <a:ext cx="384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83529" y="4211361"/>
            <a:ext cx="245791" cy="245791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1389888" y="4197096"/>
            <a:ext cx="4407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LAYANAN INKUBASI (HILIRISASI KE PASAR)</a:t>
            </a:r>
            <a:endParaRPr lang="en-US" sz="1050" dirty="0"/>
          </a:p>
        </p:txBody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14400" y="4663440"/>
            <a:ext cx="146304" cy="146304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1133856" y="463600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Pra-Inkubasi &amp; Inkubasi Bisnis Startup Berbasis Riset</a:t>
            </a:r>
            <a:endParaRPr lang="en-US" sz="950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14400" y="5157216"/>
            <a:ext cx="146304" cy="146304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1133856" y="5129784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Fasilitasi HKI, Paten Produk, &amp; Hak Cipta Inovator</a:t>
            </a:r>
            <a:endParaRPr lang="en-US" sz="950" dirty="0"/>
          </a:p>
        </p:txBody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14400" y="5650992"/>
            <a:ext cx="146304" cy="146304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1133856" y="562356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Hilirisasi Riset Perguruan Tinggi ke Pasar Industri</a:t>
            </a:r>
            <a:endParaRPr lang="en-US" sz="950" dirty="0"/>
          </a:p>
        </p:txBody>
      </p:sp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429000" y="4663440"/>
            <a:ext cx="146304" cy="146304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3648456" y="463600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 Security Hub &amp; AI Experience Center</a:t>
            </a:r>
            <a:endParaRPr lang="en-US" sz="950" dirty="0"/>
          </a:p>
        </p:txBody>
      </p:sp>
      <p:pic>
        <p:nvPicPr>
          <p:cNvPr id="54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429000" y="5157216"/>
            <a:ext cx="146304" cy="146304"/>
          </a:xfrm>
          <a:prstGeom prst="rect">
            <a:avLst/>
          </a:prstGeom>
        </p:spPr>
      </p:pic>
      <p:sp>
        <p:nvSpPr>
          <p:cNvPr id="55" name="Text 33"/>
          <p:cNvSpPr/>
          <p:nvPr/>
        </p:nvSpPr>
        <p:spPr>
          <a:xfrm>
            <a:off x="3648456" y="5129784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Technopark, Gaming Hub, &amp; GoTo UMKM Center</a:t>
            </a:r>
            <a:endParaRPr lang="en-US" sz="950" dirty="0"/>
          </a:p>
        </p:txBody>
      </p:sp>
      <p:pic>
        <p:nvPicPr>
          <p:cNvPr id="56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429000" y="5650992"/>
            <a:ext cx="146304" cy="146304"/>
          </a:xfrm>
          <a:prstGeom prst="rect">
            <a:avLst/>
          </a:prstGeom>
        </p:spPr>
      </p:pic>
      <p:sp>
        <p:nvSpPr>
          <p:cNvPr id="57" name="Text 34"/>
          <p:cNvSpPr/>
          <p:nvPr/>
        </p:nvSpPr>
        <p:spPr>
          <a:xfrm>
            <a:off x="3648456" y="562356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Co-Working Space, Virtual Office &amp; Akses Permodalan</a:t>
            </a:r>
            <a:endParaRPr lang="en-US" sz="950" dirty="0"/>
          </a:p>
        </p:txBody>
      </p:sp>
      <p:sp>
        <p:nvSpPr>
          <p:cNvPr id="58" name="Shape 35"/>
          <p:cNvSpPr/>
          <p:nvPr/>
        </p:nvSpPr>
        <p:spPr>
          <a:xfrm>
            <a:off x="6227064" y="3977640"/>
            <a:ext cx="523036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36"/>
          <p:cNvSpPr/>
          <p:nvPr/>
        </p:nvSpPr>
        <p:spPr>
          <a:xfrm>
            <a:off x="6227064" y="3977640"/>
            <a:ext cx="5230368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hape 37"/>
          <p:cNvSpPr/>
          <p:nvPr/>
        </p:nvSpPr>
        <p:spPr>
          <a:xfrm>
            <a:off x="6409944" y="4142232"/>
            <a:ext cx="384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1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479073" y="4211361"/>
            <a:ext cx="245791" cy="245791"/>
          </a:xfrm>
          <a:prstGeom prst="rect">
            <a:avLst/>
          </a:prstGeom>
        </p:spPr>
      </p:pic>
      <p:sp>
        <p:nvSpPr>
          <p:cNvPr id="62" name="Text 38"/>
          <p:cNvSpPr/>
          <p:nvPr/>
        </p:nvSpPr>
        <p:spPr>
          <a:xfrm>
            <a:off x="6885432" y="4197096"/>
            <a:ext cx="4407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LAYANAN PENDUKUNG (COMMUNITY &amp; EDUCATION)</a:t>
            </a:r>
            <a:endParaRPr lang="en-US" sz="1050" dirty="0"/>
          </a:p>
        </p:txBody>
      </p:sp>
      <p:pic>
        <p:nvPicPr>
          <p:cNvPr id="63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6409944" y="4663440"/>
            <a:ext cx="146304" cy="146304"/>
          </a:xfrm>
          <a:prstGeom prst="rect">
            <a:avLst/>
          </a:prstGeom>
        </p:spPr>
      </p:pic>
      <p:sp>
        <p:nvSpPr>
          <p:cNvPr id="64" name="Text 39"/>
          <p:cNvSpPr/>
          <p:nvPr/>
        </p:nvSpPr>
        <p:spPr>
          <a:xfrm>
            <a:off x="6629400" y="463600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Prakerin Kerja Industri Siswa SMK Se-Solo Raya</a:t>
            </a:r>
            <a:endParaRPr lang="en-US" sz="950" dirty="0"/>
          </a:p>
        </p:txBody>
      </p:sp>
      <p:pic>
        <p:nvPicPr>
          <p:cNvPr id="65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6409944" y="5157216"/>
            <a:ext cx="146304" cy="146304"/>
          </a:xfrm>
          <a:prstGeom prst="rect">
            <a:avLst/>
          </a:prstGeom>
        </p:spPr>
      </p:pic>
      <p:sp>
        <p:nvSpPr>
          <p:cNvPr id="66" name="Text 40"/>
          <p:cNvSpPr/>
          <p:nvPr/>
        </p:nvSpPr>
        <p:spPr>
          <a:xfrm>
            <a:off x="6629400" y="5129784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Uji Kompetensi (TUK Mandiri) &amp; Sertifikasi JFT</a:t>
            </a:r>
            <a:endParaRPr lang="en-US" sz="950" dirty="0"/>
          </a:p>
        </p:txBody>
      </p:sp>
      <p:pic>
        <p:nvPicPr>
          <p:cNvPr id="67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6409944" y="5650992"/>
            <a:ext cx="146304" cy="146304"/>
          </a:xfrm>
          <a:prstGeom prst="rect">
            <a:avLst/>
          </a:prstGeom>
        </p:spPr>
      </p:pic>
      <p:sp>
        <p:nvSpPr>
          <p:cNvPr id="68" name="Text 41"/>
          <p:cNvSpPr/>
          <p:nvPr/>
        </p:nvSpPr>
        <p:spPr>
          <a:xfrm>
            <a:off x="6629400" y="562356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Science Center (Pusat Edukasi IPTEK &amp; Wisata Sains)</a:t>
            </a:r>
            <a:endParaRPr lang="en-US" sz="950" dirty="0"/>
          </a:p>
        </p:txBody>
      </p:sp>
      <p:pic>
        <p:nvPicPr>
          <p:cNvPr id="69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8924544" y="4663440"/>
            <a:ext cx="146304" cy="146304"/>
          </a:xfrm>
          <a:prstGeom prst="rect">
            <a:avLst/>
          </a:prstGeom>
        </p:spPr>
      </p:pic>
      <p:sp>
        <p:nvSpPr>
          <p:cNvPr id="70" name="Text 42"/>
          <p:cNvSpPr/>
          <p:nvPr/>
        </p:nvSpPr>
        <p:spPr>
          <a:xfrm>
            <a:off x="9144000" y="463600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Pemanfaatan Sarana Kawasan, Gedung Expo &amp; MICE</a:t>
            </a:r>
            <a:endParaRPr lang="en-US" sz="950" dirty="0"/>
          </a:p>
        </p:txBody>
      </p:sp>
      <p:pic>
        <p:nvPicPr>
          <p:cNvPr id="71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8924544" y="5157216"/>
            <a:ext cx="146304" cy="146304"/>
          </a:xfrm>
          <a:prstGeom prst="rect">
            <a:avLst/>
          </a:prstGeom>
        </p:spPr>
      </p:pic>
      <p:sp>
        <p:nvSpPr>
          <p:cNvPr id="72" name="Text 43"/>
          <p:cNvSpPr/>
          <p:nvPr/>
        </p:nvSpPr>
        <p:spPr>
          <a:xfrm>
            <a:off x="9144000" y="5129784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Komunitas Kreatif &amp; Kunjungan Industri</a:t>
            </a:r>
            <a:endParaRPr lang="en-US" sz="950" dirty="0"/>
          </a:p>
        </p:txBody>
      </p:sp>
      <p:pic>
        <p:nvPicPr>
          <p:cNvPr id="73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8924544" y="5650992"/>
            <a:ext cx="146304" cy="146304"/>
          </a:xfrm>
          <a:prstGeom prst="rect">
            <a:avLst/>
          </a:prstGeom>
        </p:spPr>
      </p:pic>
      <p:sp>
        <p:nvSpPr>
          <p:cNvPr id="74" name="Text 44"/>
          <p:cNvSpPr/>
          <p:nvPr/>
        </p:nvSpPr>
        <p:spPr>
          <a:xfrm>
            <a:off x="9144000" y="562356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Kolaborasi Multipihak Pemkot Surakarta</a:t>
            </a:r>
            <a:endParaRPr lang="en-US" sz="950" dirty="0"/>
          </a:p>
        </p:txBody>
      </p:sp>
      <p:sp>
        <p:nvSpPr>
          <p:cNvPr id="75" name="Shape 45"/>
          <p:cNvSpPr/>
          <p:nvPr/>
        </p:nvSpPr>
        <p:spPr>
          <a:xfrm>
            <a:off x="731520" y="5870448"/>
            <a:ext cx="10728655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6" name="Text 46"/>
          <p:cNvSpPr/>
          <p:nvPr/>
        </p:nvSpPr>
        <p:spPr>
          <a:xfrm>
            <a:off x="914400" y="5925312"/>
            <a:ext cx="10362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"BLUD menggeser paradigma: Dari sekadar pengelolaan kawasan fisik menjadi penyedia solusi teknologi yang responsif terhadap kebutuhan industri dan masyarakat."</a:t>
            </a:r>
            <a:endParaRPr lang="en-US" sz="1000" dirty="0"/>
          </a:p>
        </p:txBody>
      </p:sp>
      <p:sp>
        <p:nvSpPr>
          <p:cNvPr id="77" name="Shape 4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48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79" name="Text 49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MEKANISME HILIRISASI INOVASI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HILIRISASI RISET: DARI LABORATORIUM MENUJU PASAR NYATA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5 Tahapan Terstruktur Menjembatani Riset Kampus Menjadi Produk Bernilai Ekonomi bagi Industri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19933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1993392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6820" y="1791492"/>
            <a:ext cx="257495" cy="2574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9888" y="1764792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01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14400" y="222199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 &amp; INVENSI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2679192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 &amp; Peneliti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14400" y="2953512"/>
            <a:ext cx="162763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090672"/>
            <a:ext cx="1627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Invensi riset dari UNS, UMS, ISI, Poltek Solo Raya. Berangkat dari riset dasar dosen &amp; mahasiswa untuk kebutuhan daerah.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61488" y="2862072"/>
            <a:ext cx="118872" cy="22860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15107" y="1536192"/>
            <a:ext cx="19933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15107" y="1536192"/>
            <a:ext cx="1993392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97987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0408" y="1791492"/>
            <a:ext cx="257495" cy="25749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73475" y="1764792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02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097987" y="222199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SELEKSI &amp; KURASI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097987" y="2679192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&amp; BRIDA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097987" y="2953512"/>
            <a:ext cx="162763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097987" y="3090672"/>
            <a:ext cx="1627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Kurasi kelayakan komersial, kesiapan TRL 7–9, relevansi kebutuhan industri, serta pemecahan problem prioritas Pemkot.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945075" y="2862072"/>
            <a:ext cx="118872" cy="22860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98694" y="1536192"/>
            <a:ext cx="19933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098694" y="1536192"/>
            <a:ext cx="1993392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281574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3995" y="1791492"/>
            <a:ext cx="257495" cy="25749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757062" y="1764792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03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281574" y="222199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PROTOTYPING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5281574" y="2679192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Presisi STP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5281574" y="2953512"/>
            <a:ext cx="162763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281574" y="3090672"/>
            <a:ext cx="1627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fungsi teknis di Lab Manufaktur Presisi, pengujian penetrant NDT, validasi mutu produk, serta sertifikasi SNI &amp; TKDN.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128662" y="2862072"/>
            <a:ext cx="118872" cy="22860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282282" y="1536192"/>
            <a:ext cx="19933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282282" y="1536192"/>
            <a:ext cx="199339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465162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37582" y="1791492"/>
            <a:ext cx="257495" cy="257495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940650" y="1764792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04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7465162" y="222199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INKUBASI BISNIS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7465162" y="2679192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Inkubator STP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7465162" y="2953512"/>
            <a:ext cx="162763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465162" y="3090672"/>
            <a:ext cx="1627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model bisnis teruji, valuasi pasar, perlindungan HKI/Paten, permodalan awal, dan fasilitasi investor industri.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9312250" y="2862072"/>
            <a:ext cx="118872" cy="22860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465869" y="1536192"/>
            <a:ext cx="19933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9465869" y="1536192"/>
            <a:ext cx="199339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9648749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21169" y="1791492"/>
            <a:ext cx="257495" cy="257495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10124237" y="1764792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05</a:t>
            </a:r>
            <a:endParaRPr lang="en-US" sz="850" dirty="0"/>
          </a:p>
        </p:txBody>
      </p:sp>
      <p:sp>
        <p:nvSpPr>
          <p:cNvPr id="52" name="Text 45"/>
          <p:cNvSpPr/>
          <p:nvPr/>
        </p:nvSpPr>
        <p:spPr>
          <a:xfrm>
            <a:off x="9648749" y="222199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KOMERSIALISASI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9648749" y="2679192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&amp; Industri</a:t>
            </a:r>
            <a:endParaRPr lang="en-US" sz="950" dirty="0"/>
          </a:p>
        </p:txBody>
      </p:sp>
      <p:sp>
        <p:nvSpPr>
          <p:cNvPr id="54" name="Shape 47"/>
          <p:cNvSpPr/>
          <p:nvPr/>
        </p:nvSpPr>
        <p:spPr>
          <a:xfrm>
            <a:off x="9648749" y="2953512"/>
            <a:ext cx="162763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9648749" y="3090672"/>
            <a:ext cx="1627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Penetrasi etalase e-Katalog Lokal Pemkot Surakarta, captive market belanja OPD, serta serapan jaringan korporasi nasional.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731520" y="4800600"/>
            <a:ext cx="33375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31520" y="4800600"/>
            <a:ext cx="333756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914400" y="4965192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3529" y="5034321"/>
            <a:ext cx="245791" cy="245791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1389888" y="50200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KURASI KETAT</a:t>
            </a:r>
            <a:endParaRPr lang="en-US" sz="1100" dirty="0"/>
          </a:p>
        </p:txBody>
      </p:sp>
      <p:sp>
        <p:nvSpPr>
          <p:cNvPr id="61" name="Text 53"/>
          <p:cNvSpPr/>
          <p:nvPr/>
        </p:nvSpPr>
        <p:spPr>
          <a:xfrm>
            <a:off x="914400" y="542239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Inovasi wajib mencapai TRL 7-9, memiliki nilai keekonomian jelas, bersertifikat paten/HKI, dan mampu menyelesaikan permasalahan kota/industri.</a:t>
            </a:r>
            <a:endParaRPr lang="en-US" sz="950" dirty="0"/>
          </a:p>
        </p:txBody>
      </p:sp>
      <p:sp>
        <p:nvSpPr>
          <p:cNvPr id="62" name="Shape 54"/>
          <p:cNvSpPr/>
          <p:nvPr/>
        </p:nvSpPr>
        <p:spPr>
          <a:xfrm>
            <a:off x="4425696" y="4800600"/>
            <a:ext cx="33375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4425696" y="4800600"/>
            <a:ext cx="333756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4608576" y="4965192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77705" y="5034321"/>
            <a:ext cx="245791" cy="245791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5084064" y="50200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STRATEGIS STP</a:t>
            </a:r>
            <a:endParaRPr lang="en-US" sz="1100" dirty="0"/>
          </a:p>
        </p:txBody>
      </p:sp>
      <p:sp>
        <p:nvSpPr>
          <p:cNvPr id="67" name="Text 58"/>
          <p:cNvSpPr/>
          <p:nvPr/>
        </p:nvSpPr>
        <p:spPr>
          <a:xfrm>
            <a:off x="4608576" y="542239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berperan sebagai akselerator: menyediakan fasilitas Lab Presisi, pengujian NDT penetrant testing, inkubasi bisnis, dan standardisasi TKDN/SNI.</a:t>
            </a:r>
            <a:endParaRPr lang="en-US" sz="950" dirty="0"/>
          </a:p>
        </p:txBody>
      </p:sp>
      <p:sp>
        <p:nvSpPr>
          <p:cNvPr id="68" name="Shape 59"/>
          <p:cNvSpPr/>
          <p:nvPr/>
        </p:nvSpPr>
        <p:spPr>
          <a:xfrm>
            <a:off x="8119872" y="4800600"/>
            <a:ext cx="33375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8119872" y="4800600"/>
            <a:ext cx="333756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8302752" y="4965192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71881" y="5034321"/>
            <a:ext cx="245791" cy="245791"/>
          </a:xfrm>
          <a:prstGeom prst="rect">
            <a:avLst/>
          </a:prstGeom>
        </p:spPr>
      </p:pic>
      <p:sp>
        <p:nvSpPr>
          <p:cNvPr id="72" name="Text 62"/>
          <p:cNvSpPr/>
          <p:nvPr/>
        </p:nvSpPr>
        <p:spPr>
          <a:xfrm>
            <a:off x="8778240" y="50200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OFF-TAKER GUARANTEE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8302752" y="542239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Jaminan serapan pasar melalui payung Instruksi Walikota e-Katalog Lokal serta koneksi ke 95+ jaringan korporasi mitra skala nasional &amp; global.</a:t>
            </a:r>
            <a:endParaRPr lang="en-US" sz="950" dirty="0"/>
          </a:p>
        </p:txBody>
      </p:sp>
      <p:sp>
        <p:nvSpPr>
          <p:cNvPr id="74" name="Shape 6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65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76" name="Text 66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SHOWCASE INOVASI &amp; FASILITAS CANGGIH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PRODUK INOVASI TERUJI &amp; INFRASTRUKTUR KAWASAN CANGGIH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Nyata Hilirisasi Teknologi Siap Serap Pasar Didukung Fasilitas Kelas Dunia Tanpa Beban APBD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6309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6309360" cy="411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82496"/>
            <a:ext cx="3657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0237" y="1748333"/>
            <a:ext cx="234086" cy="23408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737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PRODUK INOVASI RIIL SIAP PASAR &amp; e-KATALOG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48840"/>
          <a:ext cx="5943600" cy="315468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1188720"/>
                <a:gridCol w="1188720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KLASTER TEKNOLOGI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CONTOH PRODUK INOVASI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TAHAPAN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SERAPAN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Agriculture IoT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Mesin Sortasi Biji Kopi Otomatis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 TRL 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Kelompok Tani &amp; IKM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Agriculture IoT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Teknologi Pertanian Presisi IoT &amp;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 Lapangan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Dinas Pertanian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Agriculture IoT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Mesin Tetas Telur Pintar Mandiri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Siap e-Katalog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Peternak Solo Raya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Tech Mobility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Vehicle Elektrik Kampus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Bersama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Kawasan Wisata &amp; Kampus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GovTech &amp; Pelatihan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 Pelatihan Industri &amp; Chatbot AI OPD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Komersial Aktif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OPD Pemkot &amp; Industri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315200" y="1536192"/>
            <a:ext cx="4144975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0" y="1536192"/>
            <a:ext cx="4144975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0" y="1682496"/>
            <a:ext cx="36576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3917" y="1748333"/>
            <a:ext cx="234086" cy="2340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17373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 5 FASILITAS PENDUKUNG CANGGIH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498080" y="2176272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0625" y="2238817"/>
            <a:ext cx="222382" cy="2223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55280" y="21762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Cyber Security Hub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7955280" y="2377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ketahanan digital &amp; talenta siber nasional bersama BSSN.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7498080" y="2816352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0625" y="2878897"/>
            <a:ext cx="222382" cy="2223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28163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Hub &amp; Digital Studio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7955280" y="3017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game, animasi, &amp; konten kreatif e-sport.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7498080" y="3456432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60625" y="3518977"/>
            <a:ext cx="222382" cy="2223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55280" y="34564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 Center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7955280" y="3657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Laboratorium kecerdasan buatan terapan industri &amp; showcase solusi AI.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7498080" y="4096512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60625" y="4159057"/>
            <a:ext cx="222382" cy="22238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955280" y="40965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GoTo UMKM Center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7955280" y="42976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Akselerasi digitalisasi, kurasi produk, &amp; onboarding pedagang lokal.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7498080" y="4736592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60625" y="4799137"/>
            <a:ext cx="222382" cy="22238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955280" y="47365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Laboratorium Rekayasa Presisi &amp; NDT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7955280" y="49377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 fabrikasi mesin, permesinan presisi &amp; pengujian NDT penetrant.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914400" y="5724144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STRATEGIS: Seluruh fasilitas canggih ini telah aktif dan dapat dimanfaatkan langsung oleh OPD Pemkot Surakarta, kampus riset, dan pelaku industri lokal tanpa perlu alokasi belanja modal baru di APBD.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42" name="Text 32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JEJARING KEMITRAAN STRATEGIS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 HEXAHELIX: 95+ MITRA STRATEGIS TANPA BEBAN APBD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Kepercayaan Korporasi Global &amp; Nasional yang Menanamkan Investasi Langsung di Jantung Kota Surakarta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41148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4114800" cy="411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82496"/>
            <a:ext cx="347472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945" y="1745041"/>
            <a:ext cx="222382" cy="2223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7373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KOMPOSISI 6 AKTOR HEXAHELIX (95+ MITRA)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868680" y="2029968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914400" y="4425696"/>
            <a:ext cx="128016" cy="12801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15568" y="4389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&amp; Bisnis: 37% (35)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880360" y="4425696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081528" y="4389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/ BUMN: 13% (12)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914400" y="4754880"/>
            <a:ext cx="128016" cy="12801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15568" y="471830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Akademisi / Kampus: 21% (20)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880360" y="475488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081528" y="471830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Massa: 8% (8)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4400" y="5084064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15568" y="50474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 &amp; UMKM: 16% (15)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2880360" y="5084064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081528" y="50474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Lembaga Global: 5% (5)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914400" y="5413248"/>
            <a:ext cx="374904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97280" y="5449824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95+ MITRA STRATEGIS AKTIF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Investasi Swasta &amp; PPP (0% Beban APBD)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Akses fasilitas 5G, Cyber Security, AI, &amp; Migas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Saluran penyerapan kerja langsung bagi warga Solo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120640" y="1536192"/>
            <a:ext cx="6339535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20640" y="1536192"/>
            <a:ext cx="6339535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03520" y="1682496"/>
            <a:ext cx="347472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6065" y="1745041"/>
            <a:ext cx="222382" cy="22238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760720" y="173736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INDUSTRI KELAS DUNIA YANG AKTIF BERINVESTASI DI STP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057400"/>
          <a:ext cx="5973775" cy="283464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2773375"/>
              </a:tblGrid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SEKTOR INDUSTRI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MITRA STRATEGIS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NYATA BAGI KAWASAN STP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&amp; Logistik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Shopee Indonesia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Infrastruktur UMKM Hub, Co-location, sewa lahan Rp 544 jt/th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Gaming &amp; Kreatif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Garena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Gaming studio, beasiswa talenta digital, turnamen esports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Perbankan &amp; Fintech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Mandiri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Mandiri Innovation Hub, fasilitasi modal startup binaan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Telekomunikasi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Indosat Ooredoo Hutchison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Laboratorium 5G, konektivitas fiber optik terintegrasi kawasan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Ride-Hailing &amp; UMKM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GoTo (Gojek-Tokopedia)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GoTo UMKM Center, pelatihan onboarding merchant lokal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Migas &amp; Industri Berat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OGSCI Consortium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 migas internasional: Target Rp 6,25 M (2030)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3" name="Shape 27"/>
          <p:cNvSpPr/>
          <p:nvPr/>
        </p:nvSpPr>
        <p:spPr>
          <a:xfrm>
            <a:off x="5303520" y="5029200"/>
            <a:ext cx="5973775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486400" y="525780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8696" y="5340096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126480" y="51389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PRINSIP ZERO APBD BURDEN: SELURUH FASILITAS CANGGIH DIBANGUN OLEH SWASTA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6126480" y="541324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Laboratorium AI, Studio Gaming, 5G Experience, hingga Cyber Security Hub tidak dibangun dengan membebani belanja modal APBD Kota Surakarta. Semuanya hadir melalui kemitraan murni Public-Private Partnership (PPP).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40" name="Text 33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REFLEKSI STRATEGIS &amp; SOLUSI KONKRET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DIAGNOSA &amp; 5 GAP UTAMA BESERTA SOLUSI TEROBOSANNYA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Kajian Kritis Berdasarkan Dokumen Strategi STP 2026: Gap Riil, Risiko, dan Solusi Kebijakan Kepala Daerah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700784"/>
            <a:ext cx="347472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1225" y="1763329"/>
            <a:ext cx="222382" cy="2223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68249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11680" y="168249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Pelatihan Masih Terbatas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197510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Keterbatasan instruktur ahli internal &amp; sarana diklat berbasis industri masa depan.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257800" y="1792224"/>
            <a:ext cx="256032" cy="228600"/>
          </a:xfrm>
          <a:prstGeom prst="rightArrow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1536192"/>
            <a:ext cx="58366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23560" y="1536192"/>
            <a:ext cx="5836615" cy="3200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1700784"/>
            <a:ext cx="347472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3265" y="1763329"/>
            <a:ext cx="222382" cy="2223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17920" y="168249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Gandeng Korporasi Global (OGSCI, Kemenperin) Buka Kelas Spesialis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217920" y="195681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Welder Bawah Air, AI Engineer, Teknisi Baterai EV, &amp; Drone Operator.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31520" y="242316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68680" y="2587752"/>
            <a:ext cx="347472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1225" y="2650297"/>
            <a:ext cx="222382" cy="22238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25880" y="256946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02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2011680" y="256946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Belum Mengarah Hilirisasi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914400" y="28620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Riset kampus berjalan terisolasi, kurang terpetakan, dan belum berorientasi pasar.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257800" y="2679192"/>
            <a:ext cx="256032" cy="228600"/>
          </a:xfrm>
          <a:prstGeom prst="rightArrow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23560" y="2423160"/>
            <a:ext cx="58366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623560" y="2423160"/>
            <a:ext cx="5836615" cy="3200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760720" y="2587752"/>
            <a:ext cx="347472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3265" y="2650297"/>
            <a:ext cx="222382" cy="22238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17920" y="256946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Technology Transfer Office (TTO) &amp; Kurasi Riset Terapan Kampus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217920" y="284378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Konsorsium 5 Perguruan Tinggi Solo Raya (UNS, UMS, ISI, dll.) berbasis problem kota.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731520" y="3310128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68680" y="3474720"/>
            <a:ext cx="347472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1225" y="3537265"/>
            <a:ext cx="222382" cy="22238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25880" y="34564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03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2011680" y="34564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 Kawasan Terbatas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914400" y="37490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Lahan kosong belum optimal dikerjasamakan; promosi investor belum sistematis.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5257800" y="3566160"/>
            <a:ext cx="256032" cy="228600"/>
          </a:xfrm>
          <a:prstGeom prst="rightArrow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5623560" y="3310128"/>
            <a:ext cx="58366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5623560" y="3310128"/>
            <a:ext cx="5836615" cy="3200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5760720" y="3474720"/>
            <a:ext cx="347472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23265" y="3537265"/>
            <a:ext cx="222382" cy="22238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217920" y="345643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Zonasi Investasi Teknologi Terpadu &amp; Long-Term Revenue Sharing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6217920" y="37307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kemitraan 10–25 tahun bagi korporasi teknologi global tanpa beban belanja APBD.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731520" y="4197096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868680" y="4361688"/>
            <a:ext cx="347472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1225" y="4424233"/>
            <a:ext cx="222382" cy="22238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325880" y="4343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04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2011680" y="434340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Finansial Rendah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914400" y="46360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Pendapatan masih bertumpu sewa lahan; hardware lab belum optimal menghasilkan jasa.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5257800" y="4453128"/>
            <a:ext cx="256032" cy="228600"/>
          </a:xfrm>
          <a:prstGeom prst="rightArrow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5623560" y="4197096"/>
            <a:ext cx="58366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5623560" y="4197096"/>
            <a:ext cx="5836615" cy="32004"/>
          </a:xfrm>
          <a:prstGeom prst="rect">
            <a:avLst/>
          </a:prstGeom>
          <a:solidFill>
            <a:srgbClr val="059669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5760720" y="4361688"/>
            <a:ext cx="347472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23265" y="4424233"/>
            <a:ext cx="222382" cy="222382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6217920" y="434340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Diversifikasi 6 Revenue Stream Mandiri &amp; Optimalisasi Aset Industri</a:t>
            </a:r>
            <a:endParaRPr lang="en-US" sz="1000" dirty="0"/>
          </a:p>
        </p:txBody>
      </p:sp>
      <p:sp>
        <p:nvSpPr>
          <p:cNvPr id="58" name="Text 48"/>
          <p:cNvSpPr/>
          <p:nvPr/>
        </p:nvSpPr>
        <p:spPr>
          <a:xfrm>
            <a:off x="6217920" y="46177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NDT penetrant, TUK/JFT mandiri, rekayasa manufaktur, co-working, &amp; startup binaan.</a:t>
            </a:r>
            <a:endParaRPr lang="en-US" sz="850" dirty="0"/>
          </a:p>
        </p:txBody>
      </p:sp>
      <p:sp>
        <p:nvSpPr>
          <p:cNvPr id="59" name="Shape 49"/>
          <p:cNvSpPr/>
          <p:nvPr/>
        </p:nvSpPr>
        <p:spPr>
          <a:xfrm>
            <a:off x="731520" y="5084064"/>
            <a:ext cx="4389120" cy="777240"/>
          </a:xfrm>
          <a:prstGeom prst="rect">
            <a:avLst/>
          </a:prstGeom>
          <a:solidFill>
            <a:srgbClr val="FFFBE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868680" y="5248656"/>
            <a:ext cx="347472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1225" y="5311201"/>
            <a:ext cx="222382" cy="222382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1325880" y="52303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05</a:t>
            </a:r>
            <a:endParaRPr lang="en-US" sz="900" dirty="0"/>
          </a:p>
        </p:txBody>
      </p:sp>
      <p:sp>
        <p:nvSpPr>
          <p:cNvPr id="63" name="Text 52"/>
          <p:cNvSpPr/>
          <p:nvPr/>
        </p:nvSpPr>
        <p:spPr>
          <a:xfrm>
            <a:off x="2011680" y="523036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Promosi &amp; Penyerapan Rendah</a:t>
            </a:r>
            <a:endParaRPr lang="en-US" sz="1000" dirty="0"/>
          </a:p>
        </p:txBody>
      </p:sp>
      <p:sp>
        <p:nvSpPr>
          <p:cNvPr id="64" name="Text 53"/>
          <p:cNvSpPr/>
          <p:nvPr/>
        </p:nvSpPr>
        <p:spPr>
          <a:xfrm>
            <a:off x="914400" y="552297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Networking kurang ter-maintenance; belum ada regulasi penyerapan inovasi lokal.</a:t>
            </a:r>
            <a:endParaRPr lang="en-US" sz="850" dirty="0"/>
          </a:p>
        </p:txBody>
      </p:sp>
      <p:sp>
        <p:nvSpPr>
          <p:cNvPr id="65" name="Shape 54"/>
          <p:cNvSpPr/>
          <p:nvPr/>
        </p:nvSpPr>
        <p:spPr>
          <a:xfrm>
            <a:off x="5257800" y="5340096"/>
            <a:ext cx="256032" cy="228600"/>
          </a:xfrm>
          <a:prstGeom prst="rightArrow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5623560" y="5084064"/>
            <a:ext cx="5836615" cy="777240"/>
          </a:xfrm>
          <a:prstGeom prst="rect">
            <a:avLst/>
          </a:prstGeom>
          <a:solidFill>
            <a:srgbClr val="FFFBE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>
            <a:off x="5623560" y="5084064"/>
            <a:ext cx="5836615" cy="320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8" name="Shape 57"/>
          <p:cNvSpPr/>
          <p:nvPr/>
        </p:nvSpPr>
        <p:spPr>
          <a:xfrm>
            <a:off x="5760720" y="5248656"/>
            <a:ext cx="347472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23265" y="5311201"/>
            <a:ext cx="222382" cy="222382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6217920" y="52303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Instruksi Walikota untuk e-Katalog Lokal Afirmatif</a:t>
            </a:r>
            <a:endParaRPr lang="en-US" sz="1000" dirty="0"/>
          </a:p>
        </p:txBody>
      </p:sp>
      <p:sp>
        <p:nvSpPr>
          <p:cNvPr id="71" name="Text 59"/>
          <p:cNvSpPr/>
          <p:nvPr/>
        </p:nvSpPr>
        <p:spPr>
          <a:xfrm>
            <a:off x="6217920" y="55046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Wajibkan OPD Pemkot menyerap produk/layanan tenant binaan STP (Target: Rp 2,25 Miliar).</a:t>
            </a:r>
            <a:endParaRPr lang="en-US" sz="850" dirty="0"/>
          </a:p>
        </p:txBody>
      </p:sp>
      <p:sp>
        <p:nvSpPr>
          <p:cNvPr id="72" name="Shape 60"/>
          <p:cNvSpPr/>
          <p:nvPr/>
        </p:nvSpPr>
        <p:spPr>
          <a:xfrm>
            <a:off x="731520" y="6016752"/>
            <a:ext cx="10728655" cy="530352"/>
          </a:xfrm>
          <a:prstGeom prst="rect">
            <a:avLst/>
          </a:prstGeom>
          <a:solidFill>
            <a:srgbClr val="FFFBE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3" name="Shape 61"/>
          <p:cNvSpPr/>
          <p:nvPr/>
        </p:nvSpPr>
        <p:spPr>
          <a:xfrm>
            <a:off x="868680" y="6108192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7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31225" y="6170737"/>
            <a:ext cx="222382" cy="222382"/>
          </a:xfrm>
          <a:prstGeom prst="rect">
            <a:avLst/>
          </a:prstGeom>
        </p:spPr>
      </p:pic>
      <p:sp>
        <p:nvSpPr>
          <p:cNvPr id="75" name="Text 62"/>
          <p:cNvSpPr/>
          <p:nvPr/>
        </p:nvSpPr>
        <p:spPr>
          <a:xfrm>
            <a:off x="1325880" y="6089904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PRIORITAS UTAMA #5: INSTRUKSI WALIKOTA e-KATALOG LOKAL AFIRMATIF (QUICK WIN 30 HARI)</a:t>
            </a:r>
            <a:endParaRPr lang="en-US" sz="950" dirty="0"/>
          </a:p>
        </p:txBody>
      </p:sp>
      <p:sp>
        <p:nvSpPr>
          <p:cNvPr id="76" name="Text 63"/>
          <p:cNvSpPr/>
          <p:nvPr/>
        </p:nvSpPr>
        <p:spPr>
          <a:xfrm>
            <a:off x="1325880" y="6291072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Membuka captive market Rp 2,25 Miliar serapan belanja OPD Pemkot Surakarta di 2030 bagi 80+ produk tenant dan startup binaan STP tanpa perlu alokasi pagu belanja baru di APBD. Hanya butuh 1 lembar Instruksi Walikota.</a:t>
            </a:r>
            <a:endParaRPr lang="en-US" sz="850" dirty="0"/>
          </a:p>
        </p:txBody>
      </p:sp>
      <p:sp>
        <p:nvSpPr>
          <p:cNvPr id="77" name="Shape 6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65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79" name="Text 66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PETA JALAN STRATEGIS KELEMBAGAAN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3 FASE TRANSFORMASI: DARI CENTRE MENUJU HOLDING INOVASI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Terukur dan Bertahap Menuju Kemandirian Finansial Penuh Tanpa Subsidi Belanja APBD 2030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33375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3337560" cy="45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2540" y="1791492"/>
            <a:ext cx="257495" cy="2574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7373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(2026–2027)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63040" y="1920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OF INNOVATION &amp; CONNECTIVITY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2359152"/>
            <a:ext cx="2971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377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Rp 7,50 M ➔ Rp 12,53 M (+67%)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2862072"/>
            <a:ext cx="146304" cy="1463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07008" y="28346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Pondasi tata kelola kelembagaan BLUD akuntabel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120" y="3300984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2735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Akreditasi laboratorium industri &amp; standarisasi uji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20" y="3739896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07008" y="371246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mutu diklat vokasi &amp; kemitraan OGSCI</a:t>
            </a:r>
            <a:endParaRPr lang="en-US" sz="9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0120" y="4178808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415137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Pembentukan Konsorsium Riset 5 Kampus Solo Raya</a:t>
            </a:r>
            <a:endParaRPr lang="en-US" sz="9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0120" y="4617720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07008" y="45902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Aktivasi TUK Mandiri &amp; program SMK GoGlobal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4160520" y="3044952"/>
            <a:ext cx="173736" cy="256032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4425696" y="1536192"/>
            <a:ext cx="33375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425696" y="1536192"/>
            <a:ext cx="33375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654296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26716" y="1791492"/>
            <a:ext cx="257495" cy="25749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57216" y="17373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(2028–2029)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5157216" y="1920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 TECHNOPARK (SBU MANDIRI)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4608576" y="2359152"/>
            <a:ext cx="2971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608576" y="2377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Rp 12,53 M ➔ Rp 20,62 M (+65%)</a:t>
            </a:r>
            <a:endParaRPr lang="en-US" sz="9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54296" y="2862072"/>
            <a:ext cx="146304" cy="14630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901184" y="28346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Pembentukan Strategic Business Unit (SBU) profesional</a:t>
            </a:r>
            <a:endParaRPr lang="en-US" sz="9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54296" y="3300984"/>
            <a:ext cx="146304" cy="14630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901184" y="32735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Hilirisasi 15–20 produk inovasi komersial ber-TKDN</a:t>
            </a:r>
            <a:endParaRPr lang="en-US" sz="9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54296" y="3739896"/>
            <a:ext cx="146304" cy="14630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4901184" y="371246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corporate marketing &amp; penetrasi pasar nasional</a:t>
            </a:r>
            <a:endParaRPr lang="en-US" sz="95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654296" y="4178808"/>
            <a:ext cx="146304" cy="146304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4901184" y="415137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revenue OGSCI Migas mencapai Rp 5,5 Miliar</a:t>
            </a:r>
            <a:endParaRPr lang="en-US" sz="95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654296" y="4617720"/>
            <a:ext cx="146304" cy="146304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4901184" y="45902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Operasionalisasi Co-Working &amp; Virtual Office penuh</a:t>
            </a:r>
            <a:endParaRPr lang="en-US" sz="950" dirty="0"/>
          </a:p>
        </p:txBody>
      </p:sp>
      <p:sp>
        <p:nvSpPr>
          <p:cNvPr id="44" name="Shape 30"/>
          <p:cNvSpPr/>
          <p:nvPr/>
        </p:nvSpPr>
        <p:spPr>
          <a:xfrm>
            <a:off x="7854696" y="3044952"/>
            <a:ext cx="173736" cy="256032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>
            <a:off x="8119872" y="1536192"/>
            <a:ext cx="33375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>
            <a:off x="8119872" y="1536192"/>
            <a:ext cx="33375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Shape 33"/>
          <p:cNvSpPr/>
          <p:nvPr/>
        </p:nvSpPr>
        <p:spPr>
          <a:xfrm>
            <a:off x="8348472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20892" y="1791492"/>
            <a:ext cx="257495" cy="257495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8851392" y="173736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(2029–2030)</a:t>
            </a:r>
            <a:endParaRPr lang="en-US" sz="900" dirty="0"/>
          </a:p>
        </p:txBody>
      </p:sp>
      <p:sp>
        <p:nvSpPr>
          <p:cNvPr id="50" name="Text 35"/>
          <p:cNvSpPr/>
          <p:nvPr/>
        </p:nvSpPr>
        <p:spPr>
          <a:xfrm>
            <a:off x="8851392" y="1920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POSITIONING &amp; HOLDING</a:t>
            </a:r>
            <a:endParaRPr lang="en-US" sz="1150" dirty="0"/>
          </a:p>
        </p:txBody>
      </p:sp>
      <p:sp>
        <p:nvSpPr>
          <p:cNvPr id="51" name="Shape 36"/>
          <p:cNvSpPr/>
          <p:nvPr/>
        </p:nvSpPr>
        <p:spPr>
          <a:xfrm>
            <a:off x="8302752" y="2359152"/>
            <a:ext cx="2971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37"/>
          <p:cNvSpPr/>
          <p:nvPr/>
        </p:nvSpPr>
        <p:spPr>
          <a:xfrm>
            <a:off x="8302752" y="2377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Rp 20,62 M ➔ Rp 23,47 M (MANDIRI)</a:t>
            </a:r>
            <a:endParaRPr lang="en-US" sz="950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48472" y="2862072"/>
            <a:ext cx="146304" cy="146304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8595360" y="28346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Kemandirian finansial penuh: 0% subsidi belanja APBD</a:t>
            </a:r>
            <a:endParaRPr lang="en-US" sz="950" dirty="0"/>
          </a:p>
        </p:txBody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348472" y="3300984"/>
            <a:ext cx="146304" cy="146304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8595360" y="32735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holding company inovasi daerah pertama</a:t>
            </a:r>
            <a:endParaRPr lang="en-US" sz="95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348472" y="3739896"/>
            <a:ext cx="146304" cy="146304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8595360" y="371246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pengembangan Indonesia Digital Technopark</a:t>
            </a:r>
            <a:endParaRPr lang="en-US" sz="950" dirty="0"/>
          </a:p>
        </p:txBody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348472" y="4178808"/>
            <a:ext cx="146304" cy="146304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8595360" y="415137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Realisasi target pendapatan mandiri Rp 23,47 Miliar</a:t>
            </a:r>
            <a:endParaRPr lang="en-US" sz="950" dirty="0"/>
          </a:p>
        </p:txBody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348472" y="4617720"/>
            <a:ext cx="146304" cy="146304"/>
          </a:xfrm>
          <a:prstGeom prst="rect">
            <a:avLst/>
          </a:prstGeom>
        </p:spPr>
      </p:pic>
      <p:sp>
        <p:nvSpPr>
          <p:cNvPr id="62" name="Text 42"/>
          <p:cNvSpPr/>
          <p:nvPr/>
        </p:nvSpPr>
        <p:spPr>
          <a:xfrm>
            <a:off x="8595360" y="45902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jejaring kemitraan dan penempatan global</a:t>
            </a:r>
            <a:endParaRPr lang="en-US" sz="950" dirty="0"/>
          </a:p>
        </p:txBody>
      </p:sp>
      <p:sp>
        <p:nvSpPr>
          <p:cNvPr id="63" name="Shape 43"/>
          <p:cNvSpPr/>
          <p:nvPr/>
        </p:nvSpPr>
        <p:spPr>
          <a:xfrm>
            <a:off x="731520" y="525780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44"/>
          <p:cNvSpPr/>
          <p:nvPr/>
        </p:nvSpPr>
        <p:spPr>
          <a:xfrm>
            <a:off x="914400" y="5349240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TARGET TAHUNAN MENUJU KEMANDIRIAN 2030 (AUDIT FINANSIAL RIIL):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5596128"/>
          <a:ext cx="10362895" cy="594360"/>
        </p:xfrm>
        <a:graphic>
          <a:graphicData uri="http://schemas.openxmlformats.org/drawingml/2006/table">
            <a:tbl>
              <a:tblPr/>
              <a:tblGrid>
                <a:gridCol w="2066544"/>
                <a:gridCol w="2066544"/>
                <a:gridCol w="2066544"/>
                <a:gridCol w="2066544"/>
                <a:gridCol w="2093976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TAHUN 2026 (Baseline)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TAHUN 2027 (+67,0%)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TAHUN 2028 (+28,5%)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TAHUN 2029 (+28,0%)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TAHUN 2030 (MANDIRI)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7.503.392.698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12.532.185.031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16.100.658.831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20.615.658.831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23.468.158.831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66" name="Shape 4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46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68" name="Text 47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PROYEKSI KEUANGAN BLUD 2026–2030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RE-SETTING TARGET FINANSIAL: LOMPATAN KEMANDIRIAN BLUD +212,8%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Pendapatan Mandiri Riil dari Rp 7,50 Miliar (2026) menuju Rp 23,47 Miliar (2030) — Tanpa Subsidi APBD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6309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6309360" cy="411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82496"/>
            <a:ext cx="347472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945" y="1745041"/>
            <a:ext cx="222382" cy="2223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73736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PERTUMBUHAN PENDAPATAN BLUD 2026–2030 (DALAM RP MILIAR)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914400" y="2057400"/>
          <a:ext cx="5943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7315200" y="1536192"/>
            <a:ext cx="414497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0" y="1536192"/>
            <a:ext cx="4144975" cy="411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0" y="1700784"/>
            <a:ext cx="384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7209" y="1769913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1000" y="1682496"/>
            <a:ext cx="3276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TITIK IMPAS OPERASIONAL (BEP 2028)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001000" y="1865376"/>
            <a:ext cx="3276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16,10 Miliar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498080" y="2194560"/>
            <a:ext cx="3779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Tercapai di tahun ke-3 seiring beroperasinya Strategic Business Unit (SBU) manufaktur presisi &amp; serapan pasar produk hilirisasi.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315200" y="2953512"/>
            <a:ext cx="414497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0" y="2953512"/>
            <a:ext cx="4144975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0" y="3118104"/>
            <a:ext cx="384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67209" y="3187233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01000" y="3099816"/>
            <a:ext cx="3276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100% BEBAS APBD (2030)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001000" y="3282696"/>
            <a:ext cx="3276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23,47 Miliar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98080" y="3611880"/>
            <a:ext cx="3779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belanja operasional UPTD STP tertutup 100% dari jasa layanan BLUD mandiri tanpa membebani kas APBD Kota Surakarta.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315200" y="4370832"/>
            <a:ext cx="414497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315200" y="4370832"/>
            <a:ext cx="4144975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498080" y="4535424"/>
            <a:ext cx="384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7209" y="4604553"/>
            <a:ext cx="245791" cy="24579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01000" y="4517136"/>
            <a:ext cx="3276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KUALITAS PENDAPATAN BERKELANJUTAN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8001000" y="4700016"/>
            <a:ext cx="3276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Produktif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498080" y="5029200"/>
            <a:ext cx="3779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pendapatan dihasilkan dari riset vokasi industri &amp; startup binaan, menggantikan paradigma lama yang bertumpu pada sewa lahan pasif.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731520" y="5715000"/>
            <a:ext cx="10728655" cy="5669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EKSEKUTIF: Lompatan +212,8% bukan angka angan-angan, melainkan hasil rekonsiliasi berbasis kontrak riil bersama konsorsium industri, hilirisasi produk siap e-Katalog, serta optimalisasi aset BLUD yang akuntabel.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STRUKTUR PENDAPATAN MANDIRI 2030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6 KLASTER REVENUE STREAM 2030 &amp; TOP 5 KATALISATOR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Diversifikasi Portofolio Pendapatan Sehat Menuju Target Rp 23,47 Miliar per Tahun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49377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49377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82496"/>
            <a:ext cx="347472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945" y="1745041"/>
            <a:ext cx="222382" cy="2223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73736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REVENUE STREAM 2030 (RP 23,47 M)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914400" y="2029968"/>
          <a:ext cx="45720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914400" y="4654296"/>
            <a:ext cx="146304" cy="14630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3856" y="461772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Strategis: 54,6% (Rp 12,83 M)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337560" y="4654296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57016" y="461772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Lain-lain BLUD / MICE: 10,4% (Rp 2,45 M)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14400" y="5065776"/>
            <a:ext cx="146304" cy="14630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33856" y="502920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&amp; Sertifikasi: 15,7% (Rp 3,68 M)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337560" y="506577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57016" y="502920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Rekayasa Manufaktur: 6,2% (Rp 1,47 M)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914400" y="5477256"/>
            <a:ext cx="146304" cy="14630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33856" y="544068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Diklat Mandiri Spesialis: 10,5% (Rp 2,47 M)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337560" y="5477256"/>
            <a:ext cx="146304" cy="14630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57016" y="544068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Lahan: 2,5% (Rp 0,58 M)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14400" y="5806440"/>
            <a:ext cx="45720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05840" y="58338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SEHAT: 88% disumbang riset &amp; inovasi, sewa lahan pasif hanya 2,5%.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943600" y="1536192"/>
            <a:ext cx="5516575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943600" y="1536192"/>
            <a:ext cx="5516575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126480" y="1682496"/>
            <a:ext cx="347472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9025" y="1745041"/>
            <a:ext cx="222382" cy="22238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583680" y="173736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KATALISATOR PENDAPATAN MANDIRI 2030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126480" y="2084832"/>
            <a:ext cx="5150815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17920" y="2194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720840" y="217627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OGSCI Program Migas &amp; Maritim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720840" y="23957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Revenue Mandiri: Pelatihan spesialis migas &amp; sertifikasi internasional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9326880" y="22494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6.250.000.000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6126480" y="2834640"/>
            <a:ext cx="5150815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217920" y="29443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6720840" y="292608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Pemda Solo (e-Katalog Inovasi)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720840" y="31455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Instruksi Walikota: Penyerapan produk teknologi &amp; layanan tenant oleh OPD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9326880" y="2999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2.250.000.000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6126480" y="3584448"/>
            <a:ext cx="5150815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217920" y="36941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6720840" y="36758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Binaan STP (Komersialisasi)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720840" y="38953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&amp; Jasa Alih Teknologi dari hasil inkubasi hilirisasi riset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932688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2.000.000.000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6126480" y="4334256"/>
            <a:ext cx="5150815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217920" y="444398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400" dirty="0"/>
          </a:p>
        </p:txBody>
      </p:sp>
      <p:sp>
        <p:nvSpPr>
          <p:cNvPr id="49" name="Text 44"/>
          <p:cNvSpPr/>
          <p:nvPr/>
        </p:nvSpPr>
        <p:spPr>
          <a:xfrm>
            <a:off x="6720840" y="44256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Sertifikasi Tenaga JFT Fungsional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6720840" y="46451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sertifikasi kompetensi ASN &amp; instruktur teknis se-Jawa Tengah</a:t>
            </a:r>
            <a:endParaRPr lang="en-US" sz="850" dirty="0"/>
          </a:p>
        </p:txBody>
      </p:sp>
      <p:sp>
        <p:nvSpPr>
          <p:cNvPr id="51" name="Text 46"/>
          <p:cNvSpPr/>
          <p:nvPr/>
        </p:nvSpPr>
        <p:spPr>
          <a:xfrm>
            <a:off x="9326880" y="4498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1.375.000.000</a:t>
            </a:r>
            <a:endParaRPr lang="en-US" sz="1150" dirty="0"/>
          </a:p>
        </p:txBody>
      </p:sp>
      <p:sp>
        <p:nvSpPr>
          <p:cNvPr id="52" name="Shape 47"/>
          <p:cNvSpPr/>
          <p:nvPr/>
        </p:nvSpPr>
        <p:spPr>
          <a:xfrm>
            <a:off x="6126480" y="5084064"/>
            <a:ext cx="5150815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217920" y="51937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400" dirty="0"/>
          </a:p>
        </p:txBody>
      </p:sp>
      <p:sp>
        <p:nvSpPr>
          <p:cNvPr id="54" name="Text 49"/>
          <p:cNvSpPr/>
          <p:nvPr/>
        </p:nvSpPr>
        <p:spPr>
          <a:xfrm>
            <a:off x="6720840" y="517550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 Uji Kompetensi (TUK) Mandiri</a:t>
            </a:r>
            <a:endParaRPr lang="en-US" sz="1000" dirty="0"/>
          </a:p>
        </p:txBody>
      </p:sp>
      <p:sp>
        <p:nvSpPr>
          <p:cNvPr id="55" name="Text 50"/>
          <p:cNvSpPr/>
          <p:nvPr/>
        </p:nvSpPr>
        <p:spPr>
          <a:xfrm>
            <a:off x="6720840" y="5394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sertifikasi BNSP bidang pengelasan, manufaktur, dan cyber security</a:t>
            </a:r>
            <a:endParaRPr lang="en-US" sz="850" dirty="0"/>
          </a:p>
        </p:txBody>
      </p:sp>
      <p:sp>
        <p:nvSpPr>
          <p:cNvPr id="56" name="Text 51"/>
          <p:cNvSpPr/>
          <p:nvPr/>
        </p:nvSpPr>
        <p:spPr>
          <a:xfrm>
            <a:off x="9326880" y="52486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1.350.000.000</a:t>
            </a:r>
            <a:endParaRPr lang="en-US" sz="1150" dirty="0"/>
          </a:p>
        </p:txBody>
      </p:sp>
      <p:sp>
        <p:nvSpPr>
          <p:cNvPr id="57" name="Shape 52"/>
          <p:cNvSpPr/>
          <p:nvPr/>
        </p:nvSpPr>
        <p:spPr>
          <a:xfrm>
            <a:off x="6126480" y="5833872"/>
            <a:ext cx="5150815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217920" y="5870448"/>
            <a:ext cx="49679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TOP 5 KATALISATOR: Rp 13,22 MILIAR (56,3% DARI TOTAL TARGET 2030)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TRANSPARANSI ANGGARAN &amp; STRUKTUR PENDAPATAN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MESIN PENDAPATAN 2030: RINCIAN PER MATA ANGGARAN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 Total Hasil Rekonsiliasi: Dari Mana Setiap Rupiah dari Target Rp 23,47 Miliar Berasal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81328"/>
            <a:ext cx="5857846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58578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A: Kemitraan Strategis (54,6%)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89366" y="1481328"/>
            <a:ext cx="1684399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9366" y="1508760"/>
            <a:ext cx="168439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Vokasi (15,7%)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273765" y="1481328"/>
            <a:ext cx="1126509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3765" y="1508760"/>
            <a:ext cx="11265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Diklat (10,5%)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400273" y="1481328"/>
            <a:ext cx="111578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0273" y="1508760"/>
            <a:ext cx="11157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MICE (10,4%)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0516054" y="1481328"/>
            <a:ext cx="665177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81230" y="1481328"/>
            <a:ext cx="278945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1810512"/>
            <a:ext cx="438912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1810512"/>
            <a:ext cx="438912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1965960"/>
            <a:ext cx="402336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6820" y="2038380"/>
            <a:ext cx="257495" cy="25749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1732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UTAMA (54,6% REVENUE)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A: KERJASAMA STRATEGIS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474720" y="1938528"/>
            <a:ext cx="1508760" cy="512064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0" y="1975104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12.825.000.000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54,65% DARI TOTAL TARGET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914400" y="2560320"/>
            <a:ext cx="4023360" cy="512064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51560" y="26334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OGSCI Migas &amp; Maritim (Konsorsium)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51560" y="28346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[Anchor Revenue Mandiri]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926080" y="27066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6.250.000.000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14400" y="3127248"/>
            <a:ext cx="402336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51560" y="32004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Pemda Solo (e-Katalog Inovasi)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51560" y="34015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[Instruksi Walikota]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926080" y="3273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2.250.000.000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14400" y="3694176"/>
            <a:ext cx="402336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51560" y="3767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Binaan STP (Komersialisasi)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51560" y="396849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[Success Fee &amp; Jasa]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926080" y="38404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2.000.000.000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914400" y="4261104"/>
            <a:ext cx="402336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51560" y="433425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BP3MI - SMK GoGlobal (Talenta Luar Negeri)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51560" y="45354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[Penempatan Global]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926080" y="44074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1.500.000.000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914400" y="4828032"/>
            <a:ext cx="402336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51560" y="49011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Kemenperin &amp; Mitra LPK Industri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51560" y="51023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[Subsidi Pelatihan]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926080" y="49743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825.000.000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914400" y="5440680"/>
            <a:ext cx="4023360" cy="34747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60120" y="54681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STRATEGIS: 1 program konsorsium OGSCI (Rp 6,25 M) setara 83% pendapatan STP tahun 2026. Ditambah e-Katalog Pemda, klaster ini menjamin kemandirian tanpa APBD.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303520" y="1810512"/>
            <a:ext cx="2971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303520" y="1810512"/>
            <a:ext cx="2971800" cy="3657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440680" y="1920240"/>
            <a:ext cx="329184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9933" y="1979493"/>
            <a:ext cx="210678" cy="210678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852160" y="19202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B: VOKASI &amp; SERTIFIKASI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3.679.800.000 (15,7%)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5486400" y="23317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JFT Fungsional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7040880" y="233172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1.375.000.000</a:t>
            </a:r>
            <a:endParaRPr lang="en-US" sz="850" dirty="0"/>
          </a:p>
        </p:txBody>
      </p:sp>
      <p:sp>
        <p:nvSpPr>
          <p:cNvPr id="53" name="Text 49"/>
          <p:cNvSpPr/>
          <p:nvPr/>
        </p:nvSpPr>
        <p:spPr>
          <a:xfrm>
            <a:off x="5486400" y="26791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 Mandiri Terakreditasi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7040880" y="26791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1.350.000.000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5486400" y="30266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 Lab &amp; Data Center</a:t>
            </a:r>
            <a:endParaRPr lang="en-US" sz="850" dirty="0"/>
          </a:p>
        </p:txBody>
      </p:sp>
      <p:sp>
        <p:nvSpPr>
          <p:cNvPr id="56" name="Text 52"/>
          <p:cNvSpPr/>
          <p:nvPr/>
        </p:nvSpPr>
        <p:spPr>
          <a:xfrm>
            <a:off x="7040880" y="302666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950.000.000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5486400" y="337413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Prakerin SMK Solo Raya</a:t>
            </a:r>
            <a:endParaRPr lang="en-US" sz="850" dirty="0"/>
          </a:p>
        </p:txBody>
      </p:sp>
      <p:sp>
        <p:nvSpPr>
          <p:cNvPr id="58" name="Text 54"/>
          <p:cNvSpPr/>
          <p:nvPr/>
        </p:nvSpPr>
        <p:spPr>
          <a:xfrm>
            <a:off x="7040880" y="337413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4.800.000</a:t>
            </a:r>
            <a:endParaRPr lang="en-US" sz="850" dirty="0"/>
          </a:p>
        </p:txBody>
      </p:sp>
      <p:sp>
        <p:nvSpPr>
          <p:cNvPr id="59" name="Shape 55"/>
          <p:cNvSpPr/>
          <p:nvPr/>
        </p:nvSpPr>
        <p:spPr>
          <a:xfrm>
            <a:off x="8458200" y="1810512"/>
            <a:ext cx="3001975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8458200" y="1810512"/>
            <a:ext cx="3001975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8595360" y="1920240"/>
            <a:ext cx="329184" cy="329184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4613" y="1979493"/>
            <a:ext cx="210678" cy="210678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9006840" y="1920240"/>
            <a:ext cx="23618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C: DIKLAT SPESIALIS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2.469.000.000 (10,5%)</a:t>
            </a:r>
            <a:endParaRPr lang="en-US" sz="850" dirty="0"/>
          </a:p>
        </p:txBody>
      </p:sp>
      <p:sp>
        <p:nvSpPr>
          <p:cNvPr id="64" name="Text 59"/>
          <p:cNvSpPr/>
          <p:nvPr/>
        </p:nvSpPr>
        <p:spPr>
          <a:xfrm>
            <a:off x="8641080" y="230428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Wet Welding</a:t>
            </a:r>
            <a:endParaRPr lang="en-US" sz="800" dirty="0"/>
          </a:p>
        </p:txBody>
      </p:sp>
      <p:sp>
        <p:nvSpPr>
          <p:cNvPr id="65" name="Text 60"/>
          <p:cNvSpPr/>
          <p:nvPr/>
        </p:nvSpPr>
        <p:spPr>
          <a:xfrm>
            <a:off x="10241280" y="230428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846.000.000</a:t>
            </a:r>
            <a:endParaRPr lang="en-US" sz="800" dirty="0"/>
          </a:p>
        </p:txBody>
      </p:sp>
      <p:sp>
        <p:nvSpPr>
          <p:cNvPr id="66" name="Text 61"/>
          <p:cNvSpPr/>
          <p:nvPr/>
        </p:nvSpPr>
        <p:spPr>
          <a:xfrm>
            <a:off x="8641080" y="25877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Manufaktur &amp; Welding Intensif</a:t>
            </a:r>
            <a:endParaRPr lang="en-US" sz="800" dirty="0"/>
          </a:p>
        </p:txBody>
      </p:sp>
      <p:sp>
        <p:nvSpPr>
          <p:cNvPr id="67" name="Text 62"/>
          <p:cNvSpPr/>
          <p:nvPr/>
        </p:nvSpPr>
        <p:spPr>
          <a:xfrm>
            <a:off x="10241280" y="258775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728.000.000</a:t>
            </a:r>
            <a:endParaRPr lang="en-US" sz="800" dirty="0"/>
          </a:p>
        </p:txBody>
      </p:sp>
      <p:sp>
        <p:nvSpPr>
          <p:cNvPr id="68" name="Text 63"/>
          <p:cNvSpPr/>
          <p:nvPr/>
        </p:nvSpPr>
        <p:spPr>
          <a:xfrm>
            <a:off x="8641080" y="28712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Desain, Manajerial &amp; EV</a:t>
            </a:r>
            <a:endParaRPr lang="en-US" sz="800" dirty="0"/>
          </a:p>
        </p:txBody>
      </p:sp>
      <p:sp>
        <p:nvSpPr>
          <p:cNvPr id="69" name="Text 64"/>
          <p:cNvSpPr/>
          <p:nvPr/>
        </p:nvSpPr>
        <p:spPr>
          <a:xfrm>
            <a:off x="10241280" y="287121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555.000.000</a:t>
            </a:r>
            <a:endParaRPr lang="en-US" sz="800" dirty="0"/>
          </a:p>
        </p:txBody>
      </p:sp>
      <p:sp>
        <p:nvSpPr>
          <p:cNvPr id="70" name="Text 65"/>
          <p:cNvSpPr/>
          <p:nvPr/>
        </p:nvSpPr>
        <p:spPr>
          <a:xfrm>
            <a:off x="8641080" y="31546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Tech (AI &amp; Cyber)</a:t>
            </a:r>
            <a:endParaRPr lang="en-US" sz="800" dirty="0"/>
          </a:p>
        </p:txBody>
      </p:sp>
      <p:sp>
        <p:nvSpPr>
          <p:cNvPr id="71" name="Text 66"/>
          <p:cNvSpPr/>
          <p:nvPr/>
        </p:nvSpPr>
        <p:spPr>
          <a:xfrm>
            <a:off x="10241280" y="315468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225.000.000</a:t>
            </a:r>
            <a:endParaRPr lang="en-US" sz="800" dirty="0"/>
          </a:p>
        </p:txBody>
      </p:sp>
      <p:sp>
        <p:nvSpPr>
          <p:cNvPr id="72" name="Text 67"/>
          <p:cNvSpPr/>
          <p:nvPr/>
        </p:nvSpPr>
        <p:spPr>
          <a:xfrm>
            <a:off x="8641080" y="343814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Kewirausahaan &amp; UMKM</a:t>
            </a:r>
            <a:endParaRPr lang="en-US" sz="800" dirty="0"/>
          </a:p>
        </p:txBody>
      </p:sp>
      <p:sp>
        <p:nvSpPr>
          <p:cNvPr id="73" name="Text 68"/>
          <p:cNvSpPr/>
          <p:nvPr/>
        </p:nvSpPr>
        <p:spPr>
          <a:xfrm>
            <a:off x="10241280" y="343814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115.000.000</a:t>
            </a:r>
            <a:endParaRPr lang="en-US" sz="800" dirty="0"/>
          </a:p>
        </p:txBody>
      </p:sp>
      <p:sp>
        <p:nvSpPr>
          <p:cNvPr id="74" name="Shape 69"/>
          <p:cNvSpPr/>
          <p:nvPr/>
        </p:nvSpPr>
        <p:spPr>
          <a:xfrm>
            <a:off x="5303520" y="3886200"/>
            <a:ext cx="1920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5303520" y="3886200"/>
            <a:ext cx="1920240" cy="320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5413248" y="3977640"/>
            <a:ext cx="292608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5917" y="4030309"/>
            <a:ext cx="187269" cy="187269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5779008" y="39776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D: MICE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2.450.000.000 (10,4%)</a:t>
            </a:r>
            <a:endParaRPr lang="en-US" sz="750" dirty="0"/>
          </a:p>
        </p:txBody>
      </p:sp>
      <p:sp>
        <p:nvSpPr>
          <p:cNvPr id="79" name="Text 73"/>
          <p:cNvSpPr/>
          <p:nvPr/>
        </p:nvSpPr>
        <p:spPr>
          <a:xfrm>
            <a:off x="5413248" y="4572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Sarana/MICE: Rp 1,50 M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Co-Working: Rp 900 Jt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Jasa Giro Kas: Rp 50 Jt</a:t>
            </a:r>
            <a:endParaRPr lang="en-US" sz="800" dirty="0"/>
          </a:p>
        </p:txBody>
      </p:sp>
      <p:sp>
        <p:nvSpPr>
          <p:cNvPr id="80" name="Shape 74"/>
          <p:cNvSpPr/>
          <p:nvPr/>
        </p:nvSpPr>
        <p:spPr>
          <a:xfrm>
            <a:off x="7360920" y="3886200"/>
            <a:ext cx="19202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7360920" y="3886200"/>
            <a:ext cx="1920240" cy="320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7470648" y="3977640"/>
            <a:ext cx="292608" cy="292608"/>
          </a:xfrm>
          <a:prstGeom prst="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pic>
        <p:nvPicPr>
          <p:cNvPr id="8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23317" y="4030309"/>
            <a:ext cx="187269" cy="187269"/>
          </a:xfrm>
          <a:prstGeom prst="rect">
            <a:avLst/>
          </a:prstGeom>
        </p:spPr>
      </p:pic>
      <p:sp>
        <p:nvSpPr>
          <p:cNvPr id="84" name="Text 77"/>
          <p:cNvSpPr/>
          <p:nvPr/>
        </p:nvSpPr>
        <p:spPr>
          <a:xfrm>
            <a:off x="7836408" y="39776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E: LAB &amp; NDT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1.465.000.000 (6,2%)</a:t>
            </a:r>
            <a:endParaRPr lang="en-US" sz="750" dirty="0"/>
          </a:p>
        </p:txBody>
      </p:sp>
      <p:sp>
        <p:nvSpPr>
          <p:cNvPr id="85" name="Text 78"/>
          <p:cNvSpPr/>
          <p:nvPr/>
        </p:nvSpPr>
        <p:spPr>
          <a:xfrm>
            <a:off x="7470648" y="4572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Fabrikasi Mesin: Rp 1,22 M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Uji Mutu SNI: Rp 135 Jt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Pesanan Pemda: Rp 105 Jt</a:t>
            </a:r>
            <a:endParaRPr lang="en-US" sz="800" dirty="0"/>
          </a:p>
        </p:txBody>
      </p:sp>
      <p:sp>
        <p:nvSpPr>
          <p:cNvPr id="86" name="Shape 79"/>
          <p:cNvSpPr/>
          <p:nvPr/>
        </p:nvSpPr>
        <p:spPr>
          <a:xfrm>
            <a:off x="9418320" y="3886200"/>
            <a:ext cx="2041855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9418320" y="3886200"/>
            <a:ext cx="2041855" cy="320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9528048" y="3977640"/>
            <a:ext cx="292608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80717" y="4030309"/>
            <a:ext cx="187269" cy="187269"/>
          </a:xfrm>
          <a:prstGeom prst="rect">
            <a:avLst/>
          </a:prstGeom>
        </p:spPr>
      </p:pic>
      <p:sp>
        <p:nvSpPr>
          <p:cNvPr id="90" name="Text 82"/>
          <p:cNvSpPr/>
          <p:nvPr/>
        </p:nvSpPr>
        <p:spPr>
          <a:xfrm>
            <a:off x="9893808" y="39776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F: SEWA LAHAN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579.358.831 (2,5%)</a:t>
            </a:r>
            <a:endParaRPr lang="en-US" sz="750" dirty="0"/>
          </a:p>
        </p:txBody>
      </p:sp>
      <p:sp>
        <p:nvSpPr>
          <p:cNvPr id="91" name="Text 83"/>
          <p:cNvSpPr/>
          <p:nvPr/>
        </p:nvSpPr>
        <p:spPr>
          <a:xfrm>
            <a:off x="9528048" y="452628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Shopee Hub: Rp 544 Jt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Katulondi: Rp 35 Jt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DE-ESKALASI SEWA: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Ditekan ke 2,5% demi beralih ke inovasi.</a:t>
            </a:r>
            <a:endParaRPr lang="en-US" sz="800" dirty="0"/>
          </a:p>
        </p:txBody>
      </p:sp>
      <p:sp>
        <p:nvSpPr>
          <p:cNvPr id="92" name="Shape 84"/>
          <p:cNvSpPr/>
          <p:nvPr/>
        </p:nvSpPr>
        <p:spPr>
          <a:xfrm>
            <a:off x="731520" y="5989320"/>
            <a:ext cx="10728655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3" name="Shape 85"/>
          <p:cNvSpPr/>
          <p:nvPr/>
        </p:nvSpPr>
        <p:spPr>
          <a:xfrm>
            <a:off x="868680" y="6035040"/>
            <a:ext cx="310896" cy="31089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9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4641" y="6091001"/>
            <a:ext cx="198973" cy="198973"/>
          </a:xfrm>
          <a:prstGeom prst="rect">
            <a:avLst/>
          </a:prstGeom>
        </p:spPr>
      </p:pic>
      <p:sp>
        <p:nvSpPr>
          <p:cNvPr id="95" name="Text 86"/>
          <p:cNvSpPr/>
          <p:nvPr/>
        </p:nvSpPr>
        <p:spPr>
          <a:xfrm>
            <a:off x="1280160" y="60533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TARGET PENDAPATAN BLUD 2030: Rp 23.468.158.831 (Dua Puluh Tiga Miliar Empat Ratus Enam Puluh Delapan Juta Rupiah) — 100% Mandiri Bebas APBD</a:t>
            </a:r>
            <a:endParaRPr lang="en-US" sz="850" dirty="0"/>
          </a:p>
        </p:txBody>
      </p:sp>
      <p:sp>
        <p:nvSpPr>
          <p:cNvPr id="96" name="Shape 8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88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98" name="Text 89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DAMPAK SOSIAL-EKONOMI DAERAH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DIMENSI KEBERDAMPAKAN: SOLO TECHNOPARK UNTUK WARGA SURAKARTA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"Indikator Keberhasilan Harus Mengukur IMPACT — Bukan Sekadar Aktivitas dan Pendapatan Kas" (Dokumen Strategi STP 2026)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45720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4572000" cy="411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82496"/>
            <a:ext cx="347472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945" y="1745041"/>
            <a:ext cx="222382" cy="2223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737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CAPAIAN 6 DIMENSI DAMPAK 2030 (%)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868680" y="2057400"/>
          <a:ext cx="42976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914400" y="5413248"/>
            <a:ext cx="42062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51560" y="54406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 IMPACT MEASUREMENT KOTA: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Keberhasilan Solo Technopark tidak diukur dari megahnya gedung atau saldo kas BLUD semata, melainkan dari kesejahteraan nyata warga Surakarta: lapangan kerja yang terserap, UMKM yang naik kelas, serta keterhubungan riset kampus dengan kebutuhan industri.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577840" y="1536192"/>
            <a:ext cx="2880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577840" y="1536192"/>
            <a:ext cx="2880360" cy="411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60720" y="1700784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SDM LEBIH KOMPETEN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955280" y="1700784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7825" y="1763329"/>
            <a:ext cx="222382" cy="2223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760720" y="19476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9.000 Peserta/Thn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760720" y="240487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Afirmasi kuota minimal 65% warga KTP Surakarta.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8659368" y="1536192"/>
            <a:ext cx="2880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59368" y="1536192"/>
            <a:ext cx="2880360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842248" y="1700784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UMKM &amp; STARTUP TUMBUH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11036808" y="1700784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99353" y="1763329"/>
            <a:ext cx="222382" cy="22238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842248" y="19476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Wirausaha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842248" y="240487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Pendampingan inkubasi &amp; digital onboarding GoTo Hub.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5577840" y="3163824"/>
            <a:ext cx="2880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577840" y="3163824"/>
            <a:ext cx="2880360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760720" y="3328416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 DEKAT KE PASAR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7955280" y="332841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17825" y="3390961"/>
            <a:ext cx="222382" cy="22238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760720" y="3575304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 Produk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5760720" y="4032504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 HKI, Uji Presisi NDT &amp; sertifikasi TKDN.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8659368" y="3163824"/>
            <a:ext cx="2880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659368" y="3163824"/>
            <a:ext cx="2880360" cy="411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842248" y="3328416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TEKNOLOGI TERBUKA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11036808" y="332841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99353" y="3390961"/>
            <a:ext cx="222382" cy="22238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842248" y="3575304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10.000+ Visit/Thn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8842248" y="4032504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Kunjungan lab AI, Cyber, &amp; magang siswa SMK Solo Raya.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5577840" y="4791456"/>
            <a:ext cx="2880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5577840" y="4791456"/>
            <a:ext cx="2880360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5760720" y="495604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KERJA BARU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7955280" y="4956048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17825" y="5018593"/>
            <a:ext cx="222382" cy="22238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760720" y="5202936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180 M Multiplier</a:t>
            </a:r>
            <a:endParaRPr lang="en-US" sz="1600" dirty="0"/>
          </a:p>
        </p:txBody>
      </p:sp>
      <p:sp>
        <p:nvSpPr>
          <p:cNvPr id="49" name="Text 40"/>
          <p:cNvSpPr/>
          <p:nvPr/>
        </p:nvSpPr>
        <p:spPr>
          <a:xfrm>
            <a:off x="5760720" y="5660136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perputaran ekonomi hotel, resto &amp; MICE.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8659368" y="4791456"/>
            <a:ext cx="2880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8659368" y="4791456"/>
            <a:ext cx="2880360" cy="411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8842248" y="495604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 INDUSTRI MURNI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11036808" y="4956048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99353" y="5018593"/>
            <a:ext cx="222382" cy="222382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8842248" y="5202936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Swasta</a:t>
            </a:r>
            <a:endParaRPr lang="en-US" sz="1600" dirty="0"/>
          </a:p>
        </p:txBody>
      </p:sp>
      <p:sp>
        <p:nvSpPr>
          <p:cNvPr id="56" name="Text 46"/>
          <p:cNvSpPr/>
          <p:nvPr/>
        </p:nvSpPr>
        <p:spPr>
          <a:xfrm>
            <a:off x="8842248" y="5660136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95+ korporasi dunia berinvestasi tanpa beban belanja APBD.</a:t>
            </a:r>
            <a:endParaRPr lang="en-US" sz="850" dirty="0"/>
          </a:p>
        </p:txBody>
      </p:sp>
      <p:sp>
        <p:nvSpPr>
          <p:cNvPr id="57" name="Shape 4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59" name="Text 49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DUKUNGAN KEPEMIMPINAN &amp; PAYUNG REGULASI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PERMOHONAN KEBIJAKAN NON-ANGGARAN KEPADA WALIKOTA SURAKARTA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Tidak Memohon Tambahan Pagu APBD — Kami Memohon 3 Payung Regulasi Kepemimpinan Walikota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33375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333756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2540" y="1791492"/>
            <a:ext cx="257495" cy="2574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737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PRIORITAS UTAMA // QUICK WIN 30 HARI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463040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INSTRUKSI WALIKOTA AFIRMASI e-KATALOG LOKAL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60120" y="2468880"/>
            <a:ext cx="28803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2587752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Mengarahkan seluruh OPD Pemkot Surakarta untuk memprioritaskan belanja produk teknologi, layanan digital, dan barang hasil riset tenant binaan STP melalui etalase e-Katalog Lokal.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14400" y="3685032"/>
            <a:ext cx="2971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374904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DAMPAK KONKRET: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51560" y="396849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captive market pasti senilai Rp 2,25 Miliar/Tahun di 2030 bagi 80+ produk inovasi tenant tanpa menambah anggaran APBD.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4400" y="47823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4846320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REGULASI: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51560" y="504748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Penerbitan 1 lembar Instruksi Walikota. Draf telah siap harmonisasi bersama Bagian Hukum Setda &amp; BPKAD. Siap tuntas dalam 30 hari pertama.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425696" y="1536192"/>
            <a:ext cx="33375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25696" y="1536192"/>
            <a:ext cx="33375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54296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6716" y="1791492"/>
            <a:ext cx="257495" cy="25749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57216" y="1737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 JANGKA PANJANG (10–25 TAHUN)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157216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REGULASI FLEKSIBILITAS KERJASAMA LAHAN BLUD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654296" y="2468880"/>
            <a:ext cx="28803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54296" y="2587752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Peraturan Walikota yang memberikan kepastian hukum skema Long-Term Revenue Sharing dan sewa lahan jangka panjang (10–25 tahun) yang kompetitif bagi investor teknologi global di kawasan STP.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608576" y="3685032"/>
            <a:ext cx="2971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45736" y="374904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DAMPAK KONKRET: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745736" y="396849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Menarik 3–5 investor korporasi baru kelas dunia tanpa membebani belanja modal APBD daerah (Prinsip Zero APBD Burden).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608576" y="47823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45736" y="4846320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REGULASI: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745736" y="504748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Harmonisasi Perwali Pola Kerjasama Lahan bersama BPKAD, Bagian Hukum, dan Inspektorat Kota Surakarta.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119872" y="1536192"/>
            <a:ext cx="33375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119872" y="1536192"/>
            <a:ext cx="33375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348472" y="171907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0892" y="1791492"/>
            <a:ext cx="257495" cy="25749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851392" y="1737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SINERGI KAMPUS SOLO RAYA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8851392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SURAT EDARAN KONSORSIUM RISET DAERAH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8348472" y="2468880"/>
            <a:ext cx="28803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348472" y="2587752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Mendorong 5 perguruan tinggi ternama (UNS, UMS, ISI, Unisri, Poltek) mengarahkan minimal 30% dana riset terapan dosen dan tugas akhir mahasiswa untuk memecahkan problem kota dan industri di STP.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8302752" y="3685032"/>
            <a:ext cx="29718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439912" y="374904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DAMPAK KONKRET: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8439912" y="396849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Kampus mitra aktif, 30 klaster riset terapan berbasis problem kota, dan minimal 10 paten terhilirisasi ke industri per tahun.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8302752" y="47823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439912" y="4846320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REGULASI:</a:t>
            </a:r>
            <a:endParaRPr lang="en-US" sz="850" dirty="0"/>
          </a:p>
        </p:txBody>
      </p:sp>
      <p:sp>
        <p:nvSpPr>
          <p:cNvPr id="48" name="Text 43"/>
          <p:cNvSpPr/>
          <p:nvPr/>
        </p:nvSpPr>
        <p:spPr>
          <a:xfrm>
            <a:off x="8439912" y="504748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Penerbitan Surat Edaran Walikota Surakarta dan penandatanganan kesepakatan bersama (MoU) 5 Rektor Kampus se-Solo Raya.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731520" y="5897880"/>
            <a:ext cx="10728655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914400" y="594360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KOMITMEN KAMI: Cukup dengan 3 payung regulasi Walikota di atas, UPTD KST Solo Technopark siap bergerak cepat, mandiri, dan menuntaskan target Rp 23,47 Miliar tanpa subsidi APBD.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KOMITMEN EKSEKUSI CEPAT &amp; AKUNTABEL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AKSI 100 HARI PERTAMA: QUICK WINS PASCA-ARAHAN WALIKOTA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Terukur, Matriks Penanggung Jawab, dan Output Nyata dalam 100 Hari Pasca-Persetujuan Kebijakan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389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16736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81328"/>
            <a:ext cx="10728655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51790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1349" y="1570573"/>
            <a:ext cx="187269" cy="1872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53619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EKSEKUTIF 100 HARI: DARI PENANDATANGANAN REGULASI HINGGA KONTRAK PERDANA KEMITRAAN INDUSTRI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38528"/>
          <a:ext cx="10728655" cy="3794760"/>
        </p:xfrm>
        <a:graphic>
          <a:graphicData uri="http://schemas.openxmlformats.org/drawingml/2006/table">
            <a:tbl>
              <a:tblPr/>
              <a:tblGrid>
                <a:gridCol w="1188720"/>
                <a:gridCol w="4023360"/>
                <a:gridCol w="1828800"/>
                <a:gridCol w="3687775"/>
              </a:tblGrid>
              <a:tr h="5421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 STRATEGIS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PENANGGUNG JAWAB (PIC)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KONKRET &amp; TARGET KEBERHASILAN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1–10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Penyusunan Draf Regulasi &amp; Harmonisasi Awal: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Finalisasi draf Inkwal e-Katalog, draf SE Konsorsium Riset, dan reviu skema aset lahan BLUD.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Kepala UPTD STP &amp;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 Hukum BRIDA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Draf naskah regulasi siap harmonisasi Bagian Hukum Setda &amp; BPKAD.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11–30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Harmonisasi &amp; Penerbitan Instruksi Walikota (QUICK WIN UTAMA):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Pembahasan harmonisasi bersama Setda &amp; BPKAD; Penandatanganan Inkwal e-Katalog Afirmatif.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Hukum, BPKAD,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BRIDA, &amp; STP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Inkwal resmi ditandatangani Walikota Surakarta; Sosialisasi perdana ke seluruh Kepala OPD Pemkot.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31–50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Kurasi Produk Inovasi &amp; Integrasi Sistem e-Katalog: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Kurasi 5 produk inovasi unggulan kampus/tenant untuk onboarding perdana ke etalase e-Katalog Lokal.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UPTD STP &amp; Bagian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PBJ Setda Solo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Katalog 5 Produk Unggulan Hilirisasi STP tayang aktif (Smart Agri IoT, Alkes, Mesin Sortasi).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51–60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Showcase Produk &amp; Komitmen Serapan Perdana OPD: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Demonstrasi produk inovasi di hadapan Walikota, Sekda, dan OPD terkait di Solo Technopark.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Kepala BRIDA &amp;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Kepala UPTD STP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Demonstrasi produk di hadapan media &amp; komitmen serapan perdana oleh 3 OPD percontohan.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61–80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Inisiasi Konsorsium Riset 5 Perguruan Tinggi: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Rapat koordinasi tindak lanjut Surat Edaran Walikota bersama pimpinan LPPM UNS, UMS, ISI, Poltek.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BRIDA Kota Surakarta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Konsorsium Kampus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 Pra-Konsorsium bersama 5 Rektor Solo Raya; Terpetakan 30 tema riset terapan prioritas.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 81–100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Launching Resmi Konsorsium &amp; Kick-off Kemitraan Industri: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Penandatanganan MoU Riset Terapan bersama Kadin/Apindo &amp; kontrak kemitraan kelas OGSCI Migas.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Walikota Surakarta,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Rektor, &amp; Mitra Industri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Penandatanganan MoU Riset Terapan &amp; Peresmian kelas diklat industri mandiri perdana.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31520" y="5833872"/>
            <a:ext cx="10728655" cy="43891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5888736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MONITORING: Evaluasi progres dilaksanakan mingguan bersama BRIDA dan dilaporkan berkala setiap 30 hari langsung kepada Walikota Surakarta untuk memastikan seluruh quick wins tercapai 100%.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7772400" y="6492240"/>
            <a:ext cx="3687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(15 SLIDES)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Transformasi Solo Technopark 2026-2030 (Swiss Enterprise Ultra 15S)</dc:title>
  <dc:subject>PptxGenJS Presentation</dc:subject>
  <dc:creator>Pemerintah Kota Surakarta - BRIDA &amp; UPTD KST Solo Technopark</dc:creator>
  <cp:lastModifiedBy>Pemerintah Kota Surakarta - BRIDA &amp; UPTD KST Solo Technopark</cp:lastModifiedBy>
  <cp:revision>1</cp:revision>
  <dcterms:created xsi:type="dcterms:W3CDTF">2026-09-11T07:07:48Z</dcterms:created>
  <dcterms:modified xsi:type="dcterms:W3CDTF">2026-09-11T07:07:48Z</dcterms:modified>
</cp:coreProperties>
</file>