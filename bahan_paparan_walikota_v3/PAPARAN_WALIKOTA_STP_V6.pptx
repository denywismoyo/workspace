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Aktor Hexahelix</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EC4899"/>
              </a:solidFill>
              <a:effectLst/>
            </c:spPr>
          </c:dPt>
          <c:dLbls>
            <c:dLbl>
              <c:idx val="0"/>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8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Industri &amp; Bisnis (37%)</c:v>
                </c:pt>
                <c:pt idx="1">
                  <c:v>Akademisi / Kampus (21%)</c:v>
                </c:pt>
                <c:pt idx="2">
                  <c:v>Komunitas &amp; Asosiasi (16%)</c:v>
                </c:pt>
                <c:pt idx="3">
                  <c:v>Pemerintah / BUMN (13%)</c:v>
                </c:pt>
                <c:pt idx="4">
                  <c:v>Media Massa (8%)</c:v>
                </c:pt>
                <c:pt idx="5">
                  <c:v>Lembaga Global (5%)</c:v>
                </c:pt>
              </c:strCache>
            </c:strRef>
          </c:cat>
          <c:val>
            <c:numRef>
              <c:f>Sheet1!$B$2:$B$7</c:f>
              <c:numCache>
                <c:ptCount val="6"/>
                <c:pt idx="0">
                  <c:v>35</c:v>
                </c:pt>
                <c:pt idx="1">
                  <c:v>20</c:v>
                </c:pt>
                <c:pt idx="2">
                  <c:v>15</c:v>
                </c:pt>
                <c:pt idx="3">
                  <c:v>12</c:v>
                </c:pt>
                <c:pt idx="4">
                  <c:v>8</c:v>
                </c:pt>
                <c:pt idx="5">
                  <c:v>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Pendapatan BLUD (Rp Miliar)</c:v>
                </c:pt>
              </c:strCache>
            </c:strRef>
          </c:tx>
          <c:spPr>
            <a:solidFill>
              <a:srgbClr val="94A3B8"/>
            </a:solidFill>
            <a:effectLst/>
          </c:spPr>
          <c:invertIfNegative val="0"/>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38BDF8"/>
              </a:solidFill>
              <a:effectLst/>
            </c:spPr>
          </c:dPt>
          <c:dPt>
            <c:idx val="2"/>
            <c:invertIfNegative val="0"/>
            <c:bubble3D val="0"/>
            <c:spPr>
              <a:solidFill>
                <a:srgbClr val="0EA5E9"/>
              </a:solidFill>
              <a:effectLst/>
            </c:spPr>
          </c:dPt>
          <c:dPt>
            <c:idx val="3"/>
            <c:invertIfNegative val="0"/>
            <c:bubble3D val="0"/>
            <c:spPr>
              <a:solidFill>
                <a:srgbClr val="10B981"/>
              </a:solidFill>
              <a:effectLst/>
            </c:spPr>
          </c:dPt>
          <c:dPt>
            <c:idx val="4"/>
            <c:invertIfNegative val="0"/>
            <c:bubble3D val="0"/>
            <c:spPr>
              <a:solidFill>
                <a:srgbClr val="F59E0B"/>
              </a:solidFill>
              <a:effectLst/>
            </c:spPr>
          </c:dPt>
          <c:cat>
            <c:multiLvlStrRef>
              <c:f>Sheet1!$A$2:$A$6</c:f>
              <c:multiLvlStrCache>
                <c:ptCount val="5"/>
                <c:lvl>
                  <c:pt idx="0">
                    <c:v>2026
(Baseline)</c:v>
                  </c:pt>
                  <c:pt idx="1">
                    <c:v>2027
(+67%)</c:v>
                  </c:pt>
                  <c:pt idx="2">
                    <c:v>2028
(+28,5%)</c:v>
                  </c:pt>
                  <c:pt idx="3">
                    <c:v>2029
(+28%)</c:v>
                  </c:pt>
                  <c:pt idx="4">
                    <c:v>2030
(MANDIRI)</c:v>
                  </c:pt>
                </c:lvl>
              </c:multiLvlStrCache>
            </c:multiLvlStrRef>
          </c:cat>
          <c:val>
            <c:numRef>
              <c:f>Sheet1!$B$2:$B$6</c:f>
              <c:numCache>
                <c:formatCode>General</c:formatCode>
                <c:ptCount val="5"/>
                <c:pt idx="0">
                  <c:v>7.5</c:v>
                </c:pt>
                <c:pt idx="1">
                  <c:v>12.53</c:v>
                </c:pt>
                <c:pt idx="2">
                  <c:v>16.1</c:v>
                </c:pt>
                <c:pt idx="3">
                  <c:v>20.62</c:v>
                </c:pt>
                <c:pt idx="4">
                  <c:v>23.47</c:v>
                </c:pt>
              </c:numCache>
            </c:numRef>
          </c:val>
        </c:ser>
        <c:dLbls>
          <c:numFmt formatCode="#,##0" sourceLinked="0"/>
          <c:txPr>
            <a:bodyPr/>
            <a:lstStyle/>
            <a:p>
              <a:pPr>
                <a:defRPr b="0" i="0" strike="noStrike" sz="95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27"/>
          <c:min val="0"/>
        </c:scaling>
        <c:delete val="0"/>
        <c:axPos val="l"/>
        <c:majorGridlines>
          <c:spPr>
            <a:ln w="12700" cap="flat">
              <a:solidFill>
                <a:srgbClr val="1E3A5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Stream 2030</c:v>
                </c:pt>
              </c:strCache>
            </c:strRef>
          </c:tx>
          <c:spPr>
            <a:solidFill>
              <a:schemeClr val="accent1"/>
            </a:solidFill>
            <a:ln w="9525" cap="flat">
              <a:solidFill>
                <a:srgbClr val="F9F9F9"/>
              </a:solidFill>
              <a:prstDash val="solid"/>
              <a:round/>
            </a:ln>
            <a:effectLst/>
          </c:spPr>
          <c:dPt>
            <c:idx val="0"/>
            <c:bubble3D val="0"/>
            <c:spPr>
              <a:solidFill>
                <a:srgbClr val="0EA5E9"/>
              </a:solidFill>
              <a:effectLst/>
            </c:spPr>
          </c:dPt>
          <c:dPt>
            <c:idx val="1"/>
            <c:bubble3D val="0"/>
            <c:spPr>
              <a:solidFill>
                <a:srgbClr val="38BDF8"/>
              </a:solidFill>
              <a:effectLst/>
            </c:spPr>
          </c:dPt>
          <c:dPt>
            <c:idx val="2"/>
            <c:bubble3D val="0"/>
            <c:spPr>
              <a:solidFill>
                <a:srgbClr val="10B981"/>
              </a:solidFill>
              <a:effectLst/>
            </c:spPr>
          </c:dPt>
          <c:dPt>
            <c:idx val="3"/>
            <c:bubble3D val="0"/>
            <c:spPr>
              <a:solidFill>
                <a:srgbClr val="F59E0B"/>
              </a:solidFill>
              <a:effectLst/>
            </c:spPr>
          </c:dPt>
          <c:dPt>
            <c:idx val="4"/>
            <c:bubble3D val="0"/>
            <c:spPr>
              <a:solidFill>
                <a:srgbClr val="8B5CF6"/>
              </a:solidFill>
              <a:effectLst/>
            </c:spPr>
          </c:dPt>
          <c:dPt>
            <c:idx val="5"/>
            <c:bubble3D val="0"/>
            <c:spPr>
              <a:solidFill>
                <a:srgbClr val="64748B"/>
              </a:solidFill>
              <a:effectLst/>
            </c:spPr>
          </c:dPt>
          <c:dLbls>
            <c:dLbl>
              <c:idx val="0"/>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dLbl>
              <c:idx val="5"/>
              <c:numFmt formatCode="0%" sourceLinked="0"/>
              <c:spPr/>
              <c:txPr>
                <a:bodyPr/>
                <a:lstStyle/>
                <a:p>
                  <a:pPr>
                    <a:defRPr sz="75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Kerjasama Program (54,6%)</c:v>
                </c:pt>
                <c:pt idx="1">
                  <c:v>Pelatihan &amp; Sertifikasi (15,7%)</c:v>
                </c:pt>
                <c:pt idx="2">
                  <c:v>Diklat Mandiri (10,5%)</c:v>
                </c:pt>
                <c:pt idx="3">
                  <c:v>Lain-lain BLUD / MICE (10,4%)</c:v>
                </c:pt>
                <c:pt idx="4">
                  <c:v>Rekayasa Manufaktur (6,2%)</c:v>
                </c:pt>
                <c:pt idx="5">
                  <c:v>Kemitraan Lahan (2,5%)</c:v>
                </c:pt>
              </c:strCache>
            </c:strRef>
          </c:cat>
          <c:val>
            <c:numRef>
              <c:f>Sheet1!$B$2:$B$7</c:f>
              <c:numCache>
                <c:ptCount val="6"/>
                <c:pt idx="0">
                  <c:v>54.6</c:v>
                </c:pt>
                <c:pt idx="1">
                  <c:v>15.7</c:v>
                </c:pt>
                <c:pt idx="2">
                  <c:v>10.5</c:v>
                </c:pt>
                <c:pt idx="3">
                  <c:v>10.4</c:v>
                </c:pt>
                <c:pt idx="4">
                  <c:v>6.2</c:v>
                </c:pt>
                <c:pt idx="5">
                  <c:v>2.5</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Capaian Target 2030 (%)</c:v>
                </c:pt>
              </c:strCache>
            </c:strRef>
          </c:tx>
          <c:spPr>
            <a:solidFill>
              <a:srgbClr val="38BDF8"/>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38BDF8"/>
              </a:solidFill>
              <a:effectLst/>
            </c:spPr>
          </c:dPt>
          <c:dPt>
            <c:idx val="1"/>
            <c:invertIfNegative val="0"/>
            <c:bubble3D val="0"/>
            <c:spPr>
              <a:solidFill>
                <a:srgbClr val="0EA5E9"/>
              </a:solidFill>
              <a:effectLst/>
            </c:spPr>
          </c:dPt>
          <c:dPt>
            <c:idx val="2"/>
            <c:invertIfNegative val="0"/>
            <c:bubble3D val="0"/>
            <c:spPr>
              <a:solidFill>
                <a:srgbClr val="10B981"/>
              </a:solidFill>
              <a:effectLst/>
            </c:spPr>
          </c:dPt>
          <c:dPt>
            <c:idx val="3"/>
            <c:invertIfNegative val="0"/>
            <c:bubble3D val="0"/>
            <c:spPr>
              <a:solidFill>
                <a:srgbClr val="F59E0B"/>
              </a:solidFill>
              <a:effectLst/>
            </c:spPr>
          </c:dPt>
          <c:dPt>
            <c:idx val="4"/>
            <c:invertIfNegative val="0"/>
            <c:bubble3D val="0"/>
            <c:spPr>
              <a:solidFill>
                <a:srgbClr val="F97316"/>
              </a:solidFill>
              <a:effectLst/>
            </c:spPr>
          </c:dPt>
          <c:dPt>
            <c:idx val="5"/>
            <c:invertIfNegative val="0"/>
            <c:bubble3D val="0"/>
            <c:spPr>
              <a:solidFill>
                <a:srgbClr val="10B981"/>
              </a:solidFill>
              <a:effectLst/>
            </c:spPr>
          </c:dPt>
          <c:cat>
            <c:multiLvlStrRef>
              <c:f>Sheet1!$A$2:$A$7</c:f>
              <c:multiLvlStrCache>
                <c:ptCount val="6"/>
                <c:lvl>
                  <c:pt idx="0">
                    <c:v>Hilirisasi Riset Kampus</c:v>
                  </c:pt>
                  <c:pt idx="1">
                    <c:v>Peluang Kerja Daerah</c:v>
                  </c:pt>
                  <c:pt idx="2">
                    <c:v>UMKM &amp; Startup Mandiri</c:v>
                  </c:pt>
                  <c:pt idx="3">
                    <c:v>Akses Fasilitas Publik</c:v>
                  </c:pt>
                  <c:pt idx="4">
                    <c:v>SDM Kompeten &amp; Sertifikasi</c:v>
                  </c:pt>
                  <c:pt idx="5">
                    <c:v>Kolaborasi Industri Murni</c:v>
                  </c:pt>
                </c:lvl>
              </c:multiLvlStrCache>
            </c:multiLvlStrRef>
          </c:cat>
          <c:val>
            <c:numRef>
              <c:f>Sheet1!$B$2:$B$7</c:f>
              <c:numCache>
                <c:formatCode>General</c:formatCode>
                <c:ptCount val="6"/>
                <c:pt idx="0">
                  <c:v>70</c:v>
                </c:pt>
                <c:pt idx="1">
                  <c:v>75</c:v>
                </c:pt>
                <c:pt idx="2">
                  <c:v>80</c:v>
                </c:pt>
                <c:pt idx="3">
                  <c:v>85</c:v>
                </c:pt>
                <c:pt idx="4">
                  <c:v>90</c:v>
                </c:pt>
                <c:pt idx="5">
                  <c:v>100</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majorGridlines>
          <c:spPr>
            <a:ln w="12700" cap="flat">
              <a:solidFill>
                <a:srgbClr val="1E3A5F"/>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94A3B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Posisi kelembagaan kita sangat jelas dan terstruktur, Bapak Walikota. BRIDA adalah arsitek kebijakan—merumuskan arah, memonitor dampak, dan mengorkestrasi ekosistem Iptek kota. Solo Technopark adalah insinyur pelaksana—menguji teknologi, melatih SDM, menginkubasi startup, dan menghubungkan riset kampus ke pasar industri. Dan pada ujung rantai ini, yang merasakan manfaat langsung adalah warga Solo—mendapat pekerjaan, UMKM mereka naik kelas, dan produk lokal bisa bersaing.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bicara angka dan target, Bapak Walikota, perlu kami tegaskan: fondasi hukum kita sangat kuat. Permendagri 79/2018 memberi kita fleksibilitas BLUD—artinya kita bisa bergerak lincah bermitra dengan Shopee, Garena, atau OGSCI tanpa terjebak rigiditas pengadaan APBD. Perpres 106/2017 memberi mandat nasional: kita harus inkubasi startup, fasilitasi spin-off perusahaan berbasis riset. Dan Perwali 15 serta 38/2022 dari Bapak sendiri telah mengokohkan posisi STP sebagai delivery unit profesional di bawah BRIDA.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Empat pilar ini bukan sekadar daftar layanan, Bapak Walikota. Ini adalah ekosistem yang saling mengunci. Di pilar vokasi, kita melatih keahlian langka seperti underwater welding—keahlian yang satu pesertanya bisa langsung terserap industri migas dengan gaji di atas Rp 15 juta per bulan. Di inkubasi, kita tidak sekadar menampung startup, kita mendampinginya hingga produknya masuk pasar. Dan semuanya berjalan bersama, membentuk satu ekosistem yang mengubah potensi menjadi nilai ekonomi nyata bagi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menghapus fenomena riset lemari arsip—di mana penelitian kampus hebat tapi berakhir hanya sebagai tumpukan laporan jurnal. Pipeline hilirisasi kami memutus kebuntuan itu. Riset dosen UNS tentang mesin sortasi kopi? Kita ambil, kita uji prototipenya di lab presisi STP, kita bantu urus patennya, kita carikan investor atau offtaker industrinya. Inilah nilai sejati Solo Technopark: jembatan dari ilmu pengetahuan menuju perputaran uang dan lapangan kerja bagi warga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Lihatlah daftar mitra ini, Bapak Walikota. Shopee, Garena, GoTo, Indosat, Bank Mandiri, hingga konsorsium migas internasional OGSCI. Mereka hadir di Solo bukan karena subsidi APBD—karena kita menerapkan prinsip Zero APBD Burden. Pemkot menyediakan wadah dan kepastian regulasi, pihak swasta menanamkan modal dan teknologinya. Hasilnya: fasilitas canggih berkelas internasional berdiri di jantung kota Surakarta, dan anak-anak muda Solo bisa belajar serta bekerja langsung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Kami berdiri di sini dengan kejujuran penuh, Bapak Walikota. Lima gap ini adalah tantangan nyata yang kami identifikasi sendiri. Pendapatan kita masih terlalu bergantung sewa lahan dan satu program unggulan. Riset kampus belum terhubung ke pasar. Promosi produk inovasi kita masih lemah regulasinya. Namun kami tidak datang hanya dengan masalah—kami hadir dengan 5 solusi terobosan yang terukur dan ada satu yang sangat bergantung pada 1 lembar Instruksi Walikota: e-Katalog Lokal yang mengarahkan OPD Pemkot menyerap produk binaan STP.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rancang dalam tiga fase yang saling membangun. 2026–2027 adalah fase pondasi: tata kelola BLUD diperkuat, lab kita terakreditasi, dan kita mulai ekspansi kerjasama OGSCI dan SMK GoGlobal. 2028–2029 adalah fase akselerasi: SBU terbentuk dan mulai mandiri seperti entitas bisnis profesional. Puncaknya, 2030, Solo Technopark beroperasi sebagai holding company inovasi daerah yang sepenuhnya mandiri—mengharumkan nama Surakarta di panggung teknologi nasional bahkan global.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komitmen terukur kami, Bapak Walikota. Angka-angka ini bukan proyeksi asal-asalan—setiap rupiah memiliki sumber yang teridentifikasi. Pendorong terbesar adalah program OGSCI yang akan menyumbang Rp 6,25 Miliar di 2030—itu sendirian sudah hampir menyamai total pendapatan STP tahun 2026. Ditambah program Startup Binaan yang kami proyeksi menghasilkan Rp 2 Miliar, dan e-Katalog yang membutuhkan Instruksi Walikota untuk membuka pasar Rp 2,25 Miliar. Dengan diversifikasi ini, STP akan menjadi BLUD yang sepenuhnya mandiri pada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slide ini adalah bukti transparansi kami. Setiap mata anggaran dari Rp 23,47 Miliar sudah teridentifikasi sumbernya. Ini bukan angka anggan-anggan—ini adalah komitmen yang sudah terverifikasi bersama mitra-mitra kami. Perhatikan porsi Klaster A yang menyumbang 54,6%—OGSCI saja menghasilkan Rp 6,25 Miliar, dan e-Katalog Inovasi Rp 2,25 Miliar. Sementara itu, porsi sewa lahan pasif sengaja kami tekan tinggal 2,5%, membuktikan STP bukan sekadar penyewa lahan, melainkan pusat inovasi bernilai tambah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ukuran keberhasilan tertinggi kami bukan saldo rekening BLUD, melainkan enam dimensi dampak ini: seberapa banyak warga Solo mendapat pekerjaan, seberapa banyak UMKM naik kelas, seberapa banyak riset kampus menjadi produk nyata di pasar. Indikator-indikator ini yang setiap bulan kami pantau bersama BRIDA. Karena pada akhirnya, semua program yang kami jalankan harus bisa dijawab dengan satu pertanyaan sederhana: apakah warga Solo hidupnya lebih baik karena Solo Technopark 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8686800" cy="109728"/>
          </a:xfrm>
          <a:prstGeom prst="rect">
            <a:avLst/>
          </a:prstGeom>
          <a:solidFill>
            <a:srgbClr val="0EA5E9"/>
          </a:solidFill>
          <a:ln/>
        </p:spPr>
      </p:sp>
      <p:sp>
        <p:nvSpPr>
          <p:cNvPr id="3" name="Shape 1"/>
          <p:cNvSpPr/>
          <p:nvPr/>
        </p:nvSpPr>
        <p:spPr>
          <a:xfrm>
            <a:off x="8686800" y="0"/>
            <a:ext cx="3504895" cy="109728"/>
          </a:xfrm>
          <a:prstGeom prst="rect">
            <a:avLst/>
          </a:prstGeom>
          <a:solidFill>
            <a:srgbClr val="F59E0B"/>
          </a:solidFill>
          <a:ln/>
        </p:spPr>
      </p:sp>
      <p:sp>
        <p:nvSpPr>
          <p:cNvPr id="4" name="Shape 2"/>
          <p:cNvSpPr/>
          <p:nvPr/>
        </p:nvSpPr>
        <p:spPr>
          <a:xfrm>
            <a:off x="822960" y="502920"/>
            <a:ext cx="4206240" cy="329184"/>
          </a:xfrm>
          <a:prstGeom prst="roundRect">
            <a:avLst>
              <a:gd name="adj" fmla="val 22222"/>
            </a:avLst>
          </a:prstGeom>
          <a:solidFill>
            <a:srgbClr val="0A192F"/>
          </a:solidFill>
          <a:ln w="15240">
            <a:solidFill>
              <a:srgbClr val="0EA5E9"/>
            </a:solidFill>
            <a:prstDash val="solid"/>
          </a:ln>
        </p:spPr>
      </p:sp>
      <p:sp>
        <p:nvSpPr>
          <p:cNvPr id="5" name="Text 3"/>
          <p:cNvSpPr/>
          <p:nvPr/>
        </p:nvSpPr>
        <p:spPr>
          <a:xfrm>
            <a:off x="822960" y="502920"/>
            <a:ext cx="4206240" cy="329184"/>
          </a:xfrm>
          <a:prstGeom prst="rect">
            <a:avLst/>
          </a:prstGeom>
          <a:noFill/>
          <a:ln/>
        </p:spPr>
        <p:txBody>
          <a:bodyPr wrap="square" rtlCol="0" anchor="ctr"/>
          <a:lstStyle/>
          <a:p>
            <a:pPr algn="ctr" indent="0" marL="0">
              <a:buNone/>
            </a:pPr>
            <a:r>
              <a:rPr lang="en-US" sz="950" b="1" dirty="0">
                <a:solidFill>
                  <a:srgbClr val="38BDF8"/>
                </a:solidFill>
                <a:latin typeface="Arial" pitchFamily="34" charset="0"/>
                <a:ea typeface="Arial" pitchFamily="34" charset="-122"/>
                <a:cs typeface="Arial" pitchFamily="34" charset="-120"/>
              </a:rPr>
              <a:t>🏛️ PEMERINTAH KOTA SURAKARTA  •  BRIDA</a:t>
            </a:r>
            <a:endParaRPr lang="en-US" sz="950" dirty="0"/>
          </a:p>
        </p:txBody>
      </p:sp>
      <p:sp>
        <p:nvSpPr>
          <p:cNvPr id="6" name="Shape 4"/>
          <p:cNvSpPr/>
          <p:nvPr/>
        </p:nvSpPr>
        <p:spPr>
          <a:xfrm>
            <a:off x="5166360" y="502920"/>
            <a:ext cx="3291840" cy="329184"/>
          </a:xfrm>
          <a:prstGeom prst="roundRect">
            <a:avLst>
              <a:gd name="adj" fmla="val 22222"/>
            </a:avLst>
          </a:prstGeom>
          <a:solidFill>
            <a:srgbClr val="0A192F"/>
          </a:solidFill>
          <a:ln w="15240">
            <a:solidFill>
              <a:srgbClr val="F59E0B"/>
            </a:solidFill>
            <a:prstDash val="solid"/>
          </a:ln>
        </p:spPr>
      </p:sp>
      <p:sp>
        <p:nvSpPr>
          <p:cNvPr id="7" name="Text 5"/>
          <p:cNvSpPr/>
          <p:nvPr/>
        </p:nvSpPr>
        <p:spPr>
          <a:xfrm>
            <a:off x="5166360" y="502920"/>
            <a:ext cx="3291840" cy="329184"/>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ROADMAP STRATEGIS 2026–2030</a:t>
            </a:r>
            <a:endParaRPr lang="en-US" sz="950" dirty="0"/>
          </a:p>
        </p:txBody>
      </p:sp>
      <p:sp>
        <p:nvSpPr>
          <p:cNvPr id="8" name="Shape 6"/>
          <p:cNvSpPr/>
          <p:nvPr/>
        </p:nvSpPr>
        <p:spPr>
          <a:xfrm>
            <a:off x="8595360" y="502920"/>
            <a:ext cx="2773375" cy="329184"/>
          </a:xfrm>
          <a:prstGeom prst="roundRect">
            <a:avLst>
              <a:gd name="adj" fmla="val 22222"/>
            </a:avLst>
          </a:prstGeom>
          <a:solidFill>
            <a:srgbClr val="0D213F"/>
          </a:solidFill>
          <a:ln w="15240">
            <a:solidFill>
              <a:srgbClr val="10B981"/>
            </a:solidFill>
            <a:prstDash val="solid"/>
          </a:ln>
        </p:spPr>
      </p:sp>
      <p:sp>
        <p:nvSpPr>
          <p:cNvPr id="9" name="Text 7"/>
          <p:cNvSpPr/>
          <p:nvPr/>
        </p:nvSpPr>
        <p:spPr>
          <a:xfrm>
            <a:off x="8595360" y="502920"/>
            <a:ext cx="2773375" cy="329184"/>
          </a:xfrm>
          <a:prstGeom prst="rect">
            <a:avLst/>
          </a:prstGeom>
          <a:noFill/>
          <a:ln/>
        </p:spPr>
        <p:txBody>
          <a:bodyPr wrap="square" rtlCol="0" anchor="ctr"/>
          <a:lstStyle/>
          <a:p>
            <a:pPr algn="ctr" indent="0" marL="0">
              <a:buNone/>
            </a:pPr>
            <a:r>
              <a:rPr lang="en-US" sz="920" b="1" dirty="0">
                <a:solidFill>
                  <a:srgbClr val="10B981"/>
                </a:solidFill>
                <a:latin typeface="Arial" pitchFamily="34" charset="0"/>
                <a:ea typeface="Arial" pitchFamily="34" charset="-122"/>
                <a:cs typeface="Arial" pitchFamily="34" charset="-120"/>
              </a:rPr>
              <a:t>EDISI EKSEKUTIF RESMI</a:t>
            </a:r>
            <a:endParaRPr lang="en-US" sz="920" dirty="0"/>
          </a:p>
        </p:txBody>
      </p:sp>
      <p:sp>
        <p:nvSpPr>
          <p:cNvPr id="10" name="Text 8"/>
          <p:cNvSpPr/>
          <p:nvPr/>
        </p:nvSpPr>
        <p:spPr>
          <a:xfrm>
            <a:off x="822960" y="1051560"/>
            <a:ext cx="10545775" cy="1508760"/>
          </a:xfrm>
          <a:prstGeom prst="rect">
            <a:avLst/>
          </a:prstGeom>
          <a:noFill/>
          <a:ln/>
        </p:spPr>
        <p:txBody>
          <a:bodyPr wrap="square" rtlCol="0" anchor="ctr"/>
          <a:lstStyle/>
          <a:p>
            <a:pPr indent="0" marL="0">
              <a:lnSpc>
                <a:spcPts val="3600"/>
              </a:lnSpc>
              <a:buNone/>
            </a:pPr>
            <a:r>
              <a:rPr lang="en-US" sz="3200" b="1" dirty="0">
                <a:solidFill>
                  <a:srgbClr val="FFFFFF"/>
                </a:solidFill>
                <a:latin typeface="Arial" pitchFamily="34" charset="0"/>
                <a:ea typeface="Arial" pitchFamily="34" charset="-122"/>
                <a:cs typeface="Arial" pitchFamily="34" charset="-120"/>
              </a:rPr>
              <a:t>SOLO TECHNOPARK: DARI KAWASAN SAINS</a:t>
            </a:r>
            <a:endParaRPr lang="en-US" sz="3200" dirty="0"/>
          </a:p>
          <a:p>
            <a:pPr indent="0" marL="0">
              <a:lnSpc>
                <a:spcPts val="3600"/>
              </a:lnSpc>
              <a:buNone/>
            </a:pPr>
            <a:r>
              <a:rPr lang="en-US" sz="3200" b="1" dirty="0">
                <a:solidFill>
                  <a:srgbClr val="FFFFFF"/>
                </a:solidFill>
                <a:latin typeface="Arial" pitchFamily="34" charset="0"/>
                <a:ea typeface="Arial" pitchFamily="34" charset="-122"/>
                <a:cs typeface="Arial" pitchFamily="34" charset="-120"/>
              </a:rPr>
              <a:t>MENUJU MESIN IMPACT DAERAH</a:t>
            </a:r>
            <a:endParaRPr lang="en-US" sz="3200" dirty="0"/>
          </a:p>
        </p:txBody>
      </p:sp>
      <p:sp>
        <p:nvSpPr>
          <p:cNvPr id="11" name="Text 9"/>
          <p:cNvSpPr/>
          <p:nvPr/>
        </p:nvSpPr>
        <p:spPr>
          <a:xfrm>
            <a:off x="822960" y="2606040"/>
            <a:ext cx="10545775" cy="411480"/>
          </a:xfrm>
          <a:prstGeom prst="rect">
            <a:avLst/>
          </a:prstGeom>
          <a:noFill/>
          <a:ln/>
        </p:spPr>
        <p:txBody>
          <a:bodyPr wrap="square" rtlCol="0" anchor="ctr"/>
          <a:lstStyle/>
          <a:p>
            <a:pPr indent="0" marL="0">
              <a:buNone/>
            </a:pPr>
            <a:r>
              <a:rPr lang="en-US" sz="1250" i="1" dirty="0">
                <a:solidFill>
                  <a:srgbClr val="FDE68A"/>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250" dirty="0"/>
          </a:p>
        </p:txBody>
      </p:sp>
      <p:sp>
        <p:nvSpPr>
          <p:cNvPr id="12" name="Shape 10"/>
          <p:cNvSpPr/>
          <p:nvPr/>
        </p:nvSpPr>
        <p:spPr>
          <a:xfrm>
            <a:off x="822960" y="3127248"/>
            <a:ext cx="2560320" cy="420624"/>
          </a:xfrm>
          <a:prstGeom prst="roundRect">
            <a:avLst>
              <a:gd name="adj" fmla="val 8696"/>
            </a:avLst>
          </a:prstGeom>
          <a:solidFill>
            <a:srgbClr val="070D18"/>
          </a:solidFill>
          <a:ln w="12700">
            <a:solidFill>
              <a:srgbClr val="F59E0B"/>
            </a:solidFill>
            <a:prstDash val="solid"/>
          </a:ln>
        </p:spPr>
      </p:sp>
      <p:sp>
        <p:nvSpPr>
          <p:cNvPr id="13" name="Text 11"/>
          <p:cNvSpPr/>
          <p:nvPr/>
        </p:nvSpPr>
        <p:spPr>
          <a:xfrm>
            <a:off x="932688" y="3145536"/>
            <a:ext cx="1325880" cy="384048"/>
          </a:xfrm>
          <a:prstGeom prst="rect">
            <a:avLst/>
          </a:prstGeom>
          <a:noFill/>
          <a:ln/>
        </p:spPr>
        <p:txBody>
          <a:bodyPr wrap="square" rtlCol="0" anchor="ctr"/>
          <a:lstStyle/>
          <a:p>
            <a:pPr indent="0" marL="0">
              <a:buNone/>
            </a:pPr>
            <a:r>
              <a:rPr lang="en-US" sz="760" dirty="0">
                <a:solidFill>
                  <a:srgbClr val="94A3B8"/>
                </a:solidFill>
                <a:latin typeface="Arial" pitchFamily="34" charset="0"/>
                <a:ea typeface="Arial" pitchFamily="34" charset="-122"/>
                <a:cs typeface="Arial" pitchFamily="34" charset="-120"/>
              </a:rPr>
              <a:t>Lompatan Finansial: </a:t>
            </a:r>
            <a:endParaRPr lang="en-US" sz="760" dirty="0"/>
          </a:p>
        </p:txBody>
      </p:sp>
      <p:sp>
        <p:nvSpPr>
          <p:cNvPr id="14" name="Text 12"/>
          <p:cNvSpPr/>
          <p:nvPr/>
        </p:nvSpPr>
        <p:spPr>
          <a:xfrm>
            <a:off x="2103120" y="3145536"/>
            <a:ext cx="1188720" cy="384048"/>
          </a:xfrm>
          <a:prstGeom prst="rect">
            <a:avLst/>
          </a:prstGeom>
          <a:noFill/>
          <a:ln/>
        </p:spPr>
        <p:txBody>
          <a:bodyPr wrap="square" rtlCol="0" anchor="ctr"/>
          <a:lstStyle/>
          <a:p>
            <a:pPr algn="r" indent="0" marL="0">
              <a:buNone/>
            </a:pPr>
            <a:r>
              <a:rPr lang="en-US" sz="850" b="1" dirty="0">
                <a:solidFill>
                  <a:srgbClr val="F59E0B"/>
                </a:solidFill>
                <a:latin typeface="Arial" pitchFamily="34" charset="0"/>
                <a:ea typeface="Arial" pitchFamily="34" charset="-122"/>
                <a:cs typeface="Arial" pitchFamily="34" charset="-120"/>
              </a:rPr>
              <a:t>+212,8% Mandiri</a:t>
            </a:r>
            <a:endParaRPr lang="en-US" sz="850" dirty="0"/>
          </a:p>
        </p:txBody>
      </p:sp>
      <p:sp>
        <p:nvSpPr>
          <p:cNvPr id="15" name="Shape 13"/>
          <p:cNvSpPr/>
          <p:nvPr/>
        </p:nvSpPr>
        <p:spPr>
          <a:xfrm>
            <a:off x="3493008" y="3127248"/>
            <a:ext cx="2560320" cy="420624"/>
          </a:xfrm>
          <a:prstGeom prst="roundRect">
            <a:avLst>
              <a:gd name="adj" fmla="val 8696"/>
            </a:avLst>
          </a:prstGeom>
          <a:solidFill>
            <a:srgbClr val="070D18"/>
          </a:solidFill>
          <a:ln w="12700">
            <a:solidFill>
              <a:srgbClr val="38BDF8"/>
            </a:solidFill>
            <a:prstDash val="solid"/>
          </a:ln>
        </p:spPr>
      </p:sp>
      <p:sp>
        <p:nvSpPr>
          <p:cNvPr id="16" name="Text 14"/>
          <p:cNvSpPr/>
          <p:nvPr/>
        </p:nvSpPr>
        <p:spPr>
          <a:xfrm>
            <a:off x="3602736" y="3145536"/>
            <a:ext cx="1325880" cy="384048"/>
          </a:xfrm>
          <a:prstGeom prst="rect">
            <a:avLst/>
          </a:prstGeom>
          <a:noFill/>
          <a:ln/>
        </p:spPr>
        <p:txBody>
          <a:bodyPr wrap="square" rtlCol="0" anchor="ctr"/>
          <a:lstStyle/>
          <a:p>
            <a:pPr indent="0" marL="0">
              <a:buNone/>
            </a:pPr>
            <a:r>
              <a:rPr lang="en-US" sz="760" dirty="0">
                <a:solidFill>
                  <a:srgbClr val="94A3B8"/>
                </a:solidFill>
                <a:latin typeface="Arial" pitchFamily="34" charset="0"/>
                <a:ea typeface="Arial" pitchFamily="34" charset="-122"/>
                <a:cs typeface="Arial" pitchFamily="34" charset="-120"/>
              </a:rPr>
              <a:t>Target Pendapatan 2030: </a:t>
            </a:r>
            <a:endParaRPr lang="en-US" sz="760" dirty="0"/>
          </a:p>
        </p:txBody>
      </p:sp>
      <p:sp>
        <p:nvSpPr>
          <p:cNvPr id="17" name="Text 15"/>
          <p:cNvSpPr/>
          <p:nvPr/>
        </p:nvSpPr>
        <p:spPr>
          <a:xfrm>
            <a:off x="4773168" y="3145536"/>
            <a:ext cx="1188720" cy="384048"/>
          </a:xfrm>
          <a:prstGeom prst="rect">
            <a:avLst/>
          </a:prstGeom>
          <a:noFill/>
          <a:ln/>
        </p:spPr>
        <p:txBody>
          <a:bodyPr wrap="square" rtlCol="0" anchor="ctr"/>
          <a:lstStyle/>
          <a:p>
            <a:pPr algn="r" indent="0" marL="0">
              <a:buNone/>
            </a:pPr>
            <a:r>
              <a:rPr lang="en-US" sz="850" b="1" dirty="0">
                <a:solidFill>
                  <a:srgbClr val="38BDF8"/>
                </a:solidFill>
                <a:latin typeface="Arial" pitchFamily="34" charset="0"/>
                <a:ea typeface="Arial" pitchFamily="34" charset="-122"/>
                <a:cs typeface="Arial" pitchFamily="34" charset="-120"/>
              </a:rPr>
              <a:t>Rp 23,47 Miliar</a:t>
            </a:r>
            <a:endParaRPr lang="en-US" sz="850" dirty="0"/>
          </a:p>
        </p:txBody>
      </p:sp>
      <p:sp>
        <p:nvSpPr>
          <p:cNvPr id="18" name="Shape 16"/>
          <p:cNvSpPr/>
          <p:nvPr/>
        </p:nvSpPr>
        <p:spPr>
          <a:xfrm>
            <a:off x="6163056" y="3127248"/>
            <a:ext cx="2560320" cy="420624"/>
          </a:xfrm>
          <a:prstGeom prst="roundRect">
            <a:avLst>
              <a:gd name="adj" fmla="val 8696"/>
            </a:avLst>
          </a:prstGeom>
          <a:solidFill>
            <a:srgbClr val="070D18"/>
          </a:solidFill>
          <a:ln w="12700">
            <a:solidFill>
              <a:srgbClr val="10B981"/>
            </a:solidFill>
            <a:prstDash val="solid"/>
          </a:ln>
        </p:spPr>
      </p:sp>
      <p:sp>
        <p:nvSpPr>
          <p:cNvPr id="19" name="Text 17"/>
          <p:cNvSpPr/>
          <p:nvPr/>
        </p:nvSpPr>
        <p:spPr>
          <a:xfrm>
            <a:off x="6272784" y="3145536"/>
            <a:ext cx="1325880" cy="384048"/>
          </a:xfrm>
          <a:prstGeom prst="rect">
            <a:avLst/>
          </a:prstGeom>
          <a:noFill/>
          <a:ln/>
        </p:spPr>
        <p:txBody>
          <a:bodyPr wrap="square" rtlCol="0" anchor="ctr"/>
          <a:lstStyle/>
          <a:p>
            <a:pPr indent="0" marL="0">
              <a:buNone/>
            </a:pPr>
            <a:r>
              <a:rPr lang="en-US" sz="760" dirty="0">
                <a:solidFill>
                  <a:srgbClr val="94A3B8"/>
                </a:solidFill>
                <a:latin typeface="Arial" pitchFamily="34" charset="0"/>
                <a:ea typeface="Arial" pitchFamily="34" charset="-122"/>
                <a:cs typeface="Arial" pitchFamily="34" charset="-120"/>
              </a:rPr>
              <a:t>Kapasitas Pelatihan: </a:t>
            </a:r>
            <a:endParaRPr lang="en-US" sz="760" dirty="0"/>
          </a:p>
        </p:txBody>
      </p:sp>
      <p:sp>
        <p:nvSpPr>
          <p:cNvPr id="20" name="Text 18"/>
          <p:cNvSpPr/>
          <p:nvPr/>
        </p:nvSpPr>
        <p:spPr>
          <a:xfrm>
            <a:off x="7443216" y="3145536"/>
            <a:ext cx="1188720" cy="384048"/>
          </a:xfrm>
          <a:prstGeom prst="rect">
            <a:avLst/>
          </a:prstGeom>
          <a:noFill/>
          <a:ln/>
        </p:spPr>
        <p:txBody>
          <a:bodyPr wrap="square" rtlCol="0" anchor="ctr"/>
          <a:lstStyle/>
          <a:p>
            <a:pPr algn="r" indent="0" marL="0">
              <a:buNone/>
            </a:pPr>
            <a:r>
              <a:rPr lang="en-US" sz="850" b="1" dirty="0">
                <a:solidFill>
                  <a:srgbClr val="10B981"/>
                </a:solidFill>
                <a:latin typeface="Arial" pitchFamily="34" charset="0"/>
                <a:ea typeface="Arial" pitchFamily="34" charset="-122"/>
                <a:cs typeface="Arial" pitchFamily="34" charset="-120"/>
              </a:rPr>
              <a:t>9.000 SDM / Tahun</a:t>
            </a:r>
            <a:endParaRPr lang="en-US" sz="850" dirty="0"/>
          </a:p>
        </p:txBody>
      </p:sp>
      <p:sp>
        <p:nvSpPr>
          <p:cNvPr id="21" name="Shape 19"/>
          <p:cNvSpPr/>
          <p:nvPr/>
        </p:nvSpPr>
        <p:spPr>
          <a:xfrm>
            <a:off x="8833104" y="3127248"/>
            <a:ext cx="2560320" cy="420624"/>
          </a:xfrm>
          <a:prstGeom prst="roundRect">
            <a:avLst>
              <a:gd name="adj" fmla="val 8696"/>
            </a:avLst>
          </a:prstGeom>
          <a:solidFill>
            <a:srgbClr val="070D18"/>
          </a:solidFill>
          <a:ln w="12700">
            <a:solidFill>
              <a:srgbClr val="8B5CF6"/>
            </a:solidFill>
            <a:prstDash val="solid"/>
          </a:ln>
        </p:spPr>
      </p:sp>
      <p:sp>
        <p:nvSpPr>
          <p:cNvPr id="22" name="Text 20"/>
          <p:cNvSpPr/>
          <p:nvPr/>
        </p:nvSpPr>
        <p:spPr>
          <a:xfrm>
            <a:off x="8942832" y="3145536"/>
            <a:ext cx="1325880" cy="384048"/>
          </a:xfrm>
          <a:prstGeom prst="rect">
            <a:avLst/>
          </a:prstGeom>
          <a:noFill/>
          <a:ln/>
        </p:spPr>
        <p:txBody>
          <a:bodyPr wrap="square" rtlCol="0" anchor="ctr"/>
          <a:lstStyle/>
          <a:p>
            <a:pPr indent="0" marL="0">
              <a:buNone/>
            </a:pPr>
            <a:r>
              <a:rPr lang="en-US" sz="760" dirty="0">
                <a:solidFill>
                  <a:srgbClr val="94A3B8"/>
                </a:solidFill>
                <a:latin typeface="Arial" pitchFamily="34" charset="0"/>
                <a:ea typeface="Arial" pitchFamily="34" charset="-122"/>
                <a:cs typeface="Arial" pitchFamily="34" charset="-120"/>
              </a:rPr>
              <a:t>Kemitraan Industri Global: </a:t>
            </a:r>
            <a:endParaRPr lang="en-US" sz="760" dirty="0"/>
          </a:p>
        </p:txBody>
      </p:sp>
      <p:sp>
        <p:nvSpPr>
          <p:cNvPr id="23" name="Text 21"/>
          <p:cNvSpPr/>
          <p:nvPr/>
        </p:nvSpPr>
        <p:spPr>
          <a:xfrm>
            <a:off x="10113264" y="3145536"/>
            <a:ext cx="1188720" cy="384048"/>
          </a:xfrm>
          <a:prstGeom prst="rect">
            <a:avLst/>
          </a:prstGeom>
          <a:noFill/>
          <a:ln/>
        </p:spPr>
        <p:txBody>
          <a:bodyPr wrap="square" rtlCol="0" anchor="ctr"/>
          <a:lstStyle/>
          <a:p>
            <a:pPr algn="r" indent="0" marL="0">
              <a:buNone/>
            </a:pPr>
            <a:r>
              <a:rPr lang="en-US" sz="850" b="1" dirty="0">
                <a:solidFill>
                  <a:srgbClr val="8B5CF6"/>
                </a:solidFill>
                <a:latin typeface="Arial" pitchFamily="34" charset="0"/>
                <a:ea typeface="Arial" pitchFamily="34" charset="-122"/>
                <a:cs typeface="Arial" pitchFamily="34" charset="-120"/>
              </a:rPr>
              <a:t>95+ Korporasi</a:t>
            </a:r>
            <a:endParaRPr lang="en-US" sz="850" dirty="0"/>
          </a:p>
        </p:txBody>
      </p:sp>
      <p:sp>
        <p:nvSpPr>
          <p:cNvPr id="24" name="Shape 22"/>
          <p:cNvSpPr/>
          <p:nvPr/>
        </p:nvSpPr>
        <p:spPr>
          <a:xfrm>
            <a:off x="822960" y="3675888"/>
            <a:ext cx="10545775" cy="18288"/>
          </a:xfrm>
          <a:prstGeom prst="rect">
            <a:avLst/>
          </a:prstGeom>
          <a:solidFill>
            <a:srgbClr val="1E3A5F"/>
          </a:solidFill>
          <a:ln/>
        </p:spPr>
      </p:sp>
      <p:sp>
        <p:nvSpPr>
          <p:cNvPr id="25" name="Shape 23"/>
          <p:cNvSpPr/>
          <p:nvPr/>
        </p:nvSpPr>
        <p:spPr>
          <a:xfrm>
            <a:off x="822960" y="3822192"/>
            <a:ext cx="3337560" cy="2148840"/>
          </a:xfrm>
          <a:prstGeom prst="roundRect">
            <a:avLst>
              <a:gd name="adj" fmla="val 3404"/>
            </a:avLst>
          </a:prstGeom>
          <a:solidFill>
            <a:srgbClr val="0A192F"/>
          </a:solidFill>
          <a:ln w="12700">
            <a:solidFill>
              <a:srgbClr val="1E3A5F"/>
            </a:solidFill>
            <a:prstDash val="solid"/>
          </a:ln>
        </p:spPr>
      </p:sp>
      <p:sp>
        <p:nvSpPr>
          <p:cNvPr id="26" name="Shape 24"/>
          <p:cNvSpPr/>
          <p:nvPr/>
        </p:nvSpPr>
        <p:spPr>
          <a:xfrm>
            <a:off x="822960" y="3822192"/>
            <a:ext cx="73152" cy="2148840"/>
          </a:xfrm>
          <a:prstGeom prst="roundRect">
            <a:avLst>
              <a:gd name="adj" fmla="val 50000"/>
            </a:avLst>
          </a:prstGeom>
          <a:solidFill>
            <a:srgbClr val="0EA5E9"/>
          </a:solidFill>
          <a:ln w="12700">
            <a:solidFill>
              <a:srgbClr val="0EA5E9"/>
            </a:solidFill>
            <a:prstDash val="solid"/>
          </a:ln>
        </p:spPr>
      </p:sp>
      <p:sp>
        <p:nvSpPr>
          <p:cNvPr id="27" name="Text 25"/>
          <p:cNvSpPr/>
          <p:nvPr/>
        </p:nvSpPr>
        <p:spPr>
          <a:xfrm>
            <a:off x="1005840" y="3931920"/>
            <a:ext cx="2971800" cy="256032"/>
          </a:xfrm>
          <a:prstGeom prst="rect">
            <a:avLst/>
          </a:prstGeom>
          <a:noFill/>
          <a:ln/>
        </p:spPr>
        <p:txBody>
          <a:bodyPr wrap="square" rtlCol="0" anchor="ctr"/>
          <a:lstStyle/>
          <a:p>
            <a:pPr indent="0" marL="0">
              <a:buNone/>
            </a:pPr>
            <a:r>
              <a:rPr lang="en-US" sz="950" b="1" dirty="0">
                <a:solidFill>
                  <a:srgbClr val="0EA5E9"/>
                </a:solidFill>
                <a:latin typeface="Arial" pitchFamily="34" charset="0"/>
                <a:ea typeface="Arial" pitchFamily="34" charset="-122"/>
                <a:cs typeface="Arial" pitchFamily="34" charset="-120"/>
              </a:rPr>
              <a:t>🎯  PARADIGMA BARU</a:t>
            </a:r>
            <a:endParaRPr lang="en-US" sz="950" dirty="0"/>
          </a:p>
        </p:txBody>
      </p:sp>
      <p:sp>
        <p:nvSpPr>
          <p:cNvPr id="28" name="Text 26"/>
          <p:cNvSpPr/>
          <p:nvPr/>
        </p:nvSpPr>
        <p:spPr>
          <a:xfrm>
            <a:off x="1005840" y="4187952"/>
            <a:ext cx="297180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Bukan Sekadar Gedung Fisik</a:t>
            </a:r>
            <a:endParaRPr lang="en-US" sz="1200" dirty="0"/>
          </a:p>
        </p:txBody>
      </p:sp>
      <p:sp>
        <p:nvSpPr>
          <p:cNvPr id="29" name="Text 27"/>
          <p:cNvSpPr/>
          <p:nvPr/>
        </p:nvSpPr>
        <p:spPr>
          <a:xfrm>
            <a:off x="1005840" y="4517136"/>
            <a:ext cx="2971800" cy="105156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Beralih dari pengelola sewa lahan menjadi DELIVERY UNIT inovasi BRIDA yang menghasilkan IMPACT nyata bagi masyarakat dan industri.</a:t>
            </a:r>
            <a:endParaRPr lang="en-US" sz="920" dirty="0"/>
          </a:p>
        </p:txBody>
      </p:sp>
      <p:sp>
        <p:nvSpPr>
          <p:cNvPr id="30" name="Shape 28"/>
          <p:cNvSpPr/>
          <p:nvPr/>
        </p:nvSpPr>
        <p:spPr>
          <a:xfrm>
            <a:off x="1005840" y="5632704"/>
            <a:ext cx="2971800" cy="237744"/>
          </a:xfrm>
          <a:prstGeom prst="roundRect">
            <a:avLst>
              <a:gd name="adj" fmla="val 11538"/>
            </a:avLst>
          </a:prstGeom>
          <a:solidFill>
            <a:srgbClr val="0D213F"/>
          </a:solidFill>
          <a:ln w="10160">
            <a:solidFill>
              <a:srgbClr val="0EA5E9"/>
            </a:solidFill>
            <a:prstDash val="solid"/>
          </a:ln>
        </p:spPr>
      </p:sp>
      <p:sp>
        <p:nvSpPr>
          <p:cNvPr id="31" name="Text 29"/>
          <p:cNvSpPr/>
          <p:nvPr/>
        </p:nvSpPr>
        <p:spPr>
          <a:xfrm>
            <a:off x="1005840" y="5632704"/>
            <a:ext cx="2971800" cy="237744"/>
          </a:xfrm>
          <a:prstGeom prst="rect">
            <a:avLst/>
          </a:prstGeom>
          <a:noFill/>
          <a:ln/>
        </p:spPr>
        <p:txBody>
          <a:bodyPr wrap="square" rtlCol="0" anchor="ctr"/>
          <a:lstStyle/>
          <a:p>
            <a:pPr algn="ctr" indent="0" marL="0">
              <a:buNone/>
            </a:pPr>
            <a:r>
              <a:rPr lang="en-US" sz="780" b="1" dirty="0">
                <a:solidFill>
                  <a:srgbClr val="0EA5E9"/>
                </a:solidFill>
                <a:latin typeface="Arial" pitchFamily="34" charset="0"/>
                <a:ea typeface="Arial" pitchFamily="34" charset="-122"/>
                <a:cs typeface="Arial" pitchFamily="34" charset="-120"/>
              </a:rPr>
              <a:t>⭐ PILAR STRATEGIS: DELIVERY UNIT BRIDA</a:t>
            </a:r>
            <a:endParaRPr lang="en-US" sz="780" dirty="0"/>
          </a:p>
        </p:txBody>
      </p:sp>
      <p:sp>
        <p:nvSpPr>
          <p:cNvPr id="32" name="Shape 30"/>
          <p:cNvSpPr/>
          <p:nvPr/>
        </p:nvSpPr>
        <p:spPr>
          <a:xfrm>
            <a:off x="4425696" y="3822192"/>
            <a:ext cx="3337560" cy="2148840"/>
          </a:xfrm>
          <a:prstGeom prst="roundRect">
            <a:avLst>
              <a:gd name="adj" fmla="val 3404"/>
            </a:avLst>
          </a:prstGeom>
          <a:solidFill>
            <a:srgbClr val="0A192F"/>
          </a:solidFill>
          <a:ln w="12700">
            <a:solidFill>
              <a:srgbClr val="1E3A5F"/>
            </a:solidFill>
            <a:prstDash val="solid"/>
          </a:ln>
        </p:spPr>
      </p:sp>
      <p:sp>
        <p:nvSpPr>
          <p:cNvPr id="33" name="Shape 31"/>
          <p:cNvSpPr/>
          <p:nvPr/>
        </p:nvSpPr>
        <p:spPr>
          <a:xfrm>
            <a:off x="4425696" y="3822192"/>
            <a:ext cx="73152" cy="2148840"/>
          </a:xfrm>
          <a:prstGeom prst="roundRect">
            <a:avLst>
              <a:gd name="adj" fmla="val 50000"/>
            </a:avLst>
          </a:prstGeom>
          <a:solidFill>
            <a:srgbClr val="F59E0B"/>
          </a:solidFill>
          <a:ln w="12700">
            <a:solidFill>
              <a:srgbClr val="F59E0B"/>
            </a:solidFill>
            <a:prstDash val="solid"/>
          </a:ln>
        </p:spPr>
      </p:sp>
      <p:sp>
        <p:nvSpPr>
          <p:cNvPr id="34" name="Text 32"/>
          <p:cNvSpPr/>
          <p:nvPr/>
        </p:nvSpPr>
        <p:spPr>
          <a:xfrm>
            <a:off x="4608576" y="3931920"/>
            <a:ext cx="2971800" cy="256032"/>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  KEMANDIRIAN PENUH</a:t>
            </a:r>
            <a:endParaRPr lang="en-US" sz="950" dirty="0"/>
          </a:p>
        </p:txBody>
      </p:sp>
      <p:sp>
        <p:nvSpPr>
          <p:cNvPr id="35" name="Text 33"/>
          <p:cNvSpPr/>
          <p:nvPr/>
        </p:nvSpPr>
        <p:spPr>
          <a:xfrm>
            <a:off x="4608576" y="4187952"/>
            <a:ext cx="297180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BLUD Mandiri Tanpa APBD</a:t>
            </a:r>
            <a:endParaRPr lang="en-US" sz="1200" dirty="0"/>
          </a:p>
        </p:txBody>
      </p:sp>
      <p:sp>
        <p:nvSpPr>
          <p:cNvPr id="36" name="Text 34"/>
          <p:cNvSpPr/>
          <p:nvPr/>
        </p:nvSpPr>
        <p:spPr>
          <a:xfrm>
            <a:off x="4608576" y="4517136"/>
            <a:ext cx="2971800" cy="105156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920" dirty="0"/>
          </a:p>
        </p:txBody>
      </p:sp>
      <p:sp>
        <p:nvSpPr>
          <p:cNvPr id="37" name="Shape 35"/>
          <p:cNvSpPr/>
          <p:nvPr/>
        </p:nvSpPr>
        <p:spPr>
          <a:xfrm>
            <a:off x="4608576" y="5632704"/>
            <a:ext cx="2971800" cy="237744"/>
          </a:xfrm>
          <a:prstGeom prst="roundRect">
            <a:avLst>
              <a:gd name="adj" fmla="val 11538"/>
            </a:avLst>
          </a:prstGeom>
          <a:solidFill>
            <a:srgbClr val="0D213F"/>
          </a:solidFill>
          <a:ln w="10160">
            <a:solidFill>
              <a:srgbClr val="F59E0B"/>
            </a:solidFill>
            <a:prstDash val="solid"/>
          </a:ln>
        </p:spPr>
      </p:sp>
      <p:sp>
        <p:nvSpPr>
          <p:cNvPr id="38" name="Text 36"/>
          <p:cNvSpPr/>
          <p:nvPr/>
        </p:nvSpPr>
        <p:spPr>
          <a:xfrm>
            <a:off x="4608576" y="5632704"/>
            <a:ext cx="2971800" cy="237744"/>
          </a:xfrm>
          <a:prstGeom prst="rect">
            <a:avLst/>
          </a:prstGeom>
          <a:noFill/>
          <a:ln/>
        </p:spPr>
        <p:txBody>
          <a:bodyPr wrap="square" rtlCol="0" anchor="ctr"/>
          <a:lstStyle/>
          <a:p>
            <a:pPr algn="ctr" indent="0" marL="0">
              <a:buNone/>
            </a:pPr>
            <a:r>
              <a:rPr lang="en-US" sz="780" b="1" dirty="0">
                <a:solidFill>
                  <a:srgbClr val="F59E0B"/>
                </a:solidFill>
                <a:latin typeface="Arial" pitchFamily="34" charset="0"/>
                <a:ea typeface="Arial" pitchFamily="34" charset="-122"/>
                <a:cs typeface="Arial" pitchFamily="34" charset="-120"/>
              </a:rPr>
              <a:t>⭐ PILAR STRATEGIS: 0% SUBSIDI 2030</a:t>
            </a:r>
            <a:endParaRPr lang="en-US" sz="780" dirty="0"/>
          </a:p>
        </p:txBody>
      </p:sp>
      <p:sp>
        <p:nvSpPr>
          <p:cNvPr id="39" name="Shape 37"/>
          <p:cNvSpPr/>
          <p:nvPr/>
        </p:nvSpPr>
        <p:spPr>
          <a:xfrm>
            <a:off x="8028432" y="3822192"/>
            <a:ext cx="3337560" cy="2148840"/>
          </a:xfrm>
          <a:prstGeom prst="roundRect">
            <a:avLst>
              <a:gd name="adj" fmla="val 3404"/>
            </a:avLst>
          </a:prstGeom>
          <a:solidFill>
            <a:srgbClr val="0A192F"/>
          </a:solidFill>
          <a:ln w="12700">
            <a:solidFill>
              <a:srgbClr val="1E3A5F"/>
            </a:solidFill>
            <a:prstDash val="solid"/>
          </a:ln>
        </p:spPr>
      </p:sp>
      <p:sp>
        <p:nvSpPr>
          <p:cNvPr id="40" name="Shape 38"/>
          <p:cNvSpPr/>
          <p:nvPr/>
        </p:nvSpPr>
        <p:spPr>
          <a:xfrm>
            <a:off x="8028432" y="3822192"/>
            <a:ext cx="73152" cy="2148840"/>
          </a:xfrm>
          <a:prstGeom prst="roundRect">
            <a:avLst>
              <a:gd name="adj" fmla="val 50000"/>
            </a:avLst>
          </a:prstGeom>
          <a:solidFill>
            <a:srgbClr val="10B981"/>
          </a:solidFill>
          <a:ln w="12700">
            <a:solidFill>
              <a:srgbClr val="10B981"/>
            </a:solidFill>
            <a:prstDash val="solid"/>
          </a:ln>
        </p:spPr>
      </p:sp>
      <p:sp>
        <p:nvSpPr>
          <p:cNvPr id="41" name="Text 39"/>
          <p:cNvSpPr/>
          <p:nvPr/>
        </p:nvSpPr>
        <p:spPr>
          <a:xfrm>
            <a:off x="8211312" y="3931920"/>
            <a:ext cx="2971800" cy="256032"/>
          </a:xfrm>
          <a:prstGeom prst="rect">
            <a:avLst/>
          </a:prstGeom>
          <a:noFill/>
          <a:ln/>
        </p:spPr>
        <p:txBody>
          <a:bodyPr wrap="square" rtlCol="0" anchor="ctr"/>
          <a:lstStyle/>
          <a:p>
            <a:pPr indent="0" marL="0">
              <a:buNone/>
            </a:pPr>
            <a:r>
              <a:rPr lang="en-US" sz="950" b="1" dirty="0">
                <a:solidFill>
                  <a:srgbClr val="10B981"/>
                </a:solidFill>
                <a:latin typeface="Arial" pitchFamily="34" charset="0"/>
                <a:ea typeface="Arial" pitchFamily="34" charset="-122"/>
                <a:cs typeface="Arial" pitchFamily="34" charset="-120"/>
              </a:rPr>
              <a:t>🌐  HEXAHELIX &amp; DAMPAK</a:t>
            </a:r>
            <a:endParaRPr lang="en-US" sz="950" dirty="0"/>
          </a:p>
        </p:txBody>
      </p:sp>
      <p:sp>
        <p:nvSpPr>
          <p:cNvPr id="42" name="Text 40"/>
          <p:cNvSpPr/>
          <p:nvPr/>
        </p:nvSpPr>
        <p:spPr>
          <a:xfrm>
            <a:off x="8211312" y="4187952"/>
            <a:ext cx="2971800" cy="29260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95+ Mitra Korporasi Dunia</a:t>
            </a:r>
            <a:endParaRPr lang="en-US" sz="1200" dirty="0"/>
          </a:p>
        </p:txBody>
      </p:sp>
      <p:sp>
        <p:nvSpPr>
          <p:cNvPr id="43" name="Text 41"/>
          <p:cNvSpPr/>
          <p:nvPr/>
        </p:nvSpPr>
        <p:spPr>
          <a:xfrm>
            <a:off x="8211312" y="4517136"/>
            <a:ext cx="2971800" cy="105156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920" dirty="0"/>
          </a:p>
        </p:txBody>
      </p:sp>
      <p:sp>
        <p:nvSpPr>
          <p:cNvPr id="44" name="Shape 42"/>
          <p:cNvSpPr/>
          <p:nvPr/>
        </p:nvSpPr>
        <p:spPr>
          <a:xfrm>
            <a:off x="8211312" y="5632704"/>
            <a:ext cx="2971800" cy="237744"/>
          </a:xfrm>
          <a:prstGeom prst="roundRect">
            <a:avLst>
              <a:gd name="adj" fmla="val 11538"/>
            </a:avLst>
          </a:prstGeom>
          <a:solidFill>
            <a:srgbClr val="0D213F"/>
          </a:solidFill>
          <a:ln w="10160">
            <a:solidFill>
              <a:srgbClr val="10B981"/>
            </a:solidFill>
            <a:prstDash val="solid"/>
          </a:ln>
        </p:spPr>
      </p:sp>
      <p:sp>
        <p:nvSpPr>
          <p:cNvPr id="45" name="Text 43"/>
          <p:cNvSpPr/>
          <p:nvPr/>
        </p:nvSpPr>
        <p:spPr>
          <a:xfrm>
            <a:off x="8211312" y="5632704"/>
            <a:ext cx="2971800" cy="237744"/>
          </a:xfrm>
          <a:prstGeom prst="rect">
            <a:avLst/>
          </a:prstGeom>
          <a:noFill/>
          <a:ln/>
        </p:spPr>
        <p:txBody>
          <a:bodyPr wrap="square" rtlCol="0" anchor="ctr"/>
          <a:lstStyle/>
          <a:p>
            <a:pPr algn="ctr" indent="0" marL="0">
              <a:buNone/>
            </a:pPr>
            <a:r>
              <a:rPr lang="en-US" sz="780" b="1" dirty="0">
                <a:solidFill>
                  <a:srgbClr val="10B981"/>
                </a:solidFill>
                <a:latin typeface="Arial" pitchFamily="34" charset="0"/>
                <a:ea typeface="Arial" pitchFamily="34" charset="-122"/>
                <a:cs typeface="Arial" pitchFamily="34" charset="-120"/>
              </a:rPr>
              <a:t>⭐ PILAR STRATEGIS: 65% AFIRMASI KTP SOLO</a:t>
            </a:r>
            <a:endParaRPr lang="en-US" sz="780" dirty="0"/>
          </a:p>
        </p:txBody>
      </p:sp>
      <p:sp>
        <p:nvSpPr>
          <p:cNvPr id="46" name="Text 44"/>
          <p:cNvSpPr/>
          <p:nvPr/>
        </p:nvSpPr>
        <p:spPr>
          <a:xfrm>
            <a:off x="822960" y="6345936"/>
            <a:ext cx="10545775" cy="274320"/>
          </a:xfrm>
          <a:prstGeom prst="rect">
            <a:avLst/>
          </a:prstGeom>
          <a:noFill/>
          <a:ln/>
        </p:spPr>
        <p:txBody>
          <a:bodyPr wrap="square" rtlCol="0" anchor="ctr"/>
          <a:lstStyle/>
          <a:p>
            <a:pPr algn="ctr" indent="0" marL="0">
              <a:buNone/>
            </a:pPr>
            <a:r>
              <a:rPr lang="en-US" sz="880" dirty="0">
                <a:solidFill>
                  <a:srgbClr val="94A3B8"/>
                </a:solidFill>
                <a:latin typeface="Arial" pitchFamily="34" charset="0"/>
                <a:ea typeface="Arial" pitchFamily="34" charset="-122"/>
                <a:cs typeface="Arial" pitchFamily="34" charset="-120"/>
              </a:rPr>
              <a:t>Disampaikan oleh: Kepala UPTD KST Solo Technopark  •  Didampingi: Kepala BRIDA Kota Surakarta  •  Surakarta, 2026</a:t>
            </a:r>
            <a:endParaRPr lang="en-US" sz="8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TATA KELOLA PEMERINTAHAN &amp;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KEDUDUKAN KELEMBAGAAN &amp; RANTAI DAMPAK (CHAIN OF IMPACT)</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Arsitektur Nilai: BRIDA sebagai Otak Kebijakan, STP sebagai Tangan Eksekutor, Warga &amp; Industri sebagai Penerima Dampak</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02 / 12</a:t>
            </a:r>
            <a:endParaRPr lang="en-US" sz="900" dirty="0"/>
          </a:p>
        </p:txBody>
      </p:sp>
      <p:sp>
        <p:nvSpPr>
          <p:cNvPr id="11" name="Shape 9"/>
          <p:cNvSpPr/>
          <p:nvPr/>
        </p:nvSpPr>
        <p:spPr>
          <a:xfrm>
            <a:off x="731520" y="1325880"/>
            <a:ext cx="3200400" cy="3977640"/>
          </a:xfrm>
          <a:prstGeom prst="roundRect">
            <a:avLst>
              <a:gd name="adj" fmla="val 2286"/>
            </a:avLst>
          </a:prstGeom>
          <a:solidFill>
            <a:srgbClr val="0A192F"/>
          </a:solidFill>
          <a:ln w="12700">
            <a:solidFill>
              <a:srgbClr val="1E3A5F"/>
            </a:solidFill>
            <a:prstDash val="solid"/>
          </a:ln>
        </p:spPr>
      </p:sp>
      <p:sp>
        <p:nvSpPr>
          <p:cNvPr id="12" name="Shape 10"/>
          <p:cNvSpPr/>
          <p:nvPr/>
        </p:nvSpPr>
        <p:spPr>
          <a:xfrm>
            <a:off x="731520" y="1325880"/>
            <a:ext cx="73152" cy="39776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2926080" cy="320040"/>
          </a:xfrm>
          <a:prstGeom prst="roundRect">
            <a:avLst>
              <a:gd name="adj" fmla="val 11429"/>
            </a:avLst>
          </a:prstGeom>
          <a:solidFill>
            <a:srgbClr val="0D213F"/>
          </a:solidFill>
          <a:ln w="12700">
            <a:solidFill>
              <a:srgbClr val="0EA5E9"/>
            </a:solidFill>
            <a:prstDash val="solid"/>
          </a:ln>
        </p:spPr>
      </p:sp>
      <p:sp>
        <p:nvSpPr>
          <p:cNvPr id="14" name="Text 12"/>
          <p:cNvSpPr/>
          <p:nvPr/>
        </p:nvSpPr>
        <p:spPr>
          <a:xfrm>
            <a:off x="868680" y="1463040"/>
            <a:ext cx="2926080" cy="320040"/>
          </a:xfrm>
          <a:prstGeom prst="rect">
            <a:avLst/>
          </a:prstGeom>
          <a:noFill/>
          <a:ln/>
        </p:spPr>
        <p:txBody>
          <a:bodyPr wrap="square" rtlCol="0" anchor="ctr"/>
          <a:lstStyle/>
          <a:p>
            <a:pPr algn="ctr" indent="0" marL="0">
              <a:buNone/>
            </a:pPr>
            <a:r>
              <a:rPr lang="en-US" sz="800" b="1" dirty="0">
                <a:solidFill>
                  <a:srgbClr val="0EA5E9"/>
                </a:solidFill>
                <a:latin typeface="Arial" pitchFamily="34" charset="0"/>
                <a:ea typeface="Arial" pitchFamily="34" charset="-122"/>
                <a:cs typeface="Arial" pitchFamily="34" charset="-120"/>
              </a:rPr>
              <a:t>TAHAP 1: REGULASI &amp; ARAHAN (INPUT)</a:t>
            </a:r>
            <a:endParaRPr lang="en-US" sz="800" dirty="0"/>
          </a:p>
        </p:txBody>
      </p:sp>
      <p:sp>
        <p:nvSpPr>
          <p:cNvPr id="15" name="Text 13"/>
          <p:cNvSpPr/>
          <p:nvPr/>
        </p:nvSpPr>
        <p:spPr>
          <a:xfrm>
            <a:off x="86868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BRIDA KOTA SURAKARTA</a:t>
            </a:r>
            <a:endParaRPr lang="en-US" sz="1200" dirty="0"/>
          </a:p>
        </p:txBody>
      </p:sp>
      <p:sp>
        <p:nvSpPr>
          <p:cNvPr id="16" name="Text 14"/>
          <p:cNvSpPr/>
          <p:nvPr/>
        </p:nvSpPr>
        <p:spPr>
          <a:xfrm>
            <a:off x="868680" y="2240280"/>
            <a:ext cx="2926080" cy="256032"/>
          </a:xfrm>
          <a:prstGeom prst="rect">
            <a:avLst/>
          </a:prstGeom>
          <a:noFill/>
          <a:ln/>
        </p:spPr>
        <p:txBody>
          <a:bodyPr wrap="square" rtlCol="0" anchor="ctr"/>
          <a:lstStyle/>
          <a:p>
            <a:pPr algn="ctr" indent="0" marL="0">
              <a:buNone/>
            </a:pPr>
            <a:r>
              <a:rPr lang="en-US" sz="900" b="1" dirty="0">
                <a:solidFill>
                  <a:srgbClr val="0EA5E9"/>
                </a:solidFill>
                <a:latin typeface="Arial" pitchFamily="34" charset="0"/>
                <a:ea typeface="Arial" pitchFamily="34" charset="-122"/>
                <a:cs typeface="Arial" pitchFamily="34" charset="-120"/>
              </a:rPr>
              <a:t>Otak &amp; Regulator Kebijakan Daerah</a:t>
            </a:r>
            <a:endParaRPr lang="en-US" sz="900" dirty="0"/>
          </a:p>
        </p:txBody>
      </p:sp>
      <p:sp>
        <p:nvSpPr>
          <p:cNvPr id="17" name="Shape 15"/>
          <p:cNvSpPr/>
          <p:nvPr/>
        </p:nvSpPr>
        <p:spPr>
          <a:xfrm>
            <a:off x="1005840" y="2560320"/>
            <a:ext cx="2651760" cy="13716"/>
          </a:xfrm>
          <a:prstGeom prst="rect">
            <a:avLst/>
          </a:prstGeom>
          <a:solidFill>
            <a:srgbClr val="1E3A5F"/>
          </a:solidFill>
          <a:ln/>
        </p:spPr>
      </p:sp>
      <p:sp>
        <p:nvSpPr>
          <p:cNvPr id="18" name="Text 16"/>
          <p:cNvSpPr/>
          <p:nvPr/>
        </p:nvSpPr>
        <p:spPr>
          <a:xfrm>
            <a:off x="93268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Merumuskan arah kebijakan riset &amp; inovasi daerah</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Penyusunan kajian teknokratik &amp; roadmap strategis</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Orkestrasi ekosistem Iptek antar-OPD &amp; perguruan tinggi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Monitoring &amp; evaluasi akuntabilitas dampak sosial-ekonomi</a:t>
            </a:r>
            <a:endParaRPr lang="en-US" sz="920" dirty="0"/>
          </a:p>
        </p:txBody>
      </p:sp>
      <p:sp>
        <p:nvSpPr>
          <p:cNvPr id="19" name="Shape 17"/>
          <p:cNvSpPr/>
          <p:nvPr/>
        </p:nvSpPr>
        <p:spPr>
          <a:xfrm>
            <a:off x="868680" y="4709160"/>
            <a:ext cx="2926080" cy="457200"/>
          </a:xfrm>
          <a:prstGeom prst="roundRect">
            <a:avLst>
              <a:gd name="adj" fmla="val 8000"/>
            </a:avLst>
          </a:prstGeom>
          <a:solidFill>
            <a:srgbClr val="070D18"/>
          </a:solidFill>
          <a:ln w="12700">
            <a:solidFill>
              <a:srgbClr val="0EA5E9"/>
            </a:solidFill>
            <a:prstDash val="solid"/>
          </a:ln>
        </p:spPr>
      </p:sp>
      <p:sp>
        <p:nvSpPr>
          <p:cNvPr id="20" name="Text 18"/>
          <p:cNvSpPr/>
          <p:nvPr/>
        </p:nvSpPr>
        <p:spPr>
          <a:xfrm>
            <a:off x="91440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Output: Regulasi, Roadmap, &amp; Pengawasan Kebijakan</a:t>
            </a:r>
            <a:endParaRPr lang="en-US" sz="850" dirty="0"/>
          </a:p>
        </p:txBody>
      </p:sp>
      <p:sp>
        <p:nvSpPr>
          <p:cNvPr id="21" name="Shape 19"/>
          <p:cNvSpPr/>
          <p:nvPr/>
        </p:nvSpPr>
        <p:spPr>
          <a:xfrm>
            <a:off x="4480560" y="1325880"/>
            <a:ext cx="3200400" cy="3977640"/>
          </a:xfrm>
          <a:prstGeom prst="roundRect">
            <a:avLst>
              <a:gd name="adj" fmla="val 2286"/>
            </a:avLst>
          </a:prstGeom>
          <a:solidFill>
            <a:srgbClr val="0A192F"/>
          </a:solidFill>
          <a:ln w="12700">
            <a:solidFill>
              <a:srgbClr val="1E3A5F"/>
            </a:solidFill>
            <a:prstDash val="solid"/>
          </a:ln>
        </p:spPr>
      </p:sp>
      <p:sp>
        <p:nvSpPr>
          <p:cNvPr id="22" name="Shape 20"/>
          <p:cNvSpPr/>
          <p:nvPr/>
        </p:nvSpPr>
        <p:spPr>
          <a:xfrm>
            <a:off x="4480560" y="1325880"/>
            <a:ext cx="73152" cy="3977640"/>
          </a:xfrm>
          <a:prstGeom prst="roundRect">
            <a:avLst>
              <a:gd name="adj" fmla="val 50000"/>
            </a:avLst>
          </a:prstGeom>
          <a:solidFill>
            <a:srgbClr val="F59E0B"/>
          </a:solidFill>
          <a:ln w="12700">
            <a:solidFill>
              <a:srgbClr val="F59E0B"/>
            </a:solidFill>
            <a:prstDash val="solid"/>
          </a:ln>
        </p:spPr>
      </p:sp>
      <p:sp>
        <p:nvSpPr>
          <p:cNvPr id="23" name="Shape 21"/>
          <p:cNvSpPr/>
          <p:nvPr/>
        </p:nvSpPr>
        <p:spPr>
          <a:xfrm>
            <a:off x="4617720" y="1463040"/>
            <a:ext cx="2926080" cy="320040"/>
          </a:xfrm>
          <a:prstGeom prst="roundRect">
            <a:avLst>
              <a:gd name="adj" fmla="val 11429"/>
            </a:avLst>
          </a:prstGeom>
          <a:solidFill>
            <a:srgbClr val="0D213F"/>
          </a:solidFill>
          <a:ln w="12700">
            <a:solidFill>
              <a:srgbClr val="F59E0B"/>
            </a:solidFill>
            <a:prstDash val="solid"/>
          </a:ln>
        </p:spPr>
      </p:sp>
      <p:sp>
        <p:nvSpPr>
          <p:cNvPr id="24" name="Text 22"/>
          <p:cNvSpPr/>
          <p:nvPr/>
        </p:nvSpPr>
        <p:spPr>
          <a:xfrm>
            <a:off x="4617720" y="1463040"/>
            <a:ext cx="2926080" cy="320040"/>
          </a:xfrm>
          <a:prstGeom prst="rect">
            <a:avLst/>
          </a:prstGeom>
          <a:noFill/>
          <a:ln/>
        </p:spPr>
        <p:txBody>
          <a:bodyPr wrap="square" rtlCol="0" anchor="ctr"/>
          <a:lstStyle/>
          <a:p>
            <a:pPr algn="ctr" indent="0" marL="0">
              <a:buNone/>
            </a:pPr>
            <a:r>
              <a:rPr lang="en-US" sz="800" b="1" dirty="0">
                <a:solidFill>
                  <a:srgbClr val="F59E0B"/>
                </a:solidFill>
                <a:latin typeface="Arial" pitchFamily="34" charset="0"/>
                <a:ea typeface="Arial" pitchFamily="34" charset="-122"/>
                <a:cs typeface="Arial" pitchFamily="34" charset="-120"/>
              </a:rPr>
              <a:t>TAHAP 2: DELIVERY UNIT &amp; OPERASI (PROSES)</a:t>
            </a:r>
            <a:endParaRPr lang="en-US" sz="800" dirty="0"/>
          </a:p>
        </p:txBody>
      </p:sp>
      <p:sp>
        <p:nvSpPr>
          <p:cNvPr id="25" name="Text 23"/>
          <p:cNvSpPr/>
          <p:nvPr/>
        </p:nvSpPr>
        <p:spPr>
          <a:xfrm>
            <a:off x="461772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UPTD KST SOLO TECHNOPARK</a:t>
            </a:r>
            <a:endParaRPr lang="en-US" sz="1200" dirty="0"/>
          </a:p>
        </p:txBody>
      </p:sp>
      <p:sp>
        <p:nvSpPr>
          <p:cNvPr id="26" name="Text 24"/>
          <p:cNvSpPr/>
          <p:nvPr/>
        </p:nvSpPr>
        <p:spPr>
          <a:xfrm>
            <a:off x="4617720" y="2240280"/>
            <a:ext cx="2926080" cy="256032"/>
          </a:xfrm>
          <a:prstGeom prst="rect">
            <a:avLst/>
          </a:prstGeom>
          <a:noFill/>
          <a:ln/>
        </p:spPr>
        <p:txBody>
          <a:bodyPr wrap="square" rtlCol="0" anchor="ctr"/>
          <a:lstStyle/>
          <a:p>
            <a:pPr algn="ctr" indent="0" marL="0">
              <a:buNone/>
            </a:pPr>
            <a:r>
              <a:rPr lang="en-US" sz="900" b="1" dirty="0">
                <a:solidFill>
                  <a:srgbClr val="F59E0B"/>
                </a:solidFill>
                <a:latin typeface="Arial" pitchFamily="34" charset="0"/>
                <a:ea typeface="Arial" pitchFamily="34" charset="-122"/>
                <a:cs typeface="Arial" pitchFamily="34" charset="-120"/>
              </a:rPr>
              <a:t>Tangan Eksekutor &amp; Operator Bisnis BLUD</a:t>
            </a:r>
            <a:endParaRPr lang="en-US" sz="900" dirty="0"/>
          </a:p>
        </p:txBody>
      </p:sp>
      <p:sp>
        <p:nvSpPr>
          <p:cNvPr id="27" name="Shape 25"/>
          <p:cNvSpPr/>
          <p:nvPr/>
        </p:nvSpPr>
        <p:spPr>
          <a:xfrm>
            <a:off x="4754880" y="2560320"/>
            <a:ext cx="2651760" cy="13716"/>
          </a:xfrm>
          <a:prstGeom prst="rect">
            <a:avLst/>
          </a:prstGeom>
          <a:solidFill>
            <a:srgbClr val="1E3A5F"/>
          </a:solidFill>
          <a:ln/>
        </p:spPr>
      </p:sp>
      <p:sp>
        <p:nvSpPr>
          <p:cNvPr id="28" name="Text 26"/>
          <p:cNvSpPr/>
          <p:nvPr/>
        </p:nvSpPr>
        <p:spPr>
          <a:xfrm>
            <a:off x="468172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Penyelenggaraan diklat vokasi &amp; sertifikasi industri</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Inkubasi bisnis, alih teknologi &amp; komersialisasi riset</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Uji coba prototipe lab presisi &amp; penetrant testing (NDT)</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Pengelolaan portofolio bisnis BLUD mandiri &amp; kemitraan</a:t>
            </a:r>
            <a:endParaRPr lang="en-US" sz="920" dirty="0"/>
          </a:p>
        </p:txBody>
      </p:sp>
      <p:sp>
        <p:nvSpPr>
          <p:cNvPr id="29" name="Shape 27"/>
          <p:cNvSpPr/>
          <p:nvPr/>
        </p:nvSpPr>
        <p:spPr>
          <a:xfrm>
            <a:off x="4617720" y="4709160"/>
            <a:ext cx="2926080" cy="457200"/>
          </a:xfrm>
          <a:prstGeom prst="roundRect">
            <a:avLst>
              <a:gd name="adj" fmla="val 8000"/>
            </a:avLst>
          </a:prstGeom>
          <a:solidFill>
            <a:srgbClr val="070D18"/>
          </a:solidFill>
          <a:ln w="12700">
            <a:solidFill>
              <a:srgbClr val="F59E0B"/>
            </a:solidFill>
            <a:prstDash val="solid"/>
          </a:ln>
        </p:spPr>
      </p:sp>
      <p:sp>
        <p:nvSpPr>
          <p:cNvPr id="30" name="Text 28"/>
          <p:cNvSpPr/>
          <p:nvPr/>
        </p:nvSpPr>
        <p:spPr>
          <a:xfrm>
            <a:off x="466344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Output: Layanan Teknis, Inkubasi, &amp; Hilirisasi Produk</a:t>
            </a:r>
            <a:endParaRPr lang="en-US" sz="850" dirty="0"/>
          </a:p>
        </p:txBody>
      </p:sp>
      <p:sp>
        <p:nvSpPr>
          <p:cNvPr id="31" name="Shape 29"/>
          <p:cNvSpPr/>
          <p:nvPr/>
        </p:nvSpPr>
        <p:spPr>
          <a:xfrm>
            <a:off x="8229600" y="1325880"/>
            <a:ext cx="3200400" cy="3977640"/>
          </a:xfrm>
          <a:prstGeom prst="roundRect">
            <a:avLst>
              <a:gd name="adj" fmla="val 2286"/>
            </a:avLst>
          </a:prstGeom>
          <a:solidFill>
            <a:srgbClr val="0A192F"/>
          </a:solidFill>
          <a:ln w="12700">
            <a:solidFill>
              <a:srgbClr val="1E3A5F"/>
            </a:solidFill>
            <a:prstDash val="solid"/>
          </a:ln>
        </p:spPr>
      </p:sp>
      <p:sp>
        <p:nvSpPr>
          <p:cNvPr id="32" name="Shape 30"/>
          <p:cNvSpPr/>
          <p:nvPr/>
        </p:nvSpPr>
        <p:spPr>
          <a:xfrm>
            <a:off x="8229600" y="1325880"/>
            <a:ext cx="73152" cy="3977640"/>
          </a:xfrm>
          <a:prstGeom prst="roundRect">
            <a:avLst>
              <a:gd name="adj" fmla="val 50000"/>
            </a:avLst>
          </a:prstGeom>
          <a:solidFill>
            <a:srgbClr val="10B981"/>
          </a:solidFill>
          <a:ln w="12700">
            <a:solidFill>
              <a:srgbClr val="10B981"/>
            </a:solidFill>
            <a:prstDash val="solid"/>
          </a:ln>
        </p:spPr>
      </p:sp>
      <p:sp>
        <p:nvSpPr>
          <p:cNvPr id="33" name="Shape 31"/>
          <p:cNvSpPr/>
          <p:nvPr/>
        </p:nvSpPr>
        <p:spPr>
          <a:xfrm>
            <a:off x="8366760" y="1463040"/>
            <a:ext cx="2926080" cy="320040"/>
          </a:xfrm>
          <a:prstGeom prst="roundRect">
            <a:avLst>
              <a:gd name="adj" fmla="val 11429"/>
            </a:avLst>
          </a:prstGeom>
          <a:solidFill>
            <a:srgbClr val="0D213F"/>
          </a:solidFill>
          <a:ln w="12700">
            <a:solidFill>
              <a:srgbClr val="10B981"/>
            </a:solidFill>
            <a:prstDash val="solid"/>
          </a:ln>
        </p:spPr>
      </p:sp>
      <p:sp>
        <p:nvSpPr>
          <p:cNvPr id="34" name="Text 32"/>
          <p:cNvSpPr/>
          <p:nvPr/>
        </p:nvSpPr>
        <p:spPr>
          <a:xfrm>
            <a:off x="8366760" y="1463040"/>
            <a:ext cx="2926080" cy="320040"/>
          </a:xfrm>
          <a:prstGeom prst="rect">
            <a:avLst/>
          </a:prstGeom>
          <a:noFill/>
          <a:ln/>
        </p:spPr>
        <p:txBody>
          <a:bodyPr wrap="square" rtlCol="0" anchor="ctr"/>
          <a:lstStyle/>
          <a:p>
            <a:pPr algn="ctr" indent="0" marL="0">
              <a:buNone/>
            </a:pPr>
            <a:r>
              <a:rPr lang="en-US" sz="800" b="1" dirty="0">
                <a:solidFill>
                  <a:srgbClr val="10B981"/>
                </a:solidFill>
                <a:latin typeface="Arial" pitchFamily="34" charset="0"/>
                <a:ea typeface="Arial" pitchFamily="34" charset="-122"/>
                <a:cs typeface="Arial" pitchFamily="34" charset="-120"/>
              </a:rPr>
              <a:t>TAHAP 3: DAMPAK KESEJAHTERAAN (OUTCOME)</a:t>
            </a:r>
            <a:endParaRPr lang="en-US" sz="800" dirty="0"/>
          </a:p>
        </p:txBody>
      </p:sp>
      <p:sp>
        <p:nvSpPr>
          <p:cNvPr id="35" name="Text 33"/>
          <p:cNvSpPr/>
          <p:nvPr/>
        </p:nvSpPr>
        <p:spPr>
          <a:xfrm>
            <a:off x="8366760" y="1874520"/>
            <a:ext cx="2926080" cy="411480"/>
          </a:xfrm>
          <a:prstGeom prst="rect">
            <a:avLst/>
          </a:prstGeom>
          <a:noFill/>
          <a:ln/>
        </p:spPr>
        <p:txBody>
          <a:bodyPr wrap="square"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WARGA SURAKARTA &amp; DUNIA USAHA</a:t>
            </a:r>
            <a:endParaRPr lang="en-US" sz="1200" dirty="0"/>
          </a:p>
        </p:txBody>
      </p:sp>
      <p:sp>
        <p:nvSpPr>
          <p:cNvPr id="36" name="Text 34"/>
          <p:cNvSpPr/>
          <p:nvPr/>
        </p:nvSpPr>
        <p:spPr>
          <a:xfrm>
            <a:off x="8366760" y="2240280"/>
            <a:ext cx="2926080" cy="256032"/>
          </a:xfrm>
          <a:prstGeom prst="rect">
            <a:avLst/>
          </a:prstGeom>
          <a:noFill/>
          <a:ln/>
        </p:spPr>
        <p:txBody>
          <a:bodyPr wrap="square" rtlCol="0" anchor="ctr"/>
          <a:lstStyle/>
          <a:p>
            <a:pPr algn="ctr" indent="0" marL="0">
              <a:buNone/>
            </a:pPr>
            <a:r>
              <a:rPr lang="en-US" sz="900" b="1" dirty="0">
                <a:solidFill>
                  <a:srgbClr val="10B981"/>
                </a:solidFill>
                <a:latin typeface="Arial" pitchFamily="34" charset="0"/>
                <a:ea typeface="Arial" pitchFamily="34" charset="-122"/>
                <a:cs typeface="Arial" pitchFamily="34" charset="-120"/>
              </a:rPr>
              <a:t>Penerima Manfaat Utama (Benefisiari)</a:t>
            </a:r>
            <a:endParaRPr lang="en-US" sz="900" dirty="0"/>
          </a:p>
        </p:txBody>
      </p:sp>
      <p:sp>
        <p:nvSpPr>
          <p:cNvPr id="37" name="Shape 35"/>
          <p:cNvSpPr/>
          <p:nvPr/>
        </p:nvSpPr>
        <p:spPr>
          <a:xfrm>
            <a:off x="8503920" y="2560320"/>
            <a:ext cx="2651760" cy="13716"/>
          </a:xfrm>
          <a:prstGeom prst="rect">
            <a:avLst/>
          </a:prstGeom>
          <a:solidFill>
            <a:srgbClr val="1E3A5F"/>
          </a:solidFill>
          <a:ln/>
        </p:spPr>
      </p:sp>
      <p:sp>
        <p:nvSpPr>
          <p:cNvPr id="38" name="Text 36"/>
          <p:cNvSpPr/>
          <p:nvPr/>
        </p:nvSpPr>
        <p:spPr>
          <a:xfrm>
            <a:off x="8430768" y="2697480"/>
            <a:ext cx="2798064" cy="1920240"/>
          </a:xfrm>
          <a:prstGeom prst="rect">
            <a:avLst/>
          </a:prstGeom>
          <a:noFill/>
          <a:ln/>
        </p:spPr>
        <p:txBody>
          <a:bodyPr wrap="square" rtlCol="0" anchor="ctr"/>
          <a:lstStyle/>
          <a:p>
            <a:pPr indent="0" marL="0">
              <a:lnSpc>
                <a:spcPts val="1300"/>
              </a:lnSpc>
              <a:buNone/>
            </a:pPr>
            <a:r>
              <a:rPr lang="en-US" sz="920" dirty="0">
                <a:solidFill>
                  <a:srgbClr val="94A3B8"/>
                </a:solidFill>
                <a:latin typeface="Arial" pitchFamily="34" charset="0"/>
                <a:ea typeface="Arial" pitchFamily="34" charset="-122"/>
                <a:cs typeface="Arial" pitchFamily="34" charset="-120"/>
              </a:rPr>
              <a:t>•  SDM lokal kompeten &amp; tersertifikasi kerja industri global</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UMKM &amp; startup teknologi tumbuh mandiri omzetnya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Produk inovasi kampus terserap pasar &amp; e-Katalog Pemda</a:t>
            </a:r>
            <a:endParaRPr lang="en-US" sz="920" dirty="0"/>
          </a:p>
          <a:p>
            <a:pPr indent="0" marL="0">
              <a:lnSpc>
                <a:spcPts val="1300"/>
              </a:lnSpc>
              <a:buNone/>
            </a:pPr>
            <a:endParaRPr lang="en-US" sz="920" dirty="0"/>
          </a:p>
          <a:p>
            <a:pPr indent="0" marL="0">
              <a:lnSpc>
                <a:spcPts val="1300"/>
              </a:lnSpc>
              <a:buNone/>
            </a:pPr>
            <a:r>
              <a:rPr lang="en-US" sz="920" dirty="0">
                <a:solidFill>
                  <a:srgbClr val="94A3B8"/>
                </a:solidFill>
                <a:latin typeface="Arial" pitchFamily="34" charset="0"/>
                <a:ea typeface="Arial" pitchFamily="34" charset="-122"/>
                <a:cs typeface="Arial" pitchFamily="34" charset="-120"/>
              </a:rPr>
              <a:t>•  Masuknya investasi swasta &amp; penyerapan 9.000 tenaga kerja</a:t>
            </a:r>
            <a:endParaRPr lang="en-US" sz="920" dirty="0"/>
          </a:p>
        </p:txBody>
      </p:sp>
      <p:sp>
        <p:nvSpPr>
          <p:cNvPr id="39" name="Shape 37"/>
          <p:cNvSpPr/>
          <p:nvPr/>
        </p:nvSpPr>
        <p:spPr>
          <a:xfrm>
            <a:off x="8366760" y="4709160"/>
            <a:ext cx="2926080" cy="457200"/>
          </a:xfrm>
          <a:prstGeom prst="roundRect">
            <a:avLst>
              <a:gd name="adj" fmla="val 8000"/>
            </a:avLst>
          </a:prstGeom>
          <a:solidFill>
            <a:srgbClr val="070D18"/>
          </a:solidFill>
          <a:ln w="12700">
            <a:solidFill>
              <a:srgbClr val="10B981"/>
            </a:solidFill>
            <a:prstDash val="solid"/>
          </a:ln>
        </p:spPr>
      </p:sp>
      <p:sp>
        <p:nvSpPr>
          <p:cNvPr id="40" name="Text 38"/>
          <p:cNvSpPr/>
          <p:nvPr/>
        </p:nvSpPr>
        <p:spPr>
          <a:xfrm>
            <a:off x="8412480" y="4709160"/>
            <a:ext cx="2834640" cy="45720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Impact: Lapangan Kerja, Daya Saing, &amp; PAD Mandiri</a:t>
            </a:r>
            <a:endParaRPr lang="en-US" sz="850" dirty="0"/>
          </a:p>
        </p:txBody>
      </p:sp>
      <p:sp>
        <p:nvSpPr>
          <p:cNvPr id="41" name="Shape 39"/>
          <p:cNvSpPr/>
          <p:nvPr/>
        </p:nvSpPr>
        <p:spPr>
          <a:xfrm>
            <a:off x="3977640" y="3017520"/>
            <a:ext cx="457200" cy="411480"/>
          </a:xfrm>
          <a:prstGeom prst="rightArrow">
            <a:avLst/>
          </a:prstGeom>
          <a:solidFill>
            <a:srgbClr val="0EA5E9"/>
          </a:solidFill>
          <a:ln w="12700">
            <a:solidFill>
              <a:srgbClr val="0EA5E9"/>
            </a:solidFill>
            <a:prstDash val="solid"/>
          </a:ln>
        </p:spPr>
      </p:sp>
      <p:sp>
        <p:nvSpPr>
          <p:cNvPr id="42" name="Text 40"/>
          <p:cNvSpPr/>
          <p:nvPr/>
        </p:nvSpPr>
        <p:spPr>
          <a:xfrm>
            <a:off x="3886200" y="2468880"/>
            <a:ext cx="640080" cy="502920"/>
          </a:xfrm>
          <a:prstGeom prst="rect">
            <a:avLst/>
          </a:prstGeom>
          <a:noFill/>
          <a:ln/>
        </p:spPr>
        <p:txBody>
          <a:bodyPr wrap="square" rtlCol="0" anchor="ctr"/>
          <a:lstStyle/>
          <a:p>
            <a:pPr algn="ctr" indent="0" marL="0">
              <a:buNone/>
            </a:pPr>
            <a:r>
              <a:rPr lang="en-US" sz="750" b="1" dirty="0">
                <a:solidFill>
                  <a:srgbClr val="38BDF8"/>
                </a:solidFill>
                <a:latin typeface="Arial" pitchFamily="34" charset="0"/>
                <a:ea typeface="Arial" pitchFamily="34" charset="-122"/>
                <a:cs typeface="Arial" pitchFamily="34" charset="-120"/>
              </a:rPr>
              <a:t>Regulasi &amp;</a:t>
            </a:r>
            <a:endParaRPr lang="en-US" sz="750" dirty="0"/>
          </a:p>
          <a:p>
            <a:pPr algn="ctr" indent="0" marL="0">
              <a:buNone/>
            </a:pPr>
            <a:r>
              <a:rPr lang="en-US" sz="750" b="1" dirty="0">
                <a:solidFill>
                  <a:srgbClr val="38BDF8"/>
                </a:solidFill>
                <a:latin typeface="Arial" pitchFamily="34" charset="0"/>
                <a:ea typeface="Arial" pitchFamily="34" charset="-122"/>
                <a:cs typeface="Arial" pitchFamily="34" charset="-120"/>
              </a:rPr>
              <a:t>Arahan</a:t>
            </a:r>
            <a:endParaRPr lang="en-US" sz="750" dirty="0"/>
          </a:p>
        </p:txBody>
      </p:sp>
      <p:sp>
        <p:nvSpPr>
          <p:cNvPr id="43" name="Shape 41"/>
          <p:cNvSpPr/>
          <p:nvPr/>
        </p:nvSpPr>
        <p:spPr>
          <a:xfrm>
            <a:off x="7726680" y="3017520"/>
            <a:ext cx="457200" cy="411480"/>
          </a:xfrm>
          <a:prstGeom prst="rightArrow">
            <a:avLst/>
          </a:prstGeom>
          <a:solidFill>
            <a:srgbClr val="F59E0B"/>
          </a:solidFill>
          <a:ln w="12700">
            <a:solidFill>
              <a:srgbClr val="F59E0B"/>
            </a:solidFill>
            <a:prstDash val="solid"/>
          </a:ln>
        </p:spPr>
      </p:sp>
      <p:sp>
        <p:nvSpPr>
          <p:cNvPr id="44" name="Text 42"/>
          <p:cNvSpPr/>
          <p:nvPr/>
        </p:nvSpPr>
        <p:spPr>
          <a:xfrm>
            <a:off x="7635240" y="2468880"/>
            <a:ext cx="640080" cy="502920"/>
          </a:xfrm>
          <a:prstGeom prst="rect">
            <a:avLst/>
          </a:prstGeom>
          <a:noFill/>
          <a:ln/>
        </p:spPr>
        <p:txBody>
          <a:bodyPr wrap="square" rtlCol="0" anchor="ctr"/>
          <a:lstStyle/>
          <a:p>
            <a:pPr algn="ctr" indent="0" marL="0">
              <a:buNone/>
            </a:pPr>
            <a:r>
              <a:rPr lang="en-US" sz="750" b="1" dirty="0">
                <a:solidFill>
                  <a:srgbClr val="F59E0B"/>
                </a:solidFill>
                <a:latin typeface="Arial" pitchFamily="34" charset="0"/>
                <a:ea typeface="Arial" pitchFamily="34" charset="-122"/>
                <a:cs typeface="Arial" pitchFamily="34" charset="-120"/>
              </a:rPr>
              <a:t>Layanan &amp;</a:t>
            </a:r>
            <a:endParaRPr lang="en-US" sz="750" dirty="0"/>
          </a:p>
          <a:p>
            <a:pPr algn="ctr" indent="0" marL="0">
              <a:buNone/>
            </a:pPr>
            <a:r>
              <a:rPr lang="en-US" sz="750" b="1" dirty="0">
                <a:solidFill>
                  <a:srgbClr val="F59E0B"/>
                </a:solidFill>
                <a:latin typeface="Arial" pitchFamily="34" charset="0"/>
                <a:ea typeface="Arial" pitchFamily="34" charset="-122"/>
                <a:cs typeface="Arial" pitchFamily="34" charset="-120"/>
              </a:rPr>
              <a:t>Inovasi</a:t>
            </a:r>
            <a:endParaRPr lang="en-US" sz="750" dirty="0"/>
          </a:p>
        </p:txBody>
      </p:sp>
      <p:sp>
        <p:nvSpPr>
          <p:cNvPr id="45" name="Shape 43"/>
          <p:cNvSpPr/>
          <p:nvPr/>
        </p:nvSpPr>
        <p:spPr>
          <a:xfrm>
            <a:off x="731520" y="5440680"/>
            <a:ext cx="10728655" cy="804672"/>
          </a:xfrm>
          <a:prstGeom prst="roundRect">
            <a:avLst>
              <a:gd name="adj" fmla="val 9091"/>
            </a:avLst>
          </a:prstGeom>
          <a:solidFill>
            <a:srgbClr val="0D213F"/>
          </a:solidFill>
          <a:ln w="12700">
            <a:solidFill>
              <a:srgbClr val="1E3A5F"/>
            </a:solidFill>
            <a:prstDash val="solid"/>
          </a:ln>
        </p:spPr>
      </p:sp>
      <p:sp>
        <p:nvSpPr>
          <p:cNvPr id="46" name="Text 44"/>
          <p:cNvSpPr/>
          <p:nvPr/>
        </p:nvSpPr>
        <p:spPr>
          <a:xfrm>
            <a:off x="914400" y="5532120"/>
            <a:ext cx="10362895" cy="219456"/>
          </a:xfrm>
          <a:prstGeom prst="rect">
            <a:avLst/>
          </a:prstGeom>
          <a:noFill/>
          <a:ln/>
        </p:spPr>
        <p:txBody>
          <a:bodyPr wrap="square" rtlCol="0" anchor="ctr"/>
          <a:lstStyle/>
          <a:p>
            <a:pPr indent="0" marL="0">
              <a:buNone/>
            </a:pPr>
            <a:r>
              <a:rPr lang="en-US" sz="920" b="1" dirty="0">
                <a:solidFill>
                  <a:srgbClr val="38BDF8"/>
                </a:solidFill>
                <a:latin typeface="Arial" pitchFamily="34" charset="0"/>
                <a:ea typeface="Arial" pitchFamily="34" charset="-122"/>
                <a:cs typeface="Arial" pitchFamily="34" charset="-120"/>
              </a:rPr>
              <a:t>LANDASAN HUKUM KELEMBAGAAN KOTA SURAKARTA:</a:t>
            </a:r>
            <a:endParaRPr lang="en-US" sz="920" dirty="0"/>
          </a:p>
        </p:txBody>
      </p:sp>
      <p:sp>
        <p:nvSpPr>
          <p:cNvPr id="47" name="Text 45"/>
          <p:cNvSpPr/>
          <p:nvPr/>
        </p:nvSpPr>
        <p:spPr>
          <a:xfrm>
            <a:off x="914400" y="5760720"/>
            <a:ext cx="10362895" cy="411480"/>
          </a:xfrm>
          <a:prstGeom prst="rect">
            <a:avLst/>
          </a:prstGeom>
          <a:noFill/>
          <a:ln/>
        </p:spPr>
        <p:txBody>
          <a:bodyPr wrap="square" rtlCol="0" anchor="ctr"/>
          <a:lstStyle/>
          <a:p>
            <a:pPr indent="0" marL="0">
              <a:lnSpc>
                <a:spcPts val="1200"/>
              </a:lnSpc>
              <a:buNone/>
            </a:pPr>
            <a:r>
              <a:rPr lang="en-US" sz="900" dirty="0">
                <a:solidFill>
                  <a:srgbClr val="FFFFFF"/>
                </a:solidFill>
                <a:latin typeface="Arial" pitchFamily="34" charset="0"/>
                <a:ea typeface="Arial" pitchFamily="34" charset="-122"/>
                <a:cs typeface="Arial" pitchFamily="34" charset="-120"/>
              </a:rPr>
              <a:t>• Perwali Surakarta No. 15 Tahun 2022: Penetapan kedudukan UPTD KST Solo Technopark sebagai unit pelaksana teknis operasional di bawah naungan BRIDA.</a:t>
            </a:r>
            <a:endParaRPr lang="en-US" sz="900" dirty="0"/>
          </a:p>
          <a:p>
            <a:pPr indent="0" marL="0">
              <a:lnSpc>
                <a:spcPts val="1200"/>
              </a:lnSpc>
              <a:buNone/>
            </a:pPr>
            <a:r>
              <a:rPr lang="en-US" sz="900" dirty="0">
                <a:solidFill>
                  <a:srgbClr val="FFFFFF"/>
                </a:solidFill>
                <a:latin typeface="Arial" pitchFamily="34" charset="0"/>
                <a:ea typeface="Arial" pitchFamily="34" charset="-122"/>
                <a:cs typeface="Arial" pitchFamily="34" charset="-120"/>
              </a:rPr>
              <a:t>• Perwali Surakarta No. 38 Tahun 2022: Penetapan Pola Tata Kelola Badan Layanan Umum Daerah (BLUD) UPTD KST Solo Technopark dengan fleksibilitas bisnis sehat.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LANDASAN REGULASI &amp; TATA KELOLA</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FONDASI HUKUM YANG KOKOH: MANDAT &amp; FLEKSIBILITAS BLUD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Tiga Pilar Regulasi yang Memberi Kewenangan, Fleksibilitas Bisnis Sehat, dan Arah Strategis KST</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03 / 12</a:t>
            </a:r>
            <a:endParaRPr lang="en-US" sz="900" dirty="0"/>
          </a:p>
        </p:txBody>
      </p:sp>
      <p:sp>
        <p:nvSpPr>
          <p:cNvPr id="11" name="Shape 9"/>
          <p:cNvSpPr/>
          <p:nvPr/>
        </p:nvSpPr>
        <p:spPr>
          <a:xfrm>
            <a:off x="731520" y="1325880"/>
            <a:ext cx="3474720" cy="4023360"/>
          </a:xfrm>
          <a:prstGeom prst="roundRect">
            <a:avLst>
              <a:gd name="adj" fmla="val 2105"/>
            </a:avLst>
          </a:prstGeom>
          <a:solidFill>
            <a:srgbClr val="0A192F"/>
          </a:solidFill>
          <a:ln w="12700">
            <a:solidFill>
              <a:srgbClr val="1E3A5F"/>
            </a:solidFill>
            <a:prstDash val="solid"/>
          </a:ln>
        </p:spPr>
      </p:sp>
      <p:sp>
        <p:nvSpPr>
          <p:cNvPr id="12" name="Shape 10"/>
          <p:cNvSpPr/>
          <p:nvPr/>
        </p:nvSpPr>
        <p:spPr>
          <a:xfrm>
            <a:off x="731520" y="1325880"/>
            <a:ext cx="73152" cy="40233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914400" y="1508760"/>
            <a:ext cx="3108960" cy="502920"/>
          </a:xfrm>
          <a:prstGeom prst="roundRect">
            <a:avLst>
              <a:gd name="adj" fmla="val 9091"/>
            </a:avLst>
          </a:prstGeom>
          <a:solidFill>
            <a:srgbClr val="0D213F"/>
          </a:solidFill>
          <a:ln w="12700">
            <a:solidFill>
              <a:srgbClr val="0EA5E9"/>
            </a:solidFill>
            <a:prstDash val="solid"/>
          </a:ln>
        </p:spPr>
      </p:sp>
      <p:sp>
        <p:nvSpPr>
          <p:cNvPr id="14" name="Text 12"/>
          <p:cNvSpPr/>
          <p:nvPr/>
        </p:nvSpPr>
        <p:spPr>
          <a:xfrm>
            <a:off x="91440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PERMENDAGRI 79/2018</a:t>
            </a:r>
            <a:endParaRPr lang="en-US" sz="1100" dirty="0"/>
          </a:p>
        </p:txBody>
      </p:sp>
      <p:sp>
        <p:nvSpPr>
          <p:cNvPr id="15" name="Text 13"/>
          <p:cNvSpPr/>
          <p:nvPr/>
        </p:nvSpPr>
        <p:spPr>
          <a:xfrm>
            <a:off x="914400" y="1783080"/>
            <a:ext cx="3108960" cy="201168"/>
          </a:xfrm>
          <a:prstGeom prst="rect">
            <a:avLst/>
          </a:prstGeom>
          <a:noFill/>
          <a:ln/>
        </p:spPr>
        <p:txBody>
          <a:bodyPr wrap="square" rtlCol="0" anchor="ctr"/>
          <a:lstStyle/>
          <a:p>
            <a:pPr algn="ctr" indent="0" marL="0">
              <a:buNone/>
            </a:pPr>
            <a:r>
              <a:rPr lang="en-US" sz="850" b="1" dirty="0">
                <a:solidFill>
                  <a:srgbClr val="0EA5E9"/>
                </a:solidFill>
                <a:latin typeface="Arial" pitchFamily="34" charset="0"/>
                <a:ea typeface="Arial" pitchFamily="34" charset="-122"/>
                <a:cs typeface="Arial" pitchFamily="34" charset="-120"/>
              </a:rPr>
              <a:t>Tata Kelola Keuangan BLUD</a:t>
            </a:r>
            <a:endParaRPr lang="en-US" sz="850" dirty="0"/>
          </a:p>
        </p:txBody>
      </p:sp>
      <p:sp>
        <p:nvSpPr>
          <p:cNvPr id="16" name="Shape 14"/>
          <p:cNvSpPr/>
          <p:nvPr/>
        </p:nvSpPr>
        <p:spPr>
          <a:xfrm>
            <a:off x="914400" y="2148840"/>
            <a:ext cx="3108960" cy="1325880"/>
          </a:xfrm>
          <a:prstGeom prst="roundRect">
            <a:avLst>
              <a:gd name="adj" fmla="val 2759"/>
            </a:avLst>
          </a:prstGeom>
          <a:solidFill>
            <a:srgbClr val="070D18"/>
          </a:solidFill>
          <a:ln w="12700">
            <a:solidFill>
              <a:srgbClr val="1E3A5F"/>
            </a:solidFill>
            <a:prstDash val="solid"/>
          </a:ln>
        </p:spPr>
      </p:sp>
      <p:sp>
        <p:nvSpPr>
          <p:cNvPr id="17" name="Text 15"/>
          <p:cNvSpPr/>
          <p:nvPr/>
        </p:nvSpPr>
        <p:spPr>
          <a:xfrm>
            <a:off x="100584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80" dirty="0"/>
          </a:p>
        </p:txBody>
      </p:sp>
      <p:sp>
        <p:nvSpPr>
          <p:cNvPr id="18" name="Text 16"/>
          <p:cNvSpPr/>
          <p:nvPr/>
        </p:nvSpPr>
        <p:spPr>
          <a:xfrm>
            <a:off x="91440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Keleluasaan bermitra dengan swasta tanpa birokrasi kaku APBD</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Mengelola dan memutar pendapatan fungsional jasa secara mandiri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Rekrutmen tenaga ahli &amp; instruktur profesional sesuai kebutuhan pasar</a:t>
            </a:r>
            <a:endParaRPr lang="en-US" sz="920" dirty="0"/>
          </a:p>
        </p:txBody>
      </p:sp>
      <p:sp>
        <p:nvSpPr>
          <p:cNvPr id="19" name="Shape 17"/>
          <p:cNvSpPr/>
          <p:nvPr/>
        </p:nvSpPr>
        <p:spPr>
          <a:xfrm>
            <a:off x="4343400" y="1325880"/>
            <a:ext cx="3474720" cy="4023360"/>
          </a:xfrm>
          <a:prstGeom prst="roundRect">
            <a:avLst>
              <a:gd name="adj" fmla="val 2105"/>
            </a:avLst>
          </a:prstGeom>
          <a:solidFill>
            <a:srgbClr val="0A192F"/>
          </a:solidFill>
          <a:ln w="12700">
            <a:solidFill>
              <a:srgbClr val="1E3A5F"/>
            </a:solidFill>
            <a:prstDash val="solid"/>
          </a:ln>
        </p:spPr>
      </p:sp>
      <p:sp>
        <p:nvSpPr>
          <p:cNvPr id="20" name="Shape 18"/>
          <p:cNvSpPr/>
          <p:nvPr/>
        </p:nvSpPr>
        <p:spPr>
          <a:xfrm>
            <a:off x="4343400" y="1325880"/>
            <a:ext cx="73152" cy="4023360"/>
          </a:xfrm>
          <a:prstGeom prst="roundRect">
            <a:avLst>
              <a:gd name="adj" fmla="val 50000"/>
            </a:avLst>
          </a:prstGeom>
          <a:solidFill>
            <a:srgbClr val="F59E0B"/>
          </a:solidFill>
          <a:ln w="12700">
            <a:solidFill>
              <a:srgbClr val="F59E0B"/>
            </a:solidFill>
            <a:prstDash val="solid"/>
          </a:ln>
        </p:spPr>
      </p:sp>
      <p:sp>
        <p:nvSpPr>
          <p:cNvPr id="21" name="Shape 19"/>
          <p:cNvSpPr/>
          <p:nvPr/>
        </p:nvSpPr>
        <p:spPr>
          <a:xfrm>
            <a:off x="4526280" y="1508760"/>
            <a:ext cx="3108960" cy="502920"/>
          </a:xfrm>
          <a:prstGeom prst="roundRect">
            <a:avLst>
              <a:gd name="adj" fmla="val 9091"/>
            </a:avLst>
          </a:prstGeom>
          <a:solidFill>
            <a:srgbClr val="0D213F"/>
          </a:solidFill>
          <a:ln w="12700">
            <a:solidFill>
              <a:srgbClr val="F59E0B"/>
            </a:solidFill>
            <a:prstDash val="solid"/>
          </a:ln>
        </p:spPr>
      </p:sp>
      <p:sp>
        <p:nvSpPr>
          <p:cNvPr id="22" name="Text 20"/>
          <p:cNvSpPr/>
          <p:nvPr/>
        </p:nvSpPr>
        <p:spPr>
          <a:xfrm>
            <a:off x="452628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PERPRES 106/2017</a:t>
            </a:r>
            <a:endParaRPr lang="en-US" sz="1100" dirty="0"/>
          </a:p>
        </p:txBody>
      </p:sp>
      <p:sp>
        <p:nvSpPr>
          <p:cNvPr id="23" name="Text 21"/>
          <p:cNvSpPr/>
          <p:nvPr/>
        </p:nvSpPr>
        <p:spPr>
          <a:xfrm>
            <a:off x="4526280" y="1783080"/>
            <a:ext cx="3108960" cy="201168"/>
          </a:xfrm>
          <a:prstGeom prst="rect">
            <a:avLst/>
          </a:prstGeom>
          <a:noFill/>
          <a:ln/>
        </p:spPr>
        <p:txBody>
          <a:bodyPr wrap="square" rtlCol="0" anchor="ctr"/>
          <a:lstStyle/>
          <a:p>
            <a:pPr algn="ctr" indent="0" marL="0">
              <a:buNone/>
            </a:pPr>
            <a:r>
              <a:rPr lang="en-US" sz="850" b="1" dirty="0">
                <a:solidFill>
                  <a:srgbClr val="F59E0B"/>
                </a:solidFill>
                <a:latin typeface="Arial" pitchFamily="34" charset="0"/>
                <a:ea typeface="Arial" pitchFamily="34" charset="-122"/>
                <a:cs typeface="Arial" pitchFamily="34" charset="-120"/>
              </a:rPr>
              <a:t>Kawasan Sains &amp; Teknologi (KST)</a:t>
            </a:r>
            <a:endParaRPr lang="en-US" sz="850" dirty="0"/>
          </a:p>
        </p:txBody>
      </p:sp>
      <p:sp>
        <p:nvSpPr>
          <p:cNvPr id="24" name="Shape 22"/>
          <p:cNvSpPr/>
          <p:nvPr/>
        </p:nvSpPr>
        <p:spPr>
          <a:xfrm>
            <a:off x="4526280" y="2148840"/>
            <a:ext cx="3108960" cy="1325880"/>
          </a:xfrm>
          <a:prstGeom prst="roundRect">
            <a:avLst>
              <a:gd name="adj" fmla="val 2759"/>
            </a:avLst>
          </a:prstGeom>
          <a:solidFill>
            <a:srgbClr val="070D18"/>
          </a:solidFill>
          <a:ln w="12700">
            <a:solidFill>
              <a:srgbClr val="1E3A5F"/>
            </a:solidFill>
            <a:prstDash val="solid"/>
          </a:ln>
        </p:spPr>
      </p:sp>
      <p:sp>
        <p:nvSpPr>
          <p:cNvPr id="25" name="Text 23"/>
          <p:cNvSpPr/>
          <p:nvPr/>
        </p:nvSpPr>
        <p:spPr>
          <a:xfrm>
            <a:off x="461772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80" dirty="0"/>
          </a:p>
        </p:txBody>
      </p:sp>
      <p:sp>
        <p:nvSpPr>
          <p:cNvPr id="26" name="Text 24"/>
          <p:cNvSpPr/>
          <p:nvPr/>
        </p:nvSpPr>
        <p:spPr>
          <a:xfrm>
            <a:off x="452628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Mandat nasional fasilitasi hilirisasi &amp; spin-off perusahaan riset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Kewajiban menyediakan 4 pilar layanan iptek terintegrasi</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Landasan kolaborasi hexahelix multi-stakeholder formal</a:t>
            </a:r>
            <a:endParaRPr lang="en-US" sz="920" dirty="0"/>
          </a:p>
        </p:txBody>
      </p:sp>
      <p:sp>
        <p:nvSpPr>
          <p:cNvPr id="27" name="Shape 25"/>
          <p:cNvSpPr/>
          <p:nvPr/>
        </p:nvSpPr>
        <p:spPr>
          <a:xfrm>
            <a:off x="7955280" y="1325880"/>
            <a:ext cx="3474720" cy="4023360"/>
          </a:xfrm>
          <a:prstGeom prst="roundRect">
            <a:avLst>
              <a:gd name="adj" fmla="val 2105"/>
            </a:avLst>
          </a:prstGeom>
          <a:solidFill>
            <a:srgbClr val="0A192F"/>
          </a:solidFill>
          <a:ln w="12700">
            <a:solidFill>
              <a:srgbClr val="1E3A5F"/>
            </a:solidFill>
            <a:prstDash val="solid"/>
          </a:ln>
        </p:spPr>
      </p:sp>
      <p:sp>
        <p:nvSpPr>
          <p:cNvPr id="28" name="Shape 26"/>
          <p:cNvSpPr/>
          <p:nvPr/>
        </p:nvSpPr>
        <p:spPr>
          <a:xfrm>
            <a:off x="7955280" y="1325880"/>
            <a:ext cx="73152" cy="4023360"/>
          </a:xfrm>
          <a:prstGeom prst="roundRect">
            <a:avLst>
              <a:gd name="adj" fmla="val 50000"/>
            </a:avLst>
          </a:prstGeom>
          <a:solidFill>
            <a:srgbClr val="10B981"/>
          </a:solidFill>
          <a:ln w="12700">
            <a:solidFill>
              <a:srgbClr val="10B981"/>
            </a:solidFill>
            <a:prstDash val="solid"/>
          </a:ln>
        </p:spPr>
      </p:sp>
      <p:sp>
        <p:nvSpPr>
          <p:cNvPr id="29" name="Shape 27"/>
          <p:cNvSpPr/>
          <p:nvPr/>
        </p:nvSpPr>
        <p:spPr>
          <a:xfrm>
            <a:off x="8138160" y="1508760"/>
            <a:ext cx="3108960" cy="502920"/>
          </a:xfrm>
          <a:prstGeom prst="roundRect">
            <a:avLst>
              <a:gd name="adj" fmla="val 9091"/>
            </a:avLst>
          </a:prstGeom>
          <a:solidFill>
            <a:srgbClr val="0D213F"/>
          </a:solidFill>
          <a:ln w="12700">
            <a:solidFill>
              <a:srgbClr val="10B981"/>
            </a:solidFill>
            <a:prstDash val="solid"/>
          </a:ln>
        </p:spPr>
      </p:sp>
      <p:sp>
        <p:nvSpPr>
          <p:cNvPr id="30" name="Text 28"/>
          <p:cNvSpPr/>
          <p:nvPr/>
        </p:nvSpPr>
        <p:spPr>
          <a:xfrm>
            <a:off x="8138160" y="1536192"/>
            <a:ext cx="3108960" cy="256032"/>
          </a:xfrm>
          <a:prstGeom prst="rect">
            <a:avLst/>
          </a:prstGeom>
          <a:noFill/>
          <a:ln/>
        </p:spPr>
        <p:txBody>
          <a:bodyPr wrap="square"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138160" y="1783080"/>
            <a:ext cx="3108960" cy="201168"/>
          </a:xfrm>
          <a:prstGeom prst="rect">
            <a:avLst/>
          </a:prstGeom>
          <a:noFill/>
          <a:ln/>
        </p:spPr>
        <p:txBody>
          <a:bodyPr wrap="square" rtlCol="0" anchor="ctr"/>
          <a:lstStyle/>
          <a:p>
            <a:pPr algn="ctr" indent="0" marL="0">
              <a:buNone/>
            </a:pPr>
            <a:r>
              <a:rPr lang="en-US" sz="850" b="1" dirty="0">
                <a:solidFill>
                  <a:srgbClr val="10B981"/>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138160" y="2148840"/>
            <a:ext cx="3108960" cy="1325880"/>
          </a:xfrm>
          <a:prstGeom prst="roundRect">
            <a:avLst>
              <a:gd name="adj" fmla="val 2759"/>
            </a:avLst>
          </a:prstGeom>
          <a:solidFill>
            <a:srgbClr val="070D18"/>
          </a:solidFill>
          <a:ln w="12700">
            <a:solidFill>
              <a:srgbClr val="1E3A5F"/>
            </a:solidFill>
            <a:prstDash val="solid"/>
          </a:ln>
        </p:spPr>
      </p:sp>
      <p:sp>
        <p:nvSpPr>
          <p:cNvPr id="33" name="Text 31"/>
          <p:cNvSpPr/>
          <p:nvPr/>
        </p:nvSpPr>
        <p:spPr>
          <a:xfrm>
            <a:off x="8229600" y="2212848"/>
            <a:ext cx="2926080" cy="1188720"/>
          </a:xfrm>
          <a:prstGeom prst="rect">
            <a:avLst/>
          </a:prstGeom>
          <a:noFill/>
          <a:ln/>
        </p:spPr>
        <p:txBody>
          <a:bodyPr wrap="square" rtlCol="0" anchor="ctr"/>
          <a:lstStyle/>
          <a:p>
            <a:pPr indent="0" marL="0">
              <a:lnSpc>
                <a:spcPts val="1200"/>
              </a:lnSpc>
              <a:buNone/>
            </a:pPr>
            <a:r>
              <a:rPr lang="en-US" sz="880" i="1" dirty="0">
                <a:solidFill>
                  <a:srgbClr val="FDE68A"/>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80" dirty="0"/>
          </a:p>
        </p:txBody>
      </p:sp>
      <p:sp>
        <p:nvSpPr>
          <p:cNvPr id="34" name="Text 32"/>
          <p:cNvSpPr/>
          <p:nvPr/>
        </p:nvSpPr>
        <p:spPr>
          <a:xfrm>
            <a:off x="8138160" y="3611880"/>
            <a:ext cx="3108960" cy="1600200"/>
          </a:xfrm>
          <a:prstGeom prst="rect">
            <a:avLst/>
          </a:prstGeom>
          <a:noFill/>
          <a:ln/>
        </p:spPr>
        <p:txBody>
          <a:bodyPr wrap="square" rtlCol="0" anchor="ctr"/>
          <a:lstStyle/>
          <a:p>
            <a:pPr indent="0" marL="0">
              <a:lnSpc>
                <a:spcPts val="1300"/>
              </a:lnSpc>
              <a:buNone/>
            </a:pPr>
            <a:r>
              <a:rPr lang="en-US" sz="920" dirty="0">
                <a:solidFill>
                  <a:srgbClr val="FFFFFF"/>
                </a:solidFill>
                <a:latin typeface="Arial" pitchFamily="34" charset="0"/>
                <a:ea typeface="Arial" pitchFamily="34" charset="-122"/>
                <a:cs typeface="Arial" pitchFamily="34" charset="-120"/>
              </a:rPr>
              <a:t>✅  Payung hukum operasional tingkat kota yang sah dan mengikat</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Pembagian peran teknis yang presisi antara BRIDA dan STP</a:t>
            </a:r>
            <a:endParaRPr lang="en-US" sz="920" dirty="0"/>
          </a:p>
          <a:p>
            <a:pPr indent="0" marL="0">
              <a:lnSpc>
                <a:spcPts val="1300"/>
              </a:lnSpc>
              <a:buNone/>
            </a:pPr>
            <a:endParaRPr lang="en-US" sz="920" dirty="0"/>
          </a:p>
          <a:p>
            <a:pPr indent="0" marL="0">
              <a:lnSpc>
                <a:spcPts val="1300"/>
              </a:lnSpc>
              <a:buNone/>
            </a:pPr>
            <a:r>
              <a:rPr lang="en-US" sz="920" dirty="0">
                <a:solidFill>
                  <a:srgbClr val="FFFFFF"/>
                </a:solidFill>
                <a:latin typeface="Arial" pitchFamily="34" charset="0"/>
                <a:ea typeface="Arial" pitchFamily="34" charset="-122"/>
                <a:cs typeface="Arial" pitchFamily="34" charset="-120"/>
              </a:rPr>
              <a:t>✅  Dasar legalitas pemanfaatan aset kawasan &amp; kerjasama industri</a:t>
            </a:r>
            <a:endParaRPr lang="en-US" sz="920" dirty="0"/>
          </a:p>
        </p:txBody>
      </p:sp>
      <p:sp>
        <p:nvSpPr>
          <p:cNvPr id="35" name="Shape 33"/>
          <p:cNvSpPr/>
          <p:nvPr/>
        </p:nvSpPr>
        <p:spPr>
          <a:xfrm>
            <a:off x="731520" y="5486400"/>
            <a:ext cx="10728655" cy="731520"/>
          </a:xfrm>
          <a:prstGeom prst="roundRect">
            <a:avLst>
              <a:gd name="adj" fmla="val 10000"/>
            </a:avLst>
          </a:prstGeom>
          <a:solidFill>
            <a:srgbClr val="0D213F"/>
          </a:solidFill>
          <a:ln w="12700">
            <a:solidFill>
              <a:srgbClr val="0EA5E9"/>
            </a:solidFill>
            <a:prstDash val="solid"/>
          </a:ln>
        </p:spPr>
      </p:sp>
      <p:sp>
        <p:nvSpPr>
          <p:cNvPr id="36" name="Text 34"/>
          <p:cNvSpPr/>
          <p:nvPr/>
        </p:nvSpPr>
        <p:spPr>
          <a:xfrm>
            <a:off x="914400" y="5486400"/>
            <a:ext cx="10362895" cy="731520"/>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MANDAT LAYANAN PERPRES 106/2017</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EMPAT PILAR LAYANAN TERINTEGRASI: MEMENUHI MANDAT KST NASIONAL</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04 / 12</a:t>
            </a:r>
            <a:endParaRPr lang="en-US" sz="900" dirty="0"/>
          </a:p>
        </p:txBody>
      </p:sp>
      <p:sp>
        <p:nvSpPr>
          <p:cNvPr id="11" name="Shape 9"/>
          <p:cNvSpPr/>
          <p:nvPr/>
        </p:nvSpPr>
        <p:spPr>
          <a:xfrm>
            <a:off x="731520" y="1325880"/>
            <a:ext cx="5257800" cy="2148840"/>
          </a:xfrm>
          <a:prstGeom prst="roundRect">
            <a:avLst>
              <a:gd name="adj" fmla="val 3404"/>
            </a:avLst>
          </a:prstGeom>
          <a:solidFill>
            <a:srgbClr val="0A192F"/>
          </a:solidFill>
          <a:ln w="12700">
            <a:solidFill>
              <a:srgbClr val="1E3A5F"/>
            </a:solidFill>
            <a:prstDash val="solid"/>
          </a:ln>
        </p:spPr>
      </p:sp>
      <p:sp>
        <p:nvSpPr>
          <p:cNvPr id="12" name="Shape 10"/>
          <p:cNvSpPr/>
          <p:nvPr/>
        </p:nvSpPr>
        <p:spPr>
          <a:xfrm>
            <a:off x="731520" y="1325880"/>
            <a:ext cx="73152" cy="21488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35608"/>
            <a:ext cx="4983480" cy="384048"/>
          </a:xfrm>
          <a:prstGeom prst="roundRect">
            <a:avLst>
              <a:gd name="adj" fmla="val 11905"/>
            </a:avLst>
          </a:prstGeom>
          <a:solidFill>
            <a:srgbClr val="0D213F"/>
          </a:solidFill>
          <a:ln w="12700">
            <a:solidFill>
              <a:srgbClr val="0EA5E9"/>
            </a:solidFill>
            <a:prstDash val="solid"/>
          </a:ln>
        </p:spPr>
      </p:sp>
      <p:sp>
        <p:nvSpPr>
          <p:cNvPr id="14" name="Text 12"/>
          <p:cNvSpPr/>
          <p:nvPr/>
        </p:nvSpPr>
        <p:spPr>
          <a:xfrm>
            <a:off x="96012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1: LAYANAN TEKNIS (DIKLAT VOKASI INDUSTRI)</a:t>
            </a:r>
            <a:endParaRPr lang="en-US" sz="980" dirty="0"/>
          </a:p>
        </p:txBody>
      </p:sp>
      <p:sp>
        <p:nvSpPr>
          <p:cNvPr id="15" name="Text 13"/>
          <p:cNvSpPr/>
          <p:nvPr/>
        </p:nvSpPr>
        <p:spPr>
          <a:xfrm>
            <a:off x="96012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Mekanik, Otomasi &amp; Desain Manufaktur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Welding Intensif (Pengelasan Konstruksi &amp; Pipa)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OGSCI: Oil, Gas, Coal, Shipbuilding &amp; Infra Training</a:t>
            </a:r>
            <a:endParaRPr lang="en-US" sz="880" dirty="0"/>
          </a:p>
        </p:txBody>
      </p:sp>
      <p:sp>
        <p:nvSpPr>
          <p:cNvPr id="16" name="Text 14"/>
          <p:cNvSpPr/>
          <p:nvPr/>
        </p:nvSpPr>
        <p:spPr>
          <a:xfrm>
            <a:off x="34290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Underwater Wet Welding (Keahlian Langka Nasional)</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Teknologi Kendaraan Listrik (EV Conversion Lab)</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Cyber Security &amp; Artificial Intelligence Practitioner</a:t>
            </a:r>
            <a:endParaRPr lang="en-US" sz="880" dirty="0"/>
          </a:p>
        </p:txBody>
      </p:sp>
      <p:sp>
        <p:nvSpPr>
          <p:cNvPr id="17" name="Shape 15"/>
          <p:cNvSpPr/>
          <p:nvPr/>
        </p:nvSpPr>
        <p:spPr>
          <a:xfrm>
            <a:off x="6172200" y="1325880"/>
            <a:ext cx="5257800" cy="2148840"/>
          </a:xfrm>
          <a:prstGeom prst="roundRect">
            <a:avLst>
              <a:gd name="adj" fmla="val 3404"/>
            </a:avLst>
          </a:prstGeom>
          <a:solidFill>
            <a:srgbClr val="0A192F"/>
          </a:solidFill>
          <a:ln w="12700">
            <a:solidFill>
              <a:srgbClr val="1E3A5F"/>
            </a:solidFill>
            <a:prstDash val="solid"/>
          </a:ln>
        </p:spPr>
      </p:sp>
      <p:sp>
        <p:nvSpPr>
          <p:cNvPr id="18" name="Shape 16"/>
          <p:cNvSpPr/>
          <p:nvPr/>
        </p:nvSpPr>
        <p:spPr>
          <a:xfrm>
            <a:off x="6172200" y="1325880"/>
            <a:ext cx="73152" cy="2148840"/>
          </a:xfrm>
          <a:prstGeom prst="roundRect">
            <a:avLst>
              <a:gd name="adj" fmla="val 50000"/>
            </a:avLst>
          </a:prstGeom>
          <a:solidFill>
            <a:srgbClr val="F59E0B"/>
          </a:solidFill>
          <a:ln w="12700">
            <a:solidFill>
              <a:srgbClr val="F59E0B"/>
            </a:solidFill>
            <a:prstDash val="solid"/>
          </a:ln>
        </p:spPr>
      </p:sp>
      <p:sp>
        <p:nvSpPr>
          <p:cNvPr id="19" name="Shape 17"/>
          <p:cNvSpPr/>
          <p:nvPr/>
        </p:nvSpPr>
        <p:spPr>
          <a:xfrm>
            <a:off x="6309360" y="1435608"/>
            <a:ext cx="4983480" cy="384048"/>
          </a:xfrm>
          <a:prstGeom prst="roundRect">
            <a:avLst>
              <a:gd name="adj" fmla="val 11905"/>
            </a:avLst>
          </a:prstGeom>
          <a:solidFill>
            <a:srgbClr val="0D213F"/>
          </a:solidFill>
          <a:ln w="12700">
            <a:solidFill>
              <a:srgbClr val="F59E0B"/>
            </a:solidFill>
            <a:prstDash val="solid"/>
          </a:ln>
        </p:spPr>
      </p:sp>
      <p:sp>
        <p:nvSpPr>
          <p:cNvPr id="20" name="Text 18"/>
          <p:cNvSpPr/>
          <p:nvPr/>
        </p:nvSpPr>
        <p:spPr>
          <a:xfrm>
            <a:off x="6400800" y="1435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2: PENGEMBANGAN TEKNOLOGI (REKAYASA MANUFAKTUR)</a:t>
            </a:r>
            <a:endParaRPr lang="en-US" sz="980" dirty="0"/>
          </a:p>
        </p:txBody>
      </p:sp>
      <p:sp>
        <p:nvSpPr>
          <p:cNvPr id="21" name="Text 19"/>
          <p:cNvSpPr/>
          <p:nvPr/>
        </p:nvSpPr>
        <p:spPr>
          <a:xfrm>
            <a:off x="640080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Jasa Layanan Rekayasa Industri &amp; Permesinan Presisi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Produksi Komponen Presisi (Precision Parts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Pembuatan &amp; Uji Prototipe IKM/UKM Kota Surakarta</a:t>
            </a:r>
            <a:endParaRPr lang="en-US" sz="880" dirty="0"/>
          </a:p>
        </p:txBody>
      </p:sp>
      <p:sp>
        <p:nvSpPr>
          <p:cNvPr id="22" name="Text 20"/>
          <p:cNvSpPr/>
          <p:nvPr/>
        </p:nvSpPr>
        <p:spPr>
          <a:xfrm>
            <a:off x="8869680" y="1874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Non-Destructive Testing: Uji Penetrant Testing (NDT)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Konsultasi Laboratorium Terpadu &amp; Data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Standarisasi Mutu &amp; Sertifikasi TKDN / SNI Produk</a:t>
            </a:r>
            <a:endParaRPr lang="en-US" sz="880" dirty="0"/>
          </a:p>
        </p:txBody>
      </p:sp>
      <p:sp>
        <p:nvSpPr>
          <p:cNvPr id="23" name="Shape 21"/>
          <p:cNvSpPr/>
          <p:nvPr/>
        </p:nvSpPr>
        <p:spPr>
          <a:xfrm>
            <a:off x="731520" y="3611880"/>
            <a:ext cx="5257800" cy="2148840"/>
          </a:xfrm>
          <a:prstGeom prst="roundRect">
            <a:avLst>
              <a:gd name="adj" fmla="val 3404"/>
            </a:avLst>
          </a:prstGeom>
          <a:solidFill>
            <a:srgbClr val="0A192F"/>
          </a:solidFill>
          <a:ln w="12700">
            <a:solidFill>
              <a:srgbClr val="1E3A5F"/>
            </a:solidFill>
            <a:prstDash val="solid"/>
          </a:ln>
        </p:spPr>
      </p:sp>
      <p:sp>
        <p:nvSpPr>
          <p:cNvPr id="24" name="Shape 22"/>
          <p:cNvSpPr/>
          <p:nvPr/>
        </p:nvSpPr>
        <p:spPr>
          <a:xfrm>
            <a:off x="731520" y="3611880"/>
            <a:ext cx="73152" cy="2148840"/>
          </a:xfrm>
          <a:prstGeom prst="roundRect">
            <a:avLst>
              <a:gd name="adj" fmla="val 50000"/>
            </a:avLst>
          </a:prstGeom>
          <a:solidFill>
            <a:srgbClr val="10B981"/>
          </a:solidFill>
          <a:ln w="12700">
            <a:solidFill>
              <a:srgbClr val="10B981"/>
            </a:solidFill>
            <a:prstDash val="solid"/>
          </a:ln>
        </p:spPr>
      </p:sp>
      <p:sp>
        <p:nvSpPr>
          <p:cNvPr id="25" name="Shape 23"/>
          <p:cNvSpPr/>
          <p:nvPr/>
        </p:nvSpPr>
        <p:spPr>
          <a:xfrm>
            <a:off x="868680" y="3721608"/>
            <a:ext cx="4983480" cy="384048"/>
          </a:xfrm>
          <a:prstGeom prst="roundRect">
            <a:avLst>
              <a:gd name="adj" fmla="val 11905"/>
            </a:avLst>
          </a:prstGeom>
          <a:solidFill>
            <a:srgbClr val="0D213F"/>
          </a:solidFill>
          <a:ln w="12700">
            <a:solidFill>
              <a:srgbClr val="10B981"/>
            </a:solidFill>
            <a:prstDash val="solid"/>
          </a:ln>
        </p:spPr>
      </p:sp>
      <p:sp>
        <p:nvSpPr>
          <p:cNvPr id="26" name="Text 24"/>
          <p:cNvSpPr/>
          <p:nvPr/>
        </p:nvSpPr>
        <p:spPr>
          <a:xfrm>
            <a:off x="96012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3: LAYANAN INKUBASI (HILIRISASI KE PASAR)</a:t>
            </a:r>
            <a:endParaRPr lang="en-US" sz="980" dirty="0"/>
          </a:p>
        </p:txBody>
      </p:sp>
      <p:sp>
        <p:nvSpPr>
          <p:cNvPr id="27" name="Text 25"/>
          <p:cNvSpPr/>
          <p:nvPr/>
        </p:nvSpPr>
        <p:spPr>
          <a:xfrm>
            <a:off x="96012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Pra-Inkubasi &amp; Inkubasi Bisnis Startup Berbasis Riset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Fasilitasi HKI, Paten Produk, &amp; Hak Cipta Inovator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Hilirisasi Riset Perguruan Tinggi ke Pasar Industri</a:t>
            </a:r>
            <a:endParaRPr lang="en-US" sz="880" dirty="0"/>
          </a:p>
        </p:txBody>
      </p:sp>
      <p:sp>
        <p:nvSpPr>
          <p:cNvPr id="28" name="Text 26"/>
          <p:cNvSpPr/>
          <p:nvPr/>
        </p:nvSpPr>
        <p:spPr>
          <a:xfrm>
            <a:off x="34290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National Cyber Security Hub &amp; AI Experience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Digital Technopark, Gaming Hub, &amp; GoTo UMKM Center</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Co-Working Space, Virtual Office &amp; Akses Permodalan</a:t>
            </a:r>
            <a:endParaRPr lang="en-US" sz="880" dirty="0"/>
          </a:p>
        </p:txBody>
      </p:sp>
      <p:sp>
        <p:nvSpPr>
          <p:cNvPr id="29" name="Shape 27"/>
          <p:cNvSpPr/>
          <p:nvPr/>
        </p:nvSpPr>
        <p:spPr>
          <a:xfrm>
            <a:off x="6172200" y="3611880"/>
            <a:ext cx="5257800" cy="2148840"/>
          </a:xfrm>
          <a:prstGeom prst="roundRect">
            <a:avLst>
              <a:gd name="adj" fmla="val 3404"/>
            </a:avLst>
          </a:prstGeom>
          <a:solidFill>
            <a:srgbClr val="0A192F"/>
          </a:solidFill>
          <a:ln w="12700">
            <a:solidFill>
              <a:srgbClr val="1E3A5F"/>
            </a:solidFill>
            <a:prstDash val="solid"/>
          </a:ln>
        </p:spPr>
      </p:sp>
      <p:sp>
        <p:nvSpPr>
          <p:cNvPr id="30" name="Shape 28"/>
          <p:cNvSpPr/>
          <p:nvPr/>
        </p:nvSpPr>
        <p:spPr>
          <a:xfrm>
            <a:off x="6172200" y="3611880"/>
            <a:ext cx="73152" cy="2148840"/>
          </a:xfrm>
          <a:prstGeom prst="roundRect">
            <a:avLst>
              <a:gd name="adj" fmla="val 50000"/>
            </a:avLst>
          </a:prstGeom>
          <a:solidFill>
            <a:srgbClr val="38BDF8"/>
          </a:solidFill>
          <a:ln w="12700">
            <a:solidFill>
              <a:srgbClr val="38BDF8"/>
            </a:solidFill>
            <a:prstDash val="solid"/>
          </a:ln>
        </p:spPr>
      </p:sp>
      <p:sp>
        <p:nvSpPr>
          <p:cNvPr id="31" name="Shape 29"/>
          <p:cNvSpPr/>
          <p:nvPr/>
        </p:nvSpPr>
        <p:spPr>
          <a:xfrm>
            <a:off x="6309360" y="3721608"/>
            <a:ext cx="4983480" cy="384048"/>
          </a:xfrm>
          <a:prstGeom prst="roundRect">
            <a:avLst>
              <a:gd name="adj" fmla="val 11905"/>
            </a:avLst>
          </a:prstGeom>
          <a:solidFill>
            <a:srgbClr val="0D213F"/>
          </a:solidFill>
          <a:ln w="12700">
            <a:solidFill>
              <a:srgbClr val="38BDF8"/>
            </a:solidFill>
            <a:prstDash val="solid"/>
          </a:ln>
        </p:spPr>
      </p:sp>
      <p:sp>
        <p:nvSpPr>
          <p:cNvPr id="32" name="Text 30"/>
          <p:cNvSpPr/>
          <p:nvPr/>
        </p:nvSpPr>
        <p:spPr>
          <a:xfrm>
            <a:off x="6400800" y="3721608"/>
            <a:ext cx="4846320" cy="384048"/>
          </a:xfrm>
          <a:prstGeom prst="rect">
            <a:avLst/>
          </a:prstGeom>
          <a:noFill/>
          <a:ln/>
        </p:spPr>
        <p:txBody>
          <a:bodyPr wrap="square" rtlCol="0" anchor="ctr"/>
          <a:lstStyle/>
          <a:p>
            <a:pPr indent="0" marL="0">
              <a:buNone/>
            </a:pPr>
            <a:r>
              <a:rPr lang="en-US" sz="980" b="1" dirty="0">
                <a:solidFill>
                  <a:srgbClr val="FFFFFF"/>
                </a:solidFill>
                <a:latin typeface="Arial" pitchFamily="34" charset="0"/>
                <a:ea typeface="Arial" pitchFamily="34" charset="-122"/>
                <a:cs typeface="Arial" pitchFamily="34" charset="-120"/>
              </a:rPr>
              <a:t>🎓  PILAR 4: LAYANAN PENDUKUNG (COMMUNITY &amp; EDUCATION)</a:t>
            </a:r>
            <a:endParaRPr lang="en-US" sz="980" dirty="0"/>
          </a:p>
        </p:txBody>
      </p:sp>
      <p:sp>
        <p:nvSpPr>
          <p:cNvPr id="33" name="Text 31"/>
          <p:cNvSpPr/>
          <p:nvPr/>
        </p:nvSpPr>
        <p:spPr>
          <a:xfrm>
            <a:off x="640080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Prakerin Kerja Industri Siswa SMK Se-Solo Raya</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Tempat Uji Kompetensi (TUK Mandiri) &amp; Sertifikasi JFT</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Solo Science Center (Pusat Edukasi IPTEK &amp; Wisata Sains)</a:t>
            </a:r>
            <a:endParaRPr lang="en-US" sz="880" dirty="0"/>
          </a:p>
        </p:txBody>
      </p:sp>
      <p:sp>
        <p:nvSpPr>
          <p:cNvPr id="34" name="Text 32"/>
          <p:cNvSpPr/>
          <p:nvPr/>
        </p:nvSpPr>
        <p:spPr>
          <a:xfrm>
            <a:off x="8869680" y="4160520"/>
            <a:ext cx="2423160" cy="1508760"/>
          </a:xfrm>
          <a:prstGeom prst="rect">
            <a:avLst/>
          </a:prstGeom>
          <a:noFill/>
          <a:ln/>
        </p:spPr>
        <p:txBody>
          <a:bodyPr wrap="square" rtlCol="0" anchor="ctr"/>
          <a:lstStyle/>
          <a:p>
            <a:pPr indent="0" marL="0">
              <a:lnSpc>
                <a:spcPts val="1300"/>
              </a:lnSpc>
              <a:buNone/>
            </a:pPr>
            <a:r>
              <a:rPr lang="en-US" sz="880" dirty="0">
                <a:solidFill>
                  <a:srgbClr val="94A3B8"/>
                </a:solidFill>
                <a:latin typeface="Arial" pitchFamily="34" charset="0"/>
                <a:ea typeface="Arial" pitchFamily="34" charset="-122"/>
                <a:cs typeface="Arial" pitchFamily="34" charset="-120"/>
              </a:rPr>
              <a:t>• Pemanfaatan Sarana Kawasan, Gedung Expo &amp; MICE</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Kemitraan Komunitas Kreatif &amp; Kunjungan Industri</a:t>
            </a:r>
            <a:endParaRPr lang="en-US" sz="880" dirty="0"/>
          </a:p>
          <a:p>
            <a:pPr indent="0" marL="0">
              <a:lnSpc>
                <a:spcPts val="1300"/>
              </a:lnSpc>
              <a:buNone/>
            </a:pPr>
            <a:endParaRPr lang="en-US" sz="880" dirty="0"/>
          </a:p>
          <a:p>
            <a:pPr indent="0" marL="0">
              <a:lnSpc>
                <a:spcPts val="1300"/>
              </a:lnSpc>
              <a:buNone/>
            </a:pPr>
            <a:r>
              <a:rPr lang="en-US" sz="880" dirty="0">
                <a:solidFill>
                  <a:srgbClr val="94A3B8"/>
                </a:solidFill>
                <a:latin typeface="Arial" pitchFamily="34" charset="0"/>
                <a:ea typeface="Arial" pitchFamily="34" charset="-122"/>
                <a:cs typeface="Arial" pitchFamily="34" charset="-120"/>
              </a:rPr>
              <a:t>• Pusat Kolaborasi Multipihak Pemkot Surakarta</a:t>
            </a:r>
            <a:endParaRPr lang="en-US" sz="880" dirty="0"/>
          </a:p>
        </p:txBody>
      </p:sp>
      <p:sp>
        <p:nvSpPr>
          <p:cNvPr id="35" name="Shape 33"/>
          <p:cNvSpPr/>
          <p:nvPr/>
        </p:nvSpPr>
        <p:spPr>
          <a:xfrm>
            <a:off x="731520" y="5925312"/>
            <a:ext cx="10728655" cy="411480"/>
          </a:xfrm>
          <a:prstGeom prst="roundRect">
            <a:avLst>
              <a:gd name="adj" fmla="val 17778"/>
            </a:avLst>
          </a:prstGeom>
          <a:solidFill>
            <a:srgbClr val="0D213F"/>
          </a:solidFill>
          <a:ln w="12700">
            <a:solidFill>
              <a:srgbClr val="1E3A5F"/>
            </a:solidFill>
            <a:prstDash val="solid"/>
          </a:ln>
        </p:spPr>
      </p:sp>
      <p:sp>
        <p:nvSpPr>
          <p:cNvPr id="36" name="Text 34"/>
          <p:cNvSpPr/>
          <p:nvPr/>
        </p:nvSpPr>
        <p:spPr>
          <a:xfrm>
            <a:off x="914400" y="5925312"/>
            <a:ext cx="10362895" cy="411480"/>
          </a:xfrm>
          <a:prstGeom prst="rect">
            <a:avLst/>
          </a:prstGeom>
          <a:noFill/>
          <a:ln/>
        </p:spPr>
        <p:txBody>
          <a:bodyPr wrap="square" rtlCol="0" anchor="ctr"/>
          <a:lstStyle/>
          <a:p>
            <a:pPr algn="ctr" indent="0" marL="0">
              <a:buNone/>
            </a:pPr>
            <a:r>
              <a:rPr lang="en-US" sz="950" b="1" i="1" dirty="0">
                <a:solidFill>
                  <a:srgbClr val="F59E0B"/>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MEKANISME HILIRISASI INOVASI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PIPELINE HILIRISASI RISET: DARI LABORATORIUM MENUJU PASAR NYATA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05 / 12</a:t>
            </a:r>
            <a:endParaRPr lang="en-US" sz="900" dirty="0"/>
          </a:p>
        </p:txBody>
      </p:sp>
      <p:sp>
        <p:nvSpPr>
          <p:cNvPr id="11" name="Shape 9"/>
          <p:cNvSpPr/>
          <p:nvPr/>
        </p:nvSpPr>
        <p:spPr>
          <a:xfrm>
            <a:off x="731520" y="1325880"/>
            <a:ext cx="1965960" cy="1920240"/>
          </a:xfrm>
          <a:prstGeom prst="roundRect">
            <a:avLst>
              <a:gd name="adj" fmla="val 3810"/>
            </a:avLst>
          </a:prstGeom>
          <a:solidFill>
            <a:srgbClr val="0A192F"/>
          </a:solidFill>
          <a:ln w="12700">
            <a:solidFill>
              <a:srgbClr val="1E3A5F"/>
            </a:solidFill>
            <a:prstDash val="solid"/>
          </a:ln>
        </p:spPr>
      </p:sp>
      <p:sp>
        <p:nvSpPr>
          <p:cNvPr id="12" name="Shape 10"/>
          <p:cNvSpPr/>
          <p:nvPr/>
        </p:nvSpPr>
        <p:spPr>
          <a:xfrm>
            <a:off x="731520" y="1325880"/>
            <a:ext cx="73152" cy="192024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22960" y="1417320"/>
            <a:ext cx="1783080" cy="411480"/>
          </a:xfrm>
          <a:prstGeom prst="roundRect">
            <a:avLst>
              <a:gd name="adj" fmla="val 8889"/>
            </a:avLst>
          </a:prstGeom>
          <a:solidFill>
            <a:srgbClr val="0D213F"/>
          </a:solidFill>
          <a:ln w="12700">
            <a:solidFill>
              <a:srgbClr val="0EA5E9"/>
            </a:solidFill>
            <a:prstDash val="solid"/>
          </a:ln>
        </p:spPr>
      </p:sp>
      <p:sp>
        <p:nvSpPr>
          <p:cNvPr id="14" name="Text 12"/>
          <p:cNvSpPr/>
          <p:nvPr/>
        </p:nvSpPr>
        <p:spPr>
          <a:xfrm>
            <a:off x="841248" y="1444752"/>
            <a:ext cx="822960" cy="347472"/>
          </a:xfrm>
          <a:prstGeom prst="rect">
            <a:avLst/>
          </a:prstGeom>
          <a:noFill/>
          <a:ln/>
        </p:spPr>
        <p:txBody>
          <a:bodyPr wrap="square" rtlCol="0" anchor="ctr"/>
          <a:lstStyle/>
          <a:p>
            <a:pPr indent="0" marL="0">
              <a:buNone/>
            </a:pPr>
            <a:r>
              <a:rPr lang="en-US" sz="900" b="1" dirty="0">
                <a:solidFill>
                  <a:srgbClr val="0EA5E9"/>
                </a:solidFill>
                <a:latin typeface="Arial" pitchFamily="34" charset="0"/>
                <a:ea typeface="Arial" pitchFamily="34" charset="-122"/>
                <a:cs typeface="Arial" pitchFamily="34" charset="-120"/>
              </a:rPr>
              <a:t>TAHAP 01</a:t>
            </a:r>
            <a:endParaRPr lang="en-US" sz="900" dirty="0"/>
          </a:p>
        </p:txBody>
      </p:sp>
      <p:sp>
        <p:nvSpPr>
          <p:cNvPr id="15" name="Text 13"/>
          <p:cNvSpPr/>
          <p:nvPr/>
        </p:nvSpPr>
        <p:spPr>
          <a:xfrm>
            <a:off x="1600200"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Kampus &amp; Peneliti</a:t>
            </a:r>
            <a:endParaRPr lang="en-US" sz="750" dirty="0"/>
          </a:p>
        </p:txBody>
      </p:sp>
      <p:sp>
        <p:nvSpPr>
          <p:cNvPr id="16" name="Text 14"/>
          <p:cNvSpPr/>
          <p:nvPr/>
        </p:nvSpPr>
        <p:spPr>
          <a:xfrm>
            <a:off x="841248"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RISET &amp; INVENSI</a:t>
            </a:r>
            <a:endParaRPr lang="en-US" sz="1000" dirty="0"/>
          </a:p>
        </p:txBody>
      </p:sp>
      <p:sp>
        <p:nvSpPr>
          <p:cNvPr id="17" name="Text 15"/>
          <p:cNvSpPr/>
          <p:nvPr/>
        </p:nvSpPr>
        <p:spPr>
          <a:xfrm>
            <a:off x="841248"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Invensi UNS, UMS, ISI, Poltek Solo Raya. Riset dosen &amp; mahasiswa.</a:t>
            </a:r>
            <a:endParaRPr lang="en-US" sz="820" dirty="0"/>
          </a:p>
        </p:txBody>
      </p:sp>
      <p:sp>
        <p:nvSpPr>
          <p:cNvPr id="18" name="Shape 16"/>
          <p:cNvSpPr/>
          <p:nvPr/>
        </p:nvSpPr>
        <p:spPr>
          <a:xfrm>
            <a:off x="2743200" y="2148840"/>
            <a:ext cx="164592" cy="256032"/>
          </a:xfrm>
          <a:prstGeom prst="rightArrow">
            <a:avLst/>
          </a:prstGeom>
          <a:solidFill>
            <a:srgbClr val="0EA5E9"/>
          </a:solidFill>
          <a:ln w="12700">
            <a:solidFill>
              <a:srgbClr val="0EA5E9"/>
            </a:solidFill>
            <a:prstDash val="solid"/>
          </a:ln>
        </p:spPr>
      </p:sp>
      <p:sp>
        <p:nvSpPr>
          <p:cNvPr id="19" name="Shape 17"/>
          <p:cNvSpPr/>
          <p:nvPr/>
        </p:nvSpPr>
        <p:spPr>
          <a:xfrm>
            <a:off x="2935224" y="1325880"/>
            <a:ext cx="1965960" cy="1920240"/>
          </a:xfrm>
          <a:prstGeom prst="roundRect">
            <a:avLst>
              <a:gd name="adj" fmla="val 3810"/>
            </a:avLst>
          </a:prstGeom>
          <a:solidFill>
            <a:srgbClr val="0A192F"/>
          </a:solidFill>
          <a:ln w="12700">
            <a:solidFill>
              <a:srgbClr val="1E3A5F"/>
            </a:solidFill>
            <a:prstDash val="solid"/>
          </a:ln>
        </p:spPr>
      </p:sp>
      <p:sp>
        <p:nvSpPr>
          <p:cNvPr id="20" name="Shape 18"/>
          <p:cNvSpPr/>
          <p:nvPr/>
        </p:nvSpPr>
        <p:spPr>
          <a:xfrm>
            <a:off x="2935224" y="1325880"/>
            <a:ext cx="73152" cy="1920240"/>
          </a:xfrm>
          <a:prstGeom prst="roundRect">
            <a:avLst>
              <a:gd name="adj" fmla="val 50000"/>
            </a:avLst>
          </a:prstGeom>
          <a:solidFill>
            <a:srgbClr val="38BDF8"/>
          </a:solidFill>
          <a:ln w="12700">
            <a:solidFill>
              <a:srgbClr val="38BDF8"/>
            </a:solidFill>
            <a:prstDash val="solid"/>
          </a:ln>
        </p:spPr>
      </p:sp>
      <p:sp>
        <p:nvSpPr>
          <p:cNvPr id="21" name="Shape 19"/>
          <p:cNvSpPr/>
          <p:nvPr/>
        </p:nvSpPr>
        <p:spPr>
          <a:xfrm>
            <a:off x="3026664" y="1417320"/>
            <a:ext cx="1783080" cy="411480"/>
          </a:xfrm>
          <a:prstGeom prst="roundRect">
            <a:avLst>
              <a:gd name="adj" fmla="val 8889"/>
            </a:avLst>
          </a:prstGeom>
          <a:solidFill>
            <a:srgbClr val="0D213F"/>
          </a:solidFill>
          <a:ln w="12700">
            <a:solidFill>
              <a:srgbClr val="38BDF8"/>
            </a:solidFill>
            <a:prstDash val="solid"/>
          </a:ln>
        </p:spPr>
      </p:sp>
      <p:sp>
        <p:nvSpPr>
          <p:cNvPr id="22" name="Text 20"/>
          <p:cNvSpPr/>
          <p:nvPr/>
        </p:nvSpPr>
        <p:spPr>
          <a:xfrm>
            <a:off x="3044952" y="1444752"/>
            <a:ext cx="822960" cy="347472"/>
          </a:xfrm>
          <a:prstGeom prst="rect">
            <a:avLst/>
          </a:prstGeom>
          <a:noFill/>
          <a:ln/>
        </p:spPr>
        <p:txBody>
          <a:bodyPr wrap="square" rtlCol="0" anchor="ctr"/>
          <a:lstStyle/>
          <a:p>
            <a:pPr indent="0" marL="0">
              <a:buNone/>
            </a:pPr>
            <a:r>
              <a:rPr lang="en-US" sz="900" b="1" dirty="0">
                <a:solidFill>
                  <a:srgbClr val="38BDF8"/>
                </a:solidFill>
                <a:latin typeface="Arial" pitchFamily="34" charset="0"/>
                <a:ea typeface="Arial" pitchFamily="34" charset="-122"/>
                <a:cs typeface="Arial" pitchFamily="34" charset="-120"/>
              </a:rPr>
              <a:t>TAHAP 02</a:t>
            </a:r>
            <a:endParaRPr lang="en-US" sz="900" dirty="0"/>
          </a:p>
        </p:txBody>
      </p:sp>
      <p:sp>
        <p:nvSpPr>
          <p:cNvPr id="23" name="Text 21"/>
          <p:cNvSpPr/>
          <p:nvPr/>
        </p:nvSpPr>
        <p:spPr>
          <a:xfrm>
            <a:off x="3803904"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STP &amp; BRIDA</a:t>
            </a:r>
            <a:endParaRPr lang="en-US" sz="750" dirty="0"/>
          </a:p>
        </p:txBody>
      </p:sp>
      <p:sp>
        <p:nvSpPr>
          <p:cNvPr id="24" name="Text 22"/>
          <p:cNvSpPr/>
          <p:nvPr/>
        </p:nvSpPr>
        <p:spPr>
          <a:xfrm>
            <a:off x="3044952"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SELEKSI &amp; KURASI</a:t>
            </a:r>
            <a:endParaRPr lang="en-US" sz="1000" dirty="0"/>
          </a:p>
        </p:txBody>
      </p:sp>
      <p:sp>
        <p:nvSpPr>
          <p:cNvPr id="25" name="Text 23"/>
          <p:cNvSpPr/>
          <p:nvPr/>
        </p:nvSpPr>
        <p:spPr>
          <a:xfrm>
            <a:off x="3044952"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Kurasi komersial &amp; relevansi kebutuhan industri serta problem kota Solo.</a:t>
            </a:r>
            <a:endParaRPr lang="en-US" sz="820" dirty="0"/>
          </a:p>
        </p:txBody>
      </p:sp>
      <p:sp>
        <p:nvSpPr>
          <p:cNvPr id="26" name="Shape 24"/>
          <p:cNvSpPr/>
          <p:nvPr/>
        </p:nvSpPr>
        <p:spPr>
          <a:xfrm>
            <a:off x="4946904" y="2148840"/>
            <a:ext cx="164592" cy="256032"/>
          </a:xfrm>
          <a:prstGeom prst="rightArrow">
            <a:avLst/>
          </a:prstGeom>
          <a:solidFill>
            <a:srgbClr val="38BDF8"/>
          </a:solidFill>
          <a:ln w="12700">
            <a:solidFill>
              <a:srgbClr val="38BDF8"/>
            </a:solidFill>
            <a:prstDash val="solid"/>
          </a:ln>
        </p:spPr>
      </p:sp>
      <p:sp>
        <p:nvSpPr>
          <p:cNvPr id="27" name="Shape 25"/>
          <p:cNvSpPr/>
          <p:nvPr/>
        </p:nvSpPr>
        <p:spPr>
          <a:xfrm>
            <a:off x="5138928" y="1325880"/>
            <a:ext cx="1965960" cy="1920240"/>
          </a:xfrm>
          <a:prstGeom prst="roundRect">
            <a:avLst>
              <a:gd name="adj" fmla="val 3810"/>
            </a:avLst>
          </a:prstGeom>
          <a:solidFill>
            <a:srgbClr val="0A192F"/>
          </a:solidFill>
          <a:ln w="12700">
            <a:solidFill>
              <a:srgbClr val="1E3A5F"/>
            </a:solidFill>
            <a:prstDash val="solid"/>
          </a:ln>
        </p:spPr>
      </p:sp>
      <p:sp>
        <p:nvSpPr>
          <p:cNvPr id="28" name="Shape 26"/>
          <p:cNvSpPr/>
          <p:nvPr/>
        </p:nvSpPr>
        <p:spPr>
          <a:xfrm>
            <a:off x="5138928" y="1325880"/>
            <a:ext cx="73152" cy="1920240"/>
          </a:xfrm>
          <a:prstGeom prst="roundRect">
            <a:avLst>
              <a:gd name="adj" fmla="val 50000"/>
            </a:avLst>
          </a:prstGeom>
          <a:solidFill>
            <a:srgbClr val="F59E0B"/>
          </a:solidFill>
          <a:ln w="12700">
            <a:solidFill>
              <a:srgbClr val="F59E0B"/>
            </a:solidFill>
            <a:prstDash val="solid"/>
          </a:ln>
        </p:spPr>
      </p:sp>
      <p:sp>
        <p:nvSpPr>
          <p:cNvPr id="29" name="Shape 27"/>
          <p:cNvSpPr/>
          <p:nvPr/>
        </p:nvSpPr>
        <p:spPr>
          <a:xfrm>
            <a:off x="5230368" y="1417320"/>
            <a:ext cx="1783080" cy="411480"/>
          </a:xfrm>
          <a:prstGeom prst="roundRect">
            <a:avLst>
              <a:gd name="adj" fmla="val 8889"/>
            </a:avLst>
          </a:prstGeom>
          <a:solidFill>
            <a:srgbClr val="0D213F"/>
          </a:solidFill>
          <a:ln w="12700">
            <a:solidFill>
              <a:srgbClr val="F59E0B"/>
            </a:solidFill>
            <a:prstDash val="solid"/>
          </a:ln>
        </p:spPr>
      </p:sp>
      <p:sp>
        <p:nvSpPr>
          <p:cNvPr id="30" name="Text 28"/>
          <p:cNvSpPr/>
          <p:nvPr/>
        </p:nvSpPr>
        <p:spPr>
          <a:xfrm>
            <a:off x="5248656" y="1444752"/>
            <a:ext cx="822960" cy="347472"/>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TAHAP 03</a:t>
            </a:r>
            <a:endParaRPr lang="en-US" sz="900" dirty="0"/>
          </a:p>
        </p:txBody>
      </p:sp>
      <p:sp>
        <p:nvSpPr>
          <p:cNvPr id="31" name="Text 29"/>
          <p:cNvSpPr/>
          <p:nvPr/>
        </p:nvSpPr>
        <p:spPr>
          <a:xfrm>
            <a:off x="6007608"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Lab Presisi STP</a:t>
            </a:r>
            <a:endParaRPr lang="en-US" sz="750" dirty="0"/>
          </a:p>
        </p:txBody>
      </p:sp>
      <p:sp>
        <p:nvSpPr>
          <p:cNvPr id="32" name="Text 30"/>
          <p:cNvSpPr/>
          <p:nvPr/>
        </p:nvSpPr>
        <p:spPr>
          <a:xfrm>
            <a:off x="5248656"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PROTOTYPING</a:t>
            </a:r>
            <a:endParaRPr lang="en-US" sz="1000" dirty="0"/>
          </a:p>
        </p:txBody>
      </p:sp>
      <p:sp>
        <p:nvSpPr>
          <p:cNvPr id="33" name="Text 31"/>
          <p:cNvSpPr/>
          <p:nvPr/>
        </p:nvSpPr>
        <p:spPr>
          <a:xfrm>
            <a:off x="5248656"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Uji teknis, penetrant testing, validasi mutu produk &amp; SNI/TKDN.</a:t>
            </a:r>
            <a:endParaRPr lang="en-US" sz="820" dirty="0"/>
          </a:p>
        </p:txBody>
      </p:sp>
      <p:sp>
        <p:nvSpPr>
          <p:cNvPr id="34" name="Shape 32"/>
          <p:cNvSpPr/>
          <p:nvPr/>
        </p:nvSpPr>
        <p:spPr>
          <a:xfrm>
            <a:off x="7150608" y="2148840"/>
            <a:ext cx="164592" cy="256032"/>
          </a:xfrm>
          <a:prstGeom prst="rightArrow">
            <a:avLst/>
          </a:prstGeom>
          <a:solidFill>
            <a:srgbClr val="F59E0B"/>
          </a:solidFill>
          <a:ln w="12700">
            <a:solidFill>
              <a:srgbClr val="F59E0B"/>
            </a:solidFill>
            <a:prstDash val="solid"/>
          </a:ln>
        </p:spPr>
      </p:sp>
      <p:sp>
        <p:nvSpPr>
          <p:cNvPr id="35" name="Shape 33"/>
          <p:cNvSpPr/>
          <p:nvPr/>
        </p:nvSpPr>
        <p:spPr>
          <a:xfrm>
            <a:off x="7342632" y="1325880"/>
            <a:ext cx="1965960" cy="1920240"/>
          </a:xfrm>
          <a:prstGeom prst="roundRect">
            <a:avLst>
              <a:gd name="adj" fmla="val 3810"/>
            </a:avLst>
          </a:prstGeom>
          <a:solidFill>
            <a:srgbClr val="0A192F"/>
          </a:solidFill>
          <a:ln w="12700">
            <a:solidFill>
              <a:srgbClr val="1E3A5F"/>
            </a:solidFill>
            <a:prstDash val="solid"/>
          </a:ln>
        </p:spPr>
      </p:sp>
      <p:sp>
        <p:nvSpPr>
          <p:cNvPr id="36" name="Shape 34"/>
          <p:cNvSpPr/>
          <p:nvPr/>
        </p:nvSpPr>
        <p:spPr>
          <a:xfrm>
            <a:off x="7342632" y="1325880"/>
            <a:ext cx="73152" cy="1920240"/>
          </a:xfrm>
          <a:prstGeom prst="roundRect">
            <a:avLst>
              <a:gd name="adj" fmla="val 50000"/>
            </a:avLst>
          </a:prstGeom>
          <a:solidFill>
            <a:srgbClr val="10B981"/>
          </a:solidFill>
          <a:ln w="12700">
            <a:solidFill>
              <a:srgbClr val="10B981"/>
            </a:solidFill>
            <a:prstDash val="solid"/>
          </a:ln>
        </p:spPr>
      </p:sp>
      <p:sp>
        <p:nvSpPr>
          <p:cNvPr id="37" name="Shape 35"/>
          <p:cNvSpPr/>
          <p:nvPr/>
        </p:nvSpPr>
        <p:spPr>
          <a:xfrm>
            <a:off x="7434072" y="1417320"/>
            <a:ext cx="1783080" cy="411480"/>
          </a:xfrm>
          <a:prstGeom prst="roundRect">
            <a:avLst>
              <a:gd name="adj" fmla="val 8889"/>
            </a:avLst>
          </a:prstGeom>
          <a:solidFill>
            <a:srgbClr val="0D213F"/>
          </a:solidFill>
          <a:ln w="12700">
            <a:solidFill>
              <a:srgbClr val="10B981"/>
            </a:solidFill>
            <a:prstDash val="solid"/>
          </a:ln>
        </p:spPr>
      </p:sp>
      <p:sp>
        <p:nvSpPr>
          <p:cNvPr id="38" name="Text 36"/>
          <p:cNvSpPr/>
          <p:nvPr/>
        </p:nvSpPr>
        <p:spPr>
          <a:xfrm>
            <a:off x="7452360" y="1444752"/>
            <a:ext cx="822960" cy="347472"/>
          </a:xfrm>
          <a:prstGeom prst="rect">
            <a:avLst/>
          </a:prstGeom>
          <a:noFill/>
          <a:ln/>
        </p:spPr>
        <p:txBody>
          <a:bodyPr wrap="square" rtlCol="0" anchor="ctr"/>
          <a:lstStyle/>
          <a:p>
            <a:pPr indent="0" marL="0">
              <a:buNone/>
            </a:pPr>
            <a:r>
              <a:rPr lang="en-US" sz="900" b="1" dirty="0">
                <a:solidFill>
                  <a:srgbClr val="10B981"/>
                </a:solidFill>
                <a:latin typeface="Arial" pitchFamily="34" charset="0"/>
                <a:ea typeface="Arial" pitchFamily="34" charset="-122"/>
                <a:cs typeface="Arial" pitchFamily="34" charset="-120"/>
              </a:rPr>
              <a:t>TAHAP 04</a:t>
            </a:r>
            <a:endParaRPr lang="en-US" sz="900" dirty="0"/>
          </a:p>
        </p:txBody>
      </p:sp>
      <p:sp>
        <p:nvSpPr>
          <p:cNvPr id="39" name="Text 37"/>
          <p:cNvSpPr/>
          <p:nvPr/>
        </p:nvSpPr>
        <p:spPr>
          <a:xfrm>
            <a:off x="8211312"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Inkubator STP</a:t>
            </a:r>
            <a:endParaRPr lang="en-US" sz="750" dirty="0"/>
          </a:p>
        </p:txBody>
      </p:sp>
      <p:sp>
        <p:nvSpPr>
          <p:cNvPr id="40" name="Text 38"/>
          <p:cNvSpPr/>
          <p:nvPr/>
        </p:nvSpPr>
        <p:spPr>
          <a:xfrm>
            <a:off x="7452360"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INKUBASI BISNIS</a:t>
            </a:r>
            <a:endParaRPr lang="en-US" sz="1000" dirty="0"/>
          </a:p>
        </p:txBody>
      </p:sp>
      <p:sp>
        <p:nvSpPr>
          <p:cNvPr id="41" name="Text 39"/>
          <p:cNvSpPr/>
          <p:nvPr/>
        </p:nvSpPr>
        <p:spPr>
          <a:xfrm>
            <a:off x="7452360"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Penyusunan business model, proteksi HKI/Paten, akses modal &amp; offtaker.</a:t>
            </a:r>
            <a:endParaRPr lang="en-US" sz="820" dirty="0"/>
          </a:p>
        </p:txBody>
      </p:sp>
      <p:sp>
        <p:nvSpPr>
          <p:cNvPr id="42" name="Shape 40"/>
          <p:cNvSpPr/>
          <p:nvPr/>
        </p:nvSpPr>
        <p:spPr>
          <a:xfrm>
            <a:off x="9354312" y="2148840"/>
            <a:ext cx="164592" cy="256032"/>
          </a:xfrm>
          <a:prstGeom prst="rightArrow">
            <a:avLst/>
          </a:prstGeom>
          <a:solidFill>
            <a:srgbClr val="10B981"/>
          </a:solidFill>
          <a:ln w="12700">
            <a:solidFill>
              <a:srgbClr val="10B981"/>
            </a:solidFill>
            <a:prstDash val="solid"/>
          </a:ln>
        </p:spPr>
      </p:sp>
      <p:sp>
        <p:nvSpPr>
          <p:cNvPr id="43" name="Shape 41"/>
          <p:cNvSpPr/>
          <p:nvPr/>
        </p:nvSpPr>
        <p:spPr>
          <a:xfrm>
            <a:off x="9546336" y="1325880"/>
            <a:ext cx="1965960" cy="1920240"/>
          </a:xfrm>
          <a:prstGeom prst="roundRect">
            <a:avLst>
              <a:gd name="adj" fmla="val 3810"/>
            </a:avLst>
          </a:prstGeom>
          <a:solidFill>
            <a:srgbClr val="0A192F"/>
          </a:solidFill>
          <a:ln w="12700">
            <a:solidFill>
              <a:srgbClr val="1E3A5F"/>
            </a:solidFill>
            <a:prstDash val="solid"/>
          </a:ln>
        </p:spPr>
      </p:sp>
      <p:sp>
        <p:nvSpPr>
          <p:cNvPr id="44" name="Shape 42"/>
          <p:cNvSpPr/>
          <p:nvPr/>
        </p:nvSpPr>
        <p:spPr>
          <a:xfrm>
            <a:off x="9546336" y="1325880"/>
            <a:ext cx="73152" cy="1920240"/>
          </a:xfrm>
          <a:prstGeom prst="roundRect">
            <a:avLst>
              <a:gd name="adj" fmla="val 50000"/>
            </a:avLst>
          </a:prstGeom>
          <a:solidFill>
            <a:srgbClr val="F59E0B"/>
          </a:solidFill>
          <a:ln w="12700">
            <a:solidFill>
              <a:srgbClr val="F59E0B"/>
            </a:solidFill>
            <a:prstDash val="solid"/>
          </a:ln>
        </p:spPr>
      </p:sp>
      <p:sp>
        <p:nvSpPr>
          <p:cNvPr id="45" name="Shape 43"/>
          <p:cNvSpPr/>
          <p:nvPr/>
        </p:nvSpPr>
        <p:spPr>
          <a:xfrm>
            <a:off x="9637776" y="1417320"/>
            <a:ext cx="1783080" cy="411480"/>
          </a:xfrm>
          <a:prstGeom prst="roundRect">
            <a:avLst>
              <a:gd name="adj" fmla="val 8889"/>
            </a:avLst>
          </a:prstGeom>
          <a:solidFill>
            <a:srgbClr val="0D213F"/>
          </a:solidFill>
          <a:ln w="12700">
            <a:solidFill>
              <a:srgbClr val="F59E0B"/>
            </a:solidFill>
            <a:prstDash val="solid"/>
          </a:ln>
        </p:spPr>
      </p:sp>
      <p:sp>
        <p:nvSpPr>
          <p:cNvPr id="46" name="Text 44"/>
          <p:cNvSpPr/>
          <p:nvPr/>
        </p:nvSpPr>
        <p:spPr>
          <a:xfrm>
            <a:off x="9656064" y="1444752"/>
            <a:ext cx="822960" cy="347472"/>
          </a:xfrm>
          <a:prstGeom prst="rect">
            <a:avLst/>
          </a:prstGeom>
          <a:noFill/>
          <a:ln/>
        </p:spPr>
        <p:txBody>
          <a:bodyPr wrap="square" rtlCol="0" anchor="ctr"/>
          <a:lstStyle/>
          <a:p>
            <a:pPr indent="0" marL="0">
              <a:buNone/>
            </a:pPr>
            <a:r>
              <a:rPr lang="en-US" sz="900" b="1" dirty="0">
                <a:solidFill>
                  <a:srgbClr val="F59E0B"/>
                </a:solidFill>
                <a:latin typeface="Arial" pitchFamily="34" charset="0"/>
                <a:ea typeface="Arial" pitchFamily="34" charset="-122"/>
                <a:cs typeface="Arial" pitchFamily="34" charset="-120"/>
              </a:rPr>
              <a:t>TAHAP 05</a:t>
            </a:r>
            <a:endParaRPr lang="en-US" sz="900" dirty="0"/>
          </a:p>
        </p:txBody>
      </p:sp>
      <p:sp>
        <p:nvSpPr>
          <p:cNvPr id="47" name="Text 45"/>
          <p:cNvSpPr/>
          <p:nvPr/>
        </p:nvSpPr>
        <p:spPr>
          <a:xfrm>
            <a:off x="10415016" y="1444752"/>
            <a:ext cx="960120" cy="347472"/>
          </a:xfrm>
          <a:prstGeom prst="rect">
            <a:avLst/>
          </a:prstGeom>
          <a:noFill/>
          <a:ln/>
        </p:spPr>
        <p:txBody>
          <a:bodyPr wrap="square" rtlCol="0" anchor="ctr"/>
          <a:lstStyle/>
          <a:p>
            <a:pPr algn="r" indent="0" marL="0">
              <a:buNone/>
            </a:pPr>
            <a:r>
              <a:rPr lang="en-US" sz="750" b="1" dirty="0">
                <a:solidFill>
                  <a:srgbClr val="94A3B8"/>
                </a:solidFill>
                <a:latin typeface="Arial" pitchFamily="34" charset="0"/>
                <a:ea typeface="Arial" pitchFamily="34" charset="-122"/>
                <a:cs typeface="Arial" pitchFamily="34" charset="-120"/>
              </a:rPr>
              <a:t>Pasar &amp; Industri</a:t>
            </a:r>
            <a:endParaRPr lang="en-US" sz="750" dirty="0"/>
          </a:p>
        </p:txBody>
      </p:sp>
      <p:sp>
        <p:nvSpPr>
          <p:cNvPr id="48" name="Text 46"/>
          <p:cNvSpPr/>
          <p:nvPr/>
        </p:nvSpPr>
        <p:spPr>
          <a:xfrm>
            <a:off x="9656064" y="1901952"/>
            <a:ext cx="1746504" cy="365760"/>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KOMERSIALISASI</a:t>
            </a:r>
            <a:endParaRPr lang="en-US" sz="1000" dirty="0"/>
          </a:p>
        </p:txBody>
      </p:sp>
      <p:sp>
        <p:nvSpPr>
          <p:cNvPr id="49" name="Text 47"/>
          <p:cNvSpPr/>
          <p:nvPr/>
        </p:nvSpPr>
        <p:spPr>
          <a:xfrm>
            <a:off x="9656064" y="2286000"/>
            <a:ext cx="1746504" cy="868680"/>
          </a:xfrm>
          <a:prstGeom prst="rect">
            <a:avLst/>
          </a:prstGeom>
          <a:noFill/>
          <a:ln/>
        </p:spPr>
        <p:txBody>
          <a:bodyPr wrap="square" rtlCol="0" anchor="ctr"/>
          <a:lstStyle/>
          <a:p>
            <a:pPr indent="0" marL="0">
              <a:lnSpc>
                <a:spcPts val="1100"/>
              </a:lnSpc>
              <a:buNone/>
            </a:pPr>
            <a:r>
              <a:rPr lang="en-US" sz="820" dirty="0">
                <a:solidFill>
                  <a:srgbClr val="94A3B8"/>
                </a:solidFill>
                <a:latin typeface="Arial" pitchFamily="34" charset="0"/>
                <a:ea typeface="Arial" pitchFamily="34" charset="-122"/>
                <a:cs typeface="Arial" pitchFamily="34" charset="-120"/>
              </a:rPr>
              <a:t>Penetrasi e-Katalog Lokal OPD, captive market pemda &amp; industri nasional.</a:t>
            </a:r>
            <a:endParaRPr lang="en-US" sz="820" dirty="0"/>
          </a:p>
        </p:txBody>
      </p:sp>
      <p:sp>
        <p:nvSpPr>
          <p:cNvPr id="50" name="Shape 48"/>
          <p:cNvSpPr/>
          <p:nvPr/>
        </p:nvSpPr>
        <p:spPr>
          <a:xfrm>
            <a:off x="731520" y="3429000"/>
            <a:ext cx="6217920" cy="2788920"/>
          </a:xfrm>
          <a:prstGeom prst="roundRect">
            <a:avLst>
              <a:gd name="adj" fmla="val 2623"/>
            </a:avLst>
          </a:prstGeom>
          <a:solidFill>
            <a:srgbClr val="0A192F"/>
          </a:solidFill>
          <a:ln w="12700">
            <a:solidFill>
              <a:srgbClr val="1E3A5F"/>
            </a:solidFill>
            <a:prstDash val="solid"/>
          </a:ln>
        </p:spPr>
      </p:sp>
      <p:sp>
        <p:nvSpPr>
          <p:cNvPr id="51" name="Text 49"/>
          <p:cNvSpPr/>
          <p:nvPr/>
        </p:nvSpPr>
        <p:spPr>
          <a:xfrm>
            <a:off x="914400" y="3547872"/>
            <a:ext cx="5852160" cy="256032"/>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CONTOH TEKNOLOGI YANG DIHILIRKAN &amp; DIINKUBASI DI STP (DATA RIIL)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3858768"/>
          <a:ext cx="5852160" cy="2240280"/>
        </p:xfrm>
        <a:graphic>
          <a:graphicData uri="http://schemas.openxmlformats.org/drawingml/2006/table">
            <a:tbl>
              <a:tblPr/>
              <a:tblGrid>
                <a:gridCol w="1645920"/>
                <a:gridCol w="2926080"/>
                <a:gridCol w="12801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KLASTER TEKNOLOGI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CONTOH PRODUK INOVASI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880" b="1" dirty="0">
                          <a:solidFill>
                            <a:srgbClr val="FFFFFF"/>
                          </a:solidFill>
                          <a:latin typeface="Arial" pitchFamily="34" charset="0"/>
                          <a:ea typeface="Arial" pitchFamily="34" charset="-122"/>
                          <a:cs typeface="Arial" pitchFamily="34" charset="-120"/>
                        </a:rPr>
                        <a:t>STATUS TAHAPAN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Sortasi Biji Kopi Otomatis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Prototype Validasi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Teknologi Pertanian Presisi IoT &amp; AI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38BDF8"/>
                          </a:solidFill>
                          <a:latin typeface="Arial" pitchFamily="34" charset="0"/>
                          <a:ea typeface="Arial" pitchFamily="34" charset="-122"/>
                          <a:cs typeface="Arial" pitchFamily="34" charset="-120"/>
                        </a:rPr>
                        <a:t>Uji Lapangan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Smart Agriculture IoT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Mesin Tetas Telur Pintar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Siap e-Katalog</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Deep Tech Mobility</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Autonomous Vehicle Elektrik Kampus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dirty="0">
                          <a:solidFill>
                            <a:srgbClr val="F59E0B"/>
                          </a:solidFill>
                          <a:latin typeface="Arial" pitchFamily="34" charset="0"/>
                          <a:ea typeface="Arial" pitchFamily="34" charset="-122"/>
                          <a:cs typeface="Arial" pitchFamily="34" charset="-120"/>
                        </a:rPr>
                        <a:t>R&amp;D Bersama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374904">
                <a:tc>
                  <a:txBody>
                    <a:bodyPr/>
                    <a:lstStyle/>
                    <a:p>
                      <a:pPr indent="0" marL="0">
                        <a:buNone/>
                      </a:pPr>
                      <a:r>
                        <a:rPr lang="en-US" sz="880" dirty="0">
                          <a:solidFill>
                            <a:srgbClr val="94A3B8"/>
                          </a:solidFill>
                          <a:latin typeface="Arial" pitchFamily="34" charset="0"/>
                          <a:ea typeface="Arial" pitchFamily="34" charset="-122"/>
                          <a:cs typeface="Arial" pitchFamily="34" charset="-120"/>
                        </a:rPr>
                        <a:t>GovTech &amp; Pelatihan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VR Pelatihan Industri &amp; Chatbot AI OPD</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algn="ctr" indent="0" marL="0">
                        <a:buNone/>
                      </a:pPr>
                      <a:r>
                        <a:rPr lang="en-US" sz="880" b="1" dirty="0">
                          <a:solidFill>
                            <a:srgbClr val="10B981"/>
                          </a:solidFill>
                          <a:latin typeface="Arial" pitchFamily="34" charset="0"/>
                          <a:ea typeface="Arial" pitchFamily="34" charset="-122"/>
                          <a:cs typeface="Arial" pitchFamily="34" charset="-120"/>
                        </a:rPr>
                        <a:t>Komersial Aktif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53" name="Shape 50"/>
          <p:cNvSpPr/>
          <p:nvPr/>
        </p:nvSpPr>
        <p:spPr>
          <a:xfrm>
            <a:off x="7132320" y="3429000"/>
            <a:ext cx="4327855" cy="2788920"/>
          </a:xfrm>
          <a:prstGeom prst="roundRect">
            <a:avLst>
              <a:gd name="adj" fmla="val 2623"/>
            </a:avLst>
          </a:prstGeom>
          <a:solidFill>
            <a:srgbClr val="0A192F"/>
          </a:solidFill>
          <a:ln w="12700">
            <a:solidFill>
              <a:srgbClr val="0EA5E9"/>
            </a:solidFill>
            <a:prstDash val="solid"/>
          </a:ln>
        </p:spPr>
      </p:sp>
      <p:sp>
        <p:nvSpPr>
          <p:cNvPr id="54" name="Text 51"/>
          <p:cNvSpPr/>
          <p:nvPr/>
        </p:nvSpPr>
        <p:spPr>
          <a:xfrm>
            <a:off x="7315200" y="3547872"/>
            <a:ext cx="3962095" cy="256032"/>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EKOSISTEM FASILITAS PENDUKUNG AKTIF</a:t>
            </a:r>
            <a:endParaRPr lang="en-US" sz="950" dirty="0"/>
          </a:p>
        </p:txBody>
      </p:sp>
      <p:sp>
        <p:nvSpPr>
          <p:cNvPr id="55" name="Text 52"/>
          <p:cNvSpPr/>
          <p:nvPr/>
        </p:nvSpPr>
        <p:spPr>
          <a:xfrm>
            <a:off x="7315200" y="3886200"/>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National Cyber Security Hub</a:t>
            </a:r>
            <a:endParaRPr lang="en-US" sz="900" dirty="0"/>
          </a:p>
        </p:txBody>
      </p:sp>
      <p:sp>
        <p:nvSpPr>
          <p:cNvPr id="56" name="Text 53"/>
          <p:cNvSpPr/>
          <p:nvPr/>
        </p:nvSpPr>
        <p:spPr>
          <a:xfrm>
            <a:off x="7680960" y="4069080"/>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Pusat ketahanan digital &amp; talenta siber nasional</a:t>
            </a:r>
            <a:endParaRPr lang="en-US" sz="800" dirty="0"/>
          </a:p>
        </p:txBody>
      </p:sp>
      <p:sp>
        <p:nvSpPr>
          <p:cNvPr id="57" name="Text 54"/>
          <p:cNvSpPr/>
          <p:nvPr/>
        </p:nvSpPr>
        <p:spPr>
          <a:xfrm>
            <a:off x="7315200" y="4334256"/>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Gaming Hub &amp; Digital Studio</a:t>
            </a:r>
            <a:endParaRPr lang="en-US" sz="900" dirty="0"/>
          </a:p>
        </p:txBody>
      </p:sp>
      <p:sp>
        <p:nvSpPr>
          <p:cNvPr id="58" name="Text 55"/>
          <p:cNvSpPr/>
          <p:nvPr/>
        </p:nvSpPr>
        <p:spPr>
          <a:xfrm>
            <a:off x="7680960" y="4517136"/>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Pengembangan game &amp; konten kreatif esport</a:t>
            </a:r>
            <a:endParaRPr lang="en-US" sz="800" dirty="0"/>
          </a:p>
        </p:txBody>
      </p:sp>
      <p:sp>
        <p:nvSpPr>
          <p:cNvPr id="59" name="Text 56"/>
          <p:cNvSpPr/>
          <p:nvPr/>
        </p:nvSpPr>
        <p:spPr>
          <a:xfrm>
            <a:off x="7315200" y="4782312"/>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AI Experience Center</a:t>
            </a:r>
            <a:endParaRPr lang="en-US" sz="900" dirty="0"/>
          </a:p>
        </p:txBody>
      </p:sp>
      <p:sp>
        <p:nvSpPr>
          <p:cNvPr id="60" name="Text 57"/>
          <p:cNvSpPr/>
          <p:nvPr/>
        </p:nvSpPr>
        <p:spPr>
          <a:xfrm>
            <a:off x="7680960" y="4965192"/>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Laboratorium kecerdasan buatan terapan industri</a:t>
            </a:r>
            <a:endParaRPr lang="en-US" sz="800" dirty="0"/>
          </a:p>
        </p:txBody>
      </p:sp>
      <p:sp>
        <p:nvSpPr>
          <p:cNvPr id="61" name="Text 58"/>
          <p:cNvSpPr/>
          <p:nvPr/>
        </p:nvSpPr>
        <p:spPr>
          <a:xfrm>
            <a:off x="7315200" y="5230368"/>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GoTo UMKM Center</a:t>
            </a:r>
            <a:endParaRPr lang="en-US" sz="900" dirty="0"/>
          </a:p>
        </p:txBody>
      </p:sp>
      <p:sp>
        <p:nvSpPr>
          <p:cNvPr id="62" name="Text 59"/>
          <p:cNvSpPr/>
          <p:nvPr/>
        </p:nvSpPr>
        <p:spPr>
          <a:xfrm>
            <a:off x="7680960" y="5413248"/>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Akselerasi digitalisasi &amp; onboarding pedagang lokal</a:t>
            </a:r>
            <a:endParaRPr lang="en-US" sz="800" dirty="0"/>
          </a:p>
        </p:txBody>
      </p:sp>
      <p:sp>
        <p:nvSpPr>
          <p:cNvPr id="63" name="Text 60"/>
          <p:cNvSpPr/>
          <p:nvPr/>
        </p:nvSpPr>
        <p:spPr>
          <a:xfrm>
            <a:off x="7315200" y="5678424"/>
            <a:ext cx="3962095" cy="201168"/>
          </a:xfrm>
          <a:prstGeom prst="rect">
            <a:avLst/>
          </a:prstGeom>
          <a:noFill/>
          <a:ln/>
        </p:spPr>
        <p:txBody>
          <a:bodyPr wrap="square" rtlCol="0" anchor="ctr"/>
          <a:lstStyle/>
          <a:p>
            <a:pPr indent="0" marL="0">
              <a:buNone/>
            </a:pPr>
            <a:r>
              <a:rPr lang="en-US" sz="900" b="1" dirty="0">
                <a:solidFill>
                  <a:srgbClr val="FFFFFF"/>
                </a:solidFill>
                <a:latin typeface="Arial" pitchFamily="34" charset="0"/>
                <a:ea typeface="Arial" pitchFamily="34" charset="-122"/>
                <a:cs typeface="Arial" pitchFamily="34" charset="-120"/>
              </a:rPr>
              <a:t>🔬  Laboratorium Rekayasa Presisi</a:t>
            </a:r>
            <a:endParaRPr lang="en-US" sz="900" dirty="0"/>
          </a:p>
        </p:txBody>
      </p:sp>
      <p:sp>
        <p:nvSpPr>
          <p:cNvPr id="64" name="Text 61"/>
          <p:cNvSpPr/>
          <p:nvPr/>
        </p:nvSpPr>
        <p:spPr>
          <a:xfrm>
            <a:off x="7680960" y="5861304"/>
            <a:ext cx="3596335" cy="219456"/>
          </a:xfrm>
          <a:prstGeom prst="rect">
            <a:avLst/>
          </a:prstGeom>
          <a:noFill/>
          <a:ln/>
        </p:spPr>
        <p:txBody>
          <a:bodyPr wrap="square" rtlCol="0" anchor="ctr"/>
          <a:lstStyle/>
          <a:p>
            <a:pPr indent="0" marL="0">
              <a:buNone/>
            </a:pPr>
            <a:r>
              <a:rPr lang="en-US" sz="800" dirty="0">
                <a:solidFill>
                  <a:srgbClr val="94A3B8"/>
                </a:solidFill>
                <a:latin typeface="Arial" pitchFamily="34" charset="0"/>
                <a:ea typeface="Arial" pitchFamily="34" charset="-122"/>
                <a:cs typeface="Arial" pitchFamily="34" charset="-120"/>
              </a:rPr>
              <a:t>Fasilitas fabrikasi mesin &amp; pengujian NDT industri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JEJARING KEMITRAAN STRATEGIS</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EKOSISTEM HEXAHELIX: 95+ MITRA STRATEGIS TANPA BEBAN APBD</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06 / 12</a:t>
            </a:r>
            <a:endParaRPr lang="en-US" sz="900" dirty="0"/>
          </a:p>
        </p:txBody>
      </p:sp>
      <p:sp>
        <p:nvSpPr>
          <p:cNvPr id="11" name="Shape 9"/>
          <p:cNvSpPr/>
          <p:nvPr/>
        </p:nvSpPr>
        <p:spPr>
          <a:xfrm>
            <a:off x="731520" y="1325880"/>
            <a:ext cx="4206240" cy="4892040"/>
          </a:xfrm>
          <a:prstGeom prst="roundRect">
            <a:avLst>
              <a:gd name="adj" fmla="val 1739"/>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3840480" cy="274320"/>
          </a:xfrm>
          <a:prstGeom prst="rect">
            <a:avLst/>
          </a:prstGeom>
          <a:noFill/>
          <a:ln/>
        </p:spPr>
        <p:txBody>
          <a:bodyPr wrap="square" rtlCol="0" anchor="ctr"/>
          <a:lstStyle/>
          <a:p>
            <a:pPr indent="0" marL="0">
              <a:buNone/>
            </a:pPr>
            <a:r>
              <a:rPr lang="en-US" sz="1050" b="1" dirty="0">
                <a:solidFill>
                  <a:srgbClr val="38BDF8"/>
                </a:solidFill>
                <a:latin typeface="Arial" pitchFamily="34" charset="0"/>
                <a:ea typeface="Arial" pitchFamily="34" charset="-122"/>
                <a:cs typeface="Arial" pitchFamily="34" charset="-120"/>
              </a:rPr>
              <a:t>KOMPOSISI 6 AKTOR HEXAHELIX (95+ MITRA)</a:t>
            </a:r>
            <a:endParaRPr lang="en-US" sz="1050" dirty="0"/>
          </a:p>
        </p:txBody>
      </p:sp>
      <p:graphicFrame>
        <p:nvGraphicFramePr>
          <p:cNvPr id="14" name="Chart 0" descr=""/>
          <p:cNvGraphicFramePr/>
          <p:nvPr/>
        </p:nvGraphicFramePr>
        <p:xfrm>
          <a:off x="1371600" y="1783080"/>
          <a:ext cx="2926080" cy="196596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3904488"/>
            <a:ext cx="109728" cy="109728"/>
          </a:xfrm>
          <a:prstGeom prst="ellipse">
            <a:avLst/>
          </a:prstGeom>
          <a:solidFill>
            <a:srgbClr val="0EA5E9"/>
          </a:solidFill>
          <a:ln w="12700">
            <a:solidFill>
              <a:srgbClr val="0EA5E9"/>
            </a:solidFill>
            <a:prstDash val="solid"/>
          </a:ln>
        </p:spPr>
      </p:sp>
      <p:sp>
        <p:nvSpPr>
          <p:cNvPr id="16" name="Text 13"/>
          <p:cNvSpPr/>
          <p:nvPr/>
        </p:nvSpPr>
        <p:spPr>
          <a:xfrm>
            <a:off x="1078992" y="3858768"/>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Industri &amp; Bisnis: </a:t>
            </a:r>
            <a:endParaRPr lang="en-US" sz="780" dirty="0"/>
          </a:p>
        </p:txBody>
      </p:sp>
      <p:sp>
        <p:nvSpPr>
          <p:cNvPr id="17" name="Text 14"/>
          <p:cNvSpPr/>
          <p:nvPr/>
        </p:nvSpPr>
        <p:spPr>
          <a:xfrm>
            <a:off x="2240280" y="3858768"/>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37% (35)</a:t>
            </a:r>
            <a:endParaRPr lang="en-US" sz="780" dirty="0"/>
          </a:p>
        </p:txBody>
      </p:sp>
      <p:sp>
        <p:nvSpPr>
          <p:cNvPr id="18" name="Shape 15"/>
          <p:cNvSpPr/>
          <p:nvPr/>
        </p:nvSpPr>
        <p:spPr>
          <a:xfrm>
            <a:off x="914400" y="4197096"/>
            <a:ext cx="109728" cy="109728"/>
          </a:xfrm>
          <a:prstGeom prst="ellipse">
            <a:avLst/>
          </a:prstGeom>
          <a:solidFill>
            <a:srgbClr val="38BDF8"/>
          </a:solidFill>
          <a:ln w="12700">
            <a:solidFill>
              <a:srgbClr val="38BDF8"/>
            </a:solidFill>
            <a:prstDash val="solid"/>
          </a:ln>
        </p:spPr>
      </p:sp>
      <p:sp>
        <p:nvSpPr>
          <p:cNvPr id="19" name="Text 16"/>
          <p:cNvSpPr/>
          <p:nvPr/>
        </p:nvSpPr>
        <p:spPr>
          <a:xfrm>
            <a:off x="1078992" y="4151376"/>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Akademisi / Kampus: </a:t>
            </a:r>
            <a:endParaRPr lang="en-US" sz="780" dirty="0"/>
          </a:p>
        </p:txBody>
      </p:sp>
      <p:sp>
        <p:nvSpPr>
          <p:cNvPr id="20" name="Text 17"/>
          <p:cNvSpPr/>
          <p:nvPr/>
        </p:nvSpPr>
        <p:spPr>
          <a:xfrm>
            <a:off x="2240280" y="4151376"/>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21% (20)</a:t>
            </a:r>
            <a:endParaRPr lang="en-US" sz="780" dirty="0"/>
          </a:p>
        </p:txBody>
      </p:sp>
      <p:sp>
        <p:nvSpPr>
          <p:cNvPr id="21" name="Shape 18"/>
          <p:cNvSpPr/>
          <p:nvPr/>
        </p:nvSpPr>
        <p:spPr>
          <a:xfrm>
            <a:off x="914400" y="4489704"/>
            <a:ext cx="109728" cy="109728"/>
          </a:xfrm>
          <a:prstGeom prst="ellipse">
            <a:avLst/>
          </a:prstGeom>
          <a:solidFill>
            <a:srgbClr val="10B981"/>
          </a:solidFill>
          <a:ln w="12700">
            <a:solidFill>
              <a:srgbClr val="10B981"/>
            </a:solidFill>
            <a:prstDash val="solid"/>
          </a:ln>
        </p:spPr>
      </p:sp>
      <p:sp>
        <p:nvSpPr>
          <p:cNvPr id="22" name="Text 19"/>
          <p:cNvSpPr/>
          <p:nvPr/>
        </p:nvSpPr>
        <p:spPr>
          <a:xfrm>
            <a:off x="1078992" y="4443984"/>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Komunitas &amp; UMKM: </a:t>
            </a:r>
            <a:endParaRPr lang="en-US" sz="780" dirty="0"/>
          </a:p>
        </p:txBody>
      </p:sp>
      <p:sp>
        <p:nvSpPr>
          <p:cNvPr id="23" name="Text 20"/>
          <p:cNvSpPr/>
          <p:nvPr/>
        </p:nvSpPr>
        <p:spPr>
          <a:xfrm>
            <a:off x="2240280" y="4443984"/>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16% (15)</a:t>
            </a:r>
            <a:endParaRPr lang="en-US" sz="780" dirty="0"/>
          </a:p>
        </p:txBody>
      </p:sp>
      <p:sp>
        <p:nvSpPr>
          <p:cNvPr id="24" name="Shape 21"/>
          <p:cNvSpPr/>
          <p:nvPr/>
        </p:nvSpPr>
        <p:spPr>
          <a:xfrm>
            <a:off x="2880360" y="3904488"/>
            <a:ext cx="109728" cy="109728"/>
          </a:xfrm>
          <a:prstGeom prst="ellipse">
            <a:avLst/>
          </a:prstGeom>
          <a:solidFill>
            <a:srgbClr val="F59E0B"/>
          </a:solidFill>
          <a:ln w="12700">
            <a:solidFill>
              <a:srgbClr val="F59E0B"/>
            </a:solidFill>
            <a:prstDash val="solid"/>
          </a:ln>
        </p:spPr>
      </p:sp>
      <p:sp>
        <p:nvSpPr>
          <p:cNvPr id="25" name="Text 22"/>
          <p:cNvSpPr/>
          <p:nvPr/>
        </p:nvSpPr>
        <p:spPr>
          <a:xfrm>
            <a:off x="3044952" y="3858768"/>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Pemerintah / BUMN: </a:t>
            </a:r>
            <a:endParaRPr lang="en-US" sz="780" dirty="0"/>
          </a:p>
        </p:txBody>
      </p:sp>
      <p:sp>
        <p:nvSpPr>
          <p:cNvPr id="26" name="Text 23"/>
          <p:cNvSpPr/>
          <p:nvPr/>
        </p:nvSpPr>
        <p:spPr>
          <a:xfrm>
            <a:off x="4206240" y="3858768"/>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13% (12)</a:t>
            </a:r>
            <a:endParaRPr lang="en-US" sz="780" dirty="0"/>
          </a:p>
        </p:txBody>
      </p:sp>
      <p:sp>
        <p:nvSpPr>
          <p:cNvPr id="27" name="Shape 24"/>
          <p:cNvSpPr/>
          <p:nvPr/>
        </p:nvSpPr>
        <p:spPr>
          <a:xfrm>
            <a:off x="2880360" y="4197096"/>
            <a:ext cx="109728" cy="109728"/>
          </a:xfrm>
          <a:prstGeom prst="ellipse">
            <a:avLst/>
          </a:prstGeom>
          <a:solidFill>
            <a:srgbClr val="8B5CF6"/>
          </a:solidFill>
          <a:ln w="12700">
            <a:solidFill>
              <a:srgbClr val="8B5CF6"/>
            </a:solidFill>
            <a:prstDash val="solid"/>
          </a:ln>
        </p:spPr>
      </p:sp>
      <p:sp>
        <p:nvSpPr>
          <p:cNvPr id="28" name="Text 25"/>
          <p:cNvSpPr/>
          <p:nvPr/>
        </p:nvSpPr>
        <p:spPr>
          <a:xfrm>
            <a:off x="3044952" y="4151376"/>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Media Massa: </a:t>
            </a:r>
            <a:endParaRPr lang="en-US" sz="780" dirty="0"/>
          </a:p>
        </p:txBody>
      </p:sp>
      <p:sp>
        <p:nvSpPr>
          <p:cNvPr id="29" name="Text 26"/>
          <p:cNvSpPr/>
          <p:nvPr/>
        </p:nvSpPr>
        <p:spPr>
          <a:xfrm>
            <a:off x="4206240" y="4151376"/>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8% (8)</a:t>
            </a:r>
            <a:endParaRPr lang="en-US" sz="780" dirty="0"/>
          </a:p>
        </p:txBody>
      </p:sp>
      <p:sp>
        <p:nvSpPr>
          <p:cNvPr id="30" name="Shape 27"/>
          <p:cNvSpPr/>
          <p:nvPr/>
        </p:nvSpPr>
        <p:spPr>
          <a:xfrm>
            <a:off x="2880360" y="4489704"/>
            <a:ext cx="109728" cy="109728"/>
          </a:xfrm>
          <a:prstGeom prst="ellipse">
            <a:avLst/>
          </a:prstGeom>
          <a:solidFill>
            <a:srgbClr val="EC4899"/>
          </a:solidFill>
          <a:ln w="12700">
            <a:solidFill>
              <a:srgbClr val="EC4899"/>
            </a:solidFill>
            <a:prstDash val="solid"/>
          </a:ln>
        </p:spPr>
      </p:sp>
      <p:sp>
        <p:nvSpPr>
          <p:cNvPr id="31" name="Text 28"/>
          <p:cNvSpPr/>
          <p:nvPr/>
        </p:nvSpPr>
        <p:spPr>
          <a:xfrm>
            <a:off x="3044952" y="4443984"/>
            <a:ext cx="1325880" cy="228600"/>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Lembaga Global: </a:t>
            </a:r>
            <a:endParaRPr lang="en-US" sz="780" dirty="0"/>
          </a:p>
        </p:txBody>
      </p:sp>
      <p:sp>
        <p:nvSpPr>
          <p:cNvPr id="32" name="Text 29"/>
          <p:cNvSpPr/>
          <p:nvPr/>
        </p:nvSpPr>
        <p:spPr>
          <a:xfrm>
            <a:off x="4206240" y="4443984"/>
            <a:ext cx="594360" cy="228600"/>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5% (5)</a:t>
            </a:r>
            <a:endParaRPr lang="en-US" sz="780" dirty="0"/>
          </a:p>
        </p:txBody>
      </p:sp>
      <p:sp>
        <p:nvSpPr>
          <p:cNvPr id="33" name="Shape 30"/>
          <p:cNvSpPr/>
          <p:nvPr/>
        </p:nvSpPr>
        <p:spPr>
          <a:xfrm>
            <a:off x="914400" y="4846320"/>
            <a:ext cx="3840480" cy="1234440"/>
          </a:xfrm>
          <a:prstGeom prst="roundRect">
            <a:avLst>
              <a:gd name="adj" fmla="val 2963"/>
            </a:avLst>
          </a:prstGeom>
          <a:solidFill>
            <a:srgbClr val="0D213F"/>
          </a:solidFill>
          <a:ln w="12700">
            <a:solidFill>
              <a:srgbClr val="1E3A5F"/>
            </a:solidFill>
            <a:prstDash val="solid"/>
          </a:ln>
        </p:spPr>
      </p:sp>
      <p:sp>
        <p:nvSpPr>
          <p:cNvPr id="34" name="Text 31"/>
          <p:cNvSpPr/>
          <p:nvPr/>
        </p:nvSpPr>
        <p:spPr>
          <a:xfrm>
            <a:off x="1005840" y="4919472"/>
            <a:ext cx="3657600" cy="201168"/>
          </a:xfrm>
          <a:prstGeom prst="rect">
            <a:avLst/>
          </a:prstGeom>
          <a:noFill/>
          <a:ln/>
        </p:spPr>
        <p:txBody>
          <a:bodyPr wrap="square" rtlCol="0" anchor="ctr"/>
          <a:lstStyle/>
          <a:p>
            <a:pPr indent="0" marL="0">
              <a:buNone/>
            </a:pPr>
            <a:r>
              <a:rPr lang="en-US" sz="920" b="1" dirty="0">
                <a:solidFill>
                  <a:srgbClr val="F59E0B"/>
                </a:solidFill>
                <a:latin typeface="Arial" pitchFamily="34" charset="0"/>
                <a:ea typeface="Arial" pitchFamily="34" charset="-122"/>
                <a:cs typeface="Arial" pitchFamily="34" charset="-120"/>
              </a:rPr>
              <a:t>TOTAL: 95+ MITRA STRATEGIS AKTIF</a:t>
            </a:r>
            <a:endParaRPr lang="en-US" sz="920" dirty="0"/>
          </a:p>
        </p:txBody>
      </p:sp>
      <p:sp>
        <p:nvSpPr>
          <p:cNvPr id="35" name="Text 32"/>
          <p:cNvSpPr/>
          <p:nvPr/>
        </p:nvSpPr>
        <p:spPr>
          <a:xfrm>
            <a:off x="1005840" y="5138928"/>
            <a:ext cx="3657600" cy="868680"/>
          </a:xfrm>
          <a:prstGeom prst="rect">
            <a:avLst/>
          </a:prstGeom>
          <a:noFill/>
          <a:ln/>
        </p:spPr>
        <p:txBody>
          <a:bodyPr wrap="square" rtlCol="0" anchor="ctr"/>
          <a:lstStyle/>
          <a:p>
            <a:pPr indent="0" marL="0">
              <a:lnSpc>
                <a:spcPts val="1100"/>
              </a:lnSpc>
              <a:buNone/>
            </a:pPr>
            <a:r>
              <a:rPr lang="en-US" sz="820" dirty="0">
                <a:solidFill>
                  <a:srgbClr val="FFFFFF"/>
                </a:solidFill>
                <a:latin typeface="Arial" pitchFamily="34" charset="0"/>
                <a:ea typeface="Arial" pitchFamily="34" charset="-122"/>
                <a:cs typeface="Arial" pitchFamily="34" charset="-120"/>
              </a:rPr>
              <a:t>• 100% Investasi Swasta &amp; PPP (0% Beban APBD)</a:t>
            </a:r>
            <a:endParaRPr lang="en-US" sz="820" dirty="0"/>
          </a:p>
          <a:p>
            <a:pPr indent="0" marL="0">
              <a:lnSpc>
                <a:spcPts val="1100"/>
              </a:lnSpc>
              <a:buNone/>
            </a:pPr>
            <a:r>
              <a:rPr lang="en-US" sz="820" dirty="0">
                <a:solidFill>
                  <a:srgbClr val="FFFFFF"/>
                </a:solidFill>
                <a:latin typeface="Arial" pitchFamily="34" charset="0"/>
                <a:ea typeface="Arial" pitchFamily="34" charset="-122"/>
                <a:cs typeface="Arial" pitchFamily="34" charset="-120"/>
              </a:rPr>
              <a:t>• Akses fasilitas 5G, Cyber Security, AI, &amp; Migas</a:t>
            </a:r>
            <a:endParaRPr lang="en-US" sz="820" dirty="0"/>
          </a:p>
          <a:p>
            <a:pPr indent="0" marL="0">
              <a:lnSpc>
                <a:spcPts val="1100"/>
              </a:lnSpc>
              <a:buNone/>
            </a:pPr>
            <a:r>
              <a:rPr lang="en-US" sz="820" dirty="0">
                <a:solidFill>
                  <a:srgbClr val="FFFFFF"/>
                </a:solidFill>
                <a:latin typeface="Arial" pitchFamily="34" charset="0"/>
                <a:ea typeface="Arial" pitchFamily="34" charset="-122"/>
                <a:cs typeface="Arial" pitchFamily="34" charset="-120"/>
              </a:rPr>
              <a:t>• Saluran penyerapan kerja langsung bagi warga Solo</a:t>
            </a:r>
            <a:endParaRPr lang="en-US" sz="820" dirty="0"/>
          </a:p>
        </p:txBody>
      </p:sp>
      <p:sp>
        <p:nvSpPr>
          <p:cNvPr id="36" name="Shape 33"/>
          <p:cNvSpPr/>
          <p:nvPr/>
        </p:nvSpPr>
        <p:spPr>
          <a:xfrm>
            <a:off x="5120640" y="1325880"/>
            <a:ext cx="6339535" cy="4892040"/>
          </a:xfrm>
          <a:prstGeom prst="roundRect">
            <a:avLst>
              <a:gd name="adj" fmla="val 1495"/>
            </a:avLst>
          </a:prstGeom>
          <a:solidFill>
            <a:srgbClr val="0A192F"/>
          </a:solidFill>
          <a:ln w="12700">
            <a:solidFill>
              <a:srgbClr val="1E3A5F"/>
            </a:solidFill>
            <a:prstDash val="solid"/>
          </a:ln>
        </p:spPr>
      </p:sp>
      <p:sp>
        <p:nvSpPr>
          <p:cNvPr id="37" name="Text 34"/>
          <p:cNvSpPr/>
          <p:nvPr/>
        </p:nvSpPr>
        <p:spPr>
          <a:xfrm>
            <a:off x="5303520" y="1463040"/>
            <a:ext cx="5943600" cy="27432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MITRA INDUSTRI KELAS DUNIA YANG AKTIF BERINVESTASI DI STP</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03520" y="1828800"/>
          <a:ext cx="5943600" cy="2926080"/>
        </p:xfrm>
        <a:graphic>
          <a:graphicData uri="http://schemas.openxmlformats.org/drawingml/2006/table">
            <a:tbl>
              <a:tblPr/>
              <a:tblGrid>
                <a:gridCol w="1645920"/>
                <a:gridCol w="1645920"/>
                <a:gridCol w="2651760"/>
              </a:tblGrid>
              <a:tr h="347472">
                <a:tc>
                  <a:txBody>
                    <a:bodyPr/>
                    <a:lstStyle/>
                    <a:p>
                      <a:pPr indent="0" marL="0">
                        <a:buNone/>
                      </a:pPr>
                      <a:r>
                        <a:rPr lang="en-US" sz="880" b="1" dirty="0">
                          <a:solidFill>
                            <a:srgbClr val="FFFFFF"/>
                          </a:solidFill>
                          <a:latin typeface="Arial" pitchFamily="34" charset="0"/>
                          <a:ea typeface="Arial" pitchFamily="34" charset="-122"/>
                          <a:cs typeface="Arial" pitchFamily="34" charset="-120"/>
                        </a:rPr>
                        <a:t>SEKTOR INDUSTRI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MITRA STRATEGIS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KONTRIBUSI NYATA BAGI KAWASAN STP</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E-Commerce &amp; Logistik</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Shopee Indonesia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Infrastruktur UMKM Hub, Co-location, sewa lahan Rp 544 jt/th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&amp; Kreatif</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Garena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Gaming studio, beasiswa talenta digital, turnamen esports</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Perbankan &amp; Fintech</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Bank Mandiri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Mandiri Innovation Hub, fasilitasi modal startup binaan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Telekomunikasi</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Indosat Ooredoo Hutchison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Laboratorium 5G, konektivitas fiber optik terintegrasi kawasan</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02336">
                <a:tc>
                  <a:txBody>
                    <a:bodyPr/>
                    <a:lstStyle/>
                    <a:p>
                      <a:pPr indent="0" marL="0">
                        <a:buNone/>
                      </a:pPr>
                      <a:r>
                        <a:rPr lang="en-US" sz="880" dirty="0">
                          <a:solidFill>
                            <a:srgbClr val="94A3B8"/>
                          </a:solidFill>
                          <a:latin typeface="Arial" pitchFamily="34" charset="0"/>
                          <a:ea typeface="Arial" pitchFamily="34" charset="-122"/>
                          <a:cs typeface="Arial" pitchFamily="34" charset="-120"/>
                        </a:rPr>
                        <a:t>Ride-Hailing &amp; UMKM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FFFFF"/>
                          </a:solidFill>
                          <a:latin typeface="Arial" pitchFamily="34" charset="0"/>
                          <a:ea typeface="Arial" pitchFamily="34" charset="-122"/>
                          <a:cs typeface="Arial" pitchFamily="34" charset="-120"/>
                        </a:rPr>
                        <a:t>GoTo (Gojek-Tokopedia)</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dirty="0">
                          <a:solidFill>
                            <a:srgbClr val="94A3B8"/>
                          </a:solidFill>
                          <a:latin typeface="Arial" pitchFamily="34" charset="0"/>
                          <a:ea typeface="Arial" pitchFamily="34" charset="-122"/>
                          <a:cs typeface="Arial" pitchFamily="34" charset="-120"/>
                        </a:rPr>
                        <a:t>GoTo UMKM Center, pelatihan onboarding merchant lokal</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438912">
                <a:tc>
                  <a:txBody>
                    <a:bodyPr/>
                    <a:lstStyle/>
                    <a:p>
                      <a:pPr indent="0" marL="0">
                        <a:buNone/>
                      </a:pPr>
                      <a:r>
                        <a:rPr lang="en-US" sz="880" dirty="0">
                          <a:solidFill>
                            <a:srgbClr val="94A3B8"/>
                          </a:solidFill>
                          <a:latin typeface="Arial" pitchFamily="34" charset="0"/>
                          <a:ea typeface="Arial" pitchFamily="34" charset="-122"/>
                          <a:cs typeface="Arial" pitchFamily="34" charset="-120"/>
                        </a:rPr>
                        <a:t>Migas &amp; Industri Berat</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OGSCI Consortium</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80" b="1" dirty="0">
                          <a:solidFill>
                            <a:srgbClr val="F59E0B"/>
                          </a:solidFill>
                          <a:latin typeface="Arial" pitchFamily="34" charset="0"/>
                          <a:ea typeface="Arial" pitchFamily="34" charset="-122"/>
                          <a:cs typeface="Arial" pitchFamily="34" charset="-120"/>
                        </a:rPr>
                        <a:t>Pelatihan migas internasional: Target Rp 6,25 M (2030)</a:t>
                      </a:r>
                      <a:endParaRPr lang="en-US" sz="88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
        <p:nvSpPr>
          <p:cNvPr id="39" name="Shape 35"/>
          <p:cNvSpPr/>
          <p:nvPr/>
        </p:nvSpPr>
        <p:spPr>
          <a:xfrm>
            <a:off x="5303520" y="4892040"/>
            <a:ext cx="5943600" cy="1143000"/>
          </a:xfrm>
          <a:prstGeom prst="roundRect">
            <a:avLst>
              <a:gd name="adj" fmla="val 3200"/>
            </a:avLst>
          </a:prstGeom>
          <a:solidFill>
            <a:srgbClr val="062E20"/>
          </a:solidFill>
          <a:ln w="12700">
            <a:solidFill>
              <a:srgbClr val="10B981"/>
            </a:solidFill>
            <a:prstDash val="solid"/>
          </a:ln>
        </p:spPr>
      </p:sp>
      <p:sp>
        <p:nvSpPr>
          <p:cNvPr id="40" name="Text 36"/>
          <p:cNvSpPr/>
          <p:nvPr/>
        </p:nvSpPr>
        <p:spPr>
          <a:xfrm>
            <a:off x="5486400" y="4956048"/>
            <a:ext cx="5577840" cy="256032"/>
          </a:xfrm>
          <a:prstGeom prst="rect">
            <a:avLst/>
          </a:prstGeom>
          <a:noFill/>
          <a:ln/>
        </p:spPr>
        <p:txBody>
          <a:bodyPr wrap="square" rtlCol="0" anchor="ctr"/>
          <a:lstStyle/>
          <a:p>
            <a:pPr indent="0" marL="0">
              <a:buNone/>
            </a:pPr>
            <a:r>
              <a:rPr lang="en-US" sz="920" b="1" dirty="0">
                <a:solidFill>
                  <a:srgbClr val="10B981"/>
                </a:solidFill>
                <a:latin typeface="Arial" pitchFamily="34" charset="0"/>
                <a:ea typeface="Arial" pitchFamily="34" charset="-122"/>
                <a:cs typeface="Arial" pitchFamily="34" charset="-120"/>
              </a:rPr>
              <a:t>💎  PRINSIP ZERO APBD BURDEN: SELURUH FASILITAS CANGGIH DIBANGUN OLEH SWASTA</a:t>
            </a:r>
            <a:endParaRPr lang="en-US" sz="920" dirty="0"/>
          </a:p>
        </p:txBody>
      </p:sp>
      <p:sp>
        <p:nvSpPr>
          <p:cNvPr id="41" name="Text 37"/>
          <p:cNvSpPr/>
          <p:nvPr/>
        </p:nvSpPr>
        <p:spPr>
          <a:xfrm>
            <a:off x="5486400" y="5230368"/>
            <a:ext cx="5577840" cy="713232"/>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Semuanya hadir melalui kemitraan murni Public-Private Partnership (PPP).</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REFLEKSI STRATEGIS &amp; SOLUSI KONKRET</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DIAGNOSA &amp; 5 GAP UTAMA BESERTA SOLUSI TEROBOSANNYA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Kajian Kritis Berdasarkan Dokumen Strategi STP 2026: Gap Riil, Risiko, dan Solusi Kebijakan Kepala Daerah</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07 / 12</a:t>
            </a:r>
            <a:endParaRPr lang="en-US" sz="900" dirty="0"/>
          </a:p>
        </p:txBody>
      </p:sp>
      <p:sp>
        <p:nvSpPr>
          <p:cNvPr id="11" name="Shape 9"/>
          <p:cNvSpPr/>
          <p:nvPr/>
        </p:nvSpPr>
        <p:spPr>
          <a:xfrm>
            <a:off x="731520" y="1325880"/>
            <a:ext cx="4389120" cy="731520"/>
          </a:xfrm>
          <a:prstGeom prst="roundRect">
            <a:avLst>
              <a:gd name="adj" fmla="val 5000"/>
            </a:avLst>
          </a:prstGeom>
          <a:solidFill>
            <a:srgbClr val="0A192F"/>
          </a:solidFill>
          <a:ln w="10160">
            <a:solidFill>
              <a:srgbClr val="1E3A5F"/>
            </a:solidFill>
            <a:prstDash val="solid"/>
          </a:ln>
        </p:spPr>
      </p:sp>
      <p:sp>
        <p:nvSpPr>
          <p:cNvPr id="12" name="Shape 10"/>
          <p:cNvSpPr/>
          <p:nvPr/>
        </p:nvSpPr>
        <p:spPr>
          <a:xfrm>
            <a:off x="841248" y="1417320"/>
            <a:ext cx="685800" cy="219456"/>
          </a:xfrm>
          <a:prstGeom prst="roundRect">
            <a:avLst>
              <a:gd name="adj" fmla="val 12500"/>
            </a:avLst>
          </a:prstGeom>
          <a:solidFill>
            <a:srgbClr val="3F1515"/>
          </a:solidFill>
          <a:ln w="10160">
            <a:solidFill>
              <a:srgbClr val="EF4444"/>
            </a:solidFill>
            <a:prstDash val="solid"/>
          </a:ln>
        </p:spPr>
      </p:sp>
      <p:sp>
        <p:nvSpPr>
          <p:cNvPr id="13" name="Text 11"/>
          <p:cNvSpPr/>
          <p:nvPr/>
        </p:nvSpPr>
        <p:spPr>
          <a:xfrm>
            <a:off x="841248" y="1417320"/>
            <a:ext cx="685800" cy="219456"/>
          </a:xfrm>
          <a:prstGeom prst="rect">
            <a:avLst/>
          </a:prstGeom>
          <a:noFill/>
          <a:ln/>
        </p:spPr>
        <p:txBody>
          <a:bodyPr wrap="square" rtlCol="0" anchor="ctr"/>
          <a:lstStyle/>
          <a:p>
            <a:pPr algn="ctr" indent="0" marL="0">
              <a:buNone/>
            </a:pPr>
            <a:r>
              <a:rPr lang="en-US" sz="750" b="1" dirty="0">
                <a:solidFill>
                  <a:srgbClr val="EF4444"/>
                </a:solidFill>
                <a:latin typeface="Arial" pitchFamily="34" charset="0"/>
                <a:ea typeface="Arial" pitchFamily="34" charset="-122"/>
                <a:cs typeface="Arial" pitchFamily="34" charset="-120"/>
              </a:rPr>
              <a:t>GAP 01</a:t>
            </a:r>
            <a:endParaRPr lang="en-US" sz="750" dirty="0"/>
          </a:p>
        </p:txBody>
      </p:sp>
      <p:sp>
        <p:nvSpPr>
          <p:cNvPr id="14" name="Text 12"/>
          <p:cNvSpPr/>
          <p:nvPr/>
        </p:nvSpPr>
        <p:spPr>
          <a:xfrm>
            <a:off x="1600200" y="1399032"/>
            <a:ext cx="3429000" cy="237744"/>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Jenis Pelatihan Masih Terbatas</a:t>
            </a:r>
            <a:endParaRPr lang="en-US" sz="880" dirty="0"/>
          </a:p>
        </p:txBody>
      </p:sp>
      <p:sp>
        <p:nvSpPr>
          <p:cNvPr id="15" name="Text 13"/>
          <p:cNvSpPr/>
          <p:nvPr/>
        </p:nvSpPr>
        <p:spPr>
          <a:xfrm>
            <a:off x="841248" y="1673352"/>
            <a:ext cx="4187952" cy="347472"/>
          </a:xfrm>
          <a:prstGeom prst="rect">
            <a:avLst/>
          </a:prstGeom>
          <a:noFill/>
          <a:ln/>
        </p:spPr>
        <p:txBody>
          <a:bodyPr wrap="square" rtlCol="0" anchor="ctr"/>
          <a:lstStyle/>
          <a:p>
            <a:pPr indent="0" marL="0">
              <a:lnSpc>
                <a:spcPts val="1000"/>
              </a:lnSpc>
              <a:buNone/>
            </a:pPr>
            <a:r>
              <a:rPr lang="en-US" sz="760" dirty="0">
                <a:solidFill>
                  <a:srgbClr val="94A3B8"/>
                </a:solidFill>
                <a:latin typeface="Arial" pitchFamily="34" charset="0"/>
                <a:ea typeface="Arial" pitchFamily="34" charset="-122"/>
                <a:cs typeface="Arial" pitchFamily="34" charset="-120"/>
              </a:rPr>
              <a:t>Akar Masalah: Keterbatasan instruktur ahli internal &amp; sarana diklat berbasis industri masa depan.</a:t>
            </a:r>
            <a:endParaRPr lang="en-US" sz="760" dirty="0"/>
          </a:p>
        </p:txBody>
      </p:sp>
      <p:sp>
        <p:nvSpPr>
          <p:cNvPr id="16" name="Shape 14"/>
          <p:cNvSpPr/>
          <p:nvPr/>
        </p:nvSpPr>
        <p:spPr>
          <a:xfrm>
            <a:off x="5193792" y="1554480"/>
            <a:ext cx="310896" cy="256032"/>
          </a:xfrm>
          <a:prstGeom prst="rightArrow">
            <a:avLst/>
          </a:prstGeom>
          <a:solidFill>
            <a:srgbClr val="0EA5E9"/>
          </a:solidFill>
          <a:ln w="12700">
            <a:solidFill>
              <a:srgbClr val="0EA5E9"/>
            </a:solidFill>
            <a:prstDash val="solid"/>
          </a:ln>
        </p:spPr>
      </p:sp>
      <p:sp>
        <p:nvSpPr>
          <p:cNvPr id="17" name="Shape 15"/>
          <p:cNvSpPr/>
          <p:nvPr/>
        </p:nvSpPr>
        <p:spPr>
          <a:xfrm>
            <a:off x="5577840" y="1325880"/>
            <a:ext cx="5882335" cy="731520"/>
          </a:xfrm>
          <a:prstGeom prst="roundRect">
            <a:avLst>
              <a:gd name="adj" fmla="val 5000"/>
            </a:avLst>
          </a:prstGeom>
          <a:solidFill>
            <a:srgbClr val="0D213F"/>
          </a:solidFill>
          <a:ln w="10160">
            <a:solidFill>
              <a:srgbClr val="0EA5E9"/>
            </a:solidFill>
            <a:prstDash val="solid"/>
          </a:ln>
        </p:spPr>
      </p:sp>
      <p:sp>
        <p:nvSpPr>
          <p:cNvPr id="18" name="Text 16"/>
          <p:cNvSpPr/>
          <p:nvPr/>
        </p:nvSpPr>
        <p:spPr>
          <a:xfrm>
            <a:off x="5715000" y="1399032"/>
            <a:ext cx="5623560" cy="237744"/>
          </a:xfrm>
          <a:prstGeom prst="rect">
            <a:avLst/>
          </a:prstGeom>
          <a:noFill/>
          <a:ln/>
        </p:spPr>
        <p:txBody>
          <a:bodyPr wrap="square" rtlCol="0" anchor="ctr"/>
          <a:lstStyle/>
          <a:p>
            <a:pPr indent="0" marL="0">
              <a:buNone/>
            </a:pPr>
            <a:r>
              <a:rPr lang="en-US" sz="880" b="1" dirty="0">
                <a:solidFill>
                  <a:srgbClr val="0EA5E9"/>
                </a:solidFill>
                <a:latin typeface="Arial" pitchFamily="34" charset="0"/>
                <a:ea typeface="Arial" pitchFamily="34" charset="-122"/>
                <a:cs typeface="Arial" pitchFamily="34" charset="-120"/>
              </a:rPr>
              <a:t>✔  Gandeng Korporasi Global (OGSCI, Kemenperin) Buka Kelas Spesialis</a:t>
            </a:r>
            <a:endParaRPr lang="en-US" sz="880" dirty="0"/>
          </a:p>
        </p:txBody>
      </p:sp>
      <p:sp>
        <p:nvSpPr>
          <p:cNvPr id="19" name="Text 17"/>
          <p:cNvSpPr/>
          <p:nvPr/>
        </p:nvSpPr>
        <p:spPr>
          <a:xfrm>
            <a:off x="5715000" y="1673352"/>
            <a:ext cx="5623560" cy="347472"/>
          </a:xfrm>
          <a:prstGeom prst="rect">
            <a:avLst/>
          </a:prstGeom>
          <a:noFill/>
          <a:ln/>
        </p:spPr>
        <p:txBody>
          <a:bodyPr wrap="square" rtlCol="0" anchor="ctr"/>
          <a:lstStyle/>
          <a:p>
            <a:pPr indent="0" marL="0">
              <a:lnSpc>
                <a:spcPts val="1000"/>
              </a:lnSpc>
              <a:buNone/>
            </a:pPr>
            <a:r>
              <a:rPr lang="en-US" sz="780" dirty="0">
                <a:solidFill>
                  <a:srgbClr val="FFFFFF"/>
                </a:solidFill>
                <a:latin typeface="Arial" pitchFamily="34" charset="0"/>
                <a:ea typeface="Arial" pitchFamily="34" charset="-122"/>
                <a:cs typeface="Arial" pitchFamily="34" charset="-120"/>
              </a:rPr>
              <a:t>Welder Bawah Air, AI Engineer, Teknisi Baterai EV, &amp; Drone Operator.</a:t>
            </a:r>
            <a:endParaRPr lang="en-US" sz="780" dirty="0"/>
          </a:p>
        </p:txBody>
      </p:sp>
      <p:sp>
        <p:nvSpPr>
          <p:cNvPr id="20" name="Shape 18"/>
          <p:cNvSpPr/>
          <p:nvPr/>
        </p:nvSpPr>
        <p:spPr>
          <a:xfrm>
            <a:off x="731520" y="2130552"/>
            <a:ext cx="4389120" cy="731520"/>
          </a:xfrm>
          <a:prstGeom prst="roundRect">
            <a:avLst>
              <a:gd name="adj" fmla="val 5000"/>
            </a:avLst>
          </a:prstGeom>
          <a:solidFill>
            <a:srgbClr val="0A192F"/>
          </a:solidFill>
          <a:ln w="10160">
            <a:solidFill>
              <a:srgbClr val="1E3A5F"/>
            </a:solidFill>
            <a:prstDash val="solid"/>
          </a:ln>
        </p:spPr>
      </p:sp>
      <p:sp>
        <p:nvSpPr>
          <p:cNvPr id="21" name="Shape 19"/>
          <p:cNvSpPr/>
          <p:nvPr/>
        </p:nvSpPr>
        <p:spPr>
          <a:xfrm>
            <a:off x="841248" y="2221992"/>
            <a:ext cx="685800" cy="219456"/>
          </a:xfrm>
          <a:prstGeom prst="roundRect">
            <a:avLst>
              <a:gd name="adj" fmla="val 12500"/>
            </a:avLst>
          </a:prstGeom>
          <a:solidFill>
            <a:srgbClr val="3F1515"/>
          </a:solidFill>
          <a:ln w="10160">
            <a:solidFill>
              <a:srgbClr val="EF4444"/>
            </a:solidFill>
            <a:prstDash val="solid"/>
          </a:ln>
        </p:spPr>
      </p:sp>
      <p:sp>
        <p:nvSpPr>
          <p:cNvPr id="22" name="Text 20"/>
          <p:cNvSpPr/>
          <p:nvPr/>
        </p:nvSpPr>
        <p:spPr>
          <a:xfrm>
            <a:off x="841248" y="2221992"/>
            <a:ext cx="685800" cy="219456"/>
          </a:xfrm>
          <a:prstGeom prst="rect">
            <a:avLst/>
          </a:prstGeom>
          <a:noFill/>
          <a:ln/>
        </p:spPr>
        <p:txBody>
          <a:bodyPr wrap="square" rtlCol="0" anchor="ctr"/>
          <a:lstStyle/>
          <a:p>
            <a:pPr algn="ctr" indent="0" marL="0">
              <a:buNone/>
            </a:pPr>
            <a:r>
              <a:rPr lang="en-US" sz="750" b="1" dirty="0">
                <a:solidFill>
                  <a:srgbClr val="EF4444"/>
                </a:solidFill>
                <a:latin typeface="Arial" pitchFamily="34" charset="0"/>
                <a:ea typeface="Arial" pitchFamily="34" charset="-122"/>
                <a:cs typeface="Arial" pitchFamily="34" charset="-120"/>
              </a:rPr>
              <a:t>GAP 02</a:t>
            </a:r>
            <a:endParaRPr lang="en-US" sz="750" dirty="0"/>
          </a:p>
        </p:txBody>
      </p:sp>
      <p:sp>
        <p:nvSpPr>
          <p:cNvPr id="23" name="Text 21"/>
          <p:cNvSpPr/>
          <p:nvPr/>
        </p:nvSpPr>
        <p:spPr>
          <a:xfrm>
            <a:off x="1600200" y="2203704"/>
            <a:ext cx="3429000" cy="237744"/>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R&amp;D Belum Mengarah Hilirisasi</a:t>
            </a:r>
            <a:endParaRPr lang="en-US" sz="880" dirty="0"/>
          </a:p>
        </p:txBody>
      </p:sp>
      <p:sp>
        <p:nvSpPr>
          <p:cNvPr id="24" name="Text 22"/>
          <p:cNvSpPr/>
          <p:nvPr/>
        </p:nvSpPr>
        <p:spPr>
          <a:xfrm>
            <a:off x="841248" y="2478024"/>
            <a:ext cx="4187952" cy="347472"/>
          </a:xfrm>
          <a:prstGeom prst="rect">
            <a:avLst/>
          </a:prstGeom>
          <a:noFill/>
          <a:ln/>
        </p:spPr>
        <p:txBody>
          <a:bodyPr wrap="square" rtlCol="0" anchor="ctr"/>
          <a:lstStyle/>
          <a:p>
            <a:pPr indent="0" marL="0">
              <a:lnSpc>
                <a:spcPts val="1000"/>
              </a:lnSpc>
              <a:buNone/>
            </a:pPr>
            <a:r>
              <a:rPr lang="en-US" sz="760" dirty="0">
                <a:solidFill>
                  <a:srgbClr val="94A3B8"/>
                </a:solidFill>
                <a:latin typeface="Arial" pitchFamily="34" charset="0"/>
                <a:ea typeface="Arial" pitchFamily="34" charset="-122"/>
                <a:cs typeface="Arial" pitchFamily="34" charset="-120"/>
              </a:rPr>
              <a:t>Akar Masalah: Riset kampus berjalan terisolasi, kurang terpetakan, dan belum berorientasi pasar.</a:t>
            </a:r>
            <a:endParaRPr lang="en-US" sz="760" dirty="0"/>
          </a:p>
        </p:txBody>
      </p:sp>
      <p:sp>
        <p:nvSpPr>
          <p:cNvPr id="25" name="Shape 23"/>
          <p:cNvSpPr/>
          <p:nvPr/>
        </p:nvSpPr>
        <p:spPr>
          <a:xfrm>
            <a:off x="5193792" y="2359152"/>
            <a:ext cx="310896" cy="256032"/>
          </a:xfrm>
          <a:prstGeom prst="rightArrow">
            <a:avLst/>
          </a:prstGeom>
          <a:solidFill>
            <a:srgbClr val="0EA5E9"/>
          </a:solidFill>
          <a:ln w="12700">
            <a:solidFill>
              <a:srgbClr val="0EA5E9"/>
            </a:solidFill>
            <a:prstDash val="solid"/>
          </a:ln>
        </p:spPr>
      </p:sp>
      <p:sp>
        <p:nvSpPr>
          <p:cNvPr id="26" name="Shape 24"/>
          <p:cNvSpPr/>
          <p:nvPr/>
        </p:nvSpPr>
        <p:spPr>
          <a:xfrm>
            <a:off x="5577840" y="2130552"/>
            <a:ext cx="5882335" cy="731520"/>
          </a:xfrm>
          <a:prstGeom prst="roundRect">
            <a:avLst>
              <a:gd name="adj" fmla="val 5000"/>
            </a:avLst>
          </a:prstGeom>
          <a:solidFill>
            <a:srgbClr val="0D213F"/>
          </a:solidFill>
          <a:ln w="10160">
            <a:solidFill>
              <a:srgbClr val="38BDF8"/>
            </a:solidFill>
            <a:prstDash val="solid"/>
          </a:ln>
        </p:spPr>
      </p:sp>
      <p:sp>
        <p:nvSpPr>
          <p:cNvPr id="27" name="Text 25"/>
          <p:cNvSpPr/>
          <p:nvPr/>
        </p:nvSpPr>
        <p:spPr>
          <a:xfrm>
            <a:off x="5715000" y="2203704"/>
            <a:ext cx="5623560" cy="237744"/>
          </a:xfrm>
          <a:prstGeom prst="rect">
            <a:avLst/>
          </a:prstGeom>
          <a:noFill/>
          <a:ln/>
        </p:spPr>
        <p:txBody>
          <a:bodyPr wrap="square" rtlCol="0" anchor="ctr"/>
          <a:lstStyle/>
          <a:p>
            <a:pPr indent="0" marL="0">
              <a:buNone/>
            </a:pPr>
            <a:r>
              <a:rPr lang="en-US" sz="880" b="1" dirty="0">
                <a:solidFill>
                  <a:srgbClr val="38BDF8"/>
                </a:solidFill>
                <a:latin typeface="Arial" pitchFamily="34" charset="0"/>
                <a:ea typeface="Arial" pitchFamily="34" charset="-122"/>
                <a:cs typeface="Arial" pitchFamily="34" charset="-120"/>
              </a:rPr>
              <a:t>✔  Bentuk Technology Transfer Office (TTO) &amp; Kurasi Riset Terapan Kampus</a:t>
            </a:r>
            <a:endParaRPr lang="en-US" sz="880" dirty="0"/>
          </a:p>
        </p:txBody>
      </p:sp>
      <p:sp>
        <p:nvSpPr>
          <p:cNvPr id="28" name="Text 26"/>
          <p:cNvSpPr/>
          <p:nvPr/>
        </p:nvSpPr>
        <p:spPr>
          <a:xfrm>
            <a:off x="5715000" y="2478024"/>
            <a:ext cx="5623560" cy="347472"/>
          </a:xfrm>
          <a:prstGeom prst="rect">
            <a:avLst/>
          </a:prstGeom>
          <a:noFill/>
          <a:ln/>
        </p:spPr>
        <p:txBody>
          <a:bodyPr wrap="square" rtlCol="0" anchor="ctr"/>
          <a:lstStyle/>
          <a:p>
            <a:pPr indent="0" marL="0">
              <a:lnSpc>
                <a:spcPts val="1000"/>
              </a:lnSpc>
              <a:buNone/>
            </a:pPr>
            <a:r>
              <a:rPr lang="en-US" sz="780" dirty="0">
                <a:solidFill>
                  <a:srgbClr val="FFFFFF"/>
                </a:solidFill>
                <a:latin typeface="Arial" pitchFamily="34" charset="0"/>
                <a:ea typeface="Arial" pitchFamily="34" charset="-122"/>
                <a:cs typeface="Arial" pitchFamily="34" charset="-120"/>
              </a:rPr>
              <a:t>Konsorsium 5 Perguruan Tinggi Solo Raya (UNS, UMS, ISI, dll.) berbasis problem kota.</a:t>
            </a:r>
            <a:endParaRPr lang="en-US" sz="780" dirty="0"/>
          </a:p>
        </p:txBody>
      </p:sp>
      <p:sp>
        <p:nvSpPr>
          <p:cNvPr id="29" name="Shape 27"/>
          <p:cNvSpPr/>
          <p:nvPr/>
        </p:nvSpPr>
        <p:spPr>
          <a:xfrm>
            <a:off x="731520" y="2935224"/>
            <a:ext cx="4389120" cy="731520"/>
          </a:xfrm>
          <a:prstGeom prst="roundRect">
            <a:avLst>
              <a:gd name="adj" fmla="val 5000"/>
            </a:avLst>
          </a:prstGeom>
          <a:solidFill>
            <a:srgbClr val="0A192F"/>
          </a:solidFill>
          <a:ln w="10160">
            <a:solidFill>
              <a:srgbClr val="1E3A5F"/>
            </a:solidFill>
            <a:prstDash val="solid"/>
          </a:ln>
        </p:spPr>
      </p:sp>
      <p:sp>
        <p:nvSpPr>
          <p:cNvPr id="30" name="Shape 28"/>
          <p:cNvSpPr/>
          <p:nvPr/>
        </p:nvSpPr>
        <p:spPr>
          <a:xfrm>
            <a:off x="841248" y="3026664"/>
            <a:ext cx="685800" cy="219456"/>
          </a:xfrm>
          <a:prstGeom prst="roundRect">
            <a:avLst>
              <a:gd name="adj" fmla="val 12500"/>
            </a:avLst>
          </a:prstGeom>
          <a:solidFill>
            <a:srgbClr val="3F1515"/>
          </a:solidFill>
          <a:ln w="10160">
            <a:solidFill>
              <a:srgbClr val="EF4444"/>
            </a:solidFill>
            <a:prstDash val="solid"/>
          </a:ln>
        </p:spPr>
      </p:sp>
      <p:sp>
        <p:nvSpPr>
          <p:cNvPr id="31" name="Text 29"/>
          <p:cNvSpPr/>
          <p:nvPr/>
        </p:nvSpPr>
        <p:spPr>
          <a:xfrm>
            <a:off x="841248" y="3026664"/>
            <a:ext cx="685800" cy="219456"/>
          </a:xfrm>
          <a:prstGeom prst="rect">
            <a:avLst/>
          </a:prstGeom>
          <a:noFill/>
          <a:ln/>
        </p:spPr>
        <p:txBody>
          <a:bodyPr wrap="square" rtlCol="0" anchor="ctr"/>
          <a:lstStyle/>
          <a:p>
            <a:pPr algn="ctr" indent="0" marL="0">
              <a:buNone/>
            </a:pPr>
            <a:r>
              <a:rPr lang="en-US" sz="750" b="1" dirty="0">
                <a:solidFill>
                  <a:srgbClr val="EF4444"/>
                </a:solidFill>
                <a:latin typeface="Arial" pitchFamily="34" charset="0"/>
                <a:ea typeface="Arial" pitchFamily="34" charset="-122"/>
                <a:cs typeface="Arial" pitchFamily="34" charset="-120"/>
              </a:rPr>
              <a:t>GAP 03</a:t>
            </a:r>
            <a:endParaRPr lang="en-US" sz="750" dirty="0"/>
          </a:p>
        </p:txBody>
      </p:sp>
      <p:sp>
        <p:nvSpPr>
          <p:cNvPr id="32" name="Text 30"/>
          <p:cNvSpPr/>
          <p:nvPr/>
        </p:nvSpPr>
        <p:spPr>
          <a:xfrm>
            <a:off x="1600200" y="3008376"/>
            <a:ext cx="3429000" cy="237744"/>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Investasi Kawasan Terbatas</a:t>
            </a:r>
            <a:endParaRPr lang="en-US" sz="880" dirty="0"/>
          </a:p>
        </p:txBody>
      </p:sp>
      <p:sp>
        <p:nvSpPr>
          <p:cNvPr id="33" name="Text 31"/>
          <p:cNvSpPr/>
          <p:nvPr/>
        </p:nvSpPr>
        <p:spPr>
          <a:xfrm>
            <a:off x="841248" y="3282696"/>
            <a:ext cx="4187952" cy="347472"/>
          </a:xfrm>
          <a:prstGeom prst="rect">
            <a:avLst/>
          </a:prstGeom>
          <a:noFill/>
          <a:ln/>
        </p:spPr>
        <p:txBody>
          <a:bodyPr wrap="square" rtlCol="0" anchor="ctr"/>
          <a:lstStyle/>
          <a:p>
            <a:pPr indent="0" marL="0">
              <a:lnSpc>
                <a:spcPts val="1000"/>
              </a:lnSpc>
              <a:buNone/>
            </a:pPr>
            <a:r>
              <a:rPr lang="en-US" sz="760" dirty="0">
                <a:solidFill>
                  <a:srgbClr val="94A3B8"/>
                </a:solidFill>
                <a:latin typeface="Arial" pitchFamily="34" charset="0"/>
                <a:ea typeface="Arial" pitchFamily="34" charset="-122"/>
                <a:cs typeface="Arial" pitchFamily="34" charset="-120"/>
              </a:rPr>
              <a:t>Akar Masalah: Lahan kosong belum optimal dikerjasamakan; promosi investor belum sistematis.</a:t>
            </a:r>
            <a:endParaRPr lang="en-US" sz="760" dirty="0"/>
          </a:p>
        </p:txBody>
      </p:sp>
      <p:sp>
        <p:nvSpPr>
          <p:cNvPr id="34" name="Shape 32"/>
          <p:cNvSpPr/>
          <p:nvPr/>
        </p:nvSpPr>
        <p:spPr>
          <a:xfrm>
            <a:off x="5193792" y="3163824"/>
            <a:ext cx="310896" cy="256032"/>
          </a:xfrm>
          <a:prstGeom prst="rightArrow">
            <a:avLst/>
          </a:prstGeom>
          <a:solidFill>
            <a:srgbClr val="0EA5E9"/>
          </a:solidFill>
          <a:ln w="12700">
            <a:solidFill>
              <a:srgbClr val="0EA5E9"/>
            </a:solidFill>
            <a:prstDash val="solid"/>
          </a:ln>
        </p:spPr>
      </p:sp>
      <p:sp>
        <p:nvSpPr>
          <p:cNvPr id="35" name="Shape 33"/>
          <p:cNvSpPr/>
          <p:nvPr/>
        </p:nvSpPr>
        <p:spPr>
          <a:xfrm>
            <a:off x="5577840" y="2935224"/>
            <a:ext cx="5882335" cy="731520"/>
          </a:xfrm>
          <a:prstGeom prst="roundRect">
            <a:avLst>
              <a:gd name="adj" fmla="val 5000"/>
            </a:avLst>
          </a:prstGeom>
          <a:solidFill>
            <a:srgbClr val="0D213F"/>
          </a:solidFill>
          <a:ln w="10160">
            <a:solidFill>
              <a:srgbClr val="38BDF8"/>
            </a:solidFill>
            <a:prstDash val="solid"/>
          </a:ln>
        </p:spPr>
      </p:sp>
      <p:sp>
        <p:nvSpPr>
          <p:cNvPr id="36" name="Text 34"/>
          <p:cNvSpPr/>
          <p:nvPr/>
        </p:nvSpPr>
        <p:spPr>
          <a:xfrm>
            <a:off x="5715000" y="3008376"/>
            <a:ext cx="5623560" cy="237744"/>
          </a:xfrm>
          <a:prstGeom prst="rect">
            <a:avLst/>
          </a:prstGeom>
          <a:noFill/>
          <a:ln/>
        </p:spPr>
        <p:txBody>
          <a:bodyPr wrap="square" rtlCol="0" anchor="ctr"/>
          <a:lstStyle/>
          <a:p>
            <a:pPr indent="0" marL="0">
              <a:buNone/>
            </a:pPr>
            <a:r>
              <a:rPr lang="en-US" sz="880" b="1" dirty="0">
                <a:solidFill>
                  <a:srgbClr val="38BDF8"/>
                </a:solidFill>
                <a:latin typeface="Arial" pitchFamily="34" charset="0"/>
                <a:ea typeface="Arial" pitchFamily="34" charset="-122"/>
                <a:cs typeface="Arial" pitchFamily="34" charset="-120"/>
              </a:rPr>
              <a:t>✔  Zonasi Investasi Teknologi Terpadu &amp; Long-Term Revenue Sharing</a:t>
            </a:r>
            <a:endParaRPr lang="en-US" sz="880" dirty="0"/>
          </a:p>
        </p:txBody>
      </p:sp>
      <p:sp>
        <p:nvSpPr>
          <p:cNvPr id="37" name="Text 35"/>
          <p:cNvSpPr/>
          <p:nvPr/>
        </p:nvSpPr>
        <p:spPr>
          <a:xfrm>
            <a:off x="5715000" y="3282696"/>
            <a:ext cx="5623560" cy="347472"/>
          </a:xfrm>
          <a:prstGeom prst="rect">
            <a:avLst/>
          </a:prstGeom>
          <a:noFill/>
          <a:ln/>
        </p:spPr>
        <p:txBody>
          <a:bodyPr wrap="square" rtlCol="0" anchor="ctr"/>
          <a:lstStyle/>
          <a:p>
            <a:pPr indent="0" marL="0">
              <a:lnSpc>
                <a:spcPts val="1000"/>
              </a:lnSpc>
              <a:buNone/>
            </a:pPr>
            <a:r>
              <a:rPr lang="en-US" sz="780" dirty="0">
                <a:solidFill>
                  <a:srgbClr val="FFFFFF"/>
                </a:solidFill>
                <a:latin typeface="Arial" pitchFamily="34" charset="0"/>
                <a:ea typeface="Arial" pitchFamily="34" charset="-122"/>
                <a:cs typeface="Arial" pitchFamily="34" charset="-120"/>
              </a:rPr>
              <a:t>Skema kemitraan 10–25 tahun bagi korporasi teknologi global tanpa beban belanja APBD.</a:t>
            </a:r>
            <a:endParaRPr lang="en-US" sz="780" dirty="0"/>
          </a:p>
        </p:txBody>
      </p:sp>
      <p:sp>
        <p:nvSpPr>
          <p:cNvPr id="38" name="Shape 36"/>
          <p:cNvSpPr/>
          <p:nvPr/>
        </p:nvSpPr>
        <p:spPr>
          <a:xfrm>
            <a:off x="731520" y="3739896"/>
            <a:ext cx="4389120" cy="731520"/>
          </a:xfrm>
          <a:prstGeom prst="roundRect">
            <a:avLst>
              <a:gd name="adj" fmla="val 5000"/>
            </a:avLst>
          </a:prstGeom>
          <a:solidFill>
            <a:srgbClr val="0A192F"/>
          </a:solidFill>
          <a:ln w="10160">
            <a:solidFill>
              <a:srgbClr val="1E3A5F"/>
            </a:solidFill>
            <a:prstDash val="solid"/>
          </a:ln>
        </p:spPr>
      </p:sp>
      <p:sp>
        <p:nvSpPr>
          <p:cNvPr id="39" name="Shape 37"/>
          <p:cNvSpPr/>
          <p:nvPr/>
        </p:nvSpPr>
        <p:spPr>
          <a:xfrm>
            <a:off x="841248" y="3831336"/>
            <a:ext cx="685800" cy="219456"/>
          </a:xfrm>
          <a:prstGeom prst="roundRect">
            <a:avLst>
              <a:gd name="adj" fmla="val 12500"/>
            </a:avLst>
          </a:prstGeom>
          <a:solidFill>
            <a:srgbClr val="3F1515"/>
          </a:solidFill>
          <a:ln w="10160">
            <a:solidFill>
              <a:srgbClr val="EF4444"/>
            </a:solidFill>
            <a:prstDash val="solid"/>
          </a:ln>
        </p:spPr>
      </p:sp>
      <p:sp>
        <p:nvSpPr>
          <p:cNvPr id="40" name="Text 38"/>
          <p:cNvSpPr/>
          <p:nvPr/>
        </p:nvSpPr>
        <p:spPr>
          <a:xfrm>
            <a:off x="841248" y="3831336"/>
            <a:ext cx="685800" cy="219456"/>
          </a:xfrm>
          <a:prstGeom prst="rect">
            <a:avLst/>
          </a:prstGeom>
          <a:noFill/>
          <a:ln/>
        </p:spPr>
        <p:txBody>
          <a:bodyPr wrap="square" rtlCol="0" anchor="ctr"/>
          <a:lstStyle/>
          <a:p>
            <a:pPr algn="ctr" indent="0" marL="0">
              <a:buNone/>
            </a:pPr>
            <a:r>
              <a:rPr lang="en-US" sz="750" b="1" dirty="0">
                <a:solidFill>
                  <a:srgbClr val="EF4444"/>
                </a:solidFill>
                <a:latin typeface="Arial" pitchFamily="34" charset="0"/>
                <a:ea typeface="Arial" pitchFamily="34" charset="-122"/>
                <a:cs typeface="Arial" pitchFamily="34" charset="-120"/>
              </a:rPr>
              <a:t>GAP 04</a:t>
            </a:r>
            <a:endParaRPr lang="en-US" sz="750" dirty="0"/>
          </a:p>
        </p:txBody>
      </p:sp>
      <p:sp>
        <p:nvSpPr>
          <p:cNvPr id="41" name="Text 39"/>
          <p:cNvSpPr/>
          <p:nvPr/>
        </p:nvSpPr>
        <p:spPr>
          <a:xfrm>
            <a:off x="1600200" y="3813048"/>
            <a:ext cx="3429000" cy="237744"/>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Kemandirian Finansial Rendah</a:t>
            </a:r>
            <a:endParaRPr lang="en-US" sz="880" dirty="0"/>
          </a:p>
        </p:txBody>
      </p:sp>
      <p:sp>
        <p:nvSpPr>
          <p:cNvPr id="42" name="Text 40"/>
          <p:cNvSpPr/>
          <p:nvPr/>
        </p:nvSpPr>
        <p:spPr>
          <a:xfrm>
            <a:off x="841248" y="4087368"/>
            <a:ext cx="4187952" cy="347472"/>
          </a:xfrm>
          <a:prstGeom prst="rect">
            <a:avLst/>
          </a:prstGeom>
          <a:noFill/>
          <a:ln/>
        </p:spPr>
        <p:txBody>
          <a:bodyPr wrap="square" rtlCol="0" anchor="ctr"/>
          <a:lstStyle/>
          <a:p>
            <a:pPr indent="0" marL="0">
              <a:lnSpc>
                <a:spcPts val="1000"/>
              </a:lnSpc>
              <a:buNone/>
            </a:pPr>
            <a:r>
              <a:rPr lang="en-US" sz="760" dirty="0">
                <a:solidFill>
                  <a:srgbClr val="94A3B8"/>
                </a:solidFill>
                <a:latin typeface="Arial" pitchFamily="34" charset="0"/>
                <a:ea typeface="Arial" pitchFamily="34" charset="-122"/>
                <a:cs typeface="Arial" pitchFamily="34" charset="-120"/>
              </a:rPr>
              <a:t>Akar Masalah: Pendapatan masih bertumpu sewa lahan; hardware lab belum optimal menghasilkan jasa.</a:t>
            </a:r>
            <a:endParaRPr lang="en-US" sz="760" dirty="0"/>
          </a:p>
        </p:txBody>
      </p:sp>
      <p:sp>
        <p:nvSpPr>
          <p:cNvPr id="43" name="Shape 41"/>
          <p:cNvSpPr/>
          <p:nvPr/>
        </p:nvSpPr>
        <p:spPr>
          <a:xfrm>
            <a:off x="5193792" y="3968496"/>
            <a:ext cx="310896" cy="256032"/>
          </a:xfrm>
          <a:prstGeom prst="rightArrow">
            <a:avLst/>
          </a:prstGeom>
          <a:solidFill>
            <a:srgbClr val="0EA5E9"/>
          </a:solidFill>
          <a:ln w="12700">
            <a:solidFill>
              <a:srgbClr val="0EA5E9"/>
            </a:solidFill>
            <a:prstDash val="solid"/>
          </a:ln>
        </p:spPr>
      </p:sp>
      <p:sp>
        <p:nvSpPr>
          <p:cNvPr id="44" name="Shape 42"/>
          <p:cNvSpPr/>
          <p:nvPr/>
        </p:nvSpPr>
        <p:spPr>
          <a:xfrm>
            <a:off x="5577840" y="3739896"/>
            <a:ext cx="5882335" cy="731520"/>
          </a:xfrm>
          <a:prstGeom prst="roundRect">
            <a:avLst>
              <a:gd name="adj" fmla="val 5000"/>
            </a:avLst>
          </a:prstGeom>
          <a:solidFill>
            <a:srgbClr val="0D213F"/>
          </a:solidFill>
          <a:ln w="10160">
            <a:solidFill>
              <a:srgbClr val="10B981"/>
            </a:solidFill>
            <a:prstDash val="solid"/>
          </a:ln>
        </p:spPr>
      </p:sp>
      <p:sp>
        <p:nvSpPr>
          <p:cNvPr id="45" name="Text 43"/>
          <p:cNvSpPr/>
          <p:nvPr/>
        </p:nvSpPr>
        <p:spPr>
          <a:xfrm>
            <a:off x="5715000" y="3813048"/>
            <a:ext cx="5623560" cy="237744"/>
          </a:xfrm>
          <a:prstGeom prst="rect">
            <a:avLst/>
          </a:prstGeom>
          <a:noFill/>
          <a:ln/>
        </p:spPr>
        <p:txBody>
          <a:bodyPr wrap="square" rtlCol="0" anchor="ctr"/>
          <a:lstStyle/>
          <a:p>
            <a:pPr indent="0" marL="0">
              <a:buNone/>
            </a:pPr>
            <a:r>
              <a:rPr lang="en-US" sz="880" b="1" dirty="0">
                <a:solidFill>
                  <a:srgbClr val="10B981"/>
                </a:solidFill>
                <a:latin typeface="Arial" pitchFamily="34" charset="0"/>
                <a:ea typeface="Arial" pitchFamily="34" charset="-122"/>
                <a:cs typeface="Arial" pitchFamily="34" charset="-120"/>
              </a:rPr>
              <a:t>✔  Diversifikasi 6 Revenue Stream Mandiri &amp; Optimalisasi Aset Industri</a:t>
            </a:r>
            <a:endParaRPr lang="en-US" sz="880" dirty="0"/>
          </a:p>
        </p:txBody>
      </p:sp>
      <p:sp>
        <p:nvSpPr>
          <p:cNvPr id="46" name="Text 44"/>
          <p:cNvSpPr/>
          <p:nvPr/>
        </p:nvSpPr>
        <p:spPr>
          <a:xfrm>
            <a:off x="5715000" y="4087368"/>
            <a:ext cx="5623560" cy="347472"/>
          </a:xfrm>
          <a:prstGeom prst="rect">
            <a:avLst/>
          </a:prstGeom>
          <a:noFill/>
          <a:ln/>
        </p:spPr>
        <p:txBody>
          <a:bodyPr wrap="square" rtlCol="0" anchor="ctr"/>
          <a:lstStyle/>
          <a:p>
            <a:pPr indent="0" marL="0">
              <a:lnSpc>
                <a:spcPts val="1000"/>
              </a:lnSpc>
              <a:buNone/>
            </a:pPr>
            <a:r>
              <a:rPr lang="en-US" sz="780" dirty="0">
                <a:solidFill>
                  <a:srgbClr val="FFFFFF"/>
                </a:solidFill>
                <a:latin typeface="Arial" pitchFamily="34" charset="0"/>
                <a:ea typeface="Arial" pitchFamily="34" charset="-122"/>
                <a:cs typeface="Arial" pitchFamily="34" charset="-120"/>
              </a:rPr>
              <a:t>Uji NDT penetrant, TUK/JFT mandiri, rekayasa manufaktur, co-working, &amp; startup binaan.</a:t>
            </a:r>
            <a:endParaRPr lang="en-US" sz="780" dirty="0"/>
          </a:p>
        </p:txBody>
      </p:sp>
      <p:sp>
        <p:nvSpPr>
          <p:cNvPr id="47" name="Shape 45"/>
          <p:cNvSpPr/>
          <p:nvPr/>
        </p:nvSpPr>
        <p:spPr>
          <a:xfrm>
            <a:off x="731520" y="4544568"/>
            <a:ext cx="4389120" cy="731520"/>
          </a:xfrm>
          <a:prstGeom prst="roundRect">
            <a:avLst>
              <a:gd name="adj" fmla="val 5000"/>
            </a:avLst>
          </a:prstGeom>
          <a:solidFill>
            <a:srgbClr val="0A192F"/>
          </a:solidFill>
          <a:ln w="15240">
            <a:solidFill>
              <a:srgbClr val="F59E0B"/>
            </a:solidFill>
            <a:prstDash val="solid"/>
          </a:ln>
        </p:spPr>
      </p:sp>
      <p:sp>
        <p:nvSpPr>
          <p:cNvPr id="48" name="Shape 46"/>
          <p:cNvSpPr/>
          <p:nvPr/>
        </p:nvSpPr>
        <p:spPr>
          <a:xfrm>
            <a:off x="841248" y="4636008"/>
            <a:ext cx="685800" cy="219456"/>
          </a:xfrm>
          <a:prstGeom prst="roundRect">
            <a:avLst>
              <a:gd name="adj" fmla="val 12500"/>
            </a:avLst>
          </a:prstGeom>
          <a:solidFill>
            <a:srgbClr val="78350F"/>
          </a:solidFill>
          <a:ln w="10160">
            <a:solidFill>
              <a:srgbClr val="F59E0B"/>
            </a:solidFill>
            <a:prstDash val="solid"/>
          </a:ln>
        </p:spPr>
      </p:sp>
      <p:sp>
        <p:nvSpPr>
          <p:cNvPr id="49" name="Text 47"/>
          <p:cNvSpPr/>
          <p:nvPr/>
        </p:nvSpPr>
        <p:spPr>
          <a:xfrm>
            <a:off x="841248" y="4636008"/>
            <a:ext cx="685800" cy="219456"/>
          </a:xfrm>
          <a:prstGeom prst="rect">
            <a:avLst/>
          </a:prstGeom>
          <a:noFill/>
          <a:ln/>
        </p:spPr>
        <p:txBody>
          <a:bodyPr wrap="square" rtlCol="0" anchor="ctr"/>
          <a:lstStyle/>
          <a:p>
            <a:pPr algn="ctr" indent="0" marL="0">
              <a:buNone/>
            </a:pPr>
            <a:r>
              <a:rPr lang="en-US" sz="750" b="1" dirty="0">
                <a:solidFill>
                  <a:srgbClr val="FDE68A"/>
                </a:solidFill>
                <a:latin typeface="Arial" pitchFamily="34" charset="0"/>
                <a:ea typeface="Arial" pitchFamily="34" charset="-122"/>
                <a:cs typeface="Arial" pitchFamily="34" charset="-120"/>
              </a:rPr>
              <a:t>GAP 05</a:t>
            </a:r>
            <a:endParaRPr lang="en-US" sz="750" dirty="0"/>
          </a:p>
        </p:txBody>
      </p:sp>
      <p:sp>
        <p:nvSpPr>
          <p:cNvPr id="50" name="Text 48"/>
          <p:cNvSpPr/>
          <p:nvPr/>
        </p:nvSpPr>
        <p:spPr>
          <a:xfrm>
            <a:off x="1600200" y="4617720"/>
            <a:ext cx="3429000" cy="237744"/>
          </a:xfrm>
          <a:prstGeom prst="rect">
            <a:avLst/>
          </a:prstGeom>
          <a:noFill/>
          <a:ln/>
        </p:spPr>
        <p:txBody>
          <a:bodyPr wrap="square" rtlCol="0" anchor="ctr"/>
          <a:lstStyle/>
          <a:p>
            <a:pPr indent="0" marL="0">
              <a:buNone/>
            </a:pPr>
            <a:r>
              <a:rPr lang="en-US" sz="880" b="1" dirty="0">
                <a:solidFill>
                  <a:srgbClr val="FFFFFF"/>
                </a:solidFill>
                <a:latin typeface="Arial" pitchFamily="34" charset="0"/>
                <a:ea typeface="Arial" pitchFamily="34" charset="-122"/>
                <a:cs typeface="Arial" pitchFamily="34" charset="-120"/>
              </a:rPr>
              <a:t>Promosi &amp; Penyerapan Rendah</a:t>
            </a:r>
            <a:endParaRPr lang="en-US" sz="880" dirty="0"/>
          </a:p>
        </p:txBody>
      </p:sp>
      <p:sp>
        <p:nvSpPr>
          <p:cNvPr id="51" name="Text 49"/>
          <p:cNvSpPr/>
          <p:nvPr/>
        </p:nvSpPr>
        <p:spPr>
          <a:xfrm>
            <a:off x="841248" y="4892040"/>
            <a:ext cx="4187952" cy="347472"/>
          </a:xfrm>
          <a:prstGeom prst="rect">
            <a:avLst/>
          </a:prstGeom>
          <a:noFill/>
          <a:ln/>
        </p:spPr>
        <p:txBody>
          <a:bodyPr wrap="square" rtlCol="0" anchor="ctr"/>
          <a:lstStyle/>
          <a:p>
            <a:pPr indent="0" marL="0">
              <a:lnSpc>
                <a:spcPts val="1000"/>
              </a:lnSpc>
              <a:buNone/>
            </a:pPr>
            <a:r>
              <a:rPr lang="en-US" sz="760" dirty="0">
                <a:solidFill>
                  <a:srgbClr val="94A3B8"/>
                </a:solidFill>
                <a:latin typeface="Arial" pitchFamily="34" charset="0"/>
                <a:ea typeface="Arial" pitchFamily="34" charset="-122"/>
                <a:cs typeface="Arial" pitchFamily="34" charset="-120"/>
              </a:rPr>
              <a:t>Akar Masalah: Networking kurang ter-maintenance; belum ada regulasi penyerapan inovasi lokal.</a:t>
            </a:r>
            <a:endParaRPr lang="en-US" sz="760" dirty="0"/>
          </a:p>
        </p:txBody>
      </p:sp>
      <p:sp>
        <p:nvSpPr>
          <p:cNvPr id="52" name="Shape 50"/>
          <p:cNvSpPr/>
          <p:nvPr/>
        </p:nvSpPr>
        <p:spPr>
          <a:xfrm>
            <a:off x="5193792" y="4773168"/>
            <a:ext cx="310896" cy="256032"/>
          </a:xfrm>
          <a:prstGeom prst="rightArrow">
            <a:avLst/>
          </a:prstGeom>
          <a:solidFill>
            <a:srgbClr val="F59E0B"/>
          </a:solidFill>
          <a:ln w="12700">
            <a:solidFill>
              <a:srgbClr val="F59E0B"/>
            </a:solidFill>
            <a:prstDash val="solid"/>
          </a:ln>
        </p:spPr>
      </p:sp>
      <p:sp>
        <p:nvSpPr>
          <p:cNvPr id="53" name="Shape 51"/>
          <p:cNvSpPr/>
          <p:nvPr/>
        </p:nvSpPr>
        <p:spPr>
          <a:xfrm>
            <a:off x="5577840" y="4544568"/>
            <a:ext cx="5882335" cy="731520"/>
          </a:xfrm>
          <a:prstGeom prst="roundRect">
            <a:avLst>
              <a:gd name="adj" fmla="val 5000"/>
            </a:avLst>
          </a:prstGeom>
          <a:solidFill>
            <a:srgbClr val="0F2338"/>
          </a:solidFill>
          <a:ln w="19050">
            <a:solidFill>
              <a:srgbClr val="F59E0B"/>
            </a:solidFill>
            <a:prstDash val="solid"/>
          </a:ln>
        </p:spPr>
      </p:sp>
      <p:sp>
        <p:nvSpPr>
          <p:cNvPr id="54" name="Text 52"/>
          <p:cNvSpPr/>
          <p:nvPr/>
        </p:nvSpPr>
        <p:spPr>
          <a:xfrm>
            <a:off x="5715000" y="4617720"/>
            <a:ext cx="5623560" cy="237744"/>
          </a:xfrm>
          <a:prstGeom prst="rect">
            <a:avLst/>
          </a:prstGeom>
          <a:noFill/>
          <a:ln/>
        </p:spPr>
        <p:txBody>
          <a:bodyPr wrap="square" rtlCol="0" anchor="ctr"/>
          <a:lstStyle/>
          <a:p>
            <a:pPr indent="0" marL="0">
              <a:buNone/>
            </a:pPr>
            <a:r>
              <a:rPr lang="en-US" sz="880" b="1" dirty="0">
                <a:solidFill>
                  <a:srgbClr val="F59E0B"/>
                </a:solidFill>
                <a:latin typeface="Arial" pitchFamily="34" charset="0"/>
                <a:ea typeface="Arial" pitchFamily="34" charset="-122"/>
                <a:cs typeface="Arial" pitchFamily="34" charset="-120"/>
              </a:rPr>
              <a:t>✔  Penerbitan Instruksi Walikota untuk e-Katalog Lokal Afirmatif</a:t>
            </a:r>
            <a:endParaRPr lang="en-US" sz="880" dirty="0"/>
          </a:p>
        </p:txBody>
      </p:sp>
      <p:sp>
        <p:nvSpPr>
          <p:cNvPr id="55" name="Text 53"/>
          <p:cNvSpPr/>
          <p:nvPr/>
        </p:nvSpPr>
        <p:spPr>
          <a:xfrm>
            <a:off x="5715000" y="4892040"/>
            <a:ext cx="5623560" cy="347472"/>
          </a:xfrm>
          <a:prstGeom prst="rect">
            <a:avLst/>
          </a:prstGeom>
          <a:noFill/>
          <a:ln/>
        </p:spPr>
        <p:txBody>
          <a:bodyPr wrap="square" rtlCol="0" anchor="ctr"/>
          <a:lstStyle/>
          <a:p>
            <a:pPr indent="0" marL="0">
              <a:lnSpc>
                <a:spcPts val="1000"/>
              </a:lnSpc>
              <a:buNone/>
            </a:pPr>
            <a:r>
              <a:rPr lang="en-US" sz="780" dirty="0">
                <a:solidFill>
                  <a:srgbClr val="FFFFFF"/>
                </a:solidFill>
                <a:latin typeface="Arial" pitchFamily="34" charset="0"/>
                <a:ea typeface="Arial" pitchFamily="34" charset="-122"/>
                <a:cs typeface="Arial" pitchFamily="34" charset="-120"/>
              </a:rPr>
              <a:t>Wajibkan OPD Pemkot menyerap produk/layanan tenant binaan STP (Target: Rp 2,25 Miliar).</a:t>
            </a:r>
            <a:endParaRPr lang="en-US" sz="780" dirty="0"/>
          </a:p>
        </p:txBody>
      </p:sp>
      <p:sp>
        <p:nvSpPr>
          <p:cNvPr id="56" name="Shape 54"/>
          <p:cNvSpPr/>
          <p:nvPr/>
        </p:nvSpPr>
        <p:spPr>
          <a:xfrm>
            <a:off x="731520" y="5440680"/>
            <a:ext cx="10728655" cy="822960"/>
          </a:xfrm>
          <a:prstGeom prst="roundRect">
            <a:avLst>
              <a:gd name="adj" fmla="val 8889"/>
            </a:avLst>
          </a:prstGeom>
          <a:solidFill>
            <a:srgbClr val="0B1F38"/>
          </a:solidFill>
          <a:ln w="15240">
            <a:solidFill>
              <a:srgbClr val="F59E0B"/>
            </a:solidFill>
            <a:prstDash val="solid"/>
          </a:ln>
        </p:spPr>
      </p:sp>
      <p:sp>
        <p:nvSpPr>
          <p:cNvPr id="57" name="Text 55"/>
          <p:cNvSpPr/>
          <p:nvPr/>
        </p:nvSpPr>
        <p:spPr>
          <a:xfrm>
            <a:off x="914400" y="5522976"/>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 PRIORITAS UTAMA #5: INSTRUKSI WALIKOTA e-KATALOG LOKAL AFIRMATIF (QUICK WIN 30 HARI)</a:t>
            </a:r>
            <a:endParaRPr lang="en-US" sz="1000" dirty="0"/>
          </a:p>
        </p:txBody>
      </p:sp>
      <p:sp>
        <p:nvSpPr>
          <p:cNvPr id="58" name="Text 56"/>
          <p:cNvSpPr/>
          <p:nvPr/>
        </p:nvSpPr>
        <p:spPr>
          <a:xfrm>
            <a:off x="914400" y="5797296"/>
            <a:ext cx="10362895" cy="402336"/>
          </a:xfrm>
          <a:prstGeom prst="rect">
            <a:avLst/>
          </a:prstGeom>
          <a:noFill/>
          <a:ln/>
        </p:spPr>
        <p:txBody>
          <a:bodyPr wrap="square" rtlCol="0" anchor="ctr"/>
          <a:lstStyle/>
          <a:p>
            <a:pPr indent="0" marL="0">
              <a:lnSpc>
                <a:spcPts val="1200"/>
              </a:lnSpc>
              <a:buNone/>
            </a:pPr>
            <a:r>
              <a:rPr lang="en-US" sz="880" dirty="0">
                <a:solidFill>
                  <a:srgbClr val="FFFFFF"/>
                </a:solidFill>
                <a:latin typeface="Arial" pitchFamily="34" charset="0"/>
                <a:ea typeface="Arial" pitchFamily="34" charset="-122"/>
                <a:cs typeface="Arial" pitchFamily="34" charset="-120"/>
              </a:rPr>
              <a:t>Target: Membuka captive market Rp 2,25 Miliar serapan belanja OPD Pemkot Surakarta di 2030 bagi 80+ produk tenant dan startup binaan STP tanpa perlu alokasi pagu belanja baru di APBD. Hanya butuh 1 lembar Instruksi Walikota.</a:t>
            </a:r>
            <a:endParaRPr lang="en-US" sz="8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PETA JALAN STRATEGIS KELEMBAGAAN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ROADMAP 3 FASE TRANSFORMASI: DARI CENTRE MENUJU HOLDING INOVASI DAERAH</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Milestone Terukur dan Bertahap Menuju Kemandirian Finansial Penuh Tanpa Subsidi Belanja APBD 2030</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08 / 12</a:t>
            </a:r>
            <a:endParaRPr lang="en-US" sz="900" dirty="0"/>
          </a:p>
        </p:txBody>
      </p:sp>
      <p:sp>
        <p:nvSpPr>
          <p:cNvPr id="11" name="Shape 9"/>
          <p:cNvSpPr/>
          <p:nvPr/>
        </p:nvSpPr>
        <p:spPr>
          <a:xfrm>
            <a:off x="731520" y="1325880"/>
            <a:ext cx="3337560" cy="3566160"/>
          </a:xfrm>
          <a:prstGeom prst="roundRect">
            <a:avLst>
              <a:gd name="adj" fmla="val 2192"/>
            </a:avLst>
          </a:prstGeom>
          <a:solidFill>
            <a:srgbClr val="0A192F"/>
          </a:solidFill>
          <a:ln w="12700">
            <a:solidFill>
              <a:srgbClr val="1E3A5F"/>
            </a:solidFill>
            <a:prstDash val="solid"/>
          </a:ln>
        </p:spPr>
      </p:sp>
      <p:sp>
        <p:nvSpPr>
          <p:cNvPr id="12" name="Shape 10"/>
          <p:cNvSpPr/>
          <p:nvPr/>
        </p:nvSpPr>
        <p:spPr>
          <a:xfrm>
            <a:off x="731520" y="1325880"/>
            <a:ext cx="73152" cy="356616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63040"/>
            <a:ext cx="3063240" cy="594360"/>
          </a:xfrm>
          <a:prstGeom prst="roundRect">
            <a:avLst>
              <a:gd name="adj" fmla="val 7692"/>
            </a:avLst>
          </a:prstGeom>
          <a:solidFill>
            <a:srgbClr val="0D213F"/>
          </a:solidFill>
          <a:ln w="12700">
            <a:solidFill>
              <a:srgbClr val="0EA5E9"/>
            </a:solidFill>
            <a:prstDash val="solid"/>
          </a:ln>
        </p:spPr>
      </p:sp>
      <p:sp>
        <p:nvSpPr>
          <p:cNvPr id="14" name="Text 12"/>
          <p:cNvSpPr/>
          <p:nvPr/>
        </p:nvSpPr>
        <p:spPr>
          <a:xfrm>
            <a:off x="914400" y="1508760"/>
            <a:ext cx="2971800" cy="228600"/>
          </a:xfrm>
          <a:prstGeom prst="rect">
            <a:avLst/>
          </a:prstGeom>
          <a:noFill/>
          <a:ln/>
        </p:spPr>
        <p:txBody>
          <a:bodyPr wrap="square" rtlCol="0" anchor="ctr"/>
          <a:lstStyle/>
          <a:p>
            <a:pPr algn="ctr" indent="0" marL="0">
              <a:buNone/>
            </a:pPr>
            <a:r>
              <a:rPr lang="en-US" sz="950" b="1" dirty="0">
                <a:solidFill>
                  <a:srgbClr val="0EA5E9"/>
                </a:solidFill>
                <a:latin typeface="Arial" pitchFamily="34" charset="0"/>
                <a:ea typeface="Arial" pitchFamily="34" charset="-122"/>
                <a:cs typeface="Arial" pitchFamily="34" charset="-120"/>
              </a:rPr>
              <a:t>FASE 1 (2026–2027)</a:t>
            </a:r>
            <a:endParaRPr lang="en-US" sz="950" dirty="0"/>
          </a:p>
        </p:txBody>
      </p:sp>
      <p:sp>
        <p:nvSpPr>
          <p:cNvPr id="15" name="Text 13"/>
          <p:cNvSpPr/>
          <p:nvPr/>
        </p:nvSpPr>
        <p:spPr>
          <a:xfrm>
            <a:off x="914400" y="1737360"/>
            <a:ext cx="2971800" cy="27432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CENTRE OF INNOVATION &amp; CONNECTIVITY</a:t>
            </a:r>
            <a:endParaRPr lang="en-US" sz="850" dirty="0"/>
          </a:p>
        </p:txBody>
      </p:sp>
      <p:sp>
        <p:nvSpPr>
          <p:cNvPr id="16" name="Shape 14"/>
          <p:cNvSpPr/>
          <p:nvPr/>
        </p:nvSpPr>
        <p:spPr>
          <a:xfrm>
            <a:off x="914400" y="2148840"/>
            <a:ext cx="2971800" cy="365760"/>
          </a:xfrm>
          <a:prstGeom prst="roundRect">
            <a:avLst>
              <a:gd name="adj" fmla="val 10000"/>
            </a:avLst>
          </a:prstGeom>
          <a:solidFill>
            <a:srgbClr val="070D18"/>
          </a:solidFill>
          <a:ln w="12700">
            <a:solidFill>
              <a:srgbClr val="1E3A5F"/>
            </a:solidFill>
            <a:prstDash val="solid"/>
          </a:ln>
        </p:spPr>
      </p:sp>
      <p:sp>
        <p:nvSpPr>
          <p:cNvPr id="17" name="Text 15"/>
          <p:cNvSpPr/>
          <p:nvPr/>
        </p:nvSpPr>
        <p:spPr>
          <a:xfrm>
            <a:off x="914400" y="2148840"/>
            <a:ext cx="2971800" cy="36576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Target: Rp 7,50 M ➔ Rp 12,53 M (+67%)</a:t>
            </a:r>
            <a:endParaRPr lang="en-US" sz="950" dirty="0"/>
          </a:p>
        </p:txBody>
      </p:sp>
      <p:sp>
        <p:nvSpPr>
          <p:cNvPr id="18" name="Text 16"/>
          <p:cNvSpPr/>
          <p:nvPr/>
        </p:nvSpPr>
        <p:spPr>
          <a:xfrm>
            <a:off x="914400" y="2606040"/>
            <a:ext cx="2971800" cy="2148840"/>
          </a:xfrm>
          <a:prstGeom prst="rect">
            <a:avLst/>
          </a:prstGeom>
          <a:noFill/>
          <a:ln/>
        </p:spPr>
        <p:txBody>
          <a:bodyPr wrap="square" rtlCol="0" anchor="ctr"/>
          <a:lstStyle/>
          <a:p>
            <a:pPr indent="0" marL="0">
              <a:lnSpc>
                <a:spcPts val="1200"/>
              </a:lnSpc>
              <a:buNone/>
            </a:pPr>
            <a:r>
              <a:rPr lang="en-US" sz="900" dirty="0">
                <a:solidFill>
                  <a:srgbClr val="94A3B8"/>
                </a:solidFill>
                <a:latin typeface="Arial" pitchFamily="34" charset="0"/>
                <a:ea typeface="Arial" pitchFamily="34" charset="-122"/>
                <a:cs typeface="Arial" pitchFamily="34" charset="-120"/>
              </a:rPr>
              <a:t>•  Pondasi tata kelola kelembagaan BLUD akuntabel</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Akreditasi laboratorium industri &amp; standarisasi uji</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Sertifikasi mutu diklat vokasi &amp; kemitraan OGSCI</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Pembentukan Konsorsium Riset 5 Kampus Solo Raya</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Aktivasi TUK Mandiri &amp; program SMK GoGlobal</a:t>
            </a:r>
            <a:endParaRPr lang="en-US" sz="900" dirty="0"/>
          </a:p>
        </p:txBody>
      </p:sp>
      <p:sp>
        <p:nvSpPr>
          <p:cNvPr id="19" name="Shape 17"/>
          <p:cNvSpPr/>
          <p:nvPr/>
        </p:nvSpPr>
        <p:spPr>
          <a:xfrm>
            <a:off x="4142232" y="1609344"/>
            <a:ext cx="210312" cy="292608"/>
          </a:xfrm>
          <a:prstGeom prst="rightArrow">
            <a:avLst/>
          </a:prstGeom>
          <a:solidFill>
            <a:srgbClr val="F59E0B"/>
          </a:solidFill>
          <a:ln w="12700">
            <a:solidFill>
              <a:srgbClr val="F59E0B"/>
            </a:solidFill>
            <a:prstDash val="solid"/>
          </a:ln>
        </p:spPr>
      </p:sp>
      <p:sp>
        <p:nvSpPr>
          <p:cNvPr id="20" name="Shape 18"/>
          <p:cNvSpPr/>
          <p:nvPr/>
        </p:nvSpPr>
        <p:spPr>
          <a:xfrm>
            <a:off x="4425696" y="1325880"/>
            <a:ext cx="3337560" cy="3566160"/>
          </a:xfrm>
          <a:prstGeom prst="roundRect">
            <a:avLst>
              <a:gd name="adj" fmla="val 2192"/>
            </a:avLst>
          </a:prstGeom>
          <a:solidFill>
            <a:srgbClr val="0A192F"/>
          </a:solidFill>
          <a:ln w="12700">
            <a:solidFill>
              <a:srgbClr val="1E3A5F"/>
            </a:solidFill>
            <a:prstDash val="solid"/>
          </a:ln>
        </p:spPr>
      </p:sp>
      <p:sp>
        <p:nvSpPr>
          <p:cNvPr id="21" name="Shape 19"/>
          <p:cNvSpPr/>
          <p:nvPr/>
        </p:nvSpPr>
        <p:spPr>
          <a:xfrm>
            <a:off x="4425696" y="1325880"/>
            <a:ext cx="73152" cy="3566160"/>
          </a:xfrm>
          <a:prstGeom prst="roundRect">
            <a:avLst>
              <a:gd name="adj" fmla="val 50000"/>
            </a:avLst>
          </a:prstGeom>
          <a:solidFill>
            <a:srgbClr val="F59E0B"/>
          </a:solidFill>
          <a:ln w="12700">
            <a:solidFill>
              <a:srgbClr val="F59E0B"/>
            </a:solidFill>
            <a:prstDash val="solid"/>
          </a:ln>
        </p:spPr>
      </p:sp>
      <p:sp>
        <p:nvSpPr>
          <p:cNvPr id="22" name="Shape 20"/>
          <p:cNvSpPr/>
          <p:nvPr/>
        </p:nvSpPr>
        <p:spPr>
          <a:xfrm>
            <a:off x="4562856" y="1463040"/>
            <a:ext cx="3063240" cy="594360"/>
          </a:xfrm>
          <a:prstGeom prst="roundRect">
            <a:avLst>
              <a:gd name="adj" fmla="val 7692"/>
            </a:avLst>
          </a:prstGeom>
          <a:solidFill>
            <a:srgbClr val="0D213F"/>
          </a:solidFill>
          <a:ln w="12700">
            <a:solidFill>
              <a:srgbClr val="F59E0B"/>
            </a:solidFill>
            <a:prstDash val="solid"/>
          </a:ln>
        </p:spPr>
      </p:sp>
      <p:sp>
        <p:nvSpPr>
          <p:cNvPr id="23" name="Text 21"/>
          <p:cNvSpPr/>
          <p:nvPr/>
        </p:nvSpPr>
        <p:spPr>
          <a:xfrm>
            <a:off x="4608576" y="1508760"/>
            <a:ext cx="2971800" cy="22860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FASE 2 (2028–2029)</a:t>
            </a:r>
            <a:endParaRPr lang="en-US" sz="950" dirty="0"/>
          </a:p>
        </p:txBody>
      </p:sp>
      <p:sp>
        <p:nvSpPr>
          <p:cNvPr id="24" name="Text 22"/>
          <p:cNvSpPr/>
          <p:nvPr/>
        </p:nvSpPr>
        <p:spPr>
          <a:xfrm>
            <a:off x="4608576" y="1737360"/>
            <a:ext cx="2971800" cy="27432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ENTREPRENEUR TECHNOPARK (SBU MANDIRI)</a:t>
            </a:r>
            <a:endParaRPr lang="en-US" sz="850" dirty="0"/>
          </a:p>
        </p:txBody>
      </p:sp>
      <p:sp>
        <p:nvSpPr>
          <p:cNvPr id="25" name="Shape 23"/>
          <p:cNvSpPr/>
          <p:nvPr/>
        </p:nvSpPr>
        <p:spPr>
          <a:xfrm>
            <a:off x="4608576" y="2148840"/>
            <a:ext cx="2971800" cy="365760"/>
          </a:xfrm>
          <a:prstGeom prst="roundRect">
            <a:avLst>
              <a:gd name="adj" fmla="val 10000"/>
            </a:avLst>
          </a:prstGeom>
          <a:solidFill>
            <a:srgbClr val="070D18"/>
          </a:solidFill>
          <a:ln w="12700">
            <a:solidFill>
              <a:srgbClr val="1E3A5F"/>
            </a:solidFill>
            <a:prstDash val="solid"/>
          </a:ln>
        </p:spPr>
      </p:sp>
      <p:sp>
        <p:nvSpPr>
          <p:cNvPr id="26" name="Text 24"/>
          <p:cNvSpPr/>
          <p:nvPr/>
        </p:nvSpPr>
        <p:spPr>
          <a:xfrm>
            <a:off x="4608576" y="2148840"/>
            <a:ext cx="2971800" cy="36576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Target: Rp 12,53 M ➔ Rp 20,62 M (+65%)</a:t>
            </a:r>
            <a:endParaRPr lang="en-US" sz="950" dirty="0"/>
          </a:p>
        </p:txBody>
      </p:sp>
      <p:sp>
        <p:nvSpPr>
          <p:cNvPr id="27" name="Text 25"/>
          <p:cNvSpPr/>
          <p:nvPr/>
        </p:nvSpPr>
        <p:spPr>
          <a:xfrm>
            <a:off x="4608576" y="2606040"/>
            <a:ext cx="2971800" cy="2148840"/>
          </a:xfrm>
          <a:prstGeom prst="rect">
            <a:avLst/>
          </a:prstGeom>
          <a:noFill/>
          <a:ln/>
        </p:spPr>
        <p:txBody>
          <a:bodyPr wrap="square" rtlCol="0" anchor="ctr"/>
          <a:lstStyle/>
          <a:p>
            <a:pPr indent="0" marL="0">
              <a:lnSpc>
                <a:spcPts val="1200"/>
              </a:lnSpc>
              <a:buNone/>
            </a:pPr>
            <a:r>
              <a:rPr lang="en-US" sz="900" dirty="0">
                <a:solidFill>
                  <a:srgbClr val="94A3B8"/>
                </a:solidFill>
                <a:latin typeface="Arial" pitchFamily="34" charset="0"/>
                <a:ea typeface="Arial" pitchFamily="34" charset="-122"/>
                <a:cs typeface="Arial" pitchFamily="34" charset="-120"/>
              </a:rPr>
              <a:t>•  Pembentukan Strategic Business Unit (SBU) profesional</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Hilirisasi 15–20 produk inovasi komersial ber-TKDN</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Strategi corporate marketing &amp; penetrasi pasar nasional</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Ekspansi revenue OGSCI Migas mencapai Rp 5,5 Miliar</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Operasionalisasi Co-Working &amp; Virtual Office penuh</a:t>
            </a:r>
            <a:endParaRPr lang="en-US" sz="900" dirty="0"/>
          </a:p>
        </p:txBody>
      </p:sp>
      <p:sp>
        <p:nvSpPr>
          <p:cNvPr id="28" name="Shape 26"/>
          <p:cNvSpPr/>
          <p:nvPr/>
        </p:nvSpPr>
        <p:spPr>
          <a:xfrm>
            <a:off x="7836408" y="1609344"/>
            <a:ext cx="210312" cy="292608"/>
          </a:xfrm>
          <a:prstGeom prst="rightArrow">
            <a:avLst/>
          </a:prstGeom>
          <a:solidFill>
            <a:srgbClr val="F59E0B"/>
          </a:solidFill>
          <a:ln w="12700">
            <a:solidFill>
              <a:srgbClr val="F59E0B"/>
            </a:solidFill>
            <a:prstDash val="solid"/>
          </a:ln>
        </p:spPr>
      </p:sp>
      <p:sp>
        <p:nvSpPr>
          <p:cNvPr id="29" name="Shape 27"/>
          <p:cNvSpPr/>
          <p:nvPr/>
        </p:nvSpPr>
        <p:spPr>
          <a:xfrm>
            <a:off x="8119872" y="1325880"/>
            <a:ext cx="3337560" cy="3566160"/>
          </a:xfrm>
          <a:prstGeom prst="roundRect">
            <a:avLst>
              <a:gd name="adj" fmla="val 2192"/>
            </a:avLst>
          </a:prstGeom>
          <a:solidFill>
            <a:srgbClr val="0A192F"/>
          </a:solidFill>
          <a:ln w="12700">
            <a:solidFill>
              <a:srgbClr val="1E3A5F"/>
            </a:solidFill>
            <a:prstDash val="solid"/>
          </a:ln>
        </p:spPr>
      </p:sp>
      <p:sp>
        <p:nvSpPr>
          <p:cNvPr id="30" name="Shape 28"/>
          <p:cNvSpPr/>
          <p:nvPr/>
        </p:nvSpPr>
        <p:spPr>
          <a:xfrm>
            <a:off x="8119872" y="1325880"/>
            <a:ext cx="73152" cy="3566160"/>
          </a:xfrm>
          <a:prstGeom prst="roundRect">
            <a:avLst>
              <a:gd name="adj" fmla="val 50000"/>
            </a:avLst>
          </a:prstGeom>
          <a:solidFill>
            <a:srgbClr val="10B981"/>
          </a:solidFill>
          <a:ln w="12700">
            <a:solidFill>
              <a:srgbClr val="10B981"/>
            </a:solidFill>
            <a:prstDash val="solid"/>
          </a:ln>
        </p:spPr>
      </p:sp>
      <p:sp>
        <p:nvSpPr>
          <p:cNvPr id="31" name="Shape 29"/>
          <p:cNvSpPr/>
          <p:nvPr/>
        </p:nvSpPr>
        <p:spPr>
          <a:xfrm>
            <a:off x="8257032" y="1463040"/>
            <a:ext cx="3063240" cy="594360"/>
          </a:xfrm>
          <a:prstGeom prst="roundRect">
            <a:avLst>
              <a:gd name="adj" fmla="val 7692"/>
            </a:avLst>
          </a:prstGeom>
          <a:solidFill>
            <a:srgbClr val="0D213F"/>
          </a:solidFill>
          <a:ln w="12700">
            <a:solidFill>
              <a:srgbClr val="10B981"/>
            </a:solidFill>
            <a:prstDash val="solid"/>
          </a:ln>
        </p:spPr>
      </p:sp>
      <p:sp>
        <p:nvSpPr>
          <p:cNvPr id="32" name="Text 30"/>
          <p:cNvSpPr/>
          <p:nvPr/>
        </p:nvSpPr>
        <p:spPr>
          <a:xfrm>
            <a:off x="8302752" y="1508760"/>
            <a:ext cx="2971800" cy="228600"/>
          </a:xfrm>
          <a:prstGeom prst="rect">
            <a:avLst/>
          </a:prstGeom>
          <a:noFill/>
          <a:ln/>
        </p:spPr>
        <p:txBody>
          <a:bodyPr wrap="square" rtlCol="0" anchor="ctr"/>
          <a:lstStyle/>
          <a:p>
            <a:pPr algn="ctr" indent="0" marL="0">
              <a:buNone/>
            </a:pPr>
            <a:r>
              <a:rPr lang="en-US" sz="950" b="1" dirty="0">
                <a:solidFill>
                  <a:srgbClr val="10B981"/>
                </a:solidFill>
                <a:latin typeface="Arial" pitchFamily="34" charset="0"/>
                <a:ea typeface="Arial" pitchFamily="34" charset="-122"/>
                <a:cs typeface="Arial" pitchFamily="34" charset="-120"/>
              </a:rPr>
              <a:t>FASE 3 (2029–2030)</a:t>
            </a:r>
            <a:endParaRPr lang="en-US" sz="950" dirty="0"/>
          </a:p>
        </p:txBody>
      </p:sp>
      <p:sp>
        <p:nvSpPr>
          <p:cNvPr id="33" name="Text 31"/>
          <p:cNvSpPr/>
          <p:nvPr/>
        </p:nvSpPr>
        <p:spPr>
          <a:xfrm>
            <a:off x="8302752" y="1737360"/>
            <a:ext cx="2971800" cy="274320"/>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GLOBAL MARKET POSITIONING &amp; HOLDING</a:t>
            </a:r>
            <a:endParaRPr lang="en-US" sz="850" dirty="0"/>
          </a:p>
        </p:txBody>
      </p:sp>
      <p:sp>
        <p:nvSpPr>
          <p:cNvPr id="34" name="Shape 32"/>
          <p:cNvSpPr/>
          <p:nvPr/>
        </p:nvSpPr>
        <p:spPr>
          <a:xfrm>
            <a:off x="8302752" y="2148840"/>
            <a:ext cx="2971800" cy="365760"/>
          </a:xfrm>
          <a:prstGeom prst="roundRect">
            <a:avLst>
              <a:gd name="adj" fmla="val 10000"/>
            </a:avLst>
          </a:prstGeom>
          <a:solidFill>
            <a:srgbClr val="070D18"/>
          </a:solidFill>
          <a:ln w="12700">
            <a:solidFill>
              <a:srgbClr val="1E3A5F"/>
            </a:solidFill>
            <a:prstDash val="solid"/>
          </a:ln>
        </p:spPr>
      </p:sp>
      <p:sp>
        <p:nvSpPr>
          <p:cNvPr id="35" name="Text 33"/>
          <p:cNvSpPr/>
          <p:nvPr/>
        </p:nvSpPr>
        <p:spPr>
          <a:xfrm>
            <a:off x="8302752" y="2148840"/>
            <a:ext cx="2971800" cy="365760"/>
          </a:xfrm>
          <a:prstGeom prst="rect">
            <a:avLst/>
          </a:prstGeom>
          <a:noFill/>
          <a:ln/>
        </p:spPr>
        <p:txBody>
          <a:bodyPr wrap="square" rtlCol="0" anchor="ctr"/>
          <a:lstStyle/>
          <a:p>
            <a:pPr algn="ctr" indent="0" marL="0">
              <a:buNone/>
            </a:pPr>
            <a:r>
              <a:rPr lang="en-US" sz="950" b="1" dirty="0">
                <a:solidFill>
                  <a:srgbClr val="F59E0B"/>
                </a:solidFill>
                <a:latin typeface="Arial" pitchFamily="34" charset="0"/>
                <a:ea typeface="Arial" pitchFamily="34" charset="-122"/>
                <a:cs typeface="Arial" pitchFamily="34" charset="-120"/>
              </a:rPr>
              <a:t>Target: Rp 20,62 M ➔ Rp 23,47 M (MANDIRI)</a:t>
            </a:r>
            <a:endParaRPr lang="en-US" sz="950" dirty="0"/>
          </a:p>
        </p:txBody>
      </p:sp>
      <p:sp>
        <p:nvSpPr>
          <p:cNvPr id="36" name="Text 34"/>
          <p:cNvSpPr/>
          <p:nvPr/>
        </p:nvSpPr>
        <p:spPr>
          <a:xfrm>
            <a:off x="8302752" y="2606040"/>
            <a:ext cx="2971800" cy="2148840"/>
          </a:xfrm>
          <a:prstGeom prst="rect">
            <a:avLst/>
          </a:prstGeom>
          <a:noFill/>
          <a:ln/>
        </p:spPr>
        <p:txBody>
          <a:bodyPr wrap="square" rtlCol="0" anchor="ctr"/>
          <a:lstStyle/>
          <a:p>
            <a:pPr indent="0" marL="0">
              <a:lnSpc>
                <a:spcPts val="1200"/>
              </a:lnSpc>
              <a:buNone/>
            </a:pPr>
            <a:r>
              <a:rPr lang="en-US" sz="900" dirty="0">
                <a:solidFill>
                  <a:srgbClr val="94A3B8"/>
                </a:solidFill>
                <a:latin typeface="Arial" pitchFamily="34" charset="0"/>
                <a:ea typeface="Arial" pitchFamily="34" charset="-122"/>
                <a:cs typeface="Arial" pitchFamily="34" charset="-120"/>
              </a:rPr>
              <a:t>•  Kemandirian finansial penuh: 0% subsidi belanja APBD</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Operasional holding company inovasi daerah pertama</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Pusat pengembangan Indonesia Digital Technopark</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Realisasi target pendapatan mandiri Rp 23,47 Miliar</a:t>
            </a:r>
            <a:endParaRPr lang="en-US" sz="900" dirty="0"/>
          </a:p>
          <a:p>
            <a:pPr indent="0" marL="0">
              <a:lnSpc>
                <a:spcPts val="1200"/>
              </a:lnSpc>
              <a:buNone/>
            </a:pPr>
            <a:endParaRPr lang="en-US" sz="900" dirty="0"/>
          </a:p>
          <a:p>
            <a:pPr indent="0" marL="0">
              <a:lnSpc>
                <a:spcPts val="1200"/>
              </a:lnSpc>
              <a:buNone/>
            </a:pPr>
            <a:r>
              <a:rPr lang="en-US" sz="900" dirty="0">
                <a:solidFill>
                  <a:srgbClr val="94A3B8"/>
                </a:solidFill>
                <a:latin typeface="Arial" pitchFamily="34" charset="0"/>
                <a:ea typeface="Arial" pitchFamily="34" charset="-122"/>
                <a:cs typeface="Arial" pitchFamily="34" charset="-120"/>
              </a:rPr>
              <a:t>•  Ekspansi jejaring kemitraan dan penempatan global</a:t>
            </a:r>
            <a:endParaRPr lang="en-US" sz="900" dirty="0"/>
          </a:p>
        </p:txBody>
      </p:sp>
      <p:sp>
        <p:nvSpPr>
          <p:cNvPr id="37" name="Shape 35"/>
          <p:cNvSpPr/>
          <p:nvPr/>
        </p:nvSpPr>
        <p:spPr>
          <a:xfrm>
            <a:off x="731520" y="5029200"/>
            <a:ext cx="10728655" cy="1234440"/>
          </a:xfrm>
          <a:prstGeom prst="roundRect">
            <a:avLst>
              <a:gd name="adj" fmla="val 5926"/>
            </a:avLst>
          </a:prstGeom>
          <a:solidFill>
            <a:srgbClr val="0D213F"/>
          </a:solidFill>
          <a:ln w="12700">
            <a:solidFill>
              <a:srgbClr val="0EA5E9"/>
            </a:solidFill>
            <a:prstDash val="solid"/>
          </a:ln>
        </p:spPr>
      </p:sp>
      <p:sp>
        <p:nvSpPr>
          <p:cNvPr id="38" name="Text 36"/>
          <p:cNvSpPr/>
          <p:nvPr/>
        </p:nvSpPr>
        <p:spPr>
          <a:xfrm>
            <a:off x="914400" y="5120640"/>
            <a:ext cx="10362895" cy="228600"/>
          </a:xfrm>
          <a:prstGeom prst="rect">
            <a:avLst/>
          </a:prstGeom>
          <a:noFill/>
          <a:ln/>
        </p:spPr>
        <p:txBody>
          <a:bodyPr wrap="square" rtlCol="0" anchor="ctr"/>
          <a:lstStyle/>
          <a:p>
            <a:pPr indent="0" marL="0">
              <a:buNone/>
            </a:pPr>
            <a:r>
              <a:rPr lang="en-US" sz="950" b="1" dirty="0">
                <a:solidFill>
                  <a:srgbClr val="38BDF8"/>
                </a:solidFill>
                <a:latin typeface="Arial" pitchFamily="34" charset="0"/>
                <a:ea typeface="Arial" pitchFamily="34" charset="-122"/>
                <a:cs typeface="Arial" pitchFamily="34" charset="-120"/>
              </a:rPr>
              <a:t>RINGKASAN TARGET TAHUNAN MENUJU KEMANDIRIAN 2030 (AUDIT FINANSIAL RIIL):</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413248"/>
          <a:ext cx="10362895" cy="713232"/>
        </p:xfrm>
        <a:graphic>
          <a:graphicData uri="http://schemas.openxmlformats.org/drawingml/2006/table">
            <a:tbl>
              <a:tblPr/>
              <a:tblGrid>
                <a:gridCol w="2072030"/>
                <a:gridCol w="2072030"/>
                <a:gridCol w="2072030"/>
                <a:gridCol w="2072030"/>
                <a:gridCol w="2074774"/>
              </a:tblGrid>
              <a:tr h="320040">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2026 (Baseline)</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2027 (+67,0%)</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2028 (+28,5%)</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FFFFF"/>
                          </a:solidFill>
                          <a:latin typeface="Arial" pitchFamily="34" charset="0"/>
                          <a:ea typeface="Arial" pitchFamily="34" charset="-122"/>
                          <a:cs typeface="Arial" pitchFamily="34" charset="-120"/>
                        </a:rPr>
                        <a:t>TAHUN 2029 (+28,0%)</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algn="ctr" indent="0" marL="0">
                        <a:buNone/>
                      </a:pPr>
                      <a:r>
                        <a:rPr lang="en-US" sz="950" b="1" dirty="0">
                          <a:solidFill>
                            <a:srgbClr val="F59E0B"/>
                          </a:solidFill>
                          <a:latin typeface="Arial" pitchFamily="34" charset="0"/>
                          <a:ea typeface="Arial" pitchFamily="34" charset="-122"/>
                          <a:cs typeface="Arial" pitchFamily="34" charset="-120"/>
                        </a:rPr>
                        <a:t>TAHUN 2030 (MANDIRI)</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393192">
                <a:tc>
                  <a:txBody>
                    <a:bodyPr/>
                    <a:lstStyle/>
                    <a:p>
                      <a:pPr algn="ctr" indent="0" marL="0">
                        <a:buNone/>
                      </a:pPr>
                      <a:r>
                        <a:rPr lang="en-US" sz="950" dirty="0">
                          <a:solidFill>
                            <a:srgbClr val="FFFFFF"/>
                          </a:solidFill>
                          <a:latin typeface="Arial" pitchFamily="34" charset="0"/>
                          <a:ea typeface="Arial" pitchFamily="34" charset="-122"/>
                          <a:cs typeface="Arial" pitchFamily="34" charset="-120"/>
                        </a:rPr>
                        <a:t>Rp 7.503.392.698</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12.532.185.031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16.100.658.831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dirty="0">
                          <a:solidFill>
                            <a:srgbClr val="38BDF8"/>
                          </a:solidFill>
                          <a:latin typeface="Arial" pitchFamily="34" charset="0"/>
                          <a:ea typeface="Arial" pitchFamily="34" charset="-122"/>
                          <a:cs typeface="Arial" pitchFamily="34" charset="-120"/>
                        </a:rPr>
                        <a:t>Rp 20.615.658.831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c>
                  <a:txBody>
                    <a:bodyPr/>
                    <a:lstStyle/>
                    <a:p>
                      <a:pPr algn="ctr" indent="0" marL="0">
                        <a:buNone/>
                      </a:pPr>
                      <a:r>
                        <a:rPr lang="en-US" sz="950" b="1" dirty="0">
                          <a:solidFill>
                            <a:srgbClr val="F59E0B"/>
                          </a:solidFill>
                          <a:latin typeface="Arial" pitchFamily="34" charset="0"/>
                          <a:ea typeface="Arial" pitchFamily="34" charset="-122"/>
                          <a:cs typeface="Arial" pitchFamily="34" charset="-120"/>
                        </a:rPr>
                        <a:t>Rp 23.468.158.831</a:t>
                      </a:r>
                      <a:endParaRPr lang="en-US" sz="9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A192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PROYEKSI KEUANGAN BLUD 2026–2030</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RE-SETTING TARGET FINANSIAL: LOMPATAN KEMANDIRIAN BLUD +212,8%</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09 / 12</a:t>
            </a:r>
            <a:endParaRPr lang="en-US" sz="900" dirty="0"/>
          </a:p>
        </p:txBody>
      </p:sp>
      <p:sp>
        <p:nvSpPr>
          <p:cNvPr id="11" name="Shape 9"/>
          <p:cNvSpPr/>
          <p:nvPr/>
        </p:nvSpPr>
        <p:spPr>
          <a:xfrm>
            <a:off x="731520" y="1325880"/>
            <a:ext cx="6217920" cy="4892040"/>
          </a:xfrm>
          <a:prstGeom prst="roundRect">
            <a:avLst>
              <a:gd name="adj" fmla="val 1495"/>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5852160" cy="256032"/>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TREN PERTUMBUHAN PENDAPATAN BLUD 2026–2030 (dalam Rp Miliar)</a:t>
            </a:r>
            <a:endParaRPr lang="en-US" sz="1000" dirty="0"/>
          </a:p>
        </p:txBody>
      </p:sp>
      <p:graphicFrame>
        <p:nvGraphicFramePr>
          <p:cNvPr id="14" name="Chart 0" descr=""/>
          <p:cNvGraphicFramePr/>
          <p:nvPr/>
        </p:nvGraphicFramePr>
        <p:xfrm>
          <a:off x="868680" y="1783080"/>
          <a:ext cx="589788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5852160" cy="1371600"/>
          </a:xfrm>
          <a:prstGeom prst="roundRect">
            <a:avLst>
              <a:gd name="adj" fmla="val 2667"/>
            </a:avLst>
          </a:prstGeom>
          <a:solidFill>
            <a:srgbClr val="0D213F"/>
          </a:solidFill>
          <a:ln w="12700">
            <a:solidFill>
              <a:srgbClr val="F59E0B"/>
            </a:solidFill>
            <a:prstDash val="solid"/>
          </a:ln>
        </p:spPr>
      </p:sp>
      <p:sp>
        <p:nvSpPr>
          <p:cNvPr id="16" name="Text 13"/>
          <p:cNvSpPr/>
          <p:nvPr/>
        </p:nvSpPr>
        <p:spPr>
          <a:xfrm>
            <a:off x="1051560" y="4800600"/>
            <a:ext cx="5577840" cy="228600"/>
          </a:xfrm>
          <a:prstGeom prst="rect">
            <a:avLst/>
          </a:prstGeom>
          <a:noFill/>
          <a:ln/>
        </p:spPr>
        <p:txBody>
          <a:bodyPr wrap="square" rtlCol="0" anchor="ctr"/>
          <a:lstStyle/>
          <a:p>
            <a:pPr indent="0" marL="0">
              <a:buNone/>
            </a:pPr>
            <a:r>
              <a:rPr lang="en-US" sz="1050" b="1" dirty="0">
                <a:solidFill>
                  <a:srgbClr val="F59E0B"/>
                </a:solidFill>
                <a:latin typeface="Arial" pitchFamily="34" charset="0"/>
                <a:ea typeface="Arial" pitchFamily="34" charset="-122"/>
                <a:cs typeface="Arial" pitchFamily="34" charset="-120"/>
              </a:rPr>
              <a:t>LOMPATAN FINANSIAL: +212,8% (3,1× LIPAT DALAM 4 TAHUN)</a:t>
            </a:r>
            <a:endParaRPr lang="en-US" sz="1050" dirty="0"/>
          </a:p>
        </p:txBody>
      </p:sp>
      <p:sp>
        <p:nvSpPr>
          <p:cNvPr id="17" name="Text 14"/>
          <p:cNvSpPr/>
          <p:nvPr/>
        </p:nvSpPr>
        <p:spPr>
          <a:xfrm>
            <a:off x="1051560" y="5074920"/>
            <a:ext cx="5577840" cy="914400"/>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 Mandiri Total Tanpa APBD di 2030: Biaya operasional UPTD STP tertutup 100% dari jasa layanan mandiri.</a:t>
            </a:r>
            <a:endParaRPr lang="en-US" sz="850" dirty="0"/>
          </a:p>
          <a:p>
            <a:pPr indent="0" marL="0">
              <a:lnSpc>
                <a:spcPts val="1200"/>
              </a:lnSpc>
              <a:buNone/>
            </a:pPr>
            <a:r>
              <a:rPr lang="en-US" sz="850" dirty="0">
                <a:solidFill>
                  <a:srgbClr val="FFFFFF"/>
                </a:solidFill>
                <a:latin typeface="Arial" pitchFamily="34" charset="0"/>
                <a:ea typeface="Arial" pitchFamily="34" charset="-122"/>
                <a:cs typeface="Arial" pitchFamily="34" charset="-120"/>
              </a:rPr>
              <a:t>• Titik Impas (BEP) di Tahun 2028: Tercapai di angka Rp 16,10 Miliar seiring beroperasinya SBU manufaktur.</a:t>
            </a:r>
            <a:endParaRPr lang="en-US" sz="850" dirty="0"/>
          </a:p>
          <a:p>
            <a:pPr indent="0" marL="0">
              <a:lnSpc>
                <a:spcPts val="1200"/>
              </a:lnSpc>
              <a:buNone/>
            </a:pPr>
            <a:r>
              <a:rPr lang="en-US" sz="850" dirty="0">
                <a:solidFill>
                  <a:srgbClr val="FFFFFF"/>
                </a:solidFill>
                <a:latin typeface="Arial" pitchFamily="34" charset="0"/>
                <a:ea typeface="Arial" pitchFamily="34" charset="-122"/>
                <a:cs typeface="Arial" pitchFamily="34" charset="-120"/>
              </a:rPr>
              <a:t>• Kualitas Pendapatan Berkelanjutan: 88% pendapatan disumbang oleh riset, vokasi industri, &amp; startup binaan.</a:t>
            </a:r>
            <a:endParaRPr lang="en-US" sz="850" dirty="0"/>
          </a:p>
        </p:txBody>
      </p:sp>
      <p:sp>
        <p:nvSpPr>
          <p:cNvPr id="18" name="Shape 15"/>
          <p:cNvSpPr/>
          <p:nvPr/>
        </p:nvSpPr>
        <p:spPr>
          <a:xfrm>
            <a:off x="7132320" y="1325880"/>
            <a:ext cx="4327855" cy="4892040"/>
          </a:xfrm>
          <a:prstGeom prst="roundRect">
            <a:avLst>
              <a:gd name="adj" fmla="val 1690"/>
            </a:avLst>
          </a:prstGeom>
          <a:solidFill>
            <a:srgbClr val="0A192F"/>
          </a:solidFill>
          <a:ln w="12700">
            <a:solidFill>
              <a:srgbClr val="1E3A5F"/>
            </a:solidFill>
            <a:prstDash val="solid"/>
          </a:ln>
        </p:spPr>
      </p:sp>
      <p:sp>
        <p:nvSpPr>
          <p:cNvPr id="19" name="Shape 16"/>
          <p:cNvSpPr/>
          <p:nvPr/>
        </p:nvSpPr>
        <p:spPr>
          <a:xfrm>
            <a:off x="7132320" y="1325880"/>
            <a:ext cx="73152" cy="4892040"/>
          </a:xfrm>
          <a:prstGeom prst="roundRect">
            <a:avLst>
              <a:gd name="adj" fmla="val 50000"/>
            </a:avLst>
          </a:prstGeom>
          <a:solidFill>
            <a:srgbClr val="F59E0B"/>
          </a:solidFill>
          <a:ln w="12700">
            <a:solidFill>
              <a:srgbClr val="F59E0B"/>
            </a:solidFill>
            <a:prstDash val="solid"/>
          </a:ln>
        </p:spPr>
      </p:sp>
      <p:sp>
        <p:nvSpPr>
          <p:cNvPr id="20" name="Text 17"/>
          <p:cNvSpPr/>
          <p:nvPr/>
        </p:nvSpPr>
        <p:spPr>
          <a:xfrm>
            <a:off x="7315200" y="1463040"/>
            <a:ext cx="39620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STRUKTUR REVENUE STREAM 2030 (Rp 23,47 M)</a:t>
            </a:r>
            <a:endParaRPr lang="en-US" sz="1000" dirty="0"/>
          </a:p>
        </p:txBody>
      </p:sp>
      <p:graphicFrame>
        <p:nvGraphicFramePr>
          <p:cNvPr id="21" name="Chart 1" descr=""/>
          <p:cNvGraphicFramePr/>
          <p:nvPr/>
        </p:nvGraphicFramePr>
        <p:xfrm>
          <a:off x="7772400" y="1783080"/>
          <a:ext cx="3017520" cy="1874520"/>
        </p:xfrm>
        <a:graphic xmlns:a="http://schemas.openxmlformats.org/drawingml/2006/main">
          <a:graphicData uri="http://schemas.openxmlformats.org/drawingml/2006/chart">
            <c:chart xmlns:c="http://schemas.openxmlformats.org/drawingml/2006/chart" r:id="rId2"/>
          </a:graphicData>
        </a:graphic>
      </p:graphicFrame>
      <p:sp>
        <p:nvSpPr>
          <p:cNvPr id="22" name="Shape 18"/>
          <p:cNvSpPr/>
          <p:nvPr/>
        </p:nvSpPr>
        <p:spPr>
          <a:xfrm>
            <a:off x="7315200" y="3767328"/>
            <a:ext cx="91440" cy="91440"/>
          </a:xfrm>
          <a:prstGeom prst="ellipse">
            <a:avLst/>
          </a:prstGeom>
          <a:solidFill>
            <a:srgbClr val="0EA5E9"/>
          </a:solidFill>
          <a:ln w="12700">
            <a:solidFill>
              <a:srgbClr val="0EA5E9"/>
            </a:solidFill>
            <a:prstDash val="solid"/>
          </a:ln>
        </p:spPr>
      </p:sp>
      <p:sp>
        <p:nvSpPr>
          <p:cNvPr id="23" name="Text 19"/>
          <p:cNvSpPr/>
          <p:nvPr/>
        </p:nvSpPr>
        <p:spPr>
          <a:xfrm>
            <a:off x="7443216" y="3730752"/>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Program Kemitraan: </a:t>
            </a:r>
            <a:endParaRPr lang="en-US" sz="720" dirty="0"/>
          </a:p>
        </p:txBody>
      </p:sp>
      <p:sp>
        <p:nvSpPr>
          <p:cNvPr id="24" name="Text 20"/>
          <p:cNvSpPr/>
          <p:nvPr/>
        </p:nvSpPr>
        <p:spPr>
          <a:xfrm>
            <a:off x="8458200" y="3730752"/>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54,6% (Rp 12,83 M)</a:t>
            </a:r>
            <a:endParaRPr lang="en-US" sz="720" dirty="0"/>
          </a:p>
        </p:txBody>
      </p:sp>
      <p:sp>
        <p:nvSpPr>
          <p:cNvPr id="25" name="Shape 21"/>
          <p:cNvSpPr/>
          <p:nvPr/>
        </p:nvSpPr>
        <p:spPr>
          <a:xfrm>
            <a:off x="7315200" y="4023360"/>
            <a:ext cx="91440" cy="91440"/>
          </a:xfrm>
          <a:prstGeom prst="ellipse">
            <a:avLst/>
          </a:prstGeom>
          <a:solidFill>
            <a:srgbClr val="38BDF8"/>
          </a:solidFill>
          <a:ln w="12700">
            <a:solidFill>
              <a:srgbClr val="38BDF8"/>
            </a:solidFill>
            <a:prstDash val="solid"/>
          </a:ln>
        </p:spPr>
      </p:sp>
      <p:sp>
        <p:nvSpPr>
          <p:cNvPr id="26" name="Text 22"/>
          <p:cNvSpPr/>
          <p:nvPr/>
        </p:nvSpPr>
        <p:spPr>
          <a:xfrm>
            <a:off x="7443216" y="3986784"/>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Pelatihan &amp; Sertifikasi: </a:t>
            </a:r>
            <a:endParaRPr lang="en-US" sz="720" dirty="0"/>
          </a:p>
        </p:txBody>
      </p:sp>
      <p:sp>
        <p:nvSpPr>
          <p:cNvPr id="27" name="Text 23"/>
          <p:cNvSpPr/>
          <p:nvPr/>
        </p:nvSpPr>
        <p:spPr>
          <a:xfrm>
            <a:off x="8458200" y="3986784"/>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15,7% (Rp 3,68 M)</a:t>
            </a:r>
            <a:endParaRPr lang="en-US" sz="720" dirty="0"/>
          </a:p>
        </p:txBody>
      </p:sp>
      <p:sp>
        <p:nvSpPr>
          <p:cNvPr id="28" name="Shape 24"/>
          <p:cNvSpPr/>
          <p:nvPr/>
        </p:nvSpPr>
        <p:spPr>
          <a:xfrm>
            <a:off x="7315200" y="4279392"/>
            <a:ext cx="91440" cy="91440"/>
          </a:xfrm>
          <a:prstGeom prst="ellipse">
            <a:avLst/>
          </a:prstGeom>
          <a:solidFill>
            <a:srgbClr val="10B981"/>
          </a:solidFill>
          <a:ln w="12700">
            <a:solidFill>
              <a:srgbClr val="10B981"/>
            </a:solidFill>
            <a:prstDash val="solid"/>
          </a:ln>
        </p:spPr>
      </p:sp>
      <p:sp>
        <p:nvSpPr>
          <p:cNvPr id="29" name="Text 25"/>
          <p:cNvSpPr/>
          <p:nvPr/>
        </p:nvSpPr>
        <p:spPr>
          <a:xfrm>
            <a:off x="7443216" y="4242816"/>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Diklat Mandiri Spesialis: </a:t>
            </a:r>
            <a:endParaRPr lang="en-US" sz="720" dirty="0"/>
          </a:p>
        </p:txBody>
      </p:sp>
      <p:sp>
        <p:nvSpPr>
          <p:cNvPr id="30" name="Text 26"/>
          <p:cNvSpPr/>
          <p:nvPr/>
        </p:nvSpPr>
        <p:spPr>
          <a:xfrm>
            <a:off x="8458200" y="4242816"/>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10,5% (Rp 2,47 M)</a:t>
            </a:r>
            <a:endParaRPr lang="en-US" sz="720" dirty="0"/>
          </a:p>
        </p:txBody>
      </p:sp>
      <p:sp>
        <p:nvSpPr>
          <p:cNvPr id="31" name="Shape 27"/>
          <p:cNvSpPr/>
          <p:nvPr/>
        </p:nvSpPr>
        <p:spPr>
          <a:xfrm>
            <a:off x="9372600" y="3767328"/>
            <a:ext cx="91440" cy="91440"/>
          </a:xfrm>
          <a:prstGeom prst="ellipse">
            <a:avLst/>
          </a:prstGeom>
          <a:solidFill>
            <a:srgbClr val="F59E0B"/>
          </a:solidFill>
          <a:ln w="12700">
            <a:solidFill>
              <a:srgbClr val="F59E0B"/>
            </a:solidFill>
            <a:prstDash val="solid"/>
          </a:ln>
        </p:spPr>
      </p:sp>
      <p:sp>
        <p:nvSpPr>
          <p:cNvPr id="32" name="Text 28"/>
          <p:cNvSpPr/>
          <p:nvPr/>
        </p:nvSpPr>
        <p:spPr>
          <a:xfrm>
            <a:off x="9500616" y="3730752"/>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Lain-lain BLUD / MICE: </a:t>
            </a:r>
            <a:endParaRPr lang="en-US" sz="720" dirty="0"/>
          </a:p>
        </p:txBody>
      </p:sp>
      <p:sp>
        <p:nvSpPr>
          <p:cNvPr id="33" name="Text 29"/>
          <p:cNvSpPr/>
          <p:nvPr/>
        </p:nvSpPr>
        <p:spPr>
          <a:xfrm>
            <a:off x="10515600" y="3730752"/>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10,4% (Rp 2,45 M)</a:t>
            </a:r>
            <a:endParaRPr lang="en-US" sz="720" dirty="0"/>
          </a:p>
        </p:txBody>
      </p:sp>
      <p:sp>
        <p:nvSpPr>
          <p:cNvPr id="34" name="Shape 30"/>
          <p:cNvSpPr/>
          <p:nvPr/>
        </p:nvSpPr>
        <p:spPr>
          <a:xfrm>
            <a:off x="9372600" y="4023360"/>
            <a:ext cx="91440" cy="91440"/>
          </a:xfrm>
          <a:prstGeom prst="ellipse">
            <a:avLst/>
          </a:prstGeom>
          <a:solidFill>
            <a:srgbClr val="8B5CF6"/>
          </a:solidFill>
          <a:ln w="12700">
            <a:solidFill>
              <a:srgbClr val="8B5CF6"/>
            </a:solidFill>
            <a:prstDash val="solid"/>
          </a:ln>
        </p:spPr>
      </p:sp>
      <p:sp>
        <p:nvSpPr>
          <p:cNvPr id="35" name="Text 31"/>
          <p:cNvSpPr/>
          <p:nvPr/>
        </p:nvSpPr>
        <p:spPr>
          <a:xfrm>
            <a:off x="9500616" y="3986784"/>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Rekayasa Manufaktur: </a:t>
            </a:r>
            <a:endParaRPr lang="en-US" sz="720" dirty="0"/>
          </a:p>
        </p:txBody>
      </p:sp>
      <p:sp>
        <p:nvSpPr>
          <p:cNvPr id="36" name="Text 32"/>
          <p:cNvSpPr/>
          <p:nvPr/>
        </p:nvSpPr>
        <p:spPr>
          <a:xfrm>
            <a:off x="10515600" y="3986784"/>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6,2% (Rp 1,47 M)</a:t>
            </a:r>
            <a:endParaRPr lang="en-US" sz="720" dirty="0"/>
          </a:p>
        </p:txBody>
      </p:sp>
      <p:sp>
        <p:nvSpPr>
          <p:cNvPr id="37" name="Shape 33"/>
          <p:cNvSpPr/>
          <p:nvPr/>
        </p:nvSpPr>
        <p:spPr>
          <a:xfrm>
            <a:off x="9372600" y="4279392"/>
            <a:ext cx="91440" cy="91440"/>
          </a:xfrm>
          <a:prstGeom prst="ellipse">
            <a:avLst/>
          </a:prstGeom>
          <a:solidFill>
            <a:srgbClr val="64748B"/>
          </a:solidFill>
          <a:ln w="12700">
            <a:solidFill>
              <a:srgbClr val="64748B"/>
            </a:solidFill>
            <a:prstDash val="solid"/>
          </a:ln>
        </p:spPr>
      </p:sp>
      <p:sp>
        <p:nvSpPr>
          <p:cNvPr id="38" name="Text 34"/>
          <p:cNvSpPr/>
          <p:nvPr/>
        </p:nvSpPr>
        <p:spPr>
          <a:xfrm>
            <a:off x="9500616" y="4242816"/>
            <a:ext cx="1234440" cy="20116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Kemitraan Lahan Eksisting: </a:t>
            </a:r>
            <a:endParaRPr lang="en-US" sz="720" dirty="0"/>
          </a:p>
        </p:txBody>
      </p:sp>
      <p:sp>
        <p:nvSpPr>
          <p:cNvPr id="39" name="Text 35"/>
          <p:cNvSpPr/>
          <p:nvPr/>
        </p:nvSpPr>
        <p:spPr>
          <a:xfrm>
            <a:off x="10515600" y="4242816"/>
            <a:ext cx="868680" cy="20116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2,5% (Rp 0,58 M)</a:t>
            </a:r>
            <a:endParaRPr lang="en-US" sz="720" dirty="0"/>
          </a:p>
        </p:txBody>
      </p:sp>
      <p:sp>
        <p:nvSpPr>
          <p:cNvPr id="40" name="Shape 36"/>
          <p:cNvSpPr/>
          <p:nvPr/>
        </p:nvSpPr>
        <p:spPr>
          <a:xfrm>
            <a:off x="7315200" y="4553712"/>
            <a:ext cx="3962095" cy="1527048"/>
          </a:xfrm>
          <a:prstGeom prst="roundRect">
            <a:avLst>
              <a:gd name="adj" fmla="val 2395"/>
            </a:avLst>
          </a:prstGeom>
          <a:solidFill>
            <a:srgbClr val="0D213F"/>
          </a:solidFill>
          <a:ln w="12700">
            <a:solidFill>
              <a:srgbClr val="1E3A5F"/>
            </a:solidFill>
            <a:prstDash val="solid"/>
          </a:ln>
        </p:spPr>
      </p:sp>
      <p:sp>
        <p:nvSpPr>
          <p:cNvPr id="41" name="Text 37"/>
          <p:cNvSpPr/>
          <p:nvPr/>
        </p:nvSpPr>
        <p:spPr>
          <a:xfrm>
            <a:off x="7452360" y="4626864"/>
            <a:ext cx="3657600" cy="201168"/>
          </a:xfrm>
          <a:prstGeom prst="rect">
            <a:avLst/>
          </a:prstGeom>
          <a:noFill/>
          <a:ln/>
        </p:spPr>
        <p:txBody>
          <a:bodyPr wrap="square" rtlCol="0" anchor="ctr"/>
          <a:lstStyle/>
          <a:p>
            <a:pPr indent="0" marL="0">
              <a:buNone/>
            </a:pPr>
            <a:r>
              <a:rPr lang="en-US" sz="880" b="1" dirty="0">
                <a:solidFill>
                  <a:srgbClr val="38BDF8"/>
                </a:solidFill>
                <a:latin typeface="Arial" pitchFamily="34" charset="0"/>
                <a:ea typeface="Arial" pitchFamily="34" charset="-122"/>
                <a:cs typeface="Arial" pitchFamily="34" charset="-120"/>
              </a:rPr>
              <a:t>TOP 5 KATALISATOR PENDAPATAN 2030:</a:t>
            </a:r>
            <a:endParaRPr lang="en-US" sz="880" dirty="0"/>
          </a:p>
        </p:txBody>
      </p:sp>
      <p:sp>
        <p:nvSpPr>
          <p:cNvPr id="42" name="Text 38"/>
          <p:cNvSpPr/>
          <p:nvPr/>
        </p:nvSpPr>
        <p:spPr>
          <a:xfrm>
            <a:off x="7452360" y="4864608"/>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#1 OGSCI Program Migas</a:t>
            </a:r>
            <a:endParaRPr lang="en-US" sz="780" dirty="0"/>
          </a:p>
        </p:txBody>
      </p:sp>
      <p:sp>
        <p:nvSpPr>
          <p:cNvPr id="43" name="Text 39"/>
          <p:cNvSpPr/>
          <p:nvPr/>
        </p:nvSpPr>
        <p:spPr>
          <a:xfrm>
            <a:off x="9601200" y="4864608"/>
            <a:ext cx="1554480" cy="219456"/>
          </a:xfrm>
          <a:prstGeom prst="rect">
            <a:avLst/>
          </a:prstGeom>
          <a:noFill/>
          <a:ln/>
        </p:spPr>
        <p:txBody>
          <a:bodyPr wrap="square" rtlCol="0" anchor="ctr"/>
          <a:lstStyle/>
          <a:p>
            <a:pPr algn="r" indent="0" marL="0">
              <a:buNone/>
            </a:pPr>
            <a:r>
              <a:rPr lang="en-US" sz="780" b="1" dirty="0">
                <a:solidFill>
                  <a:srgbClr val="F59E0B"/>
                </a:solidFill>
                <a:latin typeface="Arial" pitchFamily="34" charset="0"/>
                <a:ea typeface="Arial" pitchFamily="34" charset="-122"/>
                <a:cs typeface="Arial" pitchFamily="34" charset="-120"/>
              </a:rPr>
              <a:t>Rp 6.250.000.000</a:t>
            </a:r>
            <a:endParaRPr lang="en-US" sz="780" dirty="0"/>
          </a:p>
        </p:txBody>
      </p:sp>
      <p:sp>
        <p:nvSpPr>
          <p:cNvPr id="44" name="Text 40"/>
          <p:cNvSpPr/>
          <p:nvPr/>
        </p:nvSpPr>
        <p:spPr>
          <a:xfrm>
            <a:off x="7452360" y="5102352"/>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#2 Pemda e-Katalog Inovasi</a:t>
            </a:r>
            <a:endParaRPr lang="en-US" sz="780" dirty="0"/>
          </a:p>
        </p:txBody>
      </p:sp>
      <p:sp>
        <p:nvSpPr>
          <p:cNvPr id="45" name="Text 41"/>
          <p:cNvSpPr/>
          <p:nvPr/>
        </p:nvSpPr>
        <p:spPr>
          <a:xfrm>
            <a:off x="9601200" y="5102352"/>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2.250.000.000</a:t>
            </a:r>
            <a:endParaRPr lang="en-US" sz="780" dirty="0"/>
          </a:p>
        </p:txBody>
      </p:sp>
      <p:sp>
        <p:nvSpPr>
          <p:cNvPr id="46" name="Text 42"/>
          <p:cNvSpPr/>
          <p:nvPr/>
        </p:nvSpPr>
        <p:spPr>
          <a:xfrm>
            <a:off x="7452360" y="5340096"/>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#3 Startup Binaan STP</a:t>
            </a:r>
            <a:endParaRPr lang="en-US" sz="780" dirty="0"/>
          </a:p>
        </p:txBody>
      </p:sp>
      <p:sp>
        <p:nvSpPr>
          <p:cNvPr id="47" name="Text 43"/>
          <p:cNvSpPr/>
          <p:nvPr/>
        </p:nvSpPr>
        <p:spPr>
          <a:xfrm>
            <a:off x="9601200" y="5340096"/>
            <a:ext cx="1554480" cy="219456"/>
          </a:xfrm>
          <a:prstGeom prst="rect">
            <a:avLst/>
          </a:prstGeom>
          <a:noFill/>
          <a:ln/>
        </p:spPr>
        <p:txBody>
          <a:bodyPr wrap="square" rtlCol="0" anchor="ctr"/>
          <a:lstStyle/>
          <a:p>
            <a:pPr algn="r" indent="0" marL="0">
              <a:buNone/>
            </a:pPr>
            <a:r>
              <a:rPr lang="en-US" sz="780" b="1" dirty="0">
                <a:solidFill>
                  <a:srgbClr val="10B981"/>
                </a:solidFill>
                <a:latin typeface="Arial" pitchFamily="34" charset="0"/>
                <a:ea typeface="Arial" pitchFamily="34" charset="-122"/>
                <a:cs typeface="Arial" pitchFamily="34" charset="-120"/>
              </a:rPr>
              <a:t>Rp 2.000.000.000</a:t>
            </a:r>
            <a:endParaRPr lang="en-US" sz="780" dirty="0"/>
          </a:p>
        </p:txBody>
      </p:sp>
      <p:sp>
        <p:nvSpPr>
          <p:cNvPr id="48" name="Text 44"/>
          <p:cNvSpPr/>
          <p:nvPr/>
        </p:nvSpPr>
        <p:spPr>
          <a:xfrm>
            <a:off x="7452360" y="5577840"/>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#4 Sertifikasi Tenaga JFT</a:t>
            </a:r>
            <a:endParaRPr lang="en-US" sz="780" dirty="0"/>
          </a:p>
        </p:txBody>
      </p:sp>
      <p:sp>
        <p:nvSpPr>
          <p:cNvPr id="49" name="Text 45"/>
          <p:cNvSpPr/>
          <p:nvPr/>
        </p:nvSpPr>
        <p:spPr>
          <a:xfrm>
            <a:off x="9601200" y="5577840"/>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1.375.000.000</a:t>
            </a:r>
            <a:endParaRPr lang="en-US" sz="780" dirty="0"/>
          </a:p>
        </p:txBody>
      </p:sp>
      <p:sp>
        <p:nvSpPr>
          <p:cNvPr id="50" name="Text 46"/>
          <p:cNvSpPr/>
          <p:nvPr/>
        </p:nvSpPr>
        <p:spPr>
          <a:xfrm>
            <a:off x="7452360" y="5815584"/>
            <a:ext cx="2103120" cy="219456"/>
          </a:xfrm>
          <a:prstGeom prst="rect">
            <a:avLst/>
          </a:prstGeom>
          <a:noFill/>
          <a:ln/>
        </p:spPr>
        <p:txBody>
          <a:bodyPr wrap="square" rtlCol="0" anchor="ctr"/>
          <a:lstStyle/>
          <a:p>
            <a:pPr indent="0" marL="0">
              <a:buNone/>
            </a:pPr>
            <a:r>
              <a:rPr lang="en-US" sz="780" dirty="0">
                <a:solidFill>
                  <a:srgbClr val="94A3B8"/>
                </a:solidFill>
                <a:latin typeface="Arial" pitchFamily="34" charset="0"/>
                <a:ea typeface="Arial" pitchFamily="34" charset="-122"/>
                <a:cs typeface="Arial" pitchFamily="34" charset="-120"/>
              </a:rPr>
              <a:t>#5 Tempat Uji Kompetensi</a:t>
            </a:r>
            <a:endParaRPr lang="en-US" sz="780" dirty="0"/>
          </a:p>
        </p:txBody>
      </p:sp>
      <p:sp>
        <p:nvSpPr>
          <p:cNvPr id="51" name="Text 47"/>
          <p:cNvSpPr/>
          <p:nvPr/>
        </p:nvSpPr>
        <p:spPr>
          <a:xfrm>
            <a:off x="9601200" y="5815584"/>
            <a:ext cx="1554480" cy="219456"/>
          </a:xfrm>
          <a:prstGeom prst="rect">
            <a:avLst/>
          </a:prstGeom>
          <a:noFill/>
          <a:ln/>
        </p:spPr>
        <p:txBody>
          <a:bodyPr wrap="square" rtlCol="0" anchor="ctr"/>
          <a:lstStyle/>
          <a:p>
            <a:pPr algn="r" indent="0" marL="0">
              <a:buNone/>
            </a:pPr>
            <a:r>
              <a:rPr lang="en-US" sz="780" b="1" dirty="0">
                <a:solidFill>
                  <a:srgbClr val="FFFFFF"/>
                </a:solidFill>
                <a:latin typeface="Arial" pitchFamily="34" charset="0"/>
                <a:ea typeface="Arial" pitchFamily="34" charset="-122"/>
                <a:cs typeface="Arial" pitchFamily="34" charset="-120"/>
              </a:rPr>
              <a:t>Rp 1.350.000.000</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TRANSPARANSI ANGGARAN &amp; STRUKTUR PENDAPATAN</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ANATOMY MESIN PENDAPATAN 2030: RINCIAN PER MATA ANGGARAN</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Transparansi Total Hasil Rekonsiliasi: Dari Mana Setiap Rupiah dari Target Rp 23,47 Miliar Berasal</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10 / 12</a:t>
            </a:r>
            <a:endParaRPr lang="en-US" sz="900" dirty="0"/>
          </a:p>
        </p:txBody>
      </p:sp>
      <p:sp>
        <p:nvSpPr>
          <p:cNvPr id="11" name="Shape 9"/>
          <p:cNvSpPr/>
          <p:nvPr/>
        </p:nvSpPr>
        <p:spPr>
          <a:xfrm>
            <a:off x="731520" y="1280160"/>
            <a:ext cx="5863210" cy="292608"/>
          </a:xfrm>
          <a:prstGeom prst="rect">
            <a:avLst/>
          </a:prstGeom>
          <a:solidFill>
            <a:srgbClr val="0EA5E9"/>
          </a:solidFill>
          <a:ln w="12700">
            <a:solidFill>
              <a:srgbClr val="070D18"/>
            </a:solidFill>
            <a:prstDash val="solid"/>
          </a:ln>
        </p:spPr>
      </p:sp>
      <p:sp>
        <p:nvSpPr>
          <p:cNvPr id="12" name="Text 10"/>
          <p:cNvSpPr/>
          <p:nvPr/>
        </p:nvSpPr>
        <p:spPr>
          <a:xfrm>
            <a:off x="731520" y="1280160"/>
            <a:ext cx="5863210" cy="292608"/>
          </a:xfrm>
          <a:prstGeom prst="rect">
            <a:avLst/>
          </a:prstGeom>
          <a:noFill/>
          <a:ln/>
        </p:spPr>
        <p:txBody>
          <a:bodyPr wrap="square" rtlCol="0" anchor="ctr"/>
          <a:lstStyle/>
          <a:p>
            <a:pPr algn="ctr" indent="0" marL="0">
              <a:buNone/>
            </a:pPr>
            <a:r>
              <a:rPr lang="en-US" sz="850" b="1" dirty="0">
                <a:solidFill>
                  <a:srgbClr val="070D18"/>
                </a:solidFill>
                <a:latin typeface="Arial" pitchFamily="34" charset="0"/>
                <a:ea typeface="Arial" pitchFamily="34" charset="-122"/>
                <a:cs typeface="Arial" pitchFamily="34" charset="-120"/>
              </a:rPr>
              <a:t>Klaster A: Kemitraan Strategis (54,6%)</a:t>
            </a:r>
            <a:endParaRPr lang="en-US" sz="850" dirty="0"/>
          </a:p>
        </p:txBody>
      </p:sp>
      <p:sp>
        <p:nvSpPr>
          <p:cNvPr id="13" name="Shape 11"/>
          <p:cNvSpPr/>
          <p:nvPr/>
        </p:nvSpPr>
        <p:spPr>
          <a:xfrm>
            <a:off x="6594730" y="1280160"/>
            <a:ext cx="1682253" cy="292608"/>
          </a:xfrm>
          <a:prstGeom prst="rect">
            <a:avLst/>
          </a:prstGeom>
          <a:solidFill>
            <a:srgbClr val="38BDF8"/>
          </a:solidFill>
          <a:ln w="12700">
            <a:solidFill>
              <a:srgbClr val="070D18"/>
            </a:solidFill>
            <a:prstDash val="solid"/>
          </a:ln>
        </p:spPr>
      </p:sp>
      <p:sp>
        <p:nvSpPr>
          <p:cNvPr id="14" name="Text 12"/>
          <p:cNvSpPr/>
          <p:nvPr/>
        </p:nvSpPr>
        <p:spPr>
          <a:xfrm>
            <a:off x="6594730" y="1280160"/>
            <a:ext cx="1682253"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B: Vokasi (15,7%)</a:t>
            </a:r>
            <a:endParaRPr lang="en-US" sz="750" dirty="0"/>
          </a:p>
        </p:txBody>
      </p:sp>
      <p:sp>
        <p:nvSpPr>
          <p:cNvPr id="15" name="Shape 13"/>
          <p:cNvSpPr/>
          <p:nvPr/>
        </p:nvSpPr>
        <p:spPr>
          <a:xfrm>
            <a:off x="8276983" y="1280160"/>
            <a:ext cx="1128655" cy="292608"/>
          </a:xfrm>
          <a:prstGeom prst="rect">
            <a:avLst/>
          </a:prstGeom>
          <a:solidFill>
            <a:srgbClr val="F59E0B"/>
          </a:solidFill>
          <a:ln w="12700">
            <a:solidFill>
              <a:srgbClr val="070D18"/>
            </a:solidFill>
            <a:prstDash val="solid"/>
          </a:ln>
        </p:spPr>
      </p:sp>
      <p:sp>
        <p:nvSpPr>
          <p:cNvPr id="16" name="Text 14"/>
          <p:cNvSpPr/>
          <p:nvPr/>
        </p:nvSpPr>
        <p:spPr>
          <a:xfrm>
            <a:off x="8276983" y="1280160"/>
            <a:ext cx="1128655"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C: Diklat (10,5%)</a:t>
            </a:r>
            <a:endParaRPr lang="en-US" sz="750" dirty="0"/>
          </a:p>
        </p:txBody>
      </p:sp>
      <p:sp>
        <p:nvSpPr>
          <p:cNvPr id="17" name="Shape 15"/>
          <p:cNvSpPr/>
          <p:nvPr/>
        </p:nvSpPr>
        <p:spPr>
          <a:xfrm>
            <a:off x="9405638" y="1280160"/>
            <a:ext cx="1120072" cy="292608"/>
          </a:xfrm>
          <a:prstGeom prst="rect">
            <a:avLst/>
          </a:prstGeom>
          <a:solidFill>
            <a:srgbClr val="10B981"/>
          </a:solidFill>
          <a:ln w="12700">
            <a:solidFill>
              <a:srgbClr val="070D18"/>
            </a:solidFill>
            <a:prstDash val="solid"/>
          </a:ln>
        </p:spPr>
      </p:sp>
      <p:sp>
        <p:nvSpPr>
          <p:cNvPr id="18" name="Text 16"/>
          <p:cNvSpPr/>
          <p:nvPr/>
        </p:nvSpPr>
        <p:spPr>
          <a:xfrm>
            <a:off x="9405638" y="1280160"/>
            <a:ext cx="1120072" cy="292608"/>
          </a:xfrm>
          <a:prstGeom prst="rect">
            <a:avLst/>
          </a:prstGeom>
          <a:noFill/>
          <a:ln/>
        </p:spPr>
        <p:txBody>
          <a:bodyPr wrap="square" rtlCol="0" anchor="ctr"/>
          <a:lstStyle/>
          <a:p>
            <a:pPr algn="ctr" indent="0" marL="0">
              <a:buNone/>
            </a:pPr>
            <a:r>
              <a:rPr lang="en-US" sz="750" b="1" dirty="0">
                <a:solidFill>
                  <a:srgbClr val="070D18"/>
                </a:solidFill>
                <a:latin typeface="Arial" pitchFamily="34" charset="0"/>
                <a:ea typeface="Arial" pitchFamily="34" charset="-122"/>
                <a:cs typeface="Arial" pitchFamily="34" charset="-120"/>
              </a:rPr>
              <a:t>D: MICE (10,4%)</a:t>
            </a:r>
            <a:endParaRPr lang="en-US" sz="750" dirty="0"/>
          </a:p>
        </p:txBody>
      </p:sp>
      <p:sp>
        <p:nvSpPr>
          <p:cNvPr id="19" name="Shape 17"/>
          <p:cNvSpPr/>
          <p:nvPr/>
        </p:nvSpPr>
        <p:spPr>
          <a:xfrm>
            <a:off x="10525709" y="1280160"/>
            <a:ext cx="669468" cy="292608"/>
          </a:xfrm>
          <a:prstGeom prst="rect">
            <a:avLst/>
          </a:prstGeom>
          <a:solidFill>
            <a:srgbClr val="8B5CF6"/>
          </a:solidFill>
          <a:ln w="12700">
            <a:solidFill>
              <a:srgbClr val="070D18"/>
            </a:solidFill>
            <a:prstDash val="solid"/>
          </a:ln>
        </p:spPr>
      </p:sp>
      <p:sp>
        <p:nvSpPr>
          <p:cNvPr id="20" name="Text 18"/>
          <p:cNvSpPr/>
          <p:nvPr/>
        </p:nvSpPr>
        <p:spPr>
          <a:xfrm>
            <a:off x="10525709" y="1280160"/>
            <a:ext cx="669468" cy="292608"/>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E: 6,2%</a:t>
            </a:r>
            <a:endParaRPr lang="en-US" sz="650" dirty="0"/>
          </a:p>
        </p:txBody>
      </p:sp>
      <p:sp>
        <p:nvSpPr>
          <p:cNvPr id="21" name="Shape 19"/>
          <p:cNvSpPr/>
          <p:nvPr/>
        </p:nvSpPr>
        <p:spPr>
          <a:xfrm>
            <a:off x="11195177" y="1280160"/>
            <a:ext cx="264998" cy="292608"/>
          </a:xfrm>
          <a:prstGeom prst="rect">
            <a:avLst/>
          </a:prstGeom>
          <a:solidFill>
            <a:srgbClr val="64748B"/>
          </a:solidFill>
          <a:ln w="12700">
            <a:solidFill>
              <a:srgbClr val="070D18"/>
            </a:solidFill>
            <a:prstDash val="solid"/>
          </a:ln>
        </p:spPr>
      </p:sp>
      <p:sp>
        <p:nvSpPr>
          <p:cNvPr id="22" name="Text 20"/>
          <p:cNvSpPr/>
          <p:nvPr/>
        </p:nvSpPr>
        <p:spPr>
          <a:xfrm>
            <a:off x="11195177" y="1280160"/>
            <a:ext cx="264998" cy="292608"/>
          </a:xfrm>
          <a:prstGeom prst="rect">
            <a:avLst/>
          </a:prstGeom>
          <a:noFill/>
          <a:ln/>
        </p:spPr>
        <p:txBody>
          <a:bodyPr wrap="square" rtlCol="0" anchor="ctr"/>
          <a:lstStyle/>
          <a:p>
            <a:pPr algn="ctr" indent="0" marL="0">
              <a:buNone/>
            </a:pPr>
            <a:r>
              <a:rPr lang="en-US" sz="650" b="1" dirty="0">
                <a:solidFill>
                  <a:srgbClr val="FFFFFF"/>
                </a:solidFill>
                <a:latin typeface="Arial" pitchFamily="34" charset="0"/>
                <a:ea typeface="Arial" pitchFamily="34" charset="-122"/>
                <a:cs typeface="Arial" pitchFamily="34" charset="-120"/>
              </a:rPr>
              <a:t>F</a:t>
            </a:r>
            <a:endParaRPr lang="en-US" sz="650" dirty="0"/>
          </a:p>
        </p:txBody>
      </p:sp>
      <p:sp>
        <p:nvSpPr>
          <p:cNvPr id="23" name="Shape 21"/>
          <p:cNvSpPr/>
          <p:nvPr/>
        </p:nvSpPr>
        <p:spPr>
          <a:xfrm>
            <a:off x="731520" y="1664208"/>
            <a:ext cx="4434840" cy="4005072"/>
          </a:xfrm>
          <a:prstGeom prst="roundRect">
            <a:avLst>
              <a:gd name="adj" fmla="val 1826"/>
            </a:avLst>
          </a:prstGeom>
          <a:solidFill>
            <a:srgbClr val="0A192F"/>
          </a:solidFill>
          <a:ln w="12700">
            <a:solidFill>
              <a:srgbClr val="1E3A5F"/>
            </a:solidFill>
            <a:prstDash val="solid"/>
          </a:ln>
        </p:spPr>
      </p:sp>
      <p:sp>
        <p:nvSpPr>
          <p:cNvPr id="24" name="Shape 22"/>
          <p:cNvSpPr/>
          <p:nvPr/>
        </p:nvSpPr>
        <p:spPr>
          <a:xfrm>
            <a:off x="731520" y="1664208"/>
            <a:ext cx="73152" cy="4005072"/>
          </a:xfrm>
          <a:prstGeom prst="roundRect">
            <a:avLst>
              <a:gd name="adj" fmla="val 50000"/>
            </a:avLst>
          </a:prstGeom>
          <a:solidFill>
            <a:srgbClr val="0EA5E9"/>
          </a:solidFill>
          <a:ln w="12700">
            <a:solidFill>
              <a:srgbClr val="0EA5E9"/>
            </a:solidFill>
            <a:prstDash val="solid"/>
          </a:ln>
        </p:spPr>
      </p:sp>
      <p:sp>
        <p:nvSpPr>
          <p:cNvPr id="25" name="Shape 23"/>
          <p:cNvSpPr/>
          <p:nvPr/>
        </p:nvSpPr>
        <p:spPr>
          <a:xfrm>
            <a:off x="868680" y="1773936"/>
            <a:ext cx="4160520" cy="676656"/>
          </a:xfrm>
          <a:prstGeom prst="roundRect">
            <a:avLst>
              <a:gd name="adj" fmla="val 6757"/>
            </a:avLst>
          </a:prstGeom>
          <a:solidFill>
            <a:srgbClr val="0D213F"/>
          </a:solidFill>
          <a:ln w="19050">
            <a:solidFill>
              <a:srgbClr val="0EA5E9"/>
            </a:solidFill>
            <a:prstDash val="solid"/>
          </a:ln>
        </p:spPr>
      </p:sp>
      <p:sp>
        <p:nvSpPr>
          <p:cNvPr id="26" name="Text 24"/>
          <p:cNvSpPr/>
          <p:nvPr/>
        </p:nvSpPr>
        <p:spPr>
          <a:xfrm>
            <a:off x="960120" y="1792224"/>
            <a:ext cx="2176272" cy="640080"/>
          </a:xfrm>
          <a:prstGeom prst="rect">
            <a:avLst/>
          </a:prstGeom>
          <a:noFill/>
          <a:ln/>
        </p:spPr>
        <p:txBody>
          <a:bodyPr wrap="square" rtlCol="0" anchor="ctr"/>
          <a:lstStyle/>
          <a:p>
            <a:pPr indent="0" marL="0">
              <a:buNone/>
            </a:pPr>
            <a:r>
              <a:rPr lang="en-US" sz="780" b="1" dirty="0">
                <a:solidFill>
                  <a:srgbClr val="38BDF8"/>
                </a:solidFill>
                <a:latin typeface="Arial" pitchFamily="34" charset="0"/>
                <a:ea typeface="Arial" pitchFamily="34" charset="-122"/>
                <a:cs typeface="Arial" pitchFamily="34" charset="-120"/>
              </a:rPr>
              <a:t>🏆 ENGINE UTAMA (54,6% REVENUE)
</a:t>
            </a:r>
            <a:pPr indent="0" marL="0">
              <a:buNone/>
            </a:pPr>
            <a:r>
              <a:rPr lang="en-US" sz="880" b="1" dirty="0">
                <a:solidFill>
                  <a:srgbClr val="FFFFFF"/>
                </a:solidFill>
                <a:latin typeface="Arial" pitchFamily="34" charset="0"/>
                <a:ea typeface="Arial" pitchFamily="34" charset="-122"/>
                <a:cs typeface="Arial" pitchFamily="34" charset="-120"/>
              </a:rPr>
              <a:t>KLASTER A: KERJASAMA STRATEGIS
</a:t>
            </a:r>
            <a:pPr indent="0" marL="0">
              <a:buNone/>
            </a:pPr>
            <a:r>
              <a:rPr lang="en-US" sz="720" dirty="0">
                <a:solidFill>
                  <a:srgbClr val="94A3B8"/>
                </a:solidFill>
                <a:latin typeface="Arial" pitchFamily="34" charset="0"/>
                <a:ea typeface="Arial" pitchFamily="34" charset="-122"/>
                <a:cs typeface="Arial" pitchFamily="34" charset="-120"/>
              </a:rPr>
              <a:t>5 Program Kemitraan Unggulan 2030</a:t>
            </a:r>
            <a:endParaRPr lang="en-US" sz="780" dirty="0"/>
          </a:p>
        </p:txBody>
      </p:sp>
      <p:sp>
        <p:nvSpPr>
          <p:cNvPr id="27" name="Shape 25"/>
          <p:cNvSpPr/>
          <p:nvPr/>
        </p:nvSpPr>
        <p:spPr>
          <a:xfrm>
            <a:off x="3200400" y="1828800"/>
            <a:ext cx="1737360" cy="566928"/>
          </a:xfrm>
          <a:prstGeom prst="roundRect">
            <a:avLst>
              <a:gd name="adj" fmla="val 6452"/>
            </a:avLst>
          </a:prstGeom>
          <a:solidFill>
            <a:srgbClr val="070D18"/>
          </a:solidFill>
          <a:ln w="12700">
            <a:solidFill>
              <a:srgbClr val="F59E0B"/>
            </a:solidFill>
            <a:prstDash val="solid"/>
          </a:ln>
        </p:spPr>
      </p:sp>
      <p:sp>
        <p:nvSpPr>
          <p:cNvPr id="28" name="Text 26"/>
          <p:cNvSpPr/>
          <p:nvPr/>
        </p:nvSpPr>
        <p:spPr>
          <a:xfrm>
            <a:off x="3200400" y="1865376"/>
            <a:ext cx="1737360" cy="274320"/>
          </a:xfrm>
          <a:prstGeom prst="rect">
            <a:avLst/>
          </a:prstGeom>
          <a:noFill/>
          <a:ln/>
        </p:spPr>
        <p:txBody>
          <a:bodyPr wrap="square" rtlCol="0" anchor="ctr"/>
          <a:lstStyle/>
          <a:p>
            <a:pPr algn="ctr" indent="0" marL="0">
              <a:buNone/>
            </a:pPr>
            <a:r>
              <a:rPr lang="en-US" sz="1250" b="1" dirty="0">
                <a:solidFill>
                  <a:srgbClr val="F59E0B"/>
                </a:solidFill>
                <a:latin typeface="Arial" pitchFamily="34" charset="0"/>
                <a:ea typeface="Arial" pitchFamily="34" charset="-122"/>
                <a:cs typeface="Arial" pitchFamily="34" charset="-120"/>
              </a:rPr>
              <a:t>Rp 12.825.000.000</a:t>
            </a:r>
            <a:endParaRPr lang="en-US" sz="1250" dirty="0"/>
          </a:p>
        </p:txBody>
      </p:sp>
      <p:sp>
        <p:nvSpPr>
          <p:cNvPr id="29" name="Text 27"/>
          <p:cNvSpPr/>
          <p:nvPr/>
        </p:nvSpPr>
        <p:spPr>
          <a:xfrm>
            <a:off x="3200400" y="2139696"/>
            <a:ext cx="1737360" cy="182880"/>
          </a:xfrm>
          <a:prstGeom prst="rect">
            <a:avLst/>
          </a:prstGeom>
          <a:noFill/>
          <a:ln/>
        </p:spPr>
        <p:txBody>
          <a:bodyPr wrap="square" rtlCol="0" anchor="ctr"/>
          <a:lstStyle/>
          <a:p>
            <a:pPr algn="ctr" indent="0" marL="0">
              <a:buNone/>
            </a:pPr>
            <a:r>
              <a:rPr lang="en-US" sz="680" b="1" dirty="0">
                <a:solidFill>
                  <a:srgbClr val="38BDF8"/>
                </a:solidFill>
                <a:latin typeface="Arial" pitchFamily="34" charset="0"/>
                <a:ea typeface="Arial" pitchFamily="34" charset="-122"/>
                <a:cs typeface="Arial" pitchFamily="34" charset="-120"/>
              </a:rPr>
              <a:t>54,65% DARI TOTAL TARGET</a:t>
            </a:r>
            <a:endParaRPr lang="en-US" sz="680" dirty="0"/>
          </a:p>
        </p:txBody>
      </p:sp>
      <p:sp>
        <p:nvSpPr>
          <p:cNvPr id="30" name="Shape 28"/>
          <p:cNvSpPr/>
          <p:nvPr/>
        </p:nvSpPr>
        <p:spPr>
          <a:xfrm>
            <a:off x="868680" y="2532888"/>
            <a:ext cx="4160520" cy="402336"/>
          </a:xfrm>
          <a:prstGeom prst="roundRect">
            <a:avLst>
              <a:gd name="adj" fmla="val 9091"/>
            </a:avLst>
          </a:prstGeom>
          <a:solidFill>
            <a:srgbClr val="1E293B"/>
          </a:solidFill>
          <a:ln w="15240">
            <a:solidFill>
              <a:srgbClr val="F59E0B"/>
            </a:solidFill>
            <a:prstDash val="solid"/>
          </a:ln>
        </p:spPr>
      </p:sp>
      <p:sp>
        <p:nvSpPr>
          <p:cNvPr id="31" name="Shape 29"/>
          <p:cNvSpPr/>
          <p:nvPr/>
        </p:nvSpPr>
        <p:spPr>
          <a:xfrm>
            <a:off x="987552" y="2697480"/>
            <a:ext cx="82296" cy="82296"/>
          </a:xfrm>
          <a:prstGeom prst="ellipse">
            <a:avLst/>
          </a:prstGeom>
          <a:solidFill>
            <a:srgbClr val="F59E0B"/>
          </a:solidFill>
          <a:ln w="12700">
            <a:solidFill>
              <a:srgbClr val="F59E0B"/>
            </a:solidFill>
            <a:prstDash val="solid"/>
          </a:ln>
        </p:spPr>
      </p:sp>
      <p:sp>
        <p:nvSpPr>
          <p:cNvPr id="32" name="Text 30"/>
          <p:cNvSpPr/>
          <p:nvPr/>
        </p:nvSpPr>
        <p:spPr>
          <a:xfrm>
            <a:off x="1115568" y="2569464"/>
            <a:ext cx="2468880" cy="329184"/>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OGSCI Migas &amp; Maritim (Konsorsium)</a:t>
            </a:r>
            <a:pPr indent="0" marL="0">
              <a:buNone/>
            </a:pPr>
            <a:r>
              <a:rPr lang="en-US" sz="720" dirty="0">
                <a:solidFill>
                  <a:srgbClr val="F59E0B"/>
                </a:solidFill>
                <a:latin typeface="Arial" pitchFamily="34" charset="0"/>
                <a:ea typeface="Arial" pitchFamily="34" charset="-122"/>
                <a:cs typeface="Arial" pitchFamily="34" charset="-120"/>
              </a:rPr>
              <a:t>  [Anchor Revenue]</a:t>
            </a:r>
            <a:endParaRPr lang="en-US" sz="850" dirty="0"/>
          </a:p>
        </p:txBody>
      </p:sp>
      <p:sp>
        <p:nvSpPr>
          <p:cNvPr id="33" name="Text 31"/>
          <p:cNvSpPr/>
          <p:nvPr/>
        </p:nvSpPr>
        <p:spPr>
          <a:xfrm>
            <a:off x="3566160" y="2569464"/>
            <a:ext cx="1325880" cy="329184"/>
          </a:xfrm>
          <a:prstGeom prst="rect">
            <a:avLst/>
          </a:prstGeom>
          <a:noFill/>
          <a:ln/>
        </p:spPr>
        <p:txBody>
          <a:bodyPr wrap="square" rtlCol="0" anchor="ctr"/>
          <a:lstStyle/>
          <a:p>
            <a:pPr algn="r" indent="0" marL="0">
              <a:buNone/>
            </a:pPr>
            <a:r>
              <a:rPr lang="en-US" sz="880" b="1" dirty="0">
                <a:solidFill>
                  <a:srgbClr val="F59E0B"/>
                </a:solidFill>
                <a:latin typeface="Arial" pitchFamily="34" charset="0"/>
                <a:ea typeface="Arial" pitchFamily="34" charset="-122"/>
                <a:cs typeface="Arial" pitchFamily="34" charset="-120"/>
              </a:rPr>
              <a:t>Rp 6.250.000.000</a:t>
            </a:r>
            <a:endParaRPr lang="en-US" sz="880" dirty="0"/>
          </a:p>
        </p:txBody>
      </p:sp>
      <p:sp>
        <p:nvSpPr>
          <p:cNvPr id="34" name="Shape 32"/>
          <p:cNvSpPr/>
          <p:nvPr/>
        </p:nvSpPr>
        <p:spPr>
          <a:xfrm>
            <a:off x="868680" y="2990088"/>
            <a:ext cx="4160520" cy="402336"/>
          </a:xfrm>
          <a:prstGeom prst="roundRect">
            <a:avLst>
              <a:gd name="adj" fmla="val 9091"/>
            </a:avLst>
          </a:prstGeom>
          <a:solidFill>
            <a:srgbClr val="070D18"/>
          </a:solidFill>
          <a:ln w="10160">
            <a:solidFill>
              <a:srgbClr val="1E3A5F"/>
            </a:solidFill>
            <a:prstDash val="solid"/>
          </a:ln>
        </p:spPr>
      </p:sp>
      <p:sp>
        <p:nvSpPr>
          <p:cNvPr id="35" name="Shape 33"/>
          <p:cNvSpPr/>
          <p:nvPr/>
        </p:nvSpPr>
        <p:spPr>
          <a:xfrm>
            <a:off x="987552" y="3154680"/>
            <a:ext cx="82296" cy="82296"/>
          </a:xfrm>
          <a:prstGeom prst="ellipse">
            <a:avLst/>
          </a:prstGeom>
          <a:solidFill>
            <a:srgbClr val="0EA5E9"/>
          </a:solidFill>
          <a:ln w="12700">
            <a:solidFill>
              <a:srgbClr val="0EA5E9"/>
            </a:solidFill>
            <a:prstDash val="solid"/>
          </a:ln>
        </p:spPr>
      </p:sp>
      <p:sp>
        <p:nvSpPr>
          <p:cNvPr id="36" name="Text 34"/>
          <p:cNvSpPr/>
          <p:nvPr/>
        </p:nvSpPr>
        <p:spPr>
          <a:xfrm>
            <a:off x="1115568" y="30266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Pemda Solo (e-Katalog Inovasi)</a:t>
            </a:r>
            <a:pPr indent="0" marL="0">
              <a:buNone/>
            </a:pPr>
            <a:r>
              <a:rPr lang="en-US" sz="720" dirty="0">
                <a:solidFill>
                  <a:srgbClr val="38BDF8"/>
                </a:solidFill>
                <a:latin typeface="Arial" pitchFamily="34" charset="0"/>
                <a:ea typeface="Arial" pitchFamily="34" charset="-122"/>
                <a:cs typeface="Arial" pitchFamily="34" charset="-120"/>
              </a:rPr>
              <a:t>  [Instruksi Walikota]</a:t>
            </a:r>
            <a:endParaRPr lang="en-US" sz="850" dirty="0"/>
          </a:p>
        </p:txBody>
      </p:sp>
      <p:sp>
        <p:nvSpPr>
          <p:cNvPr id="37" name="Text 35"/>
          <p:cNvSpPr/>
          <p:nvPr/>
        </p:nvSpPr>
        <p:spPr>
          <a:xfrm>
            <a:off x="3566160" y="30266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2.250.000.000</a:t>
            </a:r>
            <a:endParaRPr lang="en-US" sz="880" dirty="0"/>
          </a:p>
        </p:txBody>
      </p:sp>
      <p:sp>
        <p:nvSpPr>
          <p:cNvPr id="38" name="Shape 36"/>
          <p:cNvSpPr/>
          <p:nvPr/>
        </p:nvSpPr>
        <p:spPr>
          <a:xfrm>
            <a:off x="868680" y="3447288"/>
            <a:ext cx="4160520" cy="402336"/>
          </a:xfrm>
          <a:prstGeom prst="roundRect">
            <a:avLst>
              <a:gd name="adj" fmla="val 9091"/>
            </a:avLst>
          </a:prstGeom>
          <a:solidFill>
            <a:srgbClr val="070D18"/>
          </a:solidFill>
          <a:ln w="10160">
            <a:solidFill>
              <a:srgbClr val="1E3A5F"/>
            </a:solidFill>
            <a:prstDash val="solid"/>
          </a:ln>
        </p:spPr>
      </p:sp>
      <p:sp>
        <p:nvSpPr>
          <p:cNvPr id="39" name="Shape 37"/>
          <p:cNvSpPr/>
          <p:nvPr/>
        </p:nvSpPr>
        <p:spPr>
          <a:xfrm>
            <a:off x="987552" y="3611880"/>
            <a:ext cx="82296" cy="82296"/>
          </a:xfrm>
          <a:prstGeom prst="ellipse">
            <a:avLst/>
          </a:prstGeom>
          <a:solidFill>
            <a:srgbClr val="0EA5E9"/>
          </a:solidFill>
          <a:ln w="12700">
            <a:solidFill>
              <a:srgbClr val="0EA5E9"/>
            </a:solidFill>
            <a:prstDash val="solid"/>
          </a:ln>
        </p:spPr>
      </p:sp>
      <p:sp>
        <p:nvSpPr>
          <p:cNvPr id="40" name="Text 38"/>
          <p:cNvSpPr/>
          <p:nvPr/>
        </p:nvSpPr>
        <p:spPr>
          <a:xfrm>
            <a:off x="1115568" y="34838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Startup Binaan STP (Komersialisasi)</a:t>
            </a:r>
            <a:pPr indent="0" marL="0">
              <a:buNone/>
            </a:pPr>
            <a:r>
              <a:rPr lang="en-US" sz="720" dirty="0">
                <a:solidFill>
                  <a:srgbClr val="38BDF8"/>
                </a:solidFill>
                <a:latin typeface="Arial" pitchFamily="34" charset="0"/>
                <a:ea typeface="Arial" pitchFamily="34" charset="-122"/>
                <a:cs typeface="Arial" pitchFamily="34" charset="-120"/>
              </a:rPr>
              <a:t>  [Success Fee &amp; Jasa]</a:t>
            </a:r>
            <a:endParaRPr lang="en-US" sz="850" dirty="0"/>
          </a:p>
        </p:txBody>
      </p:sp>
      <p:sp>
        <p:nvSpPr>
          <p:cNvPr id="41" name="Text 39"/>
          <p:cNvSpPr/>
          <p:nvPr/>
        </p:nvSpPr>
        <p:spPr>
          <a:xfrm>
            <a:off x="3566160" y="34838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2.000.000.000</a:t>
            </a:r>
            <a:endParaRPr lang="en-US" sz="880" dirty="0"/>
          </a:p>
        </p:txBody>
      </p:sp>
      <p:sp>
        <p:nvSpPr>
          <p:cNvPr id="42" name="Shape 40"/>
          <p:cNvSpPr/>
          <p:nvPr/>
        </p:nvSpPr>
        <p:spPr>
          <a:xfrm>
            <a:off x="868680" y="3904488"/>
            <a:ext cx="4160520" cy="402336"/>
          </a:xfrm>
          <a:prstGeom prst="roundRect">
            <a:avLst>
              <a:gd name="adj" fmla="val 9091"/>
            </a:avLst>
          </a:prstGeom>
          <a:solidFill>
            <a:srgbClr val="070D18"/>
          </a:solidFill>
          <a:ln w="10160">
            <a:solidFill>
              <a:srgbClr val="1E3A5F"/>
            </a:solidFill>
            <a:prstDash val="solid"/>
          </a:ln>
        </p:spPr>
      </p:sp>
      <p:sp>
        <p:nvSpPr>
          <p:cNvPr id="43" name="Shape 41"/>
          <p:cNvSpPr/>
          <p:nvPr/>
        </p:nvSpPr>
        <p:spPr>
          <a:xfrm>
            <a:off x="987552" y="4069080"/>
            <a:ext cx="82296" cy="82296"/>
          </a:xfrm>
          <a:prstGeom prst="ellipse">
            <a:avLst/>
          </a:prstGeom>
          <a:solidFill>
            <a:srgbClr val="0EA5E9"/>
          </a:solidFill>
          <a:ln w="12700">
            <a:solidFill>
              <a:srgbClr val="0EA5E9"/>
            </a:solidFill>
            <a:prstDash val="solid"/>
          </a:ln>
        </p:spPr>
      </p:sp>
      <p:sp>
        <p:nvSpPr>
          <p:cNvPr id="44" name="Text 42"/>
          <p:cNvSpPr/>
          <p:nvPr/>
        </p:nvSpPr>
        <p:spPr>
          <a:xfrm>
            <a:off x="1115568" y="39410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BP3MI - SMK GoGlobal (Talenta Luar Negeri)</a:t>
            </a:r>
            <a:pPr indent="0" marL="0">
              <a:buNone/>
            </a:pPr>
            <a:r>
              <a:rPr lang="en-US" sz="720" dirty="0">
                <a:solidFill>
                  <a:srgbClr val="38BDF8"/>
                </a:solidFill>
                <a:latin typeface="Arial" pitchFamily="34" charset="0"/>
                <a:ea typeface="Arial" pitchFamily="34" charset="-122"/>
                <a:cs typeface="Arial" pitchFamily="34" charset="-120"/>
              </a:rPr>
              <a:t>  [Penempatan Global]</a:t>
            </a:r>
            <a:endParaRPr lang="en-US" sz="850" dirty="0"/>
          </a:p>
        </p:txBody>
      </p:sp>
      <p:sp>
        <p:nvSpPr>
          <p:cNvPr id="45" name="Text 43"/>
          <p:cNvSpPr/>
          <p:nvPr/>
        </p:nvSpPr>
        <p:spPr>
          <a:xfrm>
            <a:off x="3566160" y="39410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1.500.000.000</a:t>
            </a:r>
            <a:endParaRPr lang="en-US" sz="880" dirty="0"/>
          </a:p>
        </p:txBody>
      </p:sp>
      <p:sp>
        <p:nvSpPr>
          <p:cNvPr id="46" name="Shape 44"/>
          <p:cNvSpPr/>
          <p:nvPr/>
        </p:nvSpPr>
        <p:spPr>
          <a:xfrm>
            <a:off x="868680" y="4361688"/>
            <a:ext cx="4160520" cy="402336"/>
          </a:xfrm>
          <a:prstGeom prst="roundRect">
            <a:avLst>
              <a:gd name="adj" fmla="val 9091"/>
            </a:avLst>
          </a:prstGeom>
          <a:solidFill>
            <a:srgbClr val="070D18"/>
          </a:solidFill>
          <a:ln w="10160">
            <a:solidFill>
              <a:srgbClr val="1E3A5F"/>
            </a:solidFill>
            <a:prstDash val="solid"/>
          </a:ln>
        </p:spPr>
      </p:sp>
      <p:sp>
        <p:nvSpPr>
          <p:cNvPr id="47" name="Shape 45"/>
          <p:cNvSpPr/>
          <p:nvPr/>
        </p:nvSpPr>
        <p:spPr>
          <a:xfrm>
            <a:off x="987552" y="4526280"/>
            <a:ext cx="82296" cy="82296"/>
          </a:xfrm>
          <a:prstGeom prst="ellipse">
            <a:avLst/>
          </a:prstGeom>
          <a:solidFill>
            <a:srgbClr val="0EA5E9"/>
          </a:solidFill>
          <a:ln w="12700">
            <a:solidFill>
              <a:srgbClr val="0EA5E9"/>
            </a:solidFill>
            <a:prstDash val="solid"/>
          </a:ln>
        </p:spPr>
      </p:sp>
      <p:sp>
        <p:nvSpPr>
          <p:cNvPr id="48" name="Text 46"/>
          <p:cNvSpPr/>
          <p:nvPr/>
        </p:nvSpPr>
        <p:spPr>
          <a:xfrm>
            <a:off x="1115568" y="4398264"/>
            <a:ext cx="2468880" cy="329184"/>
          </a:xfrm>
          <a:prstGeom prst="rect">
            <a:avLst/>
          </a:prstGeom>
          <a:noFill/>
          <a:ln/>
        </p:spPr>
        <p:txBody>
          <a:bodyPr wrap="square" rtlCol="0" anchor="ctr"/>
          <a:lstStyle/>
          <a:p>
            <a:pPr indent="0" marL="0">
              <a:buNone/>
            </a:pPr>
            <a:r>
              <a:rPr lang="en-US" sz="850" b="1" dirty="0">
                <a:solidFill>
                  <a:srgbClr val="94A3B8"/>
                </a:solidFill>
                <a:latin typeface="Arial" pitchFamily="34" charset="0"/>
                <a:ea typeface="Arial" pitchFamily="34" charset="-122"/>
                <a:cs typeface="Arial" pitchFamily="34" charset="-120"/>
              </a:rPr>
              <a:t>Kemenperin &amp; Mitra LPK Industri</a:t>
            </a:r>
            <a:pPr indent="0" marL="0">
              <a:buNone/>
            </a:pPr>
            <a:r>
              <a:rPr lang="en-US" sz="720" dirty="0">
                <a:solidFill>
                  <a:srgbClr val="38BDF8"/>
                </a:solidFill>
                <a:latin typeface="Arial" pitchFamily="34" charset="0"/>
                <a:ea typeface="Arial" pitchFamily="34" charset="-122"/>
                <a:cs typeface="Arial" pitchFamily="34" charset="-120"/>
              </a:rPr>
              <a:t>  [Subsidi Pelatihan]</a:t>
            </a:r>
            <a:endParaRPr lang="en-US" sz="850" dirty="0"/>
          </a:p>
        </p:txBody>
      </p:sp>
      <p:sp>
        <p:nvSpPr>
          <p:cNvPr id="49" name="Text 47"/>
          <p:cNvSpPr/>
          <p:nvPr/>
        </p:nvSpPr>
        <p:spPr>
          <a:xfrm>
            <a:off x="3566160" y="4398264"/>
            <a:ext cx="1325880" cy="329184"/>
          </a:xfrm>
          <a:prstGeom prst="rect">
            <a:avLst/>
          </a:prstGeom>
          <a:noFill/>
          <a:ln/>
        </p:spPr>
        <p:txBody>
          <a:bodyPr wrap="square" rtlCol="0" anchor="ctr"/>
          <a:lstStyle/>
          <a:p>
            <a:pPr algn="r" indent="0" marL="0">
              <a:buNone/>
            </a:pPr>
            <a:r>
              <a:rPr lang="en-US" sz="880" b="1" dirty="0">
                <a:solidFill>
                  <a:srgbClr val="FFFFFF"/>
                </a:solidFill>
                <a:latin typeface="Arial" pitchFamily="34" charset="0"/>
                <a:ea typeface="Arial" pitchFamily="34" charset="-122"/>
                <a:cs typeface="Arial" pitchFamily="34" charset="-120"/>
              </a:rPr>
              <a:t>Rp 825.000.000</a:t>
            </a:r>
            <a:endParaRPr lang="en-US" sz="880" dirty="0"/>
          </a:p>
        </p:txBody>
      </p:sp>
      <p:sp>
        <p:nvSpPr>
          <p:cNvPr id="50" name="Shape 48"/>
          <p:cNvSpPr/>
          <p:nvPr/>
        </p:nvSpPr>
        <p:spPr>
          <a:xfrm>
            <a:off x="868680" y="4882896"/>
            <a:ext cx="4160520" cy="676656"/>
          </a:xfrm>
          <a:prstGeom prst="roundRect">
            <a:avLst>
              <a:gd name="adj" fmla="val 5405"/>
            </a:avLst>
          </a:prstGeom>
          <a:solidFill>
            <a:srgbClr val="0A2540"/>
          </a:solidFill>
          <a:ln w="12700">
            <a:solidFill>
              <a:srgbClr val="0284C7"/>
            </a:solidFill>
            <a:prstDash val="solid"/>
          </a:ln>
        </p:spPr>
      </p:sp>
      <p:sp>
        <p:nvSpPr>
          <p:cNvPr id="51" name="Text 49"/>
          <p:cNvSpPr/>
          <p:nvPr/>
        </p:nvSpPr>
        <p:spPr>
          <a:xfrm>
            <a:off x="960120" y="4919472"/>
            <a:ext cx="3977640" cy="182880"/>
          </a:xfrm>
          <a:prstGeom prst="rect">
            <a:avLst/>
          </a:prstGeom>
          <a:noFill/>
          <a:ln/>
        </p:spPr>
        <p:txBody>
          <a:bodyPr wrap="square" rtlCol="0" anchor="ctr"/>
          <a:lstStyle/>
          <a:p>
            <a:pPr indent="0" marL="0">
              <a:buNone/>
            </a:pPr>
            <a:r>
              <a:rPr lang="en-US" sz="820" b="1" dirty="0">
                <a:solidFill>
                  <a:srgbClr val="38BDF8"/>
                </a:solidFill>
                <a:latin typeface="Arial" pitchFamily="34" charset="0"/>
                <a:ea typeface="Arial" pitchFamily="34" charset="-122"/>
                <a:cs typeface="Arial" pitchFamily="34" charset="-120"/>
              </a:rPr>
              <a:t>💡 CATATAN STRATEGIS TRANSFORMASI:</a:t>
            </a:r>
            <a:endParaRPr lang="en-US" sz="820" dirty="0"/>
          </a:p>
        </p:txBody>
      </p:sp>
      <p:sp>
        <p:nvSpPr>
          <p:cNvPr id="52" name="Text 50"/>
          <p:cNvSpPr/>
          <p:nvPr/>
        </p:nvSpPr>
        <p:spPr>
          <a:xfrm>
            <a:off x="960120" y="5102352"/>
            <a:ext cx="3977640" cy="420624"/>
          </a:xfrm>
          <a:prstGeom prst="rect">
            <a:avLst/>
          </a:prstGeom>
          <a:noFill/>
          <a:ln/>
        </p:spPr>
        <p:txBody>
          <a:bodyPr wrap="square" rtlCol="0" anchor="ctr"/>
          <a:lstStyle/>
          <a:p>
            <a:pPr indent="0" marL="0">
              <a:lnSpc>
                <a:spcPts val="1000"/>
              </a:lnSpc>
              <a:buNone/>
            </a:pPr>
            <a:r>
              <a:rPr lang="en-US" sz="760" dirty="0">
                <a:solidFill>
                  <a:srgbClr val="FFFFFF"/>
                </a:solidFill>
                <a:latin typeface="Arial" pitchFamily="34" charset="0"/>
                <a:ea typeface="Arial" pitchFamily="34" charset="-122"/>
                <a:cs typeface="Arial" pitchFamily="34" charset="-120"/>
              </a:rPr>
              <a:t>Kontribusi 1 program OGSCI (Rp 6,25 M) saja sudah setara 83% total pendapatan STP tahun 2026. Ditambah e-Katalog dan Startup binaan, klaster ini menjamin kemandirian tanpa subsidi APBD.</a:t>
            </a:r>
            <a:endParaRPr lang="en-US" sz="760" dirty="0"/>
          </a:p>
        </p:txBody>
      </p:sp>
      <p:sp>
        <p:nvSpPr>
          <p:cNvPr id="53" name="Shape 51"/>
          <p:cNvSpPr/>
          <p:nvPr/>
        </p:nvSpPr>
        <p:spPr>
          <a:xfrm>
            <a:off x="5330952" y="1664208"/>
            <a:ext cx="2996032" cy="1938528"/>
          </a:xfrm>
          <a:prstGeom prst="roundRect">
            <a:avLst>
              <a:gd name="adj" fmla="val 3774"/>
            </a:avLst>
          </a:prstGeom>
          <a:solidFill>
            <a:srgbClr val="0A192F"/>
          </a:solidFill>
          <a:ln w="12700">
            <a:solidFill>
              <a:srgbClr val="1E3A5F"/>
            </a:solidFill>
            <a:prstDash val="solid"/>
          </a:ln>
        </p:spPr>
      </p:sp>
      <p:sp>
        <p:nvSpPr>
          <p:cNvPr id="54" name="Shape 52"/>
          <p:cNvSpPr/>
          <p:nvPr/>
        </p:nvSpPr>
        <p:spPr>
          <a:xfrm>
            <a:off x="5330952" y="1664208"/>
            <a:ext cx="73152" cy="1938528"/>
          </a:xfrm>
          <a:prstGeom prst="roundRect">
            <a:avLst>
              <a:gd name="adj" fmla="val 50000"/>
            </a:avLst>
          </a:prstGeom>
          <a:solidFill>
            <a:srgbClr val="38BDF8"/>
          </a:solidFill>
          <a:ln w="12700">
            <a:solidFill>
              <a:srgbClr val="38BDF8"/>
            </a:solidFill>
            <a:prstDash val="solid"/>
          </a:ln>
        </p:spPr>
      </p:sp>
      <p:sp>
        <p:nvSpPr>
          <p:cNvPr id="55" name="Shape 53"/>
          <p:cNvSpPr/>
          <p:nvPr/>
        </p:nvSpPr>
        <p:spPr>
          <a:xfrm>
            <a:off x="5440680" y="1755648"/>
            <a:ext cx="2776576" cy="402336"/>
          </a:xfrm>
          <a:prstGeom prst="roundRect">
            <a:avLst>
              <a:gd name="adj" fmla="val 9091"/>
            </a:avLst>
          </a:prstGeom>
          <a:solidFill>
            <a:srgbClr val="0D213F"/>
          </a:solidFill>
          <a:ln w="12700">
            <a:solidFill>
              <a:srgbClr val="38BDF8"/>
            </a:solidFill>
            <a:prstDash val="solid"/>
          </a:ln>
        </p:spPr>
      </p:sp>
      <p:sp>
        <p:nvSpPr>
          <p:cNvPr id="56" name="Text 54"/>
          <p:cNvSpPr/>
          <p:nvPr/>
        </p:nvSpPr>
        <p:spPr>
          <a:xfrm>
            <a:off x="5495544" y="1773936"/>
            <a:ext cx="1554480" cy="365760"/>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B: VOKASI &amp; SERTIFIKASI</a:t>
            </a:r>
            <a:endParaRPr lang="en-US" sz="780" dirty="0"/>
          </a:p>
        </p:txBody>
      </p:sp>
      <p:sp>
        <p:nvSpPr>
          <p:cNvPr id="57" name="Text 55"/>
          <p:cNvSpPr/>
          <p:nvPr/>
        </p:nvSpPr>
        <p:spPr>
          <a:xfrm>
            <a:off x="7022592" y="1773936"/>
            <a:ext cx="1143000" cy="365760"/>
          </a:xfrm>
          <a:prstGeom prst="rect">
            <a:avLst/>
          </a:prstGeom>
          <a:noFill/>
          <a:ln/>
        </p:spPr>
        <p:txBody>
          <a:bodyPr wrap="square" rtlCol="0" anchor="ctr"/>
          <a:lstStyle/>
          <a:p>
            <a:pPr algn="r" indent="0" marL="0">
              <a:buNone/>
            </a:pPr>
            <a:r>
              <a:rPr lang="en-US" sz="820" b="1" dirty="0">
                <a:solidFill>
                  <a:srgbClr val="38BDF8"/>
                </a:solidFill>
                <a:latin typeface="Arial" pitchFamily="34" charset="0"/>
                <a:ea typeface="Arial" pitchFamily="34" charset="-122"/>
                <a:cs typeface="Arial" pitchFamily="34" charset="-120"/>
              </a:rPr>
              <a:t>Rp 3.679.800.000
</a:t>
            </a:r>
            <a:pPr algn="r" indent="0" marL="0">
              <a:buNone/>
            </a:pPr>
            <a:r>
              <a:rPr lang="en-US" sz="680" dirty="0">
                <a:solidFill>
                  <a:srgbClr val="94A3B8"/>
                </a:solidFill>
                <a:latin typeface="Arial" pitchFamily="34" charset="0"/>
                <a:ea typeface="Arial" pitchFamily="34" charset="-122"/>
                <a:cs typeface="Arial" pitchFamily="34" charset="-120"/>
              </a:rPr>
              <a:t>(15,7% Target 2030)</a:t>
            </a:r>
            <a:endParaRPr lang="en-US" sz="820" dirty="0"/>
          </a:p>
        </p:txBody>
      </p:sp>
      <p:sp>
        <p:nvSpPr>
          <p:cNvPr id="58" name="Shape 56"/>
          <p:cNvSpPr/>
          <p:nvPr/>
        </p:nvSpPr>
        <p:spPr>
          <a:xfrm>
            <a:off x="5477256" y="2286000"/>
            <a:ext cx="54864" cy="54864"/>
          </a:xfrm>
          <a:prstGeom prst="ellipse">
            <a:avLst/>
          </a:prstGeom>
          <a:solidFill>
            <a:srgbClr val="38BDF8"/>
          </a:solidFill>
          <a:ln w="12700">
            <a:solidFill>
              <a:srgbClr val="38BDF8"/>
            </a:solidFill>
            <a:prstDash val="solid"/>
          </a:ln>
        </p:spPr>
      </p:sp>
      <p:sp>
        <p:nvSpPr>
          <p:cNvPr id="59" name="Text 57"/>
          <p:cNvSpPr/>
          <p:nvPr/>
        </p:nvSpPr>
        <p:spPr>
          <a:xfrm>
            <a:off x="5568696" y="2212848"/>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Sertifikasi JFT Fungsional</a:t>
            </a:r>
            <a:endParaRPr lang="en-US" sz="750" dirty="0"/>
          </a:p>
        </p:txBody>
      </p:sp>
      <p:sp>
        <p:nvSpPr>
          <p:cNvPr id="60" name="Text 58"/>
          <p:cNvSpPr/>
          <p:nvPr/>
        </p:nvSpPr>
        <p:spPr>
          <a:xfrm>
            <a:off x="7205472" y="2212848"/>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1.375.000.000</a:t>
            </a:r>
            <a:endParaRPr lang="en-US" sz="750" dirty="0"/>
          </a:p>
        </p:txBody>
      </p:sp>
      <p:sp>
        <p:nvSpPr>
          <p:cNvPr id="61" name="Shape 59"/>
          <p:cNvSpPr/>
          <p:nvPr/>
        </p:nvSpPr>
        <p:spPr>
          <a:xfrm>
            <a:off x="5477256" y="2615184"/>
            <a:ext cx="54864" cy="54864"/>
          </a:xfrm>
          <a:prstGeom prst="ellipse">
            <a:avLst/>
          </a:prstGeom>
          <a:solidFill>
            <a:srgbClr val="38BDF8"/>
          </a:solidFill>
          <a:ln w="12700">
            <a:solidFill>
              <a:srgbClr val="38BDF8"/>
            </a:solidFill>
            <a:prstDash val="solid"/>
          </a:ln>
        </p:spPr>
      </p:sp>
      <p:sp>
        <p:nvSpPr>
          <p:cNvPr id="62" name="Text 60"/>
          <p:cNvSpPr/>
          <p:nvPr/>
        </p:nvSpPr>
        <p:spPr>
          <a:xfrm>
            <a:off x="5568696" y="2542032"/>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TUK Mandiri Terakreditasi</a:t>
            </a:r>
            <a:endParaRPr lang="en-US" sz="750" dirty="0"/>
          </a:p>
        </p:txBody>
      </p:sp>
      <p:sp>
        <p:nvSpPr>
          <p:cNvPr id="63" name="Text 61"/>
          <p:cNvSpPr/>
          <p:nvPr/>
        </p:nvSpPr>
        <p:spPr>
          <a:xfrm>
            <a:off x="7205472" y="2542032"/>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1.350.000.000</a:t>
            </a:r>
            <a:endParaRPr lang="en-US" sz="750" dirty="0"/>
          </a:p>
        </p:txBody>
      </p:sp>
      <p:sp>
        <p:nvSpPr>
          <p:cNvPr id="64" name="Shape 62"/>
          <p:cNvSpPr/>
          <p:nvPr/>
        </p:nvSpPr>
        <p:spPr>
          <a:xfrm>
            <a:off x="5477256" y="2944368"/>
            <a:ext cx="54864" cy="54864"/>
          </a:xfrm>
          <a:prstGeom prst="ellipse">
            <a:avLst/>
          </a:prstGeom>
          <a:solidFill>
            <a:srgbClr val="38BDF8"/>
          </a:solidFill>
          <a:ln w="12700">
            <a:solidFill>
              <a:srgbClr val="38BDF8"/>
            </a:solidFill>
            <a:prstDash val="solid"/>
          </a:ln>
        </p:spPr>
      </p:sp>
      <p:sp>
        <p:nvSpPr>
          <p:cNvPr id="65" name="Text 63"/>
          <p:cNvSpPr/>
          <p:nvPr/>
        </p:nvSpPr>
        <p:spPr>
          <a:xfrm>
            <a:off x="5568696" y="2871216"/>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Konsultasi Lab &amp; Data Center</a:t>
            </a:r>
            <a:endParaRPr lang="en-US" sz="750" dirty="0"/>
          </a:p>
        </p:txBody>
      </p:sp>
      <p:sp>
        <p:nvSpPr>
          <p:cNvPr id="66" name="Text 64"/>
          <p:cNvSpPr/>
          <p:nvPr/>
        </p:nvSpPr>
        <p:spPr>
          <a:xfrm>
            <a:off x="7205472" y="2871216"/>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950.000.000</a:t>
            </a:r>
            <a:endParaRPr lang="en-US" sz="750" dirty="0"/>
          </a:p>
        </p:txBody>
      </p:sp>
      <p:sp>
        <p:nvSpPr>
          <p:cNvPr id="67" name="Shape 65"/>
          <p:cNvSpPr/>
          <p:nvPr/>
        </p:nvSpPr>
        <p:spPr>
          <a:xfrm>
            <a:off x="5477256" y="3273552"/>
            <a:ext cx="54864" cy="54864"/>
          </a:xfrm>
          <a:prstGeom prst="ellipse">
            <a:avLst/>
          </a:prstGeom>
          <a:solidFill>
            <a:srgbClr val="38BDF8"/>
          </a:solidFill>
          <a:ln w="12700">
            <a:solidFill>
              <a:srgbClr val="38BDF8"/>
            </a:solidFill>
            <a:prstDash val="solid"/>
          </a:ln>
        </p:spPr>
      </p:sp>
      <p:sp>
        <p:nvSpPr>
          <p:cNvPr id="68" name="Text 66"/>
          <p:cNvSpPr/>
          <p:nvPr/>
        </p:nvSpPr>
        <p:spPr>
          <a:xfrm>
            <a:off x="5568696" y="3200400"/>
            <a:ext cx="1691640" cy="292608"/>
          </a:xfrm>
          <a:prstGeom prst="rect">
            <a:avLst/>
          </a:prstGeom>
          <a:noFill/>
          <a:ln/>
        </p:spPr>
        <p:txBody>
          <a:bodyPr wrap="square" rtlCol="0" anchor="ctr"/>
          <a:lstStyle/>
          <a:p>
            <a:pPr indent="0" marL="0">
              <a:buNone/>
            </a:pPr>
            <a:r>
              <a:rPr lang="en-US" sz="750" dirty="0">
                <a:solidFill>
                  <a:srgbClr val="94A3B8"/>
                </a:solidFill>
                <a:latin typeface="Arial" pitchFamily="34" charset="0"/>
                <a:ea typeface="Arial" pitchFamily="34" charset="-122"/>
                <a:cs typeface="Arial" pitchFamily="34" charset="-120"/>
              </a:rPr>
              <a:t>Prakerin Siswa SMK Solo Raya</a:t>
            </a:r>
            <a:endParaRPr lang="en-US" sz="750" dirty="0"/>
          </a:p>
        </p:txBody>
      </p:sp>
      <p:sp>
        <p:nvSpPr>
          <p:cNvPr id="69" name="Text 67"/>
          <p:cNvSpPr/>
          <p:nvPr/>
        </p:nvSpPr>
        <p:spPr>
          <a:xfrm>
            <a:off x="7205472" y="3200400"/>
            <a:ext cx="987552" cy="292608"/>
          </a:xfrm>
          <a:prstGeom prst="rect">
            <a:avLst/>
          </a:prstGeom>
          <a:noFill/>
          <a:ln/>
        </p:spPr>
        <p:txBody>
          <a:bodyPr wrap="square" rtlCol="0" anchor="ctr"/>
          <a:lstStyle/>
          <a:p>
            <a:pPr algn="r" indent="0" marL="0">
              <a:buNone/>
            </a:pPr>
            <a:r>
              <a:rPr lang="en-US" sz="750" b="1" dirty="0">
                <a:solidFill>
                  <a:srgbClr val="FFFFFF"/>
                </a:solidFill>
                <a:latin typeface="Arial" pitchFamily="34" charset="0"/>
                <a:ea typeface="Arial" pitchFamily="34" charset="-122"/>
                <a:cs typeface="Arial" pitchFamily="34" charset="-120"/>
              </a:rPr>
              <a:t>Rp 4.800.000</a:t>
            </a:r>
            <a:endParaRPr lang="en-US" sz="750" dirty="0"/>
          </a:p>
        </p:txBody>
      </p:sp>
      <p:sp>
        <p:nvSpPr>
          <p:cNvPr id="70" name="Shape 68"/>
          <p:cNvSpPr/>
          <p:nvPr/>
        </p:nvSpPr>
        <p:spPr>
          <a:xfrm>
            <a:off x="8464144" y="1664208"/>
            <a:ext cx="2996032" cy="1938528"/>
          </a:xfrm>
          <a:prstGeom prst="roundRect">
            <a:avLst>
              <a:gd name="adj" fmla="val 3774"/>
            </a:avLst>
          </a:prstGeom>
          <a:solidFill>
            <a:srgbClr val="0A192F"/>
          </a:solidFill>
          <a:ln w="12700">
            <a:solidFill>
              <a:srgbClr val="1E3A5F"/>
            </a:solidFill>
            <a:prstDash val="solid"/>
          </a:ln>
        </p:spPr>
      </p:sp>
      <p:sp>
        <p:nvSpPr>
          <p:cNvPr id="71" name="Shape 69"/>
          <p:cNvSpPr/>
          <p:nvPr/>
        </p:nvSpPr>
        <p:spPr>
          <a:xfrm>
            <a:off x="8464144" y="1664208"/>
            <a:ext cx="73152" cy="1938528"/>
          </a:xfrm>
          <a:prstGeom prst="roundRect">
            <a:avLst>
              <a:gd name="adj" fmla="val 50000"/>
            </a:avLst>
          </a:prstGeom>
          <a:solidFill>
            <a:srgbClr val="F59E0B"/>
          </a:solidFill>
          <a:ln w="12700">
            <a:solidFill>
              <a:srgbClr val="F59E0B"/>
            </a:solidFill>
            <a:prstDash val="solid"/>
          </a:ln>
        </p:spPr>
      </p:sp>
      <p:sp>
        <p:nvSpPr>
          <p:cNvPr id="72" name="Shape 70"/>
          <p:cNvSpPr/>
          <p:nvPr/>
        </p:nvSpPr>
        <p:spPr>
          <a:xfrm>
            <a:off x="8573872" y="1755648"/>
            <a:ext cx="2776576" cy="402336"/>
          </a:xfrm>
          <a:prstGeom prst="roundRect">
            <a:avLst>
              <a:gd name="adj" fmla="val 9091"/>
            </a:avLst>
          </a:prstGeom>
          <a:solidFill>
            <a:srgbClr val="0D213F"/>
          </a:solidFill>
          <a:ln w="12700">
            <a:solidFill>
              <a:srgbClr val="F59E0B"/>
            </a:solidFill>
            <a:prstDash val="solid"/>
          </a:ln>
        </p:spPr>
      </p:sp>
      <p:sp>
        <p:nvSpPr>
          <p:cNvPr id="73" name="Text 71"/>
          <p:cNvSpPr/>
          <p:nvPr/>
        </p:nvSpPr>
        <p:spPr>
          <a:xfrm>
            <a:off x="8628736" y="1773936"/>
            <a:ext cx="1554480" cy="365760"/>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C: DIKLAT SPESIALIS</a:t>
            </a:r>
            <a:endParaRPr lang="en-US" sz="780" dirty="0"/>
          </a:p>
        </p:txBody>
      </p:sp>
      <p:sp>
        <p:nvSpPr>
          <p:cNvPr id="74" name="Text 72"/>
          <p:cNvSpPr/>
          <p:nvPr/>
        </p:nvSpPr>
        <p:spPr>
          <a:xfrm>
            <a:off x="10155784" y="1773936"/>
            <a:ext cx="1143000" cy="365760"/>
          </a:xfrm>
          <a:prstGeom prst="rect">
            <a:avLst/>
          </a:prstGeom>
          <a:noFill/>
          <a:ln/>
        </p:spPr>
        <p:txBody>
          <a:bodyPr wrap="square" rtlCol="0" anchor="ctr"/>
          <a:lstStyle/>
          <a:p>
            <a:pPr algn="r" indent="0" marL="0">
              <a:buNone/>
            </a:pPr>
            <a:r>
              <a:rPr lang="en-US" sz="820" b="1" dirty="0">
                <a:solidFill>
                  <a:srgbClr val="F59E0B"/>
                </a:solidFill>
                <a:latin typeface="Arial" pitchFamily="34" charset="0"/>
                <a:ea typeface="Arial" pitchFamily="34" charset="-122"/>
                <a:cs typeface="Arial" pitchFamily="34" charset="-120"/>
              </a:rPr>
              <a:t>Rp 2.469.000.000
</a:t>
            </a:r>
            <a:pPr algn="r" indent="0" marL="0">
              <a:buNone/>
            </a:pPr>
            <a:r>
              <a:rPr lang="en-US" sz="680" dirty="0">
                <a:solidFill>
                  <a:srgbClr val="94A3B8"/>
                </a:solidFill>
                <a:latin typeface="Arial" pitchFamily="34" charset="0"/>
                <a:ea typeface="Arial" pitchFamily="34" charset="-122"/>
                <a:cs typeface="Arial" pitchFamily="34" charset="-120"/>
              </a:rPr>
              <a:t>(10,5% Target 2030)</a:t>
            </a:r>
            <a:endParaRPr lang="en-US" sz="820" dirty="0"/>
          </a:p>
        </p:txBody>
      </p:sp>
      <p:sp>
        <p:nvSpPr>
          <p:cNvPr id="75" name="Shape 73"/>
          <p:cNvSpPr/>
          <p:nvPr/>
        </p:nvSpPr>
        <p:spPr>
          <a:xfrm>
            <a:off x="8610448" y="2267712"/>
            <a:ext cx="54864" cy="54864"/>
          </a:xfrm>
          <a:prstGeom prst="ellipse">
            <a:avLst/>
          </a:prstGeom>
          <a:solidFill>
            <a:srgbClr val="F59E0B"/>
          </a:solidFill>
          <a:ln w="12700">
            <a:solidFill>
              <a:srgbClr val="F59E0B"/>
            </a:solidFill>
            <a:prstDash val="solid"/>
          </a:ln>
        </p:spPr>
      </p:sp>
      <p:sp>
        <p:nvSpPr>
          <p:cNvPr id="76" name="Text 74"/>
          <p:cNvSpPr/>
          <p:nvPr/>
        </p:nvSpPr>
        <p:spPr>
          <a:xfrm>
            <a:off x="8701888" y="2194560"/>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Underwater Wet Welding</a:t>
            </a:r>
            <a:endParaRPr lang="en-US" sz="720" dirty="0"/>
          </a:p>
        </p:txBody>
      </p:sp>
      <p:sp>
        <p:nvSpPr>
          <p:cNvPr id="77" name="Text 75"/>
          <p:cNvSpPr/>
          <p:nvPr/>
        </p:nvSpPr>
        <p:spPr>
          <a:xfrm>
            <a:off x="10338664" y="2194560"/>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846.000.000</a:t>
            </a:r>
            <a:endParaRPr lang="en-US" sz="720" dirty="0"/>
          </a:p>
        </p:txBody>
      </p:sp>
      <p:sp>
        <p:nvSpPr>
          <p:cNvPr id="78" name="Shape 76"/>
          <p:cNvSpPr/>
          <p:nvPr/>
        </p:nvSpPr>
        <p:spPr>
          <a:xfrm>
            <a:off x="8610448" y="2532888"/>
            <a:ext cx="54864" cy="54864"/>
          </a:xfrm>
          <a:prstGeom prst="ellipse">
            <a:avLst/>
          </a:prstGeom>
          <a:solidFill>
            <a:srgbClr val="F59E0B"/>
          </a:solidFill>
          <a:ln w="12700">
            <a:solidFill>
              <a:srgbClr val="F59E0B"/>
            </a:solidFill>
            <a:prstDash val="solid"/>
          </a:ln>
        </p:spPr>
      </p:sp>
      <p:sp>
        <p:nvSpPr>
          <p:cNvPr id="79" name="Text 77"/>
          <p:cNvSpPr/>
          <p:nvPr/>
        </p:nvSpPr>
        <p:spPr>
          <a:xfrm>
            <a:off x="8701888" y="2459736"/>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Manufaktur &amp; Welding Intensif</a:t>
            </a:r>
            <a:endParaRPr lang="en-US" sz="720" dirty="0"/>
          </a:p>
        </p:txBody>
      </p:sp>
      <p:sp>
        <p:nvSpPr>
          <p:cNvPr id="80" name="Text 78"/>
          <p:cNvSpPr/>
          <p:nvPr/>
        </p:nvSpPr>
        <p:spPr>
          <a:xfrm>
            <a:off x="10338664" y="2459736"/>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728.000.000</a:t>
            </a:r>
            <a:endParaRPr lang="en-US" sz="720" dirty="0"/>
          </a:p>
        </p:txBody>
      </p:sp>
      <p:sp>
        <p:nvSpPr>
          <p:cNvPr id="81" name="Shape 79"/>
          <p:cNvSpPr/>
          <p:nvPr/>
        </p:nvSpPr>
        <p:spPr>
          <a:xfrm>
            <a:off x="8610448" y="2798064"/>
            <a:ext cx="54864" cy="54864"/>
          </a:xfrm>
          <a:prstGeom prst="ellipse">
            <a:avLst/>
          </a:prstGeom>
          <a:solidFill>
            <a:srgbClr val="F59E0B"/>
          </a:solidFill>
          <a:ln w="12700">
            <a:solidFill>
              <a:srgbClr val="F59E0B"/>
            </a:solidFill>
            <a:prstDash val="solid"/>
          </a:ln>
        </p:spPr>
      </p:sp>
      <p:sp>
        <p:nvSpPr>
          <p:cNvPr id="82" name="Text 80"/>
          <p:cNvSpPr/>
          <p:nvPr/>
        </p:nvSpPr>
        <p:spPr>
          <a:xfrm>
            <a:off x="8701888" y="2724912"/>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Desain, Manajerial &amp; EV</a:t>
            </a:r>
            <a:endParaRPr lang="en-US" sz="720" dirty="0"/>
          </a:p>
        </p:txBody>
      </p:sp>
      <p:sp>
        <p:nvSpPr>
          <p:cNvPr id="83" name="Text 81"/>
          <p:cNvSpPr/>
          <p:nvPr/>
        </p:nvSpPr>
        <p:spPr>
          <a:xfrm>
            <a:off x="10338664" y="2724912"/>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555.000.000</a:t>
            </a:r>
            <a:endParaRPr lang="en-US" sz="720" dirty="0"/>
          </a:p>
        </p:txBody>
      </p:sp>
      <p:sp>
        <p:nvSpPr>
          <p:cNvPr id="84" name="Shape 82"/>
          <p:cNvSpPr/>
          <p:nvPr/>
        </p:nvSpPr>
        <p:spPr>
          <a:xfrm>
            <a:off x="8610448" y="3063240"/>
            <a:ext cx="54864" cy="54864"/>
          </a:xfrm>
          <a:prstGeom prst="ellipse">
            <a:avLst/>
          </a:prstGeom>
          <a:solidFill>
            <a:srgbClr val="F59E0B"/>
          </a:solidFill>
          <a:ln w="12700">
            <a:solidFill>
              <a:srgbClr val="F59E0B"/>
            </a:solidFill>
            <a:prstDash val="solid"/>
          </a:ln>
        </p:spPr>
      </p:sp>
      <p:sp>
        <p:nvSpPr>
          <p:cNvPr id="85" name="Text 83"/>
          <p:cNvSpPr/>
          <p:nvPr/>
        </p:nvSpPr>
        <p:spPr>
          <a:xfrm>
            <a:off x="8701888" y="2990088"/>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Digital Tech (AI &amp; Cyber)</a:t>
            </a:r>
            <a:endParaRPr lang="en-US" sz="720" dirty="0"/>
          </a:p>
        </p:txBody>
      </p:sp>
      <p:sp>
        <p:nvSpPr>
          <p:cNvPr id="86" name="Text 84"/>
          <p:cNvSpPr/>
          <p:nvPr/>
        </p:nvSpPr>
        <p:spPr>
          <a:xfrm>
            <a:off x="10338664" y="2990088"/>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225.000.000</a:t>
            </a:r>
            <a:endParaRPr lang="en-US" sz="720" dirty="0"/>
          </a:p>
        </p:txBody>
      </p:sp>
      <p:sp>
        <p:nvSpPr>
          <p:cNvPr id="87" name="Shape 85"/>
          <p:cNvSpPr/>
          <p:nvPr/>
        </p:nvSpPr>
        <p:spPr>
          <a:xfrm>
            <a:off x="8610448" y="3328416"/>
            <a:ext cx="54864" cy="54864"/>
          </a:xfrm>
          <a:prstGeom prst="ellipse">
            <a:avLst/>
          </a:prstGeom>
          <a:solidFill>
            <a:srgbClr val="F59E0B"/>
          </a:solidFill>
          <a:ln w="12700">
            <a:solidFill>
              <a:srgbClr val="F59E0B"/>
            </a:solidFill>
            <a:prstDash val="solid"/>
          </a:ln>
        </p:spPr>
      </p:sp>
      <p:sp>
        <p:nvSpPr>
          <p:cNvPr id="88" name="Text 86"/>
          <p:cNvSpPr/>
          <p:nvPr/>
        </p:nvSpPr>
        <p:spPr>
          <a:xfrm>
            <a:off x="8701888" y="3255264"/>
            <a:ext cx="1691640" cy="237744"/>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Kewirausahaan &amp; UMKM</a:t>
            </a:r>
            <a:endParaRPr lang="en-US" sz="720" dirty="0"/>
          </a:p>
        </p:txBody>
      </p:sp>
      <p:sp>
        <p:nvSpPr>
          <p:cNvPr id="89" name="Text 87"/>
          <p:cNvSpPr/>
          <p:nvPr/>
        </p:nvSpPr>
        <p:spPr>
          <a:xfrm>
            <a:off x="10338664" y="3255264"/>
            <a:ext cx="987552" cy="237744"/>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115.000.000</a:t>
            </a:r>
            <a:endParaRPr lang="en-US" sz="720" dirty="0"/>
          </a:p>
        </p:txBody>
      </p:sp>
      <p:sp>
        <p:nvSpPr>
          <p:cNvPr id="90" name="Shape 88"/>
          <p:cNvSpPr/>
          <p:nvPr/>
        </p:nvSpPr>
        <p:spPr>
          <a:xfrm>
            <a:off x="5330952" y="3712464"/>
            <a:ext cx="1969922" cy="1956816"/>
          </a:xfrm>
          <a:prstGeom prst="roundRect">
            <a:avLst>
              <a:gd name="adj" fmla="val 3738"/>
            </a:avLst>
          </a:prstGeom>
          <a:solidFill>
            <a:srgbClr val="0A192F"/>
          </a:solidFill>
          <a:ln w="12700">
            <a:solidFill>
              <a:srgbClr val="1E3A5F"/>
            </a:solidFill>
            <a:prstDash val="solid"/>
          </a:ln>
        </p:spPr>
      </p:sp>
      <p:sp>
        <p:nvSpPr>
          <p:cNvPr id="91" name="Shape 89"/>
          <p:cNvSpPr/>
          <p:nvPr/>
        </p:nvSpPr>
        <p:spPr>
          <a:xfrm>
            <a:off x="5330952" y="3712464"/>
            <a:ext cx="73152" cy="1956816"/>
          </a:xfrm>
          <a:prstGeom prst="roundRect">
            <a:avLst>
              <a:gd name="adj" fmla="val 50000"/>
            </a:avLst>
          </a:prstGeom>
          <a:solidFill>
            <a:srgbClr val="10B981"/>
          </a:solidFill>
          <a:ln w="12700">
            <a:solidFill>
              <a:srgbClr val="10B981"/>
            </a:solidFill>
            <a:prstDash val="solid"/>
          </a:ln>
        </p:spPr>
      </p:sp>
      <p:sp>
        <p:nvSpPr>
          <p:cNvPr id="92" name="Shape 90"/>
          <p:cNvSpPr/>
          <p:nvPr/>
        </p:nvSpPr>
        <p:spPr>
          <a:xfrm>
            <a:off x="5422392" y="3803904"/>
            <a:ext cx="1787042" cy="402336"/>
          </a:xfrm>
          <a:prstGeom prst="roundRect">
            <a:avLst>
              <a:gd name="adj" fmla="val 9091"/>
            </a:avLst>
          </a:prstGeom>
          <a:solidFill>
            <a:srgbClr val="0D213F"/>
          </a:solidFill>
          <a:ln w="12700">
            <a:solidFill>
              <a:srgbClr val="10B981"/>
            </a:solidFill>
            <a:prstDash val="solid"/>
          </a:ln>
        </p:spPr>
      </p:sp>
      <p:sp>
        <p:nvSpPr>
          <p:cNvPr id="93" name="Text 91"/>
          <p:cNvSpPr/>
          <p:nvPr/>
        </p:nvSpPr>
        <p:spPr>
          <a:xfrm>
            <a:off x="5458968"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D: MICE &amp; ASET</a:t>
            </a:r>
            <a:endParaRPr lang="en-US" sz="780" dirty="0"/>
          </a:p>
        </p:txBody>
      </p:sp>
      <p:sp>
        <p:nvSpPr>
          <p:cNvPr id="94" name="Text 92"/>
          <p:cNvSpPr/>
          <p:nvPr/>
        </p:nvSpPr>
        <p:spPr>
          <a:xfrm>
            <a:off x="5458968" y="3968496"/>
            <a:ext cx="1713890" cy="201168"/>
          </a:xfrm>
          <a:prstGeom prst="rect">
            <a:avLst/>
          </a:prstGeom>
          <a:noFill/>
          <a:ln/>
        </p:spPr>
        <p:txBody>
          <a:bodyPr wrap="square" rtlCol="0" anchor="ctr"/>
          <a:lstStyle/>
          <a:p>
            <a:pPr indent="0" marL="0">
              <a:buNone/>
            </a:pPr>
            <a:r>
              <a:rPr lang="en-US" sz="820" b="1" dirty="0">
                <a:solidFill>
                  <a:srgbClr val="10B981"/>
                </a:solidFill>
                <a:latin typeface="Arial" pitchFamily="34" charset="0"/>
                <a:ea typeface="Arial" pitchFamily="34" charset="-122"/>
                <a:cs typeface="Arial" pitchFamily="34" charset="-120"/>
              </a:rPr>
              <a:t>Rp 2.450.000.000 (10,4%)</a:t>
            </a:r>
            <a:endParaRPr lang="en-US" sz="820" dirty="0"/>
          </a:p>
        </p:txBody>
      </p:sp>
      <p:sp>
        <p:nvSpPr>
          <p:cNvPr id="95" name="Text 93"/>
          <p:cNvSpPr/>
          <p:nvPr/>
        </p:nvSpPr>
        <p:spPr>
          <a:xfrm>
            <a:off x="5440680" y="4261104"/>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Sarana Kawasan / MICE</a:t>
            </a:r>
            <a:endParaRPr lang="en-US" sz="720" dirty="0"/>
          </a:p>
        </p:txBody>
      </p:sp>
      <p:sp>
        <p:nvSpPr>
          <p:cNvPr id="96" name="Text 94"/>
          <p:cNvSpPr/>
          <p:nvPr/>
        </p:nvSpPr>
        <p:spPr>
          <a:xfrm>
            <a:off x="6428232" y="4261104"/>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1.500 M</a:t>
            </a:r>
            <a:endParaRPr lang="en-US" sz="720" dirty="0"/>
          </a:p>
        </p:txBody>
      </p:sp>
      <p:sp>
        <p:nvSpPr>
          <p:cNvPr id="97" name="Text 95"/>
          <p:cNvSpPr/>
          <p:nvPr/>
        </p:nvSpPr>
        <p:spPr>
          <a:xfrm>
            <a:off x="5440680" y="4608576"/>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Co-Working &amp; Virtual Off.</a:t>
            </a:r>
            <a:endParaRPr lang="en-US" sz="720" dirty="0"/>
          </a:p>
        </p:txBody>
      </p:sp>
      <p:sp>
        <p:nvSpPr>
          <p:cNvPr id="98" name="Text 96"/>
          <p:cNvSpPr/>
          <p:nvPr/>
        </p:nvSpPr>
        <p:spPr>
          <a:xfrm>
            <a:off x="6428232" y="4608576"/>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900 Jt</a:t>
            </a:r>
            <a:endParaRPr lang="en-US" sz="720" dirty="0"/>
          </a:p>
        </p:txBody>
      </p:sp>
      <p:sp>
        <p:nvSpPr>
          <p:cNvPr id="99" name="Text 97"/>
          <p:cNvSpPr/>
          <p:nvPr/>
        </p:nvSpPr>
        <p:spPr>
          <a:xfrm>
            <a:off x="5440680" y="4956048"/>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Jasa Giro Kas BLUD</a:t>
            </a:r>
            <a:endParaRPr lang="en-US" sz="720" dirty="0"/>
          </a:p>
        </p:txBody>
      </p:sp>
      <p:sp>
        <p:nvSpPr>
          <p:cNvPr id="100" name="Text 98"/>
          <p:cNvSpPr/>
          <p:nvPr/>
        </p:nvSpPr>
        <p:spPr>
          <a:xfrm>
            <a:off x="6428232" y="4956048"/>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50 Jt</a:t>
            </a:r>
            <a:endParaRPr lang="en-US" sz="720" dirty="0"/>
          </a:p>
        </p:txBody>
      </p:sp>
      <p:sp>
        <p:nvSpPr>
          <p:cNvPr id="101" name="Shape 99"/>
          <p:cNvSpPr/>
          <p:nvPr/>
        </p:nvSpPr>
        <p:spPr>
          <a:xfrm>
            <a:off x="7410602" y="3712464"/>
            <a:ext cx="1969922" cy="1956816"/>
          </a:xfrm>
          <a:prstGeom prst="roundRect">
            <a:avLst>
              <a:gd name="adj" fmla="val 3738"/>
            </a:avLst>
          </a:prstGeom>
          <a:solidFill>
            <a:srgbClr val="0A192F"/>
          </a:solidFill>
          <a:ln w="12700">
            <a:solidFill>
              <a:srgbClr val="1E3A5F"/>
            </a:solidFill>
            <a:prstDash val="solid"/>
          </a:ln>
        </p:spPr>
      </p:sp>
      <p:sp>
        <p:nvSpPr>
          <p:cNvPr id="102" name="Shape 100"/>
          <p:cNvSpPr/>
          <p:nvPr/>
        </p:nvSpPr>
        <p:spPr>
          <a:xfrm>
            <a:off x="7410602" y="3712464"/>
            <a:ext cx="73152" cy="1956816"/>
          </a:xfrm>
          <a:prstGeom prst="roundRect">
            <a:avLst>
              <a:gd name="adj" fmla="val 50000"/>
            </a:avLst>
          </a:prstGeom>
          <a:solidFill>
            <a:srgbClr val="8B5CF6"/>
          </a:solidFill>
          <a:ln w="12700">
            <a:solidFill>
              <a:srgbClr val="8B5CF6"/>
            </a:solidFill>
            <a:prstDash val="solid"/>
          </a:ln>
        </p:spPr>
      </p:sp>
      <p:sp>
        <p:nvSpPr>
          <p:cNvPr id="103" name="Shape 101"/>
          <p:cNvSpPr/>
          <p:nvPr/>
        </p:nvSpPr>
        <p:spPr>
          <a:xfrm>
            <a:off x="7502042" y="3803904"/>
            <a:ext cx="1787042" cy="402336"/>
          </a:xfrm>
          <a:prstGeom prst="roundRect">
            <a:avLst>
              <a:gd name="adj" fmla="val 9091"/>
            </a:avLst>
          </a:prstGeom>
          <a:solidFill>
            <a:srgbClr val="0D213F"/>
          </a:solidFill>
          <a:ln w="12700">
            <a:solidFill>
              <a:srgbClr val="8B5CF6"/>
            </a:solidFill>
            <a:prstDash val="solid"/>
          </a:ln>
        </p:spPr>
      </p:sp>
      <p:sp>
        <p:nvSpPr>
          <p:cNvPr id="104" name="Text 102"/>
          <p:cNvSpPr/>
          <p:nvPr/>
        </p:nvSpPr>
        <p:spPr>
          <a:xfrm>
            <a:off x="7538618"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E: MANUFAKTUR</a:t>
            </a:r>
            <a:endParaRPr lang="en-US" sz="780" dirty="0"/>
          </a:p>
        </p:txBody>
      </p:sp>
      <p:sp>
        <p:nvSpPr>
          <p:cNvPr id="105" name="Text 103"/>
          <p:cNvSpPr/>
          <p:nvPr/>
        </p:nvSpPr>
        <p:spPr>
          <a:xfrm>
            <a:off x="7538618" y="3968496"/>
            <a:ext cx="1713890" cy="201168"/>
          </a:xfrm>
          <a:prstGeom prst="rect">
            <a:avLst/>
          </a:prstGeom>
          <a:noFill/>
          <a:ln/>
        </p:spPr>
        <p:txBody>
          <a:bodyPr wrap="square" rtlCol="0" anchor="ctr"/>
          <a:lstStyle/>
          <a:p>
            <a:pPr indent="0" marL="0">
              <a:buNone/>
            </a:pPr>
            <a:r>
              <a:rPr lang="en-US" sz="820" b="1" dirty="0">
                <a:solidFill>
                  <a:srgbClr val="8B5CF6"/>
                </a:solidFill>
                <a:latin typeface="Arial" pitchFamily="34" charset="0"/>
                <a:ea typeface="Arial" pitchFamily="34" charset="-122"/>
                <a:cs typeface="Arial" pitchFamily="34" charset="-120"/>
              </a:rPr>
              <a:t>Rp 1.465.000.000 (6,2%)</a:t>
            </a:r>
            <a:endParaRPr lang="en-US" sz="820" dirty="0"/>
          </a:p>
        </p:txBody>
      </p:sp>
      <p:sp>
        <p:nvSpPr>
          <p:cNvPr id="106" name="Text 104"/>
          <p:cNvSpPr/>
          <p:nvPr/>
        </p:nvSpPr>
        <p:spPr>
          <a:xfrm>
            <a:off x="7520330" y="4261104"/>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Precision Parts Fabrikasi</a:t>
            </a:r>
            <a:endParaRPr lang="en-US" sz="720" dirty="0"/>
          </a:p>
        </p:txBody>
      </p:sp>
      <p:sp>
        <p:nvSpPr>
          <p:cNvPr id="107" name="Text 105"/>
          <p:cNvSpPr/>
          <p:nvPr/>
        </p:nvSpPr>
        <p:spPr>
          <a:xfrm>
            <a:off x="8507882" y="4261104"/>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1.225 M</a:t>
            </a:r>
            <a:endParaRPr lang="en-US" sz="720" dirty="0"/>
          </a:p>
        </p:txBody>
      </p:sp>
      <p:sp>
        <p:nvSpPr>
          <p:cNvPr id="108" name="Text 106"/>
          <p:cNvSpPr/>
          <p:nvPr/>
        </p:nvSpPr>
        <p:spPr>
          <a:xfrm>
            <a:off x="7520330" y="4608576"/>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Standarisasi Uji TKDN</a:t>
            </a:r>
            <a:endParaRPr lang="en-US" sz="720" dirty="0"/>
          </a:p>
        </p:txBody>
      </p:sp>
      <p:sp>
        <p:nvSpPr>
          <p:cNvPr id="109" name="Text 107"/>
          <p:cNvSpPr/>
          <p:nvPr/>
        </p:nvSpPr>
        <p:spPr>
          <a:xfrm>
            <a:off x="8507882" y="4608576"/>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135 Jt</a:t>
            </a:r>
            <a:endParaRPr lang="en-US" sz="720" dirty="0"/>
          </a:p>
        </p:txBody>
      </p:sp>
      <p:sp>
        <p:nvSpPr>
          <p:cNvPr id="110" name="Text 108"/>
          <p:cNvSpPr/>
          <p:nvPr/>
        </p:nvSpPr>
        <p:spPr>
          <a:xfrm>
            <a:off x="7520330" y="4956048"/>
            <a:ext cx="1051560" cy="292608"/>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Pesanan Pemda e-Katalog</a:t>
            </a:r>
            <a:endParaRPr lang="en-US" sz="720" dirty="0"/>
          </a:p>
        </p:txBody>
      </p:sp>
      <p:sp>
        <p:nvSpPr>
          <p:cNvPr id="111" name="Text 109"/>
          <p:cNvSpPr/>
          <p:nvPr/>
        </p:nvSpPr>
        <p:spPr>
          <a:xfrm>
            <a:off x="8507882" y="4956048"/>
            <a:ext cx="768096" cy="292608"/>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105 Jt</a:t>
            </a:r>
            <a:endParaRPr lang="en-US" sz="720" dirty="0"/>
          </a:p>
        </p:txBody>
      </p:sp>
      <p:sp>
        <p:nvSpPr>
          <p:cNvPr id="112" name="Shape 110"/>
          <p:cNvSpPr/>
          <p:nvPr/>
        </p:nvSpPr>
        <p:spPr>
          <a:xfrm>
            <a:off x="9490253" y="3712464"/>
            <a:ext cx="1969922" cy="1956816"/>
          </a:xfrm>
          <a:prstGeom prst="roundRect">
            <a:avLst>
              <a:gd name="adj" fmla="val 3738"/>
            </a:avLst>
          </a:prstGeom>
          <a:solidFill>
            <a:srgbClr val="0A192F"/>
          </a:solidFill>
          <a:ln w="12700">
            <a:solidFill>
              <a:srgbClr val="1E3A5F"/>
            </a:solidFill>
            <a:prstDash val="solid"/>
          </a:ln>
        </p:spPr>
      </p:sp>
      <p:sp>
        <p:nvSpPr>
          <p:cNvPr id="113" name="Shape 111"/>
          <p:cNvSpPr/>
          <p:nvPr/>
        </p:nvSpPr>
        <p:spPr>
          <a:xfrm>
            <a:off x="9490253" y="3712464"/>
            <a:ext cx="73152" cy="1956816"/>
          </a:xfrm>
          <a:prstGeom prst="roundRect">
            <a:avLst>
              <a:gd name="adj" fmla="val 50000"/>
            </a:avLst>
          </a:prstGeom>
          <a:solidFill>
            <a:srgbClr val="64748B"/>
          </a:solidFill>
          <a:ln w="12700">
            <a:solidFill>
              <a:srgbClr val="64748B"/>
            </a:solidFill>
            <a:prstDash val="solid"/>
          </a:ln>
        </p:spPr>
      </p:sp>
      <p:sp>
        <p:nvSpPr>
          <p:cNvPr id="114" name="Shape 112"/>
          <p:cNvSpPr/>
          <p:nvPr/>
        </p:nvSpPr>
        <p:spPr>
          <a:xfrm>
            <a:off x="9581693" y="3803904"/>
            <a:ext cx="1787042" cy="402336"/>
          </a:xfrm>
          <a:prstGeom prst="roundRect">
            <a:avLst>
              <a:gd name="adj" fmla="val 9091"/>
            </a:avLst>
          </a:prstGeom>
          <a:solidFill>
            <a:srgbClr val="0D213F"/>
          </a:solidFill>
          <a:ln w="12700">
            <a:solidFill>
              <a:srgbClr val="64748B"/>
            </a:solidFill>
            <a:prstDash val="solid"/>
          </a:ln>
        </p:spPr>
      </p:sp>
      <p:sp>
        <p:nvSpPr>
          <p:cNvPr id="115" name="Text 113"/>
          <p:cNvSpPr/>
          <p:nvPr/>
        </p:nvSpPr>
        <p:spPr>
          <a:xfrm>
            <a:off x="9618269" y="3822192"/>
            <a:ext cx="1713890" cy="164592"/>
          </a:xfrm>
          <a:prstGeom prst="rect">
            <a:avLst/>
          </a:prstGeom>
          <a:noFill/>
          <a:ln/>
        </p:spPr>
        <p:txBody>
          <a:bodyPr wrap="square" rtlCol="0" anchor="ctr"/>
          <a:lstStyle/>
          <a:p>
            <a:pPr indent="0" marL="0">
              <a:buNone/>
            </a:pPr>
            <a:r>
              <a:rPr lang="en-US" sz="780" b="1" dirty="0">
                <a:solidFill>
                  <a:srgbClr val="FFFFFF"/>
                </a:solidFill>
                <a:latin typeface="Arial" pitchFamily="34" charset="0"/>
                <a:ea typeface="Arial" pitchFamily="34" charset="-122"/>
                <a:cs typeface="Arial" pitchFamily="34" charset="-120"/>
              </a:rPr>
              <a:t>KLASTER F: SEWA LAHAN</a:t>
            </a:r>
            <a:endParaRPr lang="en-US" sz="780" dirty="0"/>
          </a:p>
        </p:txBody>
      </p:sp>
      <p:sp>
        <p:nvSpPr>
          <p:cNvPr id="116" name="Text 114"/>
          <p:cNvSpPr/>
          <p:nvPr/>
        </p:nvSpPr>
        <p:spPr>
          <a:xfrm>
            <a:off x="9618269" y="3968496"/>
            <a:ext cx="1713890" cy="201168"/>
          </a:xfrm>
          <a:prstGeom prst="rect">
            <a:avLst/>
          </a:prstGeom>
          <a:noFill/>
          <a:ln/>
        </p:spPr>
        <p:txBody>
          <a:bodyPr wrap="square" rtlCol="0" anchor="ctr"/>
          <a:lstStyle/>
          <a:p>
            <a:pPr indent="0" marL="0">
              <a:buNone/>
            </a:pPr>
            <a:r>
              <a:rPr lang="en-US" sz="820" b="1" dirty="0">
                <a:solidFill>
                  <a:srgbClr val="94A3B8"/>
                </a:solidFill>
                <a:latin typeface="Arial" pitchFamily="34" charset="0"/>
                <a:ea typeface="Arial" pitchFamily="34" charset="-122"/>
                <a:cs typeface="Arial" pitchFamily="34" charset="-120"/>
              </a:rPr>
              <a:t>Rp 579.358.831 (2,5%)</a:t>
            </a:r>
            <a:endParaRPr lang="en-US" sz="820" dirty="0"/>
          </a:p>
        </p:txBody>
      </p:sp>
      <p:sp>
        <p:nvSpPr>
          <p:cNvPr id="117" name="Text 115"/>
          <p:cNvSpPr/>
          <p:nvPr/>
        </p:nvSpPr>
        <p:spPr>
          <a:xfrm>
            <a:off x="9599981" y="4261104"/>
            <a:ext cx="1051560" cy="256032"/>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Shopee Co-Location</a:t>
            </a:r>
            <a:endParaRPr lang="en-US" sz="720" dirty="0"/>
          </a:p>
        </p:txBody>
      </p:sp>
      <p:sp>
        <p:nvSpPr>
          <p:cNvPr id="118" name="Text 116"/>
          <p:cNvSpPr/>
          <p:nvPr/>
        </p:nvSpPr>
        <p:spPr>
          <a:xfrm>
            <a:off x="10587533" y="4261104"/>
            <a:ext cx="768096" cy="256032"/>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544 Jt</a:t>
            </a:r>
            <a:endParaRPr lang="en-US" sz="720" dirty="0"/>
          </a:p>
        </p:txBody>
      </p:sp>
      <p:sp>
        <p:nvSpPr>
          <p:cNvPr id="119" name="Text 117"/>
          <p:cNvSpPr/>
          <p:nvPr/>
        </p:nvSpPr>
        <p:spPr>
          <a:xfrm>
            <a:off x="9599981" y="4572000"/>
            <a:ext cx="1051560" cy="256032"/>
          </a:xfrm>
          <a:prstGeom prst="rect">
            <a:avLst/>
          </a:prstGeom>
          <a:noFill/>
          <a:ln/>
        </p:spPr>
        <p:txBody>
          <a:bodyPr wrap="square" rtlCol="0" anchor="ctr"/>
          <a:lstStyle/>
          <a:p>
            <a:pPr indent="0" marL="0">
              <a:buNone/>
            </a:pPr>
            <a:r>
              <a:rPr lang="en-US" sz="720" dirty="0">
                <a:solidFill>
                  <a:srgbClr val="94A3B8"/>
                </a:solidFill>
                <a:latin typeface="Arial" pitchFamily="34" charset="0"/>
                <a:ea typeface="Arial" pitchFamily="34" charset="-122"/>
                <a:cs typeface="Arial" pitchFamily="34" charset="-120"/>
              </a:rPr>
              <a:t>Katulondi Kawasan</a:t>
            </a:r>
            <a:endParaRPr lang="en-US" sz="720" dirty="0"/>
          </a:p>
        </p:txBody>
      </p:sp>
      <p:sp>
        <p:nvSpPr>
          <p:cNvPr id="120" name="Text 118"/>
          <p:cNvSpPr/>
          <p:nvPr/>
        </p:nvSpPr>
        <p:spPr>
          <a:xfrm>
            <a:off x="10587533" y="4572000"/>
            <a:ext cx="768096" cy="256032"/>
          </a:xfrm>
          <a:prstGeom prst="rect">
            <a:avLst/>
          </a:prstGeom>
          <a:noFill/>
          <a:ln/>
        </p:spPr>
        <p:txBody>
          <a:bodyPr wrap="square" rtlCol="0" anchor="ctr"/>
          <a:lstStyle/>
          <a:p>
            <a:pPr algn="r" indent="0" marL="0">
              <a:buNone/>
            </a:pPr>
            <a:r>
              <a:rPr lang="en-US" sz="720" b="1" dirty="0">
                <a:solidFill>
                  <a:srgbClr val="FFFFFF"/>
                </a:solidFill>
                <a:latin typeface="Arial" pitchFamily="34" charset="0"/>
                <a:ea typeface="Arial" pitchFamily="34" charset="-122"/>
                <a:cs typeface="Arial" pitchFamily="34" charset="-120"/>
              </a:rPr>
              <a:t>Rp 35 Jt</a:t>
            </a:r>
            <a:endParaRPr lang="en-US" sz="720" dirty="0"/>
          </a:p>
        </p:txBody>
      </p:sp>
      <p:sp>
        <p:nvSpPr>
          <p:cNvPr id="121" name="Shape 119"/>
          <p:cNvSpPr/>
          <p:nvPr/>
        </p:nvSpPr>
        <p:spPr>
          <a:xfrm>
            <a:off x="9581693" y="4937760"/>
            <a:ext cx="1787042" cy="640080"/>
          </a:xfrm>
          <a:prstGeom prst="roundRect">
            <a:avLst>
              <a:gd name="adj" fmla="val 4286"/>
            </a:avLst>
          </a:prstGeom>
          <a:solidFill>
            <a:srgbClr val="070D18"/>
          </a:solidFill>
          <a:ln w="10160">
            <a:solidFill>
              <a:srgbClr val="1E3A5F"/>
            </a:solidFill>
            <a:prstDash val="solid"/>
          </a:ln>
        </p:spPr>
      </p:sp>
      <p:sp>
        <p:nvSpPr>
          <p:cNvPr id="122" name="Text 120"/>
          <p:cNvSpPr/>
          <p:nvPr/>
        </p:nvSpPr>
        <p:spPr>
          <a:xfrm>
            <a:off x="9618269" y="4956048"/>
            <a:ext cx="1713890" cy="585216"/>
          </a:xfrm>
          <a:prstGeom prst="rect">
            <a:avLst/>
          </a:prstGeom>
          <a:noFill/>
          <a:ln/>
        </p:spPr>
        <p:txBody>
          <a:bodyPr wrap="square" rtlCol="0" anchor="ctr"/>
          <a:lstStyle/>
          <a:p>
            <a:pPr indent="0" marL="0">
              <a:lnSpc>
                <a:spcPts val="900"/>
              </a:lnSpc>
              <a:buNone/>
            </a:pPr>
            <a:r>
              <a:rPr lang="en-US" sz="680" dirty="0">
                <a:solidFill>
                  <a:srgbClr val="F59E0B"/>
                </a:solidFill>
                <a:latin typeface="Arial" pitchFamily="34" charset="0"/>
                <a:ea typeface="Arial" pitchFamily="34" charset="-122"/>
                <a:cs typeface="Arial" pitchFamily="34" charset="-120"/>
              </a:rPr>
              <a:t>📉 DE-ESKALASI SEWA:</a:t>
            </a:r>
            <a:endParaRPr lang="en-US" sz="680" dirty="0"/>
          </a:p>
          <a:p>
            <a:pPr indent="0" marL="0">
              <a:lnSpc>
                <a:spcPts val="900"/>
              </a:lnSpc>
              <a:buNone/>
            </a:pPr>
            <a:r>
              <a:rPr lang="en-US" sz="680" dirty="0">
                <a:solidFill>
                  <a:srgbClr val="F59E0B"/>
                </a:solidFill>
                <a:latin typeface="Arial" pitchFamily="34" charset="0"/>
                <a:ea typeface="Arial" pitchFamily="34" charset="-122"/>
                <a:cs typeface="Arial" pitchFamily="34" charset="-120"/>
              </a:rPr>
              <a:t>Porsi sewa ditekan ke 2,5% demi beralih ke inovasi bernilai tinggi.</a:t>
            </a:r>
            <a:endParaRPr lang="en-US" sz="680" dirty="0"/>
          </a:p>
        </p:txBody>
      </p:sp>
      <p:sp>
        <p:nvSpPr>
          <p:cNvPr id="123" name="Shape 121"/>
          <p:cNvSpPr/>
          <p:nvPr/>
        </p:nvSpPr>
        <p:spPr>
          <a:xfrm>
            <a:off x="731520" y="5742432"/>
            <a:ext cx="10728655" cy="530352"/>
          </a:xfrm>
          <a:prstGeom prst="roundRect">
            <a:avLst>
              <a:gd name="adj" fmla="val 13793"/>
            </a:avLst>
          </a:prstGeom>
          <a:solidFill>
            <a:srgbClr val="0D213F"/>
          </a:solidFill>
          <a:ln w="12700">
            <a:solidFill>
              <a:srgbClr val="F59E0B"/>
            </a:solidFill>
            <a:prstDash val="solid"/>
          </a:ln>
        </p:spPr>
      </p:sp>
      <p:sp>
        <p:nvSpPr>
          <p:cNvPr id="124" name="Text 122"/>
          <p:cNvSpPr/>
          <p:nvPr/>
        </p:nvSpPr>
        <p:spPr>
          <a:xfrm>
            <a:off x="914400" y="5742432"/>
            <a:ext cx="10362895" cy="530352"/>
          </a:xfrm>
          <a:prstGeom prst="rect">
            <a:avLst/>
          </a:prstGeom>
          <a:noFill/>
          <a:ln/>
        </p:spPr>
        <p:txBody>
          <a:bodyPr wrap="square"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TOTAL TARGET PENDAPATAN BLUD 2030:   </a:t>
            </a:r>
            <a:pPr algn="ctr" indent="0" marL="0">
              <a:buNone/>
            </a:pPr>
            <a:r>
              <a:rPr lang="en-US" sz="1350" b="1" dirty="0">
                <a:solidFill>
                  <a:srgbClr val="F59E0B"/>
                </a:solidFill>
                <a:latin typeface="Arial" pitchFamily="34" charset="0"/>
                <a:ea typeface="Arial" pitchFamily="34" charset="-122"/>
                <a:cs typeface="Arial" pitchFamily="34" charset="-120"/>
              </a:rPr>
              <a:t>Rp 23.468.158.831  </a:t>
            </a:r>
            <a:pPr algn="ctr" indent="0" marL="0">
              <a:buNone/>
            </a:pPr>
            <a:r>
              <a:rPr lang="en-US" sz="820" i="1" dirty="0">
                <a:solidFill>
                  <a:srgbClr val="38BDF8"/>
                </a:solidFill>
                <a:latin typeface="Arial" pitchFamily="34" charset="0"/>
                <a:ea typeface="Arial" pitchFamily="34" charset="-122"/>
                <a:cs typeface="Arial" pitchFamily="34" charset="-120"/>
              </a:rPr>
              <a:t>(Dua Puluh Tiga Miliar Empat Ratus Enam Puluh Delapan Juta Rupiah) — Rekonsiliasi 100% Mandiri Bebas APBD</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DAMPAK SOSIAL-EKONOMI DAERAH</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6 DIMENSI KEBERDAMPAKAN: SOLO TECHNOPARK UNTUK WARGA SURAKARTA</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11 / 12</a:t>
            </a:r>
            <a:endParaRPr lang="en-US" sz="900" dirty="0"/>
          </a:p>
        </p:txBody>
      </p:sp>
      <p:sp>
        <p:nvSpPr>
          <p:cNvPr id="11" name="Shape 9"/>
          <p:cNvSpPr/>
          <p:nvPr/>
        </p:nvSpPr>
        <p:spPr>
          <a:xfrm>
            <a:off x="731520" y="1325880"/>
            <a:ext cx="4846320" cy="4892040"/>
          </a:xfrm>
          <a:prstGeom prst="roundRect">
            <a:avLst>
              <a:gd name="adj" fmla="val 1509"/>
            </a:avLst>
          </a:prstGeom>
          <a:solidFill>
            <a:srgbClr val="0A192F"/>
          </a:solidFill>
          <a:ln w="12700">
            <a:solidFill>
              <a:srgbClr val="1E3A5F"/>
            </a:solidFill>
            <a:prstDash val="solid"/>
          </a:ln>
        </p:spPr>
      </p:sp>
      <p:sp>
        <p:nvSpPr>
          <p:cNvPr id="12" name="Shape 10"/>
          <p:cNvSpPr/>
          <p:nvPr/>
        </p:nvSpPr>
        <p:spPr>
          <a:xfrm>
            <a:off x="731520" y="1325880"/>
            <a:ext cx="73152" cy="4892040"/>
          </a:xfrm>
          <a:prstGeom prst="roundRect">
            <a:avLst>
              <a:gd name="adj" fmla="val 50000"/>
            </a:avLst>
          </a:prstGeom>
          <a:solidFill>
            <a:srgbClr val="0EA5E9"/>
          </a:solidFill>
          <a:ln w="12700">
            <a:solidFill>
              <a:srgbClr val="0EA5E9"/>
            </a:solidFill>
            <a:prstDash val="solid"/>
          </a:ln>
        </p:spPr>
      </p:sp>
      <p:sp>
        <p:nvSpPr>
          <p:cNvPr id="13" name="Text 11"/>
          <p:cNvSpPr/>
          <p:nvPr/>
        </p:nvSpPr>
        <p:spPr>
          <a:xfrm>
            <a:off x="914400" y="1463040"/>
            <a:ext cx="4480560" cy="256032"/>
          </a:xfrm>
          <a:prstGeom prst="rect">
            <a:avLst/>
          </a:prstGeom>
          <a:noFill/>
          <a:ln/>
        </p:spPr>
        <p:txBody>
          <a:bodyPr wrap="square" rtlCol="0" anchor="ctr"/>
          <a:lstStyle/>
          <a:p>
            <a:pPr indent="0" marL="0">
              <a:buNone/>
            </a:pPr>
            <a:r>
              <a:rPr lang="en-US" sz="1000" b="1" dirty="0">
                <a:solidFill>
                  <a:srgbClr val="38BDF8"/>
                </a:solidFill>
                <a:latin typeface="Arial" pitchFamily="34" charset="0"/>
                <a:ea typeface="Arial" pitchFamily="34" charset="-122"/>
                <a:cs typeface="Arial" pitchFamily="34" charset="-120"/>
              </a:rPr>
              <a:t>SKOR CAPAIAN 6 DIMENSI DAMPAK 2030 (%)</a:t>
            </a:r>
            <a:endParaRPr lang="en-US" sz="1000" dirty="0"/>
          </a:p>
        </p:txBody>
      </p:sp>
      <p:graphicFrame>
        <p:nvGraphicFramePr>
          <p:cNvPr id="14" name="Chart 0" descr=""/>
          <p:cNvGraphicFramePr/>
          <p:nvPr/>
        </p:nvGraphicFramePr>
        <p:xfrm>
          <a:off x="868680" y="1783080"/>
          <a:ext cx="4526280" cy="2834640"/>
        </p:xfrm>
        <a:graphic xmlns:a="http://schemas.openxmlformats.org/drawingml/2006/main">
          <a:graphicData uri="http://schemas.openxmlformats.org/drawingml/2006/chart">
            <c:chart xmlns:c="http://schemas.openxmlformats.org/drawingml/2006/chart" r:id="rId1"/>
          </a:graphicData>
        </a:graphic>
      </p:graphicFrame>
      <p:sp>
        <p:nvSpPr>
          <p:cNvPr id="15" name="Shape 12"/>
          <p:cNvSpPr/>
          <p:nvPr/>
        </p:nvSpPr>
        <p:spPr>
          <a:xfrm>
            <a:off x="914400" y="4709160"/>
            <a:ext cx="4480560" cy="1371600"/>
          </a:xfrm>
          <a:prstGeom prst="roundRect">
            <a:avLst>
              <a:gd name="adj" fmla="val 2667"/>
            </a:avLst>
          </a:prstGeom>
          <a:solidFill>
            <a:srgbClr val="0D213F"/>
          </a:solidFill>
          <a:ln w="12700">
            <a:solidFill>
              <a:srgbClr val="1E3A5F"/>
            </a:solidFill>
            <a:prstDash val="solid"/>
          </a:ln>
        </p:spPr>
      </p:sp>
      <p:sp>
        <p:nvSpPr>
          <p:cNvPr id="16" name="Text 13"/>
          <p:cNvSpPr/>
          <p:nvPr/>
        </p:nvSpPr>
        <p:spPr>
          <a:xfrm>
            <a:off x="1051560" y="4800600"/>
            <a:ext cx="4206240" cy="228600"/>
          </a:xfrm>
          <a:prstGeom prst="rect">
            <a:avLst/>
          </a:prstGeom>
          <a:noFill/>
          <a:ln/>
        </p:spPr>
        <p:txBody>
          <a:bodyPr wrap="square" rtlCol="0" anchor="ctr"/>
          <a:lstStyle/>
          <a:p>
            <a:pPr indent="0" marL="0">
              <a:buNone/>
            </a:pPr>
            <a:r>
              <a:rPr lang="en-US" sz="950" b="1" dirty="0">
                <a:solidFill>
                  <a:srgbClr val="F59E0B"/>
                </a:solidFill>
                <a:latin typeface="Arial" pitchFamily="34" charset="0"/>
                <a:ea typeface="Arial" pitchFamily="34" charset="-122"/>
                <a:cs typeface="Arial" pitchFamily="34" charset="-120"/>
              </a:rPr>
              <a:t>FILOSOFI IMPACT MEASUREMENT KOTA:</a:t>
            </a:r>
            <a:endParaRPr lang="en-US" sz="950" dirty="0"/>
          </a:p>
        </p:txBody>
      </p:sp>
      <p:sp>
        <p:nvSpPr>
          <p:cNvPr id="17" name="Text 14"/>
          <p:cNvSpPr/>
          <p:nvPr/>
        </p:nvSpPr>
        <p:spPr>
          <a:xfrm>
            <a:off x="1051560" y="5074920"/>
            <a:ext cx="4206240" cy="914400"/>
          </a:xfrm>
          <a:prstGeom prst="rect">
            <a:avLst/>
          </a:prstGeom>
          <a:noFill/>
          <a:ln/>
        </p:spPr>
        <p:txBody>
          <a:bodyPr wrap="square" rtlCol="0" anchor="ctr"/>
          <a:lstStyle/>
          <a:p>
            <a:pPr indent="0" marL="0">
              <a:lnSpc>
                <a:spcPts val="1200"/>
              </a:lnSpc>
              <a:buNone/>
            </a:pPr>
            <a:r>
              <a:rPr lang="en-US" sz="850" dirty="0">
                <a:solidFill>
                  <a:srgbClr val="FFFFFF"/>
                </a:solidFill>
                <a:latin typeface="Arial" pitchFamily="34" charset="0"/>
                <a:ea typeface="Arial" pitchFamily="34" charset="-122"/>
                <a:cs typeface="Arial" pitchFamily="34" charset="-120"/>
              </a:rPr>
              <a:t>Keberhasilan Solo Technopark tidak diukur dari megahnya gedung atau saldo kas BLUD semata, melainkan dari kesejahteraan nyata warga Surakarta: lapangan kerja yang terserap, UMKM yang naik kelas, serta keterhubungan riset kampus dengan kebutuhan industri.</a:t>
            </a:r>
            <a:endParaRPr lang="en-US" sz="850" dirty="0"/>
          </a:p>
        </p:txBody>
      </p:sp>
      <p:sp>
        <p:nvSpPr>
          <p:cNvPr id="18" name="Shape 15"/>
          <p:cNvSpPr/>
          <p:nvPr/>
        </p:nvSpPr>
        <p:spPr>
          <a:xfrm>
            <a:off x="5760720" y="1325880"/>
            <a:ext cx="2697480" cy="1536192"/>
          </a:xfrm>
          <a:prstGeom prst="roundRect">
            <a:avLst>
              <a:gd name="adj" fmla="val 4762"/>
            </a:avLst>
          </a:prstGeom>
          <a:solidFill>
            <a:srgbClr val="0A192F"/>
          </a:solidFill>
          <a:ln w="12700">
            <a:solidFill>
              <a:srgbClr val="1E3A5F"/>
            </a:solidFill>
            <a:prstDash val="solid"/>
          </a:ln>
        </p:spPr>
      </p:sp>
      <p:sp>
        <p:nvSpPr>
          <p:cNvPr id="19" name="Shape 16"/>
          <p:cNvSpPr/>
          <p:nvPr/>
        </p:nvSpPr>
        <p:spPr>
          <a:xfrm>
            <a:off x="5760720" y="1325880"/>
            <a:ext cx="73152" cy="1536192"/>
          </a:xfrm>
          <a:prstGeom prst="roundRect">
            <a:avLst>
              <a:gd name="adj" fmla="val 50000"/>
            </a:avLst>
          </a:prstGeom>
          <a:solidFill>
            <a:srgbClr val="38BDF8"/>
          </a:solidFill>
          <a:ln w="12700">
            <a:solidFill>
              <a:srgbClr val="38BDF8"/>
            </a:solidFill>
            <a:prstDash val="solid"/>
          </a:ln>
        </p:spPr>
      </p:sp>
      <p:sp>
        <p:nvSpPr>
          <p:cNvPr id="20" name="Text 17"/>
          <p:cNvSpPr/>
          <p:nvPr/>
        </p:nvSpPr>
        <p:spPr>
          <a:xfrm>
            <a:off x="5897880" y="1435608"/>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SDM LEBIH KOMPETEN</a:t>
            </a:r>
            <a:endParaRPr lang="en-US" sz="850" dirty="0"/>
          </a:p>
        </p:txBody>
      </p:sp>
      <p:sp>
        <p:nvSpPr>
          <p:cNvPr id="21" name="Text 18"/>
          <p:cNvSpPr/>
          <p:nvPr/>
        </p:nvSpPr>
        <p:spPr>
          <a:xfrm>
            <a:off x="5897880" y="1737360"/>
            <a:ext cx="2423160" cy="502920"/>
          </a:xfrm>
          <a:prstGeom prst="rect">
            <a:avLst/>
          </a:prstGeom>
          <a:noFill/>
          <a:ln/>
        </p:spPr>
        <p:txBody>
          <a:bodyPr wrap="square" rtlCol="0" anchor="ctr"/>
          <a:lstStyle/>
          <a:p>
            <a:pPr algn="ctr" indent="0" marL="0">
              <a:buNone/>
            </a:pPr>
            <a:r>
              <a:rPr lang="en-US" sz="1350" b="1" dirty="0">
                <a:solidFill>
                  <a:srgbClr val="38BDF8"/>
                </a:solidFill>
                <a:latin typeface="Arial" pitchFamily="34" charset="0"/>
                <a:ea typeface="Arial" pitchFamily="34" charset="-122"/>
                <a:cs typeface="Arial" pitchFamily="34" charset="-120"/>
              </a:rPr>
              <a:t>9.000 Peserta / Thn</a:t>
            </a:r>
            <a:endParaRPr lang="en-US" sz="1350" dirty="0"/>
          </a:p>
        </p:txBody>
      </p:sp>
      <p:sp>
        <p:nvSpPr>
          <p:cNvPr id="22" name="Text 19"/>
          <p:cNvSpPr/>
          <p:nvPr/>
        </p:nvSpPr>
        <p:spPr>
          <a:xfrm>
            <a:off x="5897880" y="235000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Kuota afirmasi 65% KTP Surakarta</a:t>
            </a:r>
            <a:endParaRPr lang="en-US" sz="800" dirty="0"/>
          </a:p>
        </p:txBody>
      </p:sp>
      <p:sp>
        <p:nvSpPr>
          <p:cNvPr id="23" name="Shape 20"/>
          <p:cNvSpPr/>
          <p:nvPr/>
        </p:nvSpPr>
        <p:spPr>
          <a:xfrm>
            <a:off x="8595360" y="1325880"/>
            <a:ext cx="2697480" cy="1536192"/>
          </a:xfrm>
          <a:prstGeom prst="roundRect">
            <a:avLst>
              <a:gd name="adj" fmla="val 4762"/>
            </a:avLst>
          </a:prstGeom>
          <a:solidFill>
            <a:srgbClr val="0A192F"/>
          </a:solidFill>
          <a:ln w="12700">
            <a:solidFill>
              <a:srgbClr val="1E3A5F"/>
            </a:solidFill>
            <a:prstDash val="solid"/>
          </a:ln>
        </p:spPr>
      </p:sp>
      <p:sp>
        <p:nvSpPr>
          <p:cNvPr id="24" name="Shape 21"/>
          <p:cNvSpPr/>
          <p:nvPr/>
        </p:nvSpPr>
        <p:spPr>
          <a:xfrm>
            <a:off x="8595360" y="1325880"/>
            <a:ext cx="73152" cy="1536192"/>
          </a:xfrm>
          <a:prstGeom prst="roundRect">
            <a:avLst>
              <a:gd name="adj" fmla="val 50000"/>
            </a:avLst>
          </a:prstGeom>
          <a:solidFill>
            <a:srgbClr val="F59E0B"/>
          </a:solidFill>
          <a:ln w="12700">
            <a:solidFill>
              <a:srgbClr val="F59E0B"/>
            </a:solidFill>
            <a:prstDash val="solid"/>
          </a:ln>
        </p:spPr>
      </p:sp>
      <p:sp>
        <p:nvSpPr>
          <p:cNvPr id="25" name="Text 22"/>
          <p:cNvSpPr/>
          <p:nvPr/>
        </p:nvSpPr>
        <p:spPr>
          <a:xfrm>
            <a:off x="8732520" y="1435608"/>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UMKM &amp; STARTUP TUMBUH</a:t>
            </a:r>
            <a:endParaRPr lang="en-US" sz="850" dirty="0"/>
          </a:p>
        </p:txBody>
      </p:sp>
      <p:sp>
        <p:nvSpPr>
          <p:cNvPr id="26" name="Text 23"/>
          <p:cNvSpPr/>
          <p:nvPr/>
        </p:nvSpPr>
        <p:spPr>
          <a:xfrm>
            <a:off x="8732520" y="1737360"/>
            <a:ext cx="2423160" cy="502920"/>
          </a:xfrm>
          <a:prstGeom prst="rect">
            <a:avLst/>
          </a:prstGeom>
          <a:noFill/>
          <a:ln/>
        </p:spPr>
        <p:txBody>
          <a:bodyPr wrap="square" rtlCol="0" anchor="ctr"/>
          <a:lstStyle/>
          <a:p>
            <a:pPr algn="ctr" indent="0" marL="0">
              <a:buNone/>
            </a:pPr>
            <a:r>
              <a:rPr lang="en-US" sz="1350" b="1" dirty="0">
                <a:solidFill>
                  <a:srgbClr val="F59E0B"/>
                </a:solidFill>
                <a:latin typeface="Arial" pitchFamily="34" charset="0"/>
                <a:ea typeface="Arial" pitchFamily="34" charset="-122"/>
                <a:cs typeface="Arial" pitchFamily="34" charset="-120"/>
              </a:rPr>
              <a:t>80+ Wirausaha Baru</a:t>
            </a:r>
            <a:endParaRPr lang="en-US" sz="1350" dirty="0"/>
          </a:p>
        </p:txBody>
      </p:sp>
      <p:sp>
        <p:nvSpPr>
          <p:cNvPr id="27" name="Text 24"/>
          <p:cNvSpPr/>
          <p:nvPr/>
        </p:nvSpPr>
        <p:spPr>
          <a:xfrm>
            <a:off x="8732520" y="2350008"/>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Pendampingan &amp; onboarding GoTo Hub</a:t>
            </a:r>
            <a:endParaRPr lang="en-US" sz="800" dirty="0"/>
          </a:p>
        </p:txBody>
      </p:sp>
      <p:sp>
        <p:nvSpPr>
          <p:cNvPr id="28" name="Shape 25"/>
          <p:cNvSpPr/>
          <p:nvPr/>
        </p:nvSpPr>
        <p:spPr>
          <a:xfrm>
            <a:off x="5760720" y="2953512"/>
            <a:ext cx="2697480" cy="1536192"/>
          </a:xfrm>
          <a:prstGeom prst="roundRect">
            <a:avLst>
              <a:gd name="adj" fmla="val 4762"/>
            </a:avLst>
          </a:prstGeom>
          <a:solidFill>
            <a:srgbClr val="0A192F"/>
          </a:solidFill>
          <a:ln w="12700">
            <a:solidFill>
              <a:srgbClr val="1E3A5F"/>
            </a:solidFill>
            <a:prstDash val="solid"/>
          </a:ln>
        </p:spPr>
      </p:sp>
      <p:sp>
        <p:nvSpPr>
          <p:cNvPr id="29" name="Shape 26"/>
          <p:cNvSpPr/>
          <p:nvPr/>
        </p:nvSpPr>
        <p:spPr>
          <a:xfrm>
            <a:off x="5760720" y="2953512"/>
            <a:ext cx="73152" cy="1536192"/>
          </a:xfrm>
          <a:prstGeom prst="roundRect">
            <a:avLst>
              <a:gd name="adj" fmla="val 50000"/>
            </a:avLst>
          </a:prstGeom>
          <a:solidFill>
            <a:srgbClr val="10B981"/>
          </a:solidFill>
          <a:ln w="12700">
            <a:solidFill>
              <a:srgbClr val="10B981"/>
            </a:solidFill>
            <a:prstDash val="solid"/>
          </a:ln>
        </p:spPr>
      </p:sp>
      <p:sp>
        <p:nvSpPr>
          <p:cNvPr id="30" name="Text 27"/>
          <p:cNvSpPr/>
          <p:nvPr/>
        </p:nvSpPr>
        <p:spPr>
          <a:xfrm>
            <a:off x="5897880" y="3063240"/>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RISET DEKAT KE PASAR</a:t>
            </a:r>
            <a:endParaRPr lang="en-US" sz="850" dirty="0"/>
          </a:p>
        </p:txBody>
      </p:sp>
      <p:sp>
        <p:nvSpPr>
          <p:cNvPr id="31" name="Text 28"/>
          <p:cNvSpPr/>
          <p:nvPr/>
        </p:nvSpPr>
        <p:spPr>
          <a:xfrm>
            <a:off x="5897880" y="3364992"/>
            <a:ext cx="2423160" cy="502920"/>
          </a:xfrm>
          <a:prstGeom prst="rect">
            <a:avLst/>
          </a:prstGeom>
          <a:noFill/>
          <a:ln/>
        </p:spPr>
        <p:txBody>
          <a:bodyPr wrap="square" rtlCol="0" anchor="ctr"/>
          <a:lstStyle/>
          <a:p>
            <a:pPr algn="ctr" indent="0" marL="0">
              <a:buNone/>
            </a:pPr>
            <a:r>
              <a:rPr lang="en-US" sz="1350" b="1" dirty="0">
                <a:solidFill>
                  <a:srgbClr val="10B981"/>
                </a:solidFill>
                <a:latin typeface="Arial" pitchFamily="34" charset="0"/>
                <a:ea typeface="Arial" pitchFamily="34" charset="-122"/>
                <a:cs typeface="Arial" pitchFamily="34" charset="-120"/>
              </a:rPr>
              <a:t>45+ Produk Hilirisasi</a:t>
            </a:r>
            <a:endParaRPr lang="en-US" sz="1350" dirty="0"/>
          </a:p>
        </p:txBody>
      </p:sp>
      <p:sp>
        <p:nvSpPr>
          <p:cNvPr id="32" name="Text 29"/>
          <p:cNvSpPr/>
          <p:nvPr/>
        </p:nvSpPr>
        <p:spPr>
          <a:xfrm>
            <a:off x="5897880" y="3977640"/>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Paten HKI, Uji NDT &amp; Sertifikasi TKDN</a:t>
            </a:r>
            <a:endParaRPr lang="en-US" sz="800" dirty="0"/>
          </a:p>
        </p:txBody>
      </p:sp>
      <p:sp>
        <p:nvSpPr>
          <p:cNvPr id="33" name="Shape 30"/>
          <p:cNvSpPr/>
          <p:nvPr/>
        </p:nvSpPr>
        <p:spPr>
          <a:xfrm>
            <a:off x="8595360" y="2953512"/>
            <a:ext cx="2697480" cy="1536192"/>
          </a:xfrm>
          <a:prstGeom prst="roundRect">
            <a:avLst>
              <a:gd name="adj" fmla="val 4762"/>
            </a:avLst>
          </a:prstGeom>
          <a:solidFill>
            <a:srgbClr val="0A192F"/>
          </a:solidFill>
          <a:ln w="12700">
            <a:solidFill>
              <a:srgbClr val="1E3A5F"/>
            </a:solidFill>
            <a:prstDash val="solid"/>
          </a:ln>
        </p:spPr>
      </p:sp>
      <p:sp>
        <p:nvSpPr>
          <p:cNvPr id="34" name="Shape 31"/>
          <p:cNvSpPr/>
          <p:nvPr/>
        </p:nvSpPr>
        <p:spPr>
          <a:xfrm>
            <a:off x="8595360" y="2953512"/>
            <a:ext cx="73152" cy="1536192"/>
          </a:xfrm>
          <a:prstGeom prst="roundRect">
            <a:avLst>
              <a:gd name="adj" fmla="val 50000"/>
            </a:avLst>
          </a:prstGeom>
          <a:solidFill>
            <a:srgbClr val="0EA5E9"/>
          </a:solidFill>
          <a:ln w="12700">
            <a:solidFill>
              <a:srgbClr val="0EA5E9"/>
            </a:solidFill>
            <a:prstDash val="solid"/>
          </a:ln>
        </p:spPr>
      </p:sp>
      <p:sp>
        <p:nvSpPr>
          <p:cNvPr id="35" name="Text 32"/>
          <p:cNvSpPr/>
          <p:nvPr/>
        </p:nvSpPr>
        <p:spPr>
          <a:xfrm>
            <a:off x="8732520" y="3063240"/>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AKSES TEKNOLOGI TERBUKA</a:t>
            </a:r>
            <a:endParaRPr lang="en-US" sz="850" dirty="0"/>
          </a:p>
        </p:txBody>
      </p:sp>
      <p:sp>
        <p:nvSpPr>
          <p:cNvPr id="36" name="Text 33"/>
          <p:cNvSpPr/>
          <p:nvPr/>
        </p:nvSpPr>
        <p:spPr>
          <a:xfrm>
            <a:off x="8732520" y="3364992"/>
            <a:ext cx="2423160" cy="502920"/>
          </a:xfrm>
          <a:prstGeom prst="rect">
            <a:avLst/>
          </a:prstGeom>
          <a:noFill/>
          <a:ln/>
        </p:spPr>
        <p:txBody>
          <a:bodyPr wrap="square" rtlCol="0" anchor="ctr"/>
          <a:lstStyle/>
          <a:p>
            <a:pPr algn="ctr" indent="0" marL="0">
              <a:buNone/>
            </a:pPr>
            <a:r>
              <a:rPr lang="en-US" sz="1350" b="1" dirty="0">
                <a:solidFill>
                  <a:srgbClr val="0EA5E9"/>
                </a:solidFill>
                <a:latin typeface="Arial" pitchFamily="34" charset="0"/>
                <a:ea typeface="Arial" pitchFamily="34" charset="-122"/>
                <a:cs typeface="Arial" pitchFamily="34" charset="-120"/>
              </a:rPr>
              <a:t>10.000+ Kunjungan/Thn</a:t>
            </a:r>
            <a:endParaRPr lang="en-US" sz="1350" dirty="0"/>
          </a:p>
        </p:txBody>
      </p:sp>
      <p:sp>
        <p:nvSpPr>
          <p:cNvPr id="37" name="Text 34"/>
          <p:cNvSpPr/>
          <p:nvPr/>
        </p:nvSpPr>
        <p:spPr>
          <a:xfrm>
            <a:off x="8732520" y="3977640"/>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Lab AI, Cyber &amp; Prakerin SMK Solo Raya</a:t>
            </a:r>
            <a:endParaRPr lang="en-US" sz="800" dirty="0"/>
          </a:p>
        </p:txBody>
      </p:sp>
      <p:sp>
        <p:nvSpPr>
          <p:cNvPr id="38" name="Shape 35"/>
          <p:cNvSpPr/>
          <p:nvPr/>
        </p:nvSpPr>
        <p:spPr>
          <a:xfrm>
            <a:off x="5760720" y="4581144"/>
            <a:ext cx="2697480" cy="1536192"/>
          </a:xfrm>
          <a:prstGeom prst="roundRect">
            <a:avLst>
              <a:gd name="adj" fmla="val 4762"/>
            </a:avLst>
          </a:prstGeom>
          <a:solidFill>
            <a:srgbClr val="0A192F"/>
          </a:solidFill>
          <a:ln w="12700">
            <a:solidFill>
              <a:srgbClr val="1E3A5F"/>
            </a:solidFill>
            <a:prstDash val="solid"/>
          </a:ln>
        </p:spPr>
      </p:sp>
      <p:sp>
        <p:nvSpPr>
          <p:cNvPr id="39" name="Shape 36"/>
          <p:cNvSpPr/>
          <p:nvPr/>
        </p:nvSpPr>
        <p:spPr>
          <a:xfrm>
            <a:off x="5760720" y="4581144"/>
            <a:ext cx="73152" cy="1536192"/>
          </a:xfrm>
          <a:prstGeom prst="roundRect">
            <a:avLst>
              <a:gd name="adj" fmla="val 50000"/>
            </a:avLst>
          </a:prstGeom>
          <a:solidFill>
            <a:srgbClr val="F59E0B"/>
          </a:solidFill>
          <a:ln w="12700">
            <a:solidFill>
              <a:srgbClr val="F59E0B"/>
            </a:solidFill>
            <a:prstDash val="solid"/>
          </a:ln>
        </p:spPr>
      </p:sp>
      <p:sp>
        <p:nvSpPr>
          <p:cNvPr id="40" name="Text 37"/>
          <p:cNvSpPr/>
          <p:nvPr/>
        </p:nvSpPr>
        <p:spPr>
          <a:xfrm>
            <a:off x="5897880" y="4690872"/>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PELUANG KERJA BARU</a:t>
            </a:r>
            <a:endParaRPr lang="en-US" sz="850" dirty="0"/>
          </a:p>
        </p:txBody>
      </p:sp>
      <p:sp>
        <p:nvSpPr>
          <p:cNvPr id="41" name="Text 38"/>
          <p:cNvSpPr/>
          <p:nvPr/>
        </p:nvSpPr>
        <p:spPr>
          <a:xfrm>
            <a:off x="5897880" y="4992624"/>
            <a:ext cx="2423160" cy="502920"/>
          </a:xfrm>
          <a:prstGeom prst="rect">
            <a:avLst/>
          </a:prstGeom>
          <a:noFill/>
          <a:ln/>
        </p:spPr>
        <p:txBody>
          <a:bodyPr wrap="square" rtlCol="0" anchor="ctr"/>
          <a:lstStyle/>
          <a:p>
            <a:pPr algn="ctr" indent="0" marL="0">
              <a:buNone/>
            </a:pPr>
            <a:r>
              <a:rPr lang="en-US" sz="1350" b="1" dirty="0">
                <a:solidFill>
                  <a:srgbClr val="F59E0B"/>
                </a:solidFill>
                <a:latin typeface="Arial" pitchFamily="34" charset="0"/>
                <a:ea typeface="Arial" pitchFamily="34" charset="-122"/>
                <a:cs typeface="Arial" pitchFamily="34" charset="-120"/>
              </a:rPr>
              <a:t>Rp 180 M Multiplier</a:t>
            </a:r>
            <a:endParaRPr lang="en-US" sz="1350" dirty="0"/>
          </a:p>
        </p:txBody>
      </p:sp>
      <p:sp>
        <p:nvSpPr>
          <p:cNvPr id="42" name="Text 39"/>
          <p:cNvSpPr/>
          <p:nvPr/>
        </p:nvSpPr>
        <p:spPr>
          <a:xfrm>
            <a:off x="5897880" y="5605272"/>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Perputaran ekonomi hotel, resto &amp; MICE</a:t>
            </a:r>
            <a:endParaRPr lang="en-US" sz="800" dirty="0"/>
          </a:p>
        </p:txBody>
      </p:sp>
      <p:sp>
        <p:nvSpPr>
          <p:cNvPr id="43" name="Shape 40"/>
          <p:cNvSpPr/>
          <p:nvPr/>
        </p:nvSpPr>
        <p:spPr>
          <a:xfrm>
            <a:off x="8595360" y="4581144"/>
            <a:ext cx="2697480" cy="1536192"/>
          </a:xfrm>
          <a:prstGeom prst="roundRect">
            <a:avLst>
              <a:gd name="adj" fmla="val 4762"/>
            </a:avLst>
          </a:prstGeom>
          <a:solidFill>
            <a:srgbClr val="0A192F"/>
          </a:solidFill>
          <a:ln w="12700">
            <a:solidFill>
              <a:srgbClr val="1E3A5F"/>
            </a:solidFill>
            <a:prstDash val="solid"/>
          </a:ln>
        </p:spPr>
      </p:sp>
      <p:sp>
        <p:nvSpPr>
          <p:cNvPr id="44" name="Shape 41"/>
          <p:cNvSpPr/>
          <p:nvPr/>
        </p:nvSpPr>
        <p:spPr>
          <a:xfrm>
            <a:off x="8595360" y="4581144"/>
            <a:ext cx="73152" cy="1536192"/>
          </a:xfrm>
          <a:prstGeom prst="roundRect">
            <a:avLst>
              <a:gd name="adj" fmla="val 50000"/>
            </a:avLst>
          </a:prstGeom>
          <a:solidFill>
            <a:srgbClr val="10B981"/>
          </a:solidFill>
          <a:ln w="12700">
            <a:solidFill>
              <a:srgbClr val="10B981"/>
            </a:solidFill>
            <a:prstDash val="solid"/>
          </a:ln>
        </p:spPr>
      </p:sp>
      <p:sp>
        <p:nvSpPr>
          <p:cNvPr id="45" name="Text 42"/>
          <p:cNvSpPr/>
          <p:nvPr/>
        </p:nvSpPr>
        <p:spPr>
          <a:xfrm>
            <a:off x="8732520" y="4690872"/>
            <a:ext cx="2423160" cy="228600"/>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  KOLABORASI INDUSTRI</a:t>
            </a:r>
            <a:endParaRPr lang="en-US" sz="850" dirty="0"/>
          </a:p>
        </p:txBody>
      </p:sp>
      <p:sp>
        <p:nvSpPr>
          <p:cNvPr id="46" name="Text 43"/>
          <p:cNvSpPr/>
          <p:nvPr/>
        </p:nvSpPr>
        <p:spPr>
          <a:xfrm>
            <a:off x="8732520" y="4992624"/>
            <a:ext cx="2423160" cy="502920"/>
          </a:xfrm>
          <a:prstGeom prst="rect">
            <a:avLst/>
          </a:prstGeom>
          <a:noFill/>
          <a:ln/>
        </p:spPr>
        <p:txBody>
          <a:bodyPr wrap="square" rtlCol="0" anchor="ctr"/>
          <a:lstStyle/>
          <a:p>
            <a:pPr algn="ctr" indent="0" marL="0">
              <a:buNone/>
            </a:pPr>
            <a:r>
              <a:rPr lang="en-US" sz="1350" b="1" dirty="0">
                <a:solidFill>
                  <a:srgbClr val="10B981"/>
                </a:solidFill>
                <a:latin typeface="Arial" pitchFamily="34" charset="0"/>
                <a:ea typeface="Arial" pitchFamily="34" charset="-122"/>
                <a:cs typeface="Arial" pitchFamily="34" charset="-120"/>
              </a:rPr>
              <a:t>100% Investasi Swasta</a:t>
            </a:r>
            <a:endParaRPr lang="en-US" sz="1350" dirty="0"/>
          </a:p>
        </p:txBody>
      </p:sp>
      <p:sp>
        <p:nvSpPr>
          <p:cNvPr id="47" name="Text 44"/>
          <p:cNvSpPr/>
          <p:nvPr/>
        </p:nvSpPr>
        <p:spPr>
          <a:xfrm>
            <a:off x="8732520" y="5605272"/>
            <a:ext cx="2423160" cy="411480"/>
          </a:xfrm>
          <a:prstGeom prst="rect">
            <a:avLst/>
          </a:prstGeom>
          <a:noFill/>
          <a:ln/>
        </p:spPr>
        <p:txBody>
          <a:bodyPr wrap="square" rtlCol="0" anchor="ctr"/>
          <a:lstStyle/>
          <a:p>
            <a:pPr algn="ctr" indent="0" marL="0">
              <a:lnSpc>
                <a:spcPts val="1000"/>
              </a:lnSpc>
              <a:buNone/>
            </a:pPr>
            <a:r>
              <a:rPr lang="en-US" sz="800" dirty="0">
                <a:solidFill>
                  <a:srgbClr val="94A3B8"/>
                </a:solidFill>
                <a:latin typeface="Arial" pitchFamily="34" charset="0"/>
                <a:ea typeface="Arial" pitchFamily="34" charset="-122"/>
                <a:cs typeface="Arial" pitchFamily="34" charset="-120"/>
              </a:rPr>
              <a:t>95+ korporasi dunia tanpa beban APBD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D18"/>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EA5E9"/>
          </a:solidFill>
          <a:ln/>
        </p:spPr>
      </p:sp>
      <p:sp>
        <p:nvSpPr>
          <p:cNvPr id="3" name="Shape 1"/>
          <p:cNvSpPr/>
          <p:nvPr/>
        </p:nvSpPr>
        <p:spPr>
          <a:xfrm>
            <a:off x="9144000" y="0"/>
            <a:ext cx="3047695" cy="73152"/>
          </a:xfrm>
          <a:prstGeom prst="rect">
            <a:avLst/>
          </a:prstGeom>
          <a:solidFill>
            <a:srgbClr val="F59E0B"/>
          </a:solidFill>
          <a:ln/>
        </p:spPr>
      </p:sp>
      <p:sp>
        <p:nvSpPr>
          <p:cNvPr id="4" name="Shape 2"/>
          <p:cNvSpPr/>
          <p:nvPr/>
        </p:nvSpPr>
        <p:spPr>
          <a:xfrm>
            <a:off x="731520" y="256032"/>
            <a:ext cx="3291840" cy="237744"/>
          </a:xfrm>
          <a:prstGeom prst="roundRect">
            <a:avLst>
              <a:gd name="adj" fmla="val 19231"/>
            </a:avLst>
          </a:prstGeom>
          <a:solidFill>
            <a:srgbClr val="0A192F"/>
          </a:solidFill>
          <a:ln w="12700">
            <a:solidFill>
              <a:srgbClr val="0EA5E9"/>
            </a:solidFill>
            <a:prstDash val="solid"/>
          </a:ln>
        </p:spPr>
      </p:sp>
      <p:sp>
        <p:nvSpPr>
          <p:cNvPr id="5" name="Text 3"/>
          <p:cNvSpPr/>
          <p:nvPr/>
        </p:nvSpPr>
        <p:spPr>
          <a:xfrm>
            <a:off x="731520" y="256032"/>
            <a:ext cx="3291840" cy="237744"/>
          </a:xfrm>
          <a:prstGeom prst="rect">
            <a:avLst/>
          </a:prstGeom>
          <a:noFill/>
          <a:ln/>
        </p:spPr>
        <p:txBody>
          <a:bodyPr wrap="square" rtlCol="0" anchor="ctr"/>
          <a:lstStyle/>
          <a:p>
            <a:pPr algn="ctr" indent="0" marL="0">
              <a:buNone/>
            </a:pPr>
            <a:r>
              <a:rPr lang="en-US" sz="850" b="1" dirty="0">
                <a:solidFill>
                  <a:srgbClr val="38BDF8"/>
                </a:solidFill>
                <a:latin typeface="Arial" pitchFamily="34" charset="0"/>
                <a:ea typeface="Arial" pitchFamily="34" charset="-122"/>
                <a:cs typeface="Arial" pitchFamily="34" charset="-120"/>
              </a:rPr>
              <a:t>DUKUNGAN KEPEMIMPINAN &amp; KOMITMEN EKSEKUSI</a:t>
            </a:r>
            <a:endParaRPr lang="en-US" sz="850" dirty="0"/>
          </a:p>
        </p:txBody>
      </p:sp>
      <p:sp>
        <p:nvSpPr>
          <p:cNvPr id="6" name="Text 4"/>
          <p:cNvSpPr/>
          <p:nvPr/>
        </p:nvSpPr>
        <p:spPr>
          <a:xfrm>
            <a:off x="731520" y="530352"/>
            <a:ext cx="10728655" cy="384048"/>
          </a:xfrm>
          <a:prstGeom prst="rect">
            <a:avLst/>
          </a:prstGeom>
          <a:noFill/>
          <a:ln/>
        </p:spPr>
        <p:txBody>
          <a:bodyPr wrap="square" rtlCol="0" anchor="ctr"/>
          <a:lstStyle/>
          <a:p>
            <a:pPr indent="0" marL="0">
              <a:buNone/>
            </a:pPr>
            <a:r>
              <a:rPr lang="en-US" sz="1850" b="1" dirty="0">
                <a:solidFill>
                  <a:srgbClr val="FFFFFF"/>
                </a:solidFill>
                <a:latin typeface="Arial" pitchFamily="34" charset="0"/>
                <a:ea typeface="Arial" pitchFamily="34" charset="-122"/>
                <a:cs typeface="Arial" pitchFamily="34" charset="-120"/>
              </a:rPr>
              <a:t>3 PERMOHONAN KEBIJAKAN KEPADA WALIKOTA &amp; RENCANA AKSI 100 HARI</a:t>
            </a:r>
            <a:endParaRPr lang="en-US" sz="1850" dirty="0"/>
          </a:p>
        </p:txBody>
      </p:sp>
      <p:sp>
        <p:nvSpPr>
          <p:cNvPr id="7" name="Text 5"/>
          <p:cNvSpPr/>
          <p:nvPr/>
        </p:nvSpPr>
        <p:spPr>
          <a:xfrm>
            <a:off x="731520" y="914400"/>
            <a:ext cx="10728655" cy="292608"/>
          </a:xfrm>
          <a:prstGeom prst="rect">
            <a:avLst/>
          </a:prstGeom>
          <a:noFill/>
          <a:ln/>
        </p:spPr>
        <p:txBody>
          <a:bodyPr wrap="square" rtlCol="0" anchor="ctr"/>
          <a:lstStyle/>
          <a:p>
            <a:pPr indent="0" marL="0">
              <a:buNone/>
            </a:pPr>
            <a:r>
              <a:rPr lang="en-US" sz="1000" i="1" dirty="0">
                <a:solidFill>
                  <a:srgbClr val="94A3B8"/>
                </a:solidFill>
                <a:latin typeface="Arial" pitchFamily="34" charset="0"/>
                <a:ea typeface="Arial" pitchFamily="34" charset="-122"/>
                <a:cs typeface="Arial" pitchFamily="34" charset="-120"/>
              </a:rPr>
              <a:t>Kami Tidak Memohon Tambahan Pagu APBD — Kami Memohon 3 Payung Regulasi Kepemimpinan Walikota</a:t>
            </a:r>
            <a:endParaRPr lang="en-US" sz="1000" dirty="0"/>
          </a:p>
        </p:txBody>
      </p:sp>
      <p:sp>
        <p:nvSpPr>
          <p:cNvPr id="8" name="Shape 6"/>
          <p:cNvSpPr/>
          <p:nvPr/>
        </p:nvSpPr>
        <p:spPr>
          <a:xfrm>
            <a:off x="731520" y="6419088"/>
            <a:ext cx="10728655" cy="18288"/>
          </a:xfrm>
          <a:prstGeom prst="rect">
            <a:avLst/>
          </a:prstGeom>
          <a:solidFill>
            <a:srgbClr val="1E3A5F"/>
          </a:solidFill>
          <a:ln/>
        </p:spPr>
      </p:sp>
      <p:sp>
        <p:nvSpPr>
          <p:cNvPr id="9" name="Text 7"/>
          <p:cNvSpPr/>
          <p:nvPr/>
        </p:nvSpPr>
        <p:spPr>
          <a:xfrm>
            <a:off x="731520" y="6473952"/>
            <a:ext cx="7772400" cy="274320"/>
          </a:xfrm>
          <a:prstGeom prst="rect">
            <a:avLst/>
          </a:prstGeom>
          <a:noFill/>
          <a:ln/>
        </p:spPr>
        <p:txBody>
          <a:bodyPr wrap="square" rtlCol="0" anchor="ctr"/>
          <a:lstStyle/>
          <a:p>
            <a:pPr indent="0" marL="0">
              <a:buNone/>
            </a:pPr>
            <a:r>
              <a:rPr lang="en-US" sz="850" dirty="0">
                <a:solidFill>
                  <a:srgbClr val="94A3B8"/>
                </a:solidFill>
                <a:latin typeface="Arial" pitchFamily="34" charset="0"/>
                <a:ea typeface="Arial" pitchFamily="34" charset="-122"/>
                <a:cs typeface="Arial" pitchFamily="34" charset="-120"/>
              </a:rPr>
              <a:t>UPTD KST SOLO TECHNOPARK  |  BRIDA KOTA SURAKARTA  •  Bahan Paparan Resmi Walikota (Edisi V6)</a:t>
            </a:r>
            <a:endParaRPr lang="en-US" sz="850" dirty="0"/>
          </a:p>
        </p:txBody>
      </p:sp>
      <p:sp>
        <p:nvSpPr>
          <p:cNvPr id="10" name="Text 8"/>
          <p:cNvSpPr/>
          <p:nvPr/>
        </p:nvSpPr>
        <p:spPr>
          <a:xfrm>
            <a:off x="10058400" y="6473952"/>
            <a:ext cx="1401775" cy="274320"/>
          </a:xfrm>
          <a:prstGeom prst="rect">
            <a:avLst/>
          </a:prstGeom>
          <a:noFill/>
          <a:ln/>
        </p:spPr>
        <p:txBody>
          <a:bodyPr wrap="square" rtlCol="0" anchor="ctr"/>
          <a:lstStyle/>
          <a:p>
            <a:pPr algn="r" indent="0" marL="0">
              <a:buNone/>
            </a:pPr>
            <a:r>
              <a:rPr lang="en-US" sz="900" b="1" dirty="0">
                <a:solidFill>
                  <a:srgbClr val="38BDF8"/>
                </a:solidFill>
                <a:latin typeface="Arial" pitchFamily="34" charset="0"/>
                <a:ea typeface="Arial" pitchFamily="34" charset="-122"/>
                <a:cs typeface="Arial" pitchFamily="34" charset="-120"/>
              </a:rPr>
              <a:t>Slide 12 / 12</a:t>
            </a:r>
            <a:endParaRPr lang="en-US" sz="900" dirty="0"/>
          </a:p>
        </p:txBody>
      </p:sp>
      <p:sp>
        <p:nvSpPr>
          <p:cNvPr id="11" name="Shape 9"/>
          <p:cNvSpPr/>
          <p:nvPr/>
        </p:nvSpPr>
        <p:spPr>
          <a:xfrm>
            <a:off x="731520" y="1325880"/>
            <a:ext cx="3474720" cy="2468880"/>
          </a:xfrm>
          <a:prstGeom prst="roundRect">
            <a:avLst>
              <a:gd name="adj" fmla="val 2963"/>
            </a:avLst>
          </a:prstGeom>
          <a:solidFill>
            <a:srgbClr val="0A192F"/>
          </a:solidFill>
          <a:ln w="12700">
            <a:solidFill>
              <a:srgbClr val="1E3A5F"/>
            </a:solidFill>
            <a:prstDash val="solid"/>
          </a:ln>
        </p:spPr>
      </p:sp>
      <p:sp>
        <p:nvSpPr>
          <p:cNvPr id="12" name="Shape 10"/>
          <p:cNvSpPr/>
          <p:nvPr/>
        </p:nvSpPr>
        <p:spPr>
          <a:xfrm>
            <a:off x="731520" y="1325880"/>
            <a:ext cx="73152" cy="2468880"/>
          </a:xfrm>
          <a:prstGeom prst="roundRect">
            <a:avLst>
              <a:gd name="adj" fmla="val 50000"/>
            </a:avLst>
          </a:prstGeom>
          <a:solidFill>
            <a:srgbClr val="0EA5E9"/>
          </a:solidFill>
          <a:ln w="12700">
            <a:solidFill>
              <a:srgbClr val="0EA5E9"/>
            </a:solidFill>
            <a:prstDash val="solid"/>
          </a:ln>
        </p:spPr>
      </p:sp>
      <p:sp>
        <p:nvSpPr>
          <p:cNvPr id="13" name="Shape 11"/>
          <p:cNvSpPr/>
          <p:nvPr/>
        </p:nvSpPr>
        <p:spPr>
          <a:xfrm>
            <a:off x="868680" y="1417320"/>
            <a:ext cx="3200400" cy="237744"/>
          </a:xfrm>
          <a:prstGeom prst="roundRect">
            <a:avLst>
              <a:gd name="adj" fmla="val 11538"/>
            </a:avLst>
          </a:prstGeom>
          <a:solidFill>
            <a:srgbClr val="070D18"/>
          </a:solidFill>
          <a:ln w="10160">
            <a:solidFill>
              <a:srgbClr val="0EA5E9"/>
            </a:solidFill>
            <a:prstDash val="solid"/>
          </a:ln>
        </p:spPr>
      </p:sp>
      <p:sp>
        <p:nvSpPr>
          <p:cNvPr id="14" name="Text 12"/>
          <p:cNvSpPr/>
          <p:nvPr/>
        </p:nvSpPr>
        <p:spPr>
          <a:xfrm>
            <a:off x="868680" y="1417320"/>
            <a:ext cx="3200400" cy="237744"/>
          </a:xfrm>
          <a:prstGeom prst="rect">
            <a:avLst/>
          </a:prstGeom>
          <a:noFill/>
          <a:ln/>
        </p:spPr>
        <p:txBody>
          <a:bodyPr wrap="square" rtlCol="0" anchor="ctr"/>
          <a:lstStyle/>
          <a:p>
            <a:pPr algn="ctr" indent="0" marL="0">
              <a:buNone/>
            </a:pPr>
            <a:r>
              <a:rPr lang="en-US" sz="720" b="1" dirty="0">
                <a:solidFill>
                  <a:srgbClr val="0EA5E9"/>
                </a:solidFill>
                <a:latin typeface="Arial" pitchFamily="34" charset="0"/>
                <a:ea typeface="Arial" pitchFamily="34" charset="-122"/>
                <a:cs typeface="Arial" pitchFamily="34" charset="-120"/>
              </a:rPr>
              <a:t>⭐ PRIORITAS UTAMA (QUICK WIN 30 HARI)</a:t>
            </a:r>
            <a:endParaRPr lang="en-US" sz="720" dirty="0"/>
          </a:p>
        </p:txBody>
      </p:sp>
      <p:sp>
        <p:nvSpPr>
          <p:cNvPr id="15" name="Shape 13"/>
          <p:cNvSpPr/>
          <p:nvPr/>
        </p:nvSpPr>
        <p:spPr>
          <a:xfrm>
            <a:off x="868680" y="1719072"/>
            <a:ext cx="3200400" cy="420624"/>
          </a:xfrm>
          <a:prstGeom prst="roundRect">
            <a:avLst>
              <a:gd name="adj" fmla="val 8696"/>
            </a:avLst>
          </a:prstGeom>
          <a:solidFill>
            <a:srgbClr val="0D213F"/>
          </a:solidFill>
          <a:ln w="12700">
            <a:solidFill>
              <a:srgbClr val="0EA5E9"/>
            </a:solidFill>
            <a:prstDash val="solid"/>
          </a:ln>
        </p:spPr>
      </p:sp>
      <p:sp>
        <p:nvSpPr>
          <p:cNvPr id="16" name="Text 14"/>
          <p:cNvSpPr/>
          <p:nvPr/>
        </p:nvSpPr>
        <p:spPr>
          <a:xfrm>
            <a:off x="914400" y="1737360"/>
            <a:ext cx="3108960" cy="384048"/>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PERMOHONAN 1: INSTRUKSI WALIKOTA AFIRMASI e-KATALOG</a:t>
            </a:r>
            <a:endParaRPr lang="en-US" sz="850" dirty="0"/>
          </a:p>
        </p:txBody>
      </p:sp>
      <p:sp>
        <p:nvSpPr>
          <p:cNvPr id="17" name="Text 15"/>
          <p:cNvSpPr/>
          <p:nvPr/>
        </p:nvSpPr>
        <p:spPr>
          <a:xfrm>
            <a:off x="914400" y="2176272"/>
            <a:ext cx="3108960" cy="77724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50" dirty="0"/>
          </a:p>
        </p:txBody>
      </p:sp>
      <p:sp>
        <p:nvSpPr>
          <p:cNvPr id="18" name="Shape 16"/>
          <p:cNvSpPr/>
          <p:nvPr/>
        </p:nvSpPr>
        <p:spPr>
          <a:xfrm>
            <a:off x="914400" y="3017520"/>
            <a:ext cx="3108960" cy="658368"/>
          </a:xfrm>
          <a:prstGeom prst="roundRect">
            <a:avLst>
              <a:gd name="adj" fmla="val 5556"/>
            </a:avLst>
          </a:prstGeom>
          <a:solidFill>
            <a:srgbClr val="070D18"/>
          </a:solidFill>
          <a:ln w="12700">
            <a:solidFill>
              <a:srgbClr val="1E3A5F"/>
            </a:solidFill>
            <a:prstDash val="solid"/>
          </a:ln>
        </p:spPr>
      </p:sp>
      <p:sp>
        <p:nvSpPr>
          <p:cNvPr id="19" name="Text 17"/>
          <p:cNvSpPr/>
          <p:nvPr/>
        </p:nvSpPr>
        <p:spPr>
          <a:xfrm>
            <a:off x="960120" y="3054096"/>
            <a:ext cx="3017520" cy="29260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Target: Rp 2,25 M / Thn di 2030 (80+ Produk Terserap)</a:t>
            </a:r>
            <a:endParaRPr lang="en-US" sz="850" dirty="0"/>
          </a:p>
        </p:txBody>
      </p:sp>
      <p:sp>
        <p:nvSpPr>
          <p:cNvPr id="20" name="Text 18"/>
          <p:cNvSpPr/>
          <p:nvPr/>
        </p:nvSpPr>
        <p:spPr>
          <a:xfrm>
            <a:off x="960120" y="3364992"/>
            <a:ext cx="3017520" cy="256032"/>
          </a:xfrm>
          <a:prstGeom prst="rect">
            <a:avLst/>
          </a:prstGeom>
          <a:noFill/>
          <a:ln/>
        </p:spPr>
        <p:txBody>
          <a:bodyPr wrap="square" rtlCol="0" anchor="ctr"/>
          <a:lstStyle/>
          <a:p>
            <a:pPr indent="0" marL="0">
              <a:buNone/>
            </a:pPr>
            <a:r>
              <a:rPr lang="en-US" sz="800" i="1" dirty="0">
                <a:solidFill>
                  <a:srgbClr val="0EA5E9"/>
                </a:solidFill>
                <a:latin typeface="Arial" pitchFamily="34" charset="0"/>
                <a:ea typeface="Arial" pitchFamily="34" charset="-122"/>
                <a:cs typeface="Arial" pitchFamily="34" charset="-120"/>
              </a:rPr>
              <a:t>⚡ Bisa langsung diterbitkan dalam 30 hari pertama</a:t>
            </a:r>
            <a:endParaRPr lang="en-US" sz="800" dirty="0"/>
          </a:p>
        </p:txBody>
      </p:sp>
      <p:sp>
        <p:nvSpPr>
          <p:cNvPr id="21" name="Shape 19"/>
          <p:cNvSpPr/>
          <p:nvPr/>
        </p:nvSpPr>
        <p:spPr>
          <a:xfrm>
            <a:off x="4343400" y="1325880"/>
            <a:ext cx="3474720" cy="2468880"/>
          </a:xfrm>
          <a:prstGeom prst="roundRect">
            <a:avLst>
              <a:gd name="adj" fmla="val 2963"/>
            </a:avLst>
          </a:prstGeom>
          <a:solidFill>
            <a:srgbClr val="0A192F"/>
          </a:solidFill>
          <a:ln w="12700">
            <a:solidFill>
              <a:srgbClr val="1E3A5F"/>
            </a:solidFill>
            <a:prstDash val="solid"/>
          </a:ln>
        </p:spPr>
      </p:sp>
      <p:sp>
        <p:nvSpPr>
          <p:cNvPr id="22" name="Shape 20"/>
          <p:cNvSpPr/>
          <p:nvPr/>
        </p:nvSpPr>
        <p:spPr>
          <a:xfrm>
            <a:off x="4343400" y="1325880"/>
            <a:ext cx="73152" cy="2468880"/>
          </a:xfrm>
          <a:prstGeom prst="roundRect">
            <a:avLst>
              <a:gd name="adj" fmla="val 50000"/>
            </a:avLst>
          </a:prstGeom>
          <a:solidFill>
            <a:srgbClr val="F59E0B"/>
          </a:solidFill>
          <a:ln w="12700">
            <a:solidFill>
              <a:srgbClr val="F59E0B"/>
            </a:solidFill>
            <a:prstDash val="solid"/>
          </a:ln>
        </p:spPr>
      </p:sp>
      <p:sp>
        <p:nvSpPr>
          <p:cNvPr id="23" name="Shape 21"/>
          <p:cNvSpPr/>
          <p:nvPr/>
        </p:nvSpPr>
        <p:spPr>
          <a:xfrm>
            <a:off x="4480560" y="1417320"/>
            <a:ext cx="3200400" cy="237744"/>
          </a:xfrm>
          <a:prstGeom prst="roundRect">
            <a:avLst>
              <a:gd name="adj" fmla="val 11538"/>
            </a:avLst>
          </a:prstGeom>
          <a:solidFill>
            <a:srgbClr val="070D18"/>
          </a:solidFill>
          <a:ln w="10160">
            <a:solidFill>
              <a:srgbClr val="F59E0B"/>
            </a:solidFill>
            <a:prstDash val="solid"/>
          </a:ln>
        </p:spPr>
      </p:sp>
      <p:sp>
        <p:nvSpPr>
          <p:cNvPr id="24" name="Text 22"/>
          <p:cNvSpPr/>
          <p:nvPr/>
        </p:nvSpPr>
        <p:spPr>
          <a:xfrm>
            <a:off x="4480560" y="1417320"/>
            <a:ext cx="3200400" cy="237744"/>
          </a:xfrm>
          <a:prstGeom prst="rect">
            <a:avLst/>
          </a:prstGeom>
          <a:noFill/>
          <a:ln/>
        </p:spPr>
        <p:txBody>
          <a:bodyPr wrap="square" rtlCol="0" anchor="ctr"/>
          <a:lstStyle/>
          <a:p>
            <a:pPr algn="ctr" indent="0" marL="0">
              <a:buNone/>
            </a:pPr>
            <a:r>
              <a:rPr lang="en-US" sz="720" b="1" dirty="0">
                <a:solidFill>
                  <a:srgbClr val="F59E0B"/>
                </a:solidFill>
                <a:latin typeface="Arial" pitchFamily="34" charset="0"/>
                <a:ea typeface="Arial" pitchFamily="34" charset="-122"/>
                <a:cs typeface="Arial" pitchFamily="34" charset="-120"/>
              </a:rPr>
              <a:t>🏢 INVESTASI JANGKA PANJANG (10–25 TAHUN)</a:t>
            </a:r>
            <a:endParaRPr lang="en-US" sz="720" dirty="0"/>
          </a:p>
        </p:txBody>
      </p:sp>
      <p:sp>
        <p:nvSpPr>
          <p:cNvPr id="25" name="Shape 23"/>
          <p:cNvSpPr/>
          <p:nvPr/>
        </p:nvSpPr>
        <p:spPr>
          <a:xfrm>
            <a:off x="4480560" y="1719072"/>
            <a:ext cx="3200400" cy="420624"/>
          </a:xfrm>
          <a:prstGeom prst="roundRect">
            <a:avLst>
              <a:gd name="adj" fmla="val 8696"/>
            </a:avLst>
          </a:prstGeom>
          <a:solidFill>
            <a:srgbClr val="0D213F"/>
          </a:solidFill>
          <a:ln w="12700">
            <a:solidFill>
              <a:srgbClr val="F59E0B"/>
            </a:solidFill>
            <a:prstDash val="solid"/>
          </a:ln>
        </p:spPr>
      </p:sp>
      <p:sp>
        <p:nvSpPr>
          <p:cNvPr id="26" name="Text 24"/>
          <p:cNvSpPr/>
          <p:nvPr/>
        </p:nvSpPr>
        <p:spPr>
          <a:xfrm>
            <a:off x="4526280" y="1737360"/>
            <a:ext cx="3108960" cy="384048"/>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PERMOHONAN 2: FLEKSIBILITAS KERJASAMA LAHAN BLUD</a:t>
            </a:r>
            <a:endParaRPr lang="en-US" sz="850" dirty="0"/>
          </a:p>
        </p:txBody>
      </p:sp>
      <p:sp>
        <p:nvSpPr>
          <p:cNvPr id="27" name="Text 25"/>
          <p:cNvSpPr/>
          <p:nvPr/>
        </p:nvSpPr>
        <p:spPr>
          <a:xfrm>
            <a:off x="4526280" y="2176272"/>
            <a:ext cx="3108960" cy="77724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Peraturan Walikota skema Long-Term Revenue Sharing yang fleksibel bagi investor teknologi global di kawasan STP.</a:t>
            </a:r>
            <a:endParaRPr lang="en-US" sz="850" dirty="0"/>
          </a:p>
        </p:txBody>
      </p:sp>
      <p:sp>
        <p:nvSpPr>
          <p:cNvPr id="28" name="Shape 26"/>
          <p:cNvSpPr/>
          <p:nvPr/>
        </p:nvSpPr>
        <p:spPr>
          <a:xfrm>
            <a:off x="4526280" y="3017520"/>
            <a:ext cx="3108960" cy="658368"/>
          </a:xfrm>
          <a:prstGeom prst="roundRect">
            <a:avLst>
              <a:gd name="adj" fmla="val 5556"/>
            </a:avLst>
          </a:prstGeom>
          <a:solidFill>
            <a:srgbClr val="070D18"/>
          </a:solidFill>
          <a:ln w="12700">
            <a:solidFill>
              <a:srgbClr val="1E3A5F"/>
            </a:solidFill>
            <a:prstDash val="solid"/>
          </a:ln>
        </p:spPr>
      </p:sp>
      <p:sp>
        <p:nvSpPr>
          <p:cNvPr id="29" name="Text 27"/>
          <p:cNvSpPr/>
          <p:nvPr/>
        </p:nvSpPr>
        <p:spPr>
          <a:xfrm>
            <a:off x="4572000" y="3054096"/>
            <a:ext cx="3017520" cy="29260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Target: Menarik 3–5 Investor Baru Tanpa Beban APBD</a:t>
            </a:r>
            <a:endParaRPr lang="en-US" sz="850" dirty="0"/>
          </a:p>
        </p:txBody>
      </p:sp>
      <p:sp>
        <p:nvSpPr>
          <p:cNvPr id="30" name="Text 28"/>
          <p:cNvSpPr/>
          <p:nvPr/>
        </p:nvSpPr>
        <p:spPr>
          <a:xfrm>
            <a:off x="4572000" y="3364992"/>
            <a:ext cx="3017520" cy="256032"/>
          </a:xfrm>
          <a:prstGeom prst="rect">
            <a:avLst/>
          </a:prstGeom>
          <a:noFill/>
          <a:ln/>
        </p:spPr>
        <p:txBody>
          <a:bodyPr wrap="square" rtlCol="0" anchor="ctr"/>
          <a:lstStyle/>
          <a:p>
            <a:pPr indent="0" marL="0">
              <a:buNone/>
            </a:pPr>
            <a:r>
              <a:rPr lang="en-US" sz="800" i="1" dirty="0">
                <a:solidFill>
                  <a:srgbClr val="F59E0B"/>
                </a:solidFill>
                <a:latin typeface="Arial" pitchFamily="34" charset="0"/>
                <a:ea typeface="Arial" pitchFamily="34" charset="-122"/>
                <a:cs typeface="Arial" pitchFamily="34" charset="-120"/>
              </a:rPr>
              <a:t>⚡ Harmonisasi bersama BPKAD &amp; Bagian Hukum Setda</a:t>
            </a:r>
            <a:endParaRPr lang="en-US" sz="800" dirty="0"/>
          </a:p>
        </p:txBody>
      </p:sp>
      <p:sp>
        <p:nvSpPr>
          <p:cNvPr id="31" name="Shape 29"/>
          <p:cNvSpPr/>
          <p:nvPr/>
        </p:nvSpPr>
        <p:spPr>
          <a:xfrm>
            <a:off x="7955280" y="1325880"/>
            <a:ext cx="3474720" cy="2468880"/>
          </a:xfrm>
          <a:prstGeom prst="roundRect">
            <a:avLst>
              <a:gd name="adj" fmla="val 2963"/>
            </a:avLst>
          </a:prstGeom>
          <a:solidFill>
            <a:srgbClr val="0A192F"/>
          </a:solidFill>
          <a:ln w="12700">
            <a:solidFill>
              <a:srgbClr val="1E3A5F"/>
            </a:solidFill>
            <a:prstDash val="solid"/>
          </a:ln>
        </p:spPr>
      </p:sp>
      <p:sp>
        <p:nvSpPr>
          <p:cNvPr id="32" name="Shape 30"/>
          <p:cNvSpPr/>
          <p:nvPr/>
        </p:nvSpPr>
        <p:spPr>
          <a:xfrm>
            <a:off x="7955280" y="1325880"/>
            <a:ext cx="73152" cy="2468880"/>
          </a:xfrm>
          <a:prstGeom prst="roundRect">
            <a:avLst>
              <a:gd name="adj" fmla="val 50000"/>
            </a:avLst>
          </a:prstGeom>
          <a:solidFill>
            <a:srgbClr val="10B981"/>
          </a:solidFill>
          <a:ln w="12700">
            <a:solidFill>
              <a:srgbClr val="10B981"/>
            </a:solidFill>
            <a:prstDash val="solid"/>
          </a:ln>
        </p:spPr>
      </p:sp>
      <p:sp>
        <p:nvSpPr>
          <p:cNvPr id="33" name="Shape 31"/>
          <p:cNvSpPr/>
          <p:nvPr/>
        </p:nvSpPr>
        <p:spPr>
          <a:xfrm>
            <a:off x="8092440" y="1417320"/>
            <a:ext cx="3200400" cy="237744"/>
          </a:xfrm>
          <a:prstGeom prst="roundRect">
            <a:avLst>
              <a:gd name="adj" fmla="val 11538"/>
            </a:avLst>
          </a:prstGeom>
          <a:solidFill>
            <a:srgbClr val="070D18"/>
          </a:solidFill>
          <a:ln w="10160">
            <a:solidFill>
              <a:srgbClr val="10B981"/>
            </a:solidFill>
            <a:prstDash val="solid"/>
          </a:ln>
        </p:spPr>
      </p:sp>
      <p:sp>
        <p:nvSpPr>
          <p:cNvPr id="34" name="Text 32"/>
          <p:cNvSpPr/>
          <p:nvPr/>
        </p:nvSpPr>
        <p:spPr>
          <a:xfrm>
            <a:off x="8092440" y="1417320"/>
            <a:ext cx="3200400" cy="237744"/>
          </a:xfrm>
          <a:prstGeom prst="rect">
            <a:avLst/>
          </a:prstGeom>
          <a:noFill/>
          <a:ln/>
        </p:spPr>
        <p:txBody>
          <a:bodyPr wrap="square" rtlCol="0" anchor="ctr"/>
          <a:lstStyle/>
          <a:p>
            <a:pPr algn="ctr" indent="0" marL="0">
              <a:buNone/>
            </a:pPr>
            <a:r>
              <a:rPr lang="en-US" sz="720" b="1" dirty="0">
                <a:solidFill>
                  <a:srgbClr val="10B981"/>
                </a:solidFill>
                <a:latin typeface="Arial" pitchFamily="34" charset="0"/>
                <a:ea typeface="Arial" pitchFamily="34" charset="-122"/>
                <a:cs typeface="Arial" pitchFamily="34" charset="-120"/>
              </a:rPr>
              <a:t>🎓 KONSORSIUM RISET 5 KAMPUS SOLO RAYA</a:t>
            </a:r>
            <a:endParaRPr lang="en-US" sz="720" dirty="0"/>
          </a:p>
        </p:txBody>
      </p:sp>
      <p:sp>
        <p:nvSpPr>
          <p:cNvPr id="35" name="Shape 33"/>
          <p:cNvSpPr/>
          <p:nvPr/>
        </p:nvSpPr>
        <p:spPr>
          <a:xfrm>
            <a:off x="8092440" y="1719072"/>
            <a:ext cx="3200400" cy="420624"/>
          </a:xfrm>
          <a:prstGeom prst="roundRect">
            <a:avLst>
              <a:gd name="adj" fmla="val 8696"/>
            </a:avLst>
          </a:prstGeom>
          <a:solidFill>
            <a:srgbClr val="0D213F"/>
          </a:solidFill>
          <a:ln w="12700">
            <a:solidFill>
              <a:srgbClr val="10B981"/>
            </a:solidFill>
            <a:prstDash val="solid"/>
          </a:ln>
        </p:spPr>
      </p:sp>
      <p:sp>
        <p:nvSpPr>
          <p:cNvPr id="36" name="Text 34"/>
          <p:cNvSpPr/>
          <p:nvPr/>
        </p:nvSpPr>
        <p:spPr>
          <a:xfrm>
            <a:off x="8138160" y="1737360"/>
            <a:ext cx="3108960" cy="384048"/>
          </a:xfrm>
          <a:prstGeom prst="rect">
            <a:avLst/>
          </a:prstGeom>
          <a:noFill/>
          <a:ln/>
        </p:spPr>
        <p:txBody>
          <a:bodyPr wrap="square" rtlCol="0" anchor="ctr"/>
          <a:lstStyle/>
          <a:p>
            <a:pPr algn="ctr" indent="0" marL="0">
              <a:buNone/>
            </a:pPr>
            <a:r>
              <a:rPr lang="en-US" sz="850" b="1" dirty="0">
                <a:solidFill>
                  <a:srgbClr val="FFFFFF"/>
                </a:solidFill>
                <a:latin typeface="Arial" pitchFamily="34" charset="0"/>
                <a:ea typeface="Arial" pitchFamily="34" charset="-122"/>
                <a:cs typeface="Arial" pitchFamily="34" charset="-120"/>
              </a:rPr>
              <a:t>PERMOHONAN 3: SURAT EDARAN KONSORSIUM RISET DAERAH</a:t>
            </a:r>
            <a:endParaRPr lang="en-US" sz="850" dirty="0"/>
          </a:p>
        </p:txBody>
      </p:sp>
      <p:sp>
        <p:nvSpPr>
          <p:cNvPr id="37" name="Text 35"/>
          <p:cNvSpPr/>
          <p:nvPr/>
        </p:nvSpPr>
        <p:spPr>
          <a:xfrm>
            <a:off x="8138160" y="2176272"/>
            <a:ext cx="3108960" cy="777240"/>
          </a:xfrm>
          <a:prstGeom prst="rect">
            <a:avLst/>
          </a:prstGeom>
          <a:noFill/>
          <a:ln/>
        </p:spPr>
        <p:txBody>
          <a:bodyPr wrap="square" rtlCol="0" anchor="ctr"/>
          <a:lstStyle/>
          <a:p>
            <a:pPr indent="0" marL="0">
              <a:lnSpc>
                <a:spcPts val="1100"/>
              </a:lnSpc>
              <a:buNone/>
            </a:pPr>
            <a:r>
              <a:rPr lang="en-US" sz="850" dirty="0">
                <a:solidFill>
                  <a:srgbClr val="94A3B8"/>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50" dirty="0"/>
          </a:p>
        </p:txBody>
      </p:sp>
      <p:sp>
        <p:nvSpPr>
          <p:cNvPr id="38" name="Shape 36"/>
          <p:cNvSpPr/>
          <p:nvPr/>
        </p:nvSpPr>
        <p:spPr>
          <a:xfrm>
            <a:off x="8138160" y="3017520"/>
            <a:ext cx="3108960" cy="658368"/>
          </a:xfrm>
          <a:prstGeom prst="roundRect">
            <a:avLst>
              <a:gd name="adj" fmla="val 5556"/>
            </a:avLst>
          </a:prstGeom>
          <a:solidFill>
            <a:srgbClr val="070D18"/>
          </a:solidFill>
          <a:ln w="12700">
            <a:solidFill>
              <a:srgbClr val="1E3A5F"/>
            </a:solidFill>
            <a:prstDash val="solid"/>
          </a:ln>
        </p:spPr>
      </p:sp>
      <p:sp>
        <p:nvSpPr>
          <p:cNvPr id="39" name="Text 37"/>
          <p:cNvSpPr/>
          <p:nvPr/>
        </p:nvSpPr>
        <p:spPr>
          <a:xfrm>
            <a:off x="8183880" y="3054096"/>
            <a:ext cx="3017520" cy="292608"/>
          </a:xfrm>
          <a:prstGeom prst="rect">
            <a:avLst/>
          </a:prstGeom>
          <a:noFill/>
          <a:ln/>
        </p:spPr>
        <p:txBody>
          <a:bodyPr wrap="square" rtlCol="0" anchor="ctr"/>
          <a:lstStyle/>
          <a:p>
            <a:pPr indent="0" marL="0">
              <a:buNone/>
            </a:pPr>
            <a:r>
              <a:rPr lang="en-US" sz="850" b="1" dirty="0">
                <a:solidFill>
                  <a:srgbClr val="FFFFFF"/>
                </a:solidFill>
                <a:latin typeface="Arial" pitchFamily="34" charset="0"/>
                <a:ea typeface="Arial" pitchFamily="34" charset="-122"/>
                <a:cs typeface="Arial" pitchFamily="34" charset="-120"/>
              </a:rPr>
              <a:t>Target: 5 Kampus Mitra, 30 Klaster Riset Terapan</a:t>
            </a:r>
            <a:endParaRPr lang="en-US" sz="850" dirty="0"/>
          </a:p>
        </p:txBody>
      </p:sp>
      <p:sp>
        <p:nvSpPr>
          <p:cNvPr id="40" name="Text 38"/>
          <p:cNvSpPr/>
          <p:nvPr/>
        </p:nvSpPr>
        <p:spPr>
          <a:xfrm>
            <a:off x="8183880" y="3364992"/>
            <a:ext cx="3017520" cy="256032"/>
          </a:xfrm>
          <a:prstGeom prst="rect">
            <a:avLst/>
          </a:prstGeom>
          <a:noFill/>
          <a:ln/>
        </p:spPr>
        <p:txBody>
          <a:bodyPr wrap="square" rtlCol="0" anchor="ctr"/>
          <a:lstStyle/>
          <a:p>
            <a:pPr indent="0" marL="0">
              <a:buNone/>
            </a:pPr>
            <a:r>
              <a:rPr lang="en-US" sz="800" i="1" dirty="0">
                <a:solidFill>
                  <a:srgbClr val="10B981"/>
                </a:solidFill>
                <a:latin typeface="Arial" pitchFamily="34" charset="0"/>
                <a:ea typeface="Arial" pitchFamily="34" charset="-122"/>
                <a:cs typeface="Arial" pitchFamily="34" charset="-120"/>
              </a:rPr>
              <a:t>⚡ Penyusunan MoU bersama 5 Rektor Solo Raya</a:t>
            </a:r>
            <a:endParaRPr lang="en-US" sz="800" dirty="0"/>
          </a:p>
        </p:txBody>
      </p:sp>
      <p:sp>
        <p:nvSpPr>
          <p:cNvPr id="41" name="Shape 39"/>
          <p:cNvSpPr/>
          <p:nvPr/>
        </p:nvSpPr>
        <p:spPr>
          <a:xfrm>
            <a:off x="731520" y="3931920"/>
            <a:ext cx="10728655" cy="2423160"/>
          </a:xfrm>
          <a:prstGeom prst="roundRect">
            <a:avLst>
              <a:gd name="adj" fmla="val 3019"/>
            </a:avLst>
          </a:prstGeom>
          <a:solidFill>
            <a:srgbClr val="0A192F"/>
          </a:solidFill>
          <a:ln w="12700">
            <a:solidFill>
              <a:srgbClr val="0EA5E9"/>
            </a:solidFill>
            <a:prstDash val="solid"/>
          </a:ln>
        </p:spPr>
      </p:sp>
      <p:sp>
        <p:nvSpPr>
          <p:cNvPr id="42" name="Text 40"/>
          <p:cNvSpPr/>
          <p:nvPr/>
        </p:nvSpPr>
        <p:spPr>
          <a:xfrm>
            <a:off x="914400" y="4023360"/>
            <a:ext cx="10362895" cy="256032"/>
          </a:xfrm>
          <a:prstGeom prst="rect">
            <a:avLst/>
          </a:prstGeom>
          <a:noFill/>
          <a:ln/>
        </p:spPr>
        <p:txBody>
          <a:bodyPr wrap="square" rtlCol="0" anchor="ctr"/>
          <a:lstStyle/>
          <a:p>
            <a:pPr indent="0" marL="0">
              <a:buNone/>
            </a:pPr>
            <a:r>
              <a:rPr lang="en-US" sz="1000" b="1" dirty="0">
                <a:solidFill>
                  <a:srgbClr val="F59E0B"/>
                </a:solidFill>
                <a:latin typeface="Arial" pitchFamily="34" charset="0"/>
                <a:ea typeface="Arial" pitchFamily="34" charset="-122"/>
                <a:cs typeface="Arial" pitchFamily="34" charset="-120"/>
              </a:rPr>
              <a:t>RENCANA AKSI 100 HARI PERTAMA (QUICK WINS PASCA-ARAHAN WALIKOTA SURAKARTA):</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343400"/>
          <a:ext cx="10362895" cy="1874520"/>
        </p:xfrm>
        <a:graphic>
          <a:graphicData uri="http://schemas.openxmlformats.org/drawingml/2006/table">
            <a:tbl>
              <a:tblPr/>
              <a:tblGrid>
                <a:gridCol w="1280160"/>
                <a:gridCol w="3474720"/>
                <a:gridCol w="5608015"/>
              </a:tblGrid>
              <a:tr h="274320">
                <a:tc>
                  <a:txBody>
                    <a:bodyPr/>
                    <a:lstStyle/>
                    <a:p>
                      <a:pPr algn="ctr" indent="0" marL="0">
                        <a:buNone/>
                      </a:pPr>
                      <a:r>
                        <a:rPr lang="en-US" sz="850" b="1" dirty="0">
                          <a:solidFill>
                            <a:srgbClr val="FFFFFF"/>
                          </a:solidFill>
                          <a:latin typeface="Arial" pitchFamily="34" charset="0"/>
                          <a:ea typeface="Arial" pitchFamily="34" charset="-122"/>
                          <a:cs typeface="Arial" pitchFamily="34" charset="-120"/>
                        </a:rPr>
                        <a:t>PERIODE</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AGENDA STRATEGIS</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OUTPUT KONKRET &amp; TARGET KEBERHASILAN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F2D4E"/>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1–10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Penyusunan Draf Instruksi Walikota e-Katalog</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Draf Inkwal Afirmatif siap harmonisasi bersama Bagian Hukum Setda &amp; BPKAD.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F59E0B"/>
                          </a:solidFill>
                          <a:latin typeface="Arial" pitchFamily="34" charset="0"/>
                          <a:ea typeface="Arial" pitchFamily="34" charset="-122"/>
                          <a:cs typeface="Arial" pitchFamily="34" charset="-120"/>
                        </a:rPr>
                        <a:t>Hari 11–30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59E0B"/>
                          </a:solidFill>
                          <a:latin typeface="Arial" pitchFamily="34" charset="0"/>
                          <a:ea typeface="Arial" pitchFamily="34" charset="-122"/>
                          <a:cs typeface="Arial" pitchFamily="34" charset="-120"/>
                        </a:rPr>
                        <a:t>Harmonisasi &amp; Penerbitan Instruksi Walikota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Inkwal ditandatangani Walikota; Sosialisasi ke seluruh OPD prioritas Pemkot.</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31–50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Kurasi &amp; Seleksi 5 Produk Inovasi Unggulan</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Katalog 5 Produk Unggulan Hilirisasi STP (Smart Agri IoT, Alkes, Mesin Sortasi).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51–60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Showcase Inovasi di Depan Walikota &amp;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Demonstrasi produk di hadapan Walikota &amp; media; komitmen serapan perdana OPD.</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38BDF8"/>
                          </a:solidFill>
                          <a:latin typeface="Arial" pitchFamily="34" charset="0"/>
                          <a:ea typeface="Arial" pitchFamily="34" charset="-122"/>
                          <a:cs typeface="Arial" pitchFamily="34" charset="-120"/>
                        </a:rPr>
                        <a:t>Hari 61–80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FFFFFF"/>
                          </a:solidFill>
                          <a:latin typeface="Arial" pitchFamily="34" charset="0"/>
                          <a:ea typeface="Arial" pitchFamily="34" charset="-122"/>
                          <a:cs typeface="Arial" pitchFamily="34" charset="-120"/>
                        </a:rPr>
                        <a:t>Inisiasi Konsorsium Riset 5 Perguruan Tinggi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dirty="0">
                          <a:solidFill>
                            <a:srgbClr val="94A3B8"/>
                          </a:solidFill>
                          <a:latin typeface="Arial" pitchFamily="34" charset="0"/>
                          <a:ea typeface="Arial" pitchFamily="34" charset="-122"/>
                          <a:cs typeface="Arial" pitchFamily="34" charset="-120"/>
                        </a:rPr>
                        <a:t>MoU Pra-Konsorsium bersama Rektor UNS, UMS, ISI, Poltek Solo Raya.</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r h="256032">
                <a:tc>
                  <a:txBody>
                    <a:bodyPr/>
                    <a:lstStyle/>
                    <a:p>
                      <a:pPr algn="ctr" indent="0" marL="0">
                        <a:buNone/>
                      </a:pPr>
                      <a:r>
                        <a:rPr lang="en-US" sz="850" b="1" dirty="0">
                          <a:solidFill>
                            <a:srgbClr val="10B981"/>
                          </a:solidFill>
                          <a:latin typeface="Arial" pitchFamily="34" charset="0"/>
                          <a:ea typeface="Arial" pitchFamily="34" charset="-122"/>
                          <a:cs typeface="Arial" pitchFamily="34" charset="-120"/>
                        </a:rPr>
                        <a:t>Hari 81–100</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FFFFFF"/>
                          </a:solidFill>
                          <a:latin typeface="Arial" pitchFamily="34" charset="0"/>
                          <a:ea typeface="Arial" pitchFamily="34" charset="-122"/>
                          <a:cs typeface="Arial" pitchFamily="34" charset="-120"/>
                        </a:rPr>
                        <a:t>Launching Resmi Konsorsium &amp; Hilirisasi Inovasi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c>
                  <a:txBody>
                    <a:bodyPr/>
                    <a:lstStyle/>
                    <a:p>
                      <a:pPr indent="0" marL="0">
                        <a:buNone/>
                      </a:pPr>
                      <a:r>
                        <a:rPr lang="en-US" sz="850" b="1" dirty="0">
                          <a:solidFill>
                            <a:srgbClr val="10B981"/>
                          </a:solidFill>
                          <a:latin typeface="Arial" pitchFamily="34" charset="0"/>
                          <a:ea typeface="Arial" pitchFamily="34" charset="-122"/>
                          <a:cs typeface="Arial" pitchFamily="34" charset="-120"/>
                        </a:rPr>
                        <a:t>Penandatanganan MoU Riset Terapan bersama Kadin/Apindo di STP; kick-off hilirisasi.</a:t>
                      </a:r>
                      <a:endParaRPr lang="en-US" sz="850" dirty="0">
                        <a:latin typeface="Arial" charset="0"/>
                        <a:ea typeface="Arial" charset="0"/>
                        <a:cs typeface="Arial" charset="0"/>
                      </a:endParaRPr>
                    </a:p>
                  </a:txBody>
                  <a:tcPr marL="91440" marR="91440" marT="45720" marB="45720" anchor="ctr">
                    <a:lnL w="12700" cap="flat" cmpd="sng" algn="ctr">
                      <a:solidFill>
                        <a:srgbClr val="1E3A5F"/>
                      </a:solidFill>
                      <a:prstDash val="solid"/>
                      <a:round/>
                      <a:headEnd type="none" w="med" len="med"/>
                      <a:tailEnd type="none" w="med" len="med"/>
                    </a:lnL>
                    <a:lnR w="12700" cap="flat" cmpd="sng" algn="ctr">
                      <a:solidFill>
                        <a:srgbClr val="1E3A5F"/>
                      </a:solidFill>
                      <a:prstDash val="solid"/>
                      <a:round/>
                      <a:headEnd type="none" w="med" len="med"/>
                      <a:tailEnd type="none" w="med" len="med"/>
                    </a:lnR>
                    <a:lnT w="12700" cap="flat" cmpd="sng" algn="ctr">
                      <a:solidFill>
                        <a:srgbClr val="1E3A5F"/>
                      </a:solidFill>
                      <a:prstDash val="solid"/>
                      <a:round/>
                      <a:headEnd type="none" w="med" len="med"/>
                      <a:tailEnd type="none" w="med" len="med"/>
                    </a:lnT>
                    <a:lnB w="12700" cap="flat" cmpd="sng" algn="ctr">
                      <a:solidFill>
                        <a:srgbClr val="1E3A5F"/>
                      </a:solidFill>
                      <a:prstDash val="solid"/>
                      <a:round/>
                      <a:headEnd type="none" w="med" len="med"/>
                      <a:tailEnd type="none" w="med" len="med"/>
                    </a:lnB>
                    <a:solidFill>
                      <a:srgbClr val="0D213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&amp; Teknologi Menuju Mesin Impact Daerah (V6 - Executive Titanium Edition)</dc:title>
  <dc:subject>Bahan Paparan Resmi Walikota Surakarta 2026–2030 (Edisi Eksekutif V6)</dc:subject>
  <dc:creator>UPTD KST Solo Technopark &amp; BRIDA Kota Surakarta</dc:creator>
  <cp:lastModifiedBy>UPTD KST Solo Technopark &amp; BRIDA Kota Surakarta</cp:lastModifiedBy>
  <cp:revision>1</cp:revision>
  <dcterms:created xsi:type="dcterms:W3CDTF">2026-09-11T04:59:01Z</dcterms:created>
  <dcterms:modified xsi:type="dcterms:W3CDTF">2026-09-11T04:59:01Z</dcterms:modified>
</cp:coreProperties>
</file>