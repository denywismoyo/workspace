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Aktor Hexahelix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F43F5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Industri &amp; Bisnis</c:v>
                </c:pt>
                <c:pt idx="1">
                  <c:v>Akademisi / Kampus</c:v>
                </c:pt>
                <c:pt idx="2">
                  <c:v>Komunitas &amp; UMKM</c:v>
                </c:pt>
                <c:pt idx="3">
                  <c:v>Pemerintah / BUMN</c:v>
                </c:pt>
                <c:pt idx="4">
                  <c:v>Media Massa</c:v>
                </c:pt>
                <c:pt idx="5">
                  <c:v>Lembaga Global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35</c:v>
                </c:pt>
                <c:pt idx="1">
                  <c:v>20</c:v>
                </c:pt>
                <c:pt idx="2">
                  <c:v>15</c:v>
                </c:pt>
                <c:pt idx="3">
                  <c:v>12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Pendapatan (Rp M)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2026
(Baseline)</c:v>
                  </c:pt>
                  <c:pt idx="1">
                    <c:v>2027
(+67%)</c:v>
                  </c:pt>
                  <c:pt idx="2">
                    <c:v>2028
(+28,5%)</c:v>
                  </c:pt>
                  <c:pt idx="3">
                    <c:v>2029
(+28%)</c:v>
                  </c:pt>
                  <c:pt idx="4">
                    <c:v>2030
(MANDIRI)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12.53</c:v>
                </c:pt>
                <c:pt idx="2">
                  <c:v>16.1</c:v>
                </c:pt>
                <c:pt idx="3">
                  <c:v>20.62</c:v>
                </c:pt>
                <c:pt idx="4">
                  <c:v>23.47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2030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4C7"/>
              </a:solidFill>
              <a:effectLst/>
            </c:spPr>
          </c:dPt>
          <c:dPt>
            <c:idx val="1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Program Kemitraan</c:v>
                </c:pt>
                <c:pt idx="1">
                  <c:v>Pelatihan &amp; Sertifikasi</c:v>
                </c:pt>
                <c:pt idx="2">
                  <c:v>Diklat Mandiri Spesialis</c:v>
                </c:pt>
                <c:pt idx="3">
                  <c:v>Lain-lain BLUD / MICE</c:v>
                </c:pt>
                <c:pt idx="4">
                  <c:v>Rekayasa Manufaktur</c:v>
                </c:pt>
                <c:pt idx="5">
                  <c:v>Kemitraan Lahan Eksisting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12.825</c:v>
                </c:pt>
                <c:pt idx="1">
                  <c:v>3.68</c:v>
                </c:pt>
                <c:pt idx="2">
                  <c:v>2.469</c:v>
                </c:pt>
                <c:pt idx="3">
                  <c:v>2.45</c:v>
                </c:pt>
                <c:pt idx="4">
                  <c:v>1.465</c:v>
                </c:pt>
                <c:pt idx="5">
                  <c:v>0.579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 Dampak (%)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Hilirisasi Riset Kampus</c:v>
                  </c:pt>
                  <c:pt idx="1">
                    <c:v>Peluang Kerja Daerah</c:v>
                  </c:pt>
                  <c:pt idx="2">
                    <c:v>UMKM &amp; Startup Mandiri</c:v>
                  </c:pt>
                  <c:pt idx="3">
                    <c:v>Akses Fasilitas Publik</c:v>
                  </c:pt>
                  <c:pt idx="4">
                    <c:v>SDM Kompeten &amp; Sertifikasi</c:v>
                  </c:pt>
                  <c:pt idx="5">
                    <c:v>Kolaborasi Industri Murni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75</c:v>
                </c:pt>
                <c:pt idx="2">
                  <c:v>80</c:v>
                </c:pt>
                <c:pt idx="3">
                  <c:v>85</c:v>
                </c:pt>
                <c:pt idx="4">
                  <c:v>90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image" Target="../media/image-2-29.png"/><Relationship Id="rId30" Type="http://schemas.openxmlformats.org/officeDocument/2006/relationships/image" Target="../media/image-2-30.svg"/><Relationship Id="rId31" Type="http://schemas.openxmlformats.org/officeDocument/2006/relationships/image" Target="../media/image-2-31.png"/><Relationship Id="rId32" Type="http://schemas.openxmlformats.org/officeDocument/2006/relationships/image" Target="../media/image-2-32.sv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image" Target="../media/image-4-19.png"/><Relationship Id="rId20" Type="http://schemas.openxmlformats.org/officeDocument/2006/relationships/image" Target="../media/image-4-20.svg"/><Relationship Id="rId21" Type="http://schemas.openxmlformats.org/officeDocument/2006/relationships/image" Target="../media/image-4-21.png"/><Relationship Id="rId22" Type="http://schemas.openxmlformats.org/officeDocument/2006/relationships/image" Target="../media/image-4-22.svg"/><Relationship Id="rId23" Type="http://schemas.openxmlformats.org/officeDocument/2006/relationships/image" Target="../media/image-4-23.png"/><Relationship Id="rId24" Type="http://schemas.openxmlformats.org/officeDocument/2006/relationships/image" Target="../media/image-4-24.svg"/><Relationship Id="rId25" Type="http://schemas.openxmlformats.org/officeDocument/2006/relationships/image" Target="../media/image-4-25.png"/><Relationship Id="rId26" Type="http://schemas.openxmlformats.org/officeDocument/2006/relationships/image" Target="../media/image-4-26.svg"/><Relationship Id="rId27" Type="http://schemas.openxmlformats.org/officeDocument/2006/relationships/image" Target="../media/image-4-27.png"/><Relationship Id="rId28" Type="http://schemas.openxmlformats.org/officeDocument/2006/relationships/image" Target="../media/image-4-28.svg"/><Relationship Id="rId29" Type="http://schemas.openxmlformats.org/officeDocument/2006/relationships/image" Target="../media/image-4-29.png"/><Relationship Id="rId30" Type="http://schemas.openxmlformats.org/officeDocument/2006/relationships/image" Target="../media/image-4-30.svg"/><Relationship Id="rId31" Type="http://schemas.openxmlformats.org/officeDocument/2006/relationships/image" Target="../media/image-4-31.png"/><Relationship Id="rId32" Type="http://schemas.openxmlformats.org/officeDocument/2006/relationships/image" Target="../media/image-4-32.svg"/><Relationship Id="rId33" Type="http://schemas.openxmlformats.org/officeDocument/2006/relationships/image" Target="../media/image-4-33.png"/><Relationship Id="rId34" Type="http://schemas.openxmlformats.org/officeDocument/2006/relationships/image" Target="../media/image-4-34.svg"/><Relationship Id="rId35" Type="http://schemas.openxmlformats.org/officeDocument/2006/relationships/image" Target="../media/image-4-35.png"/><Relationship Id="rId36" Type="http://schemas.openxmlformats.org/officeDocument/2006/relationships/image" Target="../media/image-4-36.svg"/><Relationship Id="rId37" Type="http://schemas.openxmlformats.org/officeDocument/2006/relationships/image" Target="../media/image-4-37.png"/><Relationship Id="rId38" Type="http://schemas.openxmlformats.org/officeDocument/2006/relationships/image" Target="../media/image-4-38.svg"/><Relationship Id="rId39" Type="http://schemas.openxmlformats.org/officeDocument/2006/relationships/image" Target="../media/image-4-39.png"/><Relationship Id="rId40" Type="http://schemas.openxmlformats.org/officeDocument/2006/relationships/image" Target="../media/image-4-40.svg"/><Relationship Id="rId41" Type="http://schemas.openxmlformats.org/officeDocument/2006/relationships/image" Target="../media/image-4-41.png"/><Relationship Id="rId42" Type="http://schemas.openxmlformats.org/officeDocument/2006/relationships/image" Target="../media/image-4-42.svg"/><Relationship Id="rId43" Type="http://schemas.openxmlformats.org/officeDocument/2006/relationships/image" Target="../media/image-4-43.png"/><Relationship Id="rId44" Type="http://schemas.openxmlformats.org/officeDocument/2006/relationships/image" Target="../media/image-4-44.svg"/><Relationship Id="rId45" Type="http://schemas.openxmlformats.org/officeDocument/2006/relationships/image" Target="../media/image-4-45.png"/><Relationship Id="rId46" Type="http://schemas.openxmlformats.org/officeDocument/2006/relationships/image" Target="../media/image-4-46.svg"/><Relationship Id="rId47" Type="http://schemas.openxmlformats.org/officeDocument/2006/relationships/image" Target="../media/image-4-47.png"/><Relationship Id="rId48" Type="http://schemas.openxmlformats.org/officeDocument/2006/relationships/image" Target="../media/image-4-48.svg"/><Relationship Id="rId49" Type="http://schemas.openxmlformats.org/officeDocument/2006/relationships/image" Target="../media/image-4-49.png"/><Relationship Id="rId50" Type="http://schemas.openxmlformats.org/officeDocument/2006/relationships/image" Target="../media/image-4-50.svg"/><Relationship Id="rId51" Type="http://schemas.openxmlformats.org/officeDocument/2006/relationships/image" Target="../media/image-4-51.png"/><Relationship Id="rId52" Type="http://schemas.openxmlformats.org/officeDocument/2006/relationships/image" Target="../media/image-4-52.svg"/><Relationship Id="rId53" Type="http://schemas.openxmlformats.org/officeDocument/2006/relationships/image" Target="../media/image-4-53.png"/><Relationship Id="rId54" Type="http://schemas.openxmlformats.org/officeDocument/2006/relationships/image" Target="../media/image-4-54.svg"/><Relationship Id="rId55" Type="http://schemas.openxmlformats.org/officeDocument/2006/relationships/image" Target="../media/image-4-55.png"/><Relationship Id="rId56" Type="http://schemas.openxmlformats.org/officeDocument/2006/relationships/image" Target="../media/image-4-56.svg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4" Type="http://schemas.openxmlformats.org/officeDocument/2006/relationships/image" Target="../media/image-6-3.png"/><Relationship Id="rId5" Type="http://schemas.openxmlformats.org/officeDocument/2006/relationships/image" Target="../media/image-6-4.svg"/><Relationship Id="rId6" Type="http://schemas.openxmlformats.org/officeDocument/2006/relationships/image" Target="../media/image-6-5.png"/><Relationship Id="rId7" Type="http://schemas.openxmlformats.org/officeDocument/2006/relationships/image" Target="../media/image-6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image" Target="../media/image-8-25.png"/><Relationship Id="rId26" Type="http://schemas.openxmlformats.org/officeDocument/2006/relationships/image" Target="../media/image-8-26.svg"/><Relationship Id="rId27" Type="http://schemas.openxmlformats.org/officeDocument/2006/relationships/image" Target="../media/image-8-27.png"/><Relationship Id="rId28" Type="http://schemas.openxmlformats.org/officeDocument/2006/relationships/image" Target="../media/image-8-28.svg"/><Relationship Id="rId29" Type="http://schemas.openxmlformats.org/officeDocument/2006/relationships/image" Target="../media/image-8-29.png"/><Relationship Id="rId30" Type="http://schemas.openxmlformats.org/officeDocument/2006/relationships/image" Target="../media/image-8-30.svg"/><Relationship Id="rId31" Type="http://schemas.openxmlformats.org/officeDocument/2006/relationships/image" Target="../media/image-8-31.png"/><Relationship Id="rId32" Type="http://schemas.openxmlformats.org/officeDocument/2006/relationships/image" Target="../media/image-8-32.svg"/><Relationship Id="rId33" Type="http://schemas.openxmlformats.org/officeDocument/2006/relationships/image" Target="../media/image-8-33.png"/><Relationship Id="rId34" Type="http://schemas.openxmlformats.org/officeDocument/2006/relationships/image" Target="../media/image-8-34.svg"/><Relationship Id="rId35" Type="http://schemas.openxmlformats.org/officeDocument/2006/relationships/image" Target="../media/image-8-35.png"/><Relationship Id="rId36" Type="http://schemas.openxmlformats.org/officeDocument/2006/relationships/image" Target="../media/image-8-36.sv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8" Type="http://schemas.openxmlformats.org/officeDocument/2006/relationships/chart" Target="/ppt/charts/chart3.xm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4" Type="http://schemas.openxmlformats.org/officeDocument/2006/relationships/image" Target="../media/image-9-3.png"/><Relationship Id="rId5" Type="http://schemas.openxmlformats.org/officeDocument/2006/relationships/image" Target="../media/image-9-4.svg"/><Relationship Id="rId6" Type="http://schemas.openxmlformats.org/officeDocument/2006/relationships/image" Target="../media/image-9-5.png"/><Relationship Id="rId7" Type="http://schemas.openxmlformats.org/officeDocument/2006/relationships/image" Target="../media/image-9-6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image" Target="../media/image-11-3.png"/><Relationship Id="rId5" Type="http://schemas.openxmlformats.org/officeDocument/2006/relationships/image" Target="../media/image-11-4.svg"/><Relationship Id="rId6" Type="http://schemas.openxmlformats.org/officeDocument/2006/relationships/image" Target="../media/image-11-5.png"/><Relationship Id="rId7" Type="http://schemas.openxmlformats.org/officeDocument/2006/relationships/image" Target="../media/image-11-6.svg"/><Relationship Id="rId8" Type="http://schemas.openxmlformats.org/officeDocument/2006/relationships/image" Target="../media/image-11-7.png"/><Relationship Id="rId9" Type="http://schemas.openxmlformats.org/officeDocument/2006/relationships/image" Target="../media/image-11-8.svg"/><Relationship Id="rId10" Type="http://schemas.openxmlformats.org/officeDocument/2006/relationships/image" Target="../media/image-11-9.png"/><Relationship Id="rId11" Type="http://schemas.openxmlformats.org/officeDocument/2006/relationships/image" Target="../media/image-11-10.svg"/><Relationship Id="rId12" Type="http://schemas.openxmlformats.org/officeDocument/2006/relationships/image" Target="../media/image-11-11.png"/><Relationship Id="rId13" Type="http://schemas.openxmlformats.org/officeDocument/2006/relationships/image" Target="../media/image-11-12.svg"/><Relationship Id="rId14" Type="http://schemas.openxmlformats.org/officeDocument/2006/relationships/image" Target="../media/image-11-13.png"/><Relationship Id="rId15" Type="http://schemas.openxmlformats.org/officeDocument/2006/relationships/image" Target="../media/image-11-14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KOTA SURAKARTA // BADAN RISET DAN INOVASI DAERAH (BRIDA)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TECHNOPARK: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KAWASAN SAINS MENUJU MESIN IMPACT DAERAH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"Roadmap Transformasi UPTD KST Surakarta: Mewujudkan Kemandirian BLUD, Hilirisasi Riset Kampus, dan Kesejahteraan Nyata Warga Kota"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80360"/>
            <a:ext cx="2523744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880360"/>
            <a:ext cx="252374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9776" y="2990088"/>
            <a:ext cx="347472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42321" y="3052633"/>
            <a:ext cx="222382" cy="2223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02666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+212,8%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6112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Lompatan Finansial Mandiri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96112" y="36850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tumbuh 3,1x dalam 4 tahun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465576" y="2880360"/>
            <a:ext cx="2523744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65576" y="2880360"/>
            <a:ext cx="2523744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3832" y="2990088"/>
            <a:ext cx="347472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6377" y="3052633"/>
            <a:ext cx="222382" cy="2223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0168" y="302666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23,47 M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3630168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Pendapatan BLUD 2030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630168" y="36850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Subsidi Kas Daerah APBD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6199632" y="2880360"/>
            <a:ext cx="2523744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99632" y="2880360"/>
            <a:ext cx="2523744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47888" y="2990088"/>
            <a:ext cx="347472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0433" y="3052633"/>
            <a:ext cx="222382" cy="2223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64224" y="302666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9.000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364224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SDM Terlatih / Thn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364224" y="36850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Afirmasi min. 65% KTP Surakarta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8933688" y="2880360"/>
            <a:ext cx="2523744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933688" y="2880360"/>
            <a:ext cx="252374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981944" y="2990088"/>
            <a:ext cx="347472" cy="347472"/>
          </a:xfrm>
          <a:prstGeom prst="rect">
            <a:avLst/>
          </a:prstGeom>
          <a:solidFill>
            <a:srgbClr val="FAF5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44489" y="3052633"/>
            <a:ext cx="222382" cy="22238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98280" y="3026664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95+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9098280" y="34472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Industri Global &amp; Nasional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9098280" y="36850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Zero APBD Burden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731520" y="425196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31520" y="4251960"/>
            <a:ext cx="342900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14400" y="441655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6820" y="4488972"/>
            <a:ext cx="257495" cy="25749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389888" y="441655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 PARADIGMA BARU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1389888" y="4599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Sekadar Gedung Fisik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914400" y="4910328"/>
            <a:ext cx="3063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14400" y="500176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Beralih dari pengelola sewa lahan menjadi DELIVERY UNIT inovasi BRIDA yang menghasilkan IMPACT nyata bagi masyarakat dan industri.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4379976" y="425196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379976" y="4251960"/>
            <a:ext cx="3429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562856" y="441655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276" y="4488972"/>
            <a:ext cx="257495" cy="25749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5038344" y="441655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KEMANDIRIAN PENUH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5038344" y="4599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BLUD Mandiri Tanpa APBD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4562856" y="4910328"/>
            <a:ext cx="3063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562856" y="500176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Lompatan pendapatan terukur dari Rp 7,50 M (2026) menuju Rp 23,47 M (2030) — tumbuh +212,8% dengan 0% subsidi kas daerah.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8028432" y="425196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8028432" y="4251960"/>
            <a:ext cx="34290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8211312" y="4416552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3732" y="4488972"/>
            <a:ext cx="257495" cy="257495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8686800" y="4416552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HEXAHELIX &amp; DAMPAK</a:t>
            </a:r>
            <a:endParaRPr lang="en-US" sz="750" dirty="0"/>
          </a:p>
        </p:txBody>
      </p:sp>
      <p:sp>
        <p:nvSpPr>
          <p:cNvPr id="55" name="Text 46"/>
          <p:cNvSpPr/>
          <p:nvPr/>
        </p:nvSpPr>
        <p:spPr>
          <a:xfrm>
            <a:off x="8686800" y="45994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95+ Mitra Korporasi Dunia</a:t>
            </a:r>
            <a:endParaRPr lang="en-US" sz="1100" dirty="0"/>
          </a:p>
        </p:txBody>
      </p:sp>
      <p:sp>
        <p:nvSpPr>
          <p:cNvPr id="56" name="Shape 47"/>
          <p:cNvSpPr/>
          <p:nvPr/>
        </p:nvSpPr>
        <p:spPr>
          <a:xfrm>
            <a:off x="8211312" y="4910328"/>
            <a:ext cx="306324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8211312" y="500176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swasta murni berkolaborasi menyerap 9.000 tenaga kerja dengan komitmen afirmasi minimal 65% warga KTP Surakarta.</a:t>
            </a:r>
            <a:endParaRPr lang="en-US" sz="850" dirty="0"/>
          </a:p>
        </p:txBody>
      </p:sp>
      <p:sp>
        <p:nvSpPr>
          <p:cNvPr id="58" name="Text 49"/>
          <p:cNvSpPr/>
          <p:nvPr/>
        </p:nvSpPr>
        <p:spPr>
          <a:xfrm>
            <a:off x="731520" y="635508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Disampaikan oleh: Kepala UPTD KST Solo Technopark  •  Didampingi: Kepala BRIDA Kota Surakarta  •  Surakarta,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TATA KELOLA PEMERINTAHAN &amp; KELEMBAGAAN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KEDUDUKAN KELEMBAGAAN &amp; RANTAI DAMPAK (CHAIN OF IMPACT)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Nilai: BRIDA sebagai Otak Kebijakan, STP sebagai Tangan Eksekutor, Warga &amp; Industri sebagai Penerima Dampak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3337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855500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830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INPUT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63040" y="194767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BRIDA KOTA SURAKARTA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22585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Otak &amp; Regulator Kebijakan Daerah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960120" y="2496312"/>
            <a:ext cx="28803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651760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26243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arah kebijakan riset &amp; inovasi daerah</a:t>
            </a:r>
            <a:endParaRPr lang="en-US" sz="8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3127248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0998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kajian teknokratik &amp; roadmap strategis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3602736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0432" y="357530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Orkestrasi ekosistem Iptek antar-OPD &amp; perguruan tinggi</a:t>
            </a:r>
            <a:endParaRPr lang="en-US" sz="8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120" y="4078224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40507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evaluasi akuntabilitas dampak sosial-ekonomi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914400" y="4754880"/>
            <a:ext cx="2971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60120" y="478231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Regulasi, Roadmap, &amp; Pengawasan Kebijakan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4169664" y="3246120"/>
            <a:ext cx="155448" cy="274320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25696" y="1600200"/>
            <a:ext cx="3337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425696" y="1600200"/>
            <a:ext cx="33375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654296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6716" y="1855500"/>
            <a:ext cx="257495" cy="25749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57216" y="17830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PROSES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5157216" y="194767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654296" y="22585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 Eksekutor &amp; Operator Bisnis BLUD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654296" y="2496312"/>
            <a:ext cx="28803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4296" y="2651760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64608" y="26243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Penyelenggaraan diklat vokasi &amp; sertifikasi industri</a:t>
            </a:r>
            <a:endParaRPr lang="en-US" sz="8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4296" y="3127248"/>
            <a:ext cx="146304" cy="14630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864608" y="30998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Inkubasi bisnis, alih teknologi &amp; komersialisasi riset</a:t>
            </a:r>
            <a:endParaRPr lang="en-US" sz="8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54296" y="3602736"/>
            <a:ext cx="146304" cy="14630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64608" y="357530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prototipe lab presisi &amp; penetrant testing (NDT)</a:t>
            </a:r>
            <a:endParaRPr lang="en-US" sz="85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54296" y="4078224"/>
            <a:ext cx="146304" cy="14630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864608" y="40507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portofolio bisnis BLUD mandiri &amp; kemitraan</a:t>
            </a:r>
            <a:endParaRPr lang="en-US" sz="850" dirty="0"/>
          </a:p>
        </p:txBody>
      </p:sp>
      <p:sp>
        <p:nvSpPr>
          <p:cNvPr id="42" name="Shape 30"/>
          <p:cNvSpPr/>
          <p:nvPr/>
        </p:nvSpPr>
        <p:spPr>
          <a:xfrm>
            <a:off x="4608576" y="4754880"/>
            <a:ext cx="2971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4654296" y="478231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Layanan Teknis, Inkubasi, &amp; Hilirisasi Produk</a:t>
            </a:r>
            <a:endParaRPr lang="en-US" sz="800" dirty="0"/>
          </a:p>
        </p:txBody>
      </p:sp>
      <p:sp>
        <p:nvSpPr>
          <p:cNvPr id="44" name="Shape 32"/>
          <p:cNvSpPr/>
          <p:nvPr/>
        </p:nvSpPr>
        <p:spPr>
          <a:xfrm>
            <a:off x="7863840" y="3246120"/>
            <a:ext cx="155448" cy="274320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8119872" y="1600200"/>
            <a:ext cx="3337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8119872" y="1600200"/>
            <a:ext cx="33375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8348472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20892" y="1855500"/>
            <a:ext cx="257495" cy="25749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851392" y="17830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OUTCOME</a:t>
            </a:r>
            <a:endParaRPr lang="en-US" sz="800" dirty="0"/>
          </a:p>
        </p:txBody>
      </p:sp>
      <p:sp>
        <p:nvSpPr>
          <p:cNvPr id="50" name="Text 37"/>
          <p:cNvSpPr/>
          <p:nvPr/>
        </p:nvSpPr>
        <p:spPr>
          <a:xfrm>
            <a:off x="8851392" y="194767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WARGA SURAKARTA &amp; INDUSTRI</a:t>
            </a:r>
            <a:endParaRPr lang="en-US" sz="1100" dirty="0"/>
          </a:p>
        </p:txBody>
      </p:sp>
      <p:sp>
        <p:nvSpPr>
          <p:cNvPr id="51" name="Text 38"/>
          <p:cNvSpPr/>
          <p:nvPr/>
        </p:nvSpPr>
        <p:spPr>
          <a:xfrm>
            <a:off x="8348472" y="2258568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 Manfaat Utama (Benefisiari)</a:t>
            </a:r>
            <a:endParaRPr lang="en-US" sz="850" dirty="0"/>
          </a:p>
        </p:txBody>
      </p:sp>
      <p:sp>
        <p:nvSpPr>
          <p:cNvPr id="52" name="Shape 39"/>
          <p:cNvSpPr/>
          <p:nvPr/>
        </p:nvSpPr>
        <p:spPr>
          <a:xfrm>
            <a:off x="8348472" y="2496312"/>
            <a:ext cx="28803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48472" y="2651760"/>
            <a:ext cx="146304" cy="146304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8558784" y="262432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 lokal kompeten &amp; tersertifikasi kerja industri global</a:t>
            </a:r>
            <a:endParaRPr lang="en-US" sz="85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48472" y="3127248"/>
            <a:ext cx="146304" cy="146304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8558784" y="3099816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&amp; startup teknologi tumbuh mandiri omzetnya</a:t>
            </a:r>
            <a:endParaRPr lang="en-US" sz="85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48472" y="3602736"/>
            <a:ext cx="146304" cy="146304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8558784" y="3575304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inovasi kampus terserap pasar &amp; e-Katalog Pemda</a:t>
            </a:r>
            <a:endParaRPr lang="en-US" sz="85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348472" y="4078224"/>
            <a:ext cx="146304" cy="146304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8558784" y="40507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Masuknya investasi swasta &amp; penyerapan 9.000 tenaga kerja</a:t>
            </a:r>
            <a:endParaRPr lang="en-US" sz="850" dirty="0"/>
          </a:p>
        </p:txBody>
      </p:sp>
      <p:sp>
        <p:nvSpPr>
          <p:cNvPr id="61" name="Shape 44"/>
          <p:cNvSpPr/>
          <p:nvPr/>
        </p:nvSpPr>
        <p:spPr>
          <a:xfrm>
            <a:off x="8302752" y="4754880"/>
            <a:ext cx="2971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45"/>
          <p:cNvSpPr/>
          <p:nvPr/>
        </p:nvSpPr>
        <p:spPr>
          <a:xfrm>
            <a:off x="8348472" y="478231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Lapangan Kerja, Daya Saing, &amp; PAD Mandiri</a:t>
            </a:r>
            <a:endParaRPr lang="en-US" sz="800" dirty="0"/>
          </a:p>
        </p:txBody>
      </p:sp>
      <p:sp>
        <p:nvSpPr>
          <p:cNvPr id="63" name="Shape 46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47"/>
          <p:cNvSpPr/>
          <p:nvPr/>
        </p:nvSpPr>
        <p:spPr>
          <a:xfrm>
            <a:off x="868680" y="5742432"/>
            <a:ext cx="420624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44392" y="5818144"/>
            <a:ext cx="269199" cy="269199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417320" y="5705856"/>
            <a:ext cx="9875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HUKUM TATA KELOLA PEMKOT SURAKARTA: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Perwali Surakarta No. 15 Tahun 2022: Kedudukan UPTD KST Solo Technopark sebagai unit pelaksana teknis operasional di bawah naungan BRIDA.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Perwali Surakarta No. 38 Tahun 2022: Pola Tata Kelola BLUD UPTD KST Solo Technopark yang memberikan fleksibilitas bisnis sehat &amp; akuntabel.</a:t>
            </a:r>
            <a:endParaRPr lang="en-US" sz="800" dirty="0"/>
          </a:p>
        </p:txBody>
      </p:sp>
      <p:sp>
        <p:nvSpPr>
          <p:cNvPr id="67" name="Shape 49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50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9" name="Text 51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LANDASAN REGULASI &amp; TATA KELOLA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HUKUM YANG KOKOH: MANDAT &amp; FLEKSIBILITAS BLUD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Pilar Regulasi yang Memberi Kewenangan, Fleksibilitas Bisnis Sehat, dan Arah Strategis KST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3337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855500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83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PERMENDAGRI 79/2018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63040" y="198424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Kelola Keuangan BLUD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14400" y="2286000"/>
            <a:ext cx="2971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350008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"Fleksibilitas BLUD adalah keleluasaan dalam pola pengelolaan keuangan dengan menerapkan praktik bisnis yang sehat untuk meningkatkan layanan kepada masyarakat tanpa mencari keuntungan semata."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3776472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3749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Keleluasaan bermitra dengan swasta tanpa birokrasi kaku APBD</a:t>
            </a:r>
            <a:endParaRPr lang="en-US" sz="8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432511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42976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dan memutar pendapatan fungsional jasa secara mandiri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4873752"/>
            <a:ext cx="164592" cy="16459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07008" y="4846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Rekrutmen tenaga ahli &amp; instruktur profesional sesuai kebutuhan pasar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425696" y="1600200"/>
            <a:ext cx="3337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425696" y="1600200"/>
            <a:ext cx="33375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54296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6716" y="1855500"/>
            <a:ext cx="257495" cy="2574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57216" y="1783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PERPRES 106/2017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157216" y="198424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Kawasan Sains &amp; Teknologi (KST)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4608576" y="2286000"/>
            <a:ext cx="2971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745736" y="2350008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"KST berfungsi sebagai wahana kerja sama riset berkelanjutan antara Pemerintah, PT, dan Industri, wajib menyediakan 4 layanan: Teknis, Teknologi, Inkubasi, &amp; Pendukung."</a:t>
            </a:r>
            <a:endParaRPr lang="en-US" sz="8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4296" y="3776472"/>
            <a:ext cx="164592" cy="1645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01184" y="3749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 nasional fasilitasi hilirisasi &amp; spin-off perusahaan riset</a:t>
            </a:r>
            <a:endParaRPr lang="en-US" sz="8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54296" y="4325112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901184" y="42976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Kewajiban menyediakan 4 pilar layanan iptek terintegrasi</a:t>
            </a:r>
            <a:endParaRPr lang="en-US" sz="8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4296" y="4873752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01184" y="4846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kolaborasi hexahelix multi-stakeholder formal</a:t>
            </a:r>
            <a:endParaRPr lang="en-US" sz="850" dirty="0"/>
          </a:p>
        </p:txBody>
      </p:sp>
      <p:sp>
        <p:nvSpPr>
          <p:cNvPr id="35" name="Shape 25"/>
          <p:cNvSpPr/>
          <p:nvPr/>
        </p:nvSpPr>
        <p:spPr>
          <a:xfrm>
            <a:off x="8119872" y="1600200"/>
            <a:ext cx="3337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8119872" y="1600200"/>
            <a:ext cx="33375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8348472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20892" y="1855500"/>
            <a:ext cx="257495" cy="25749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51392" y="178308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PERWALI 15 &amp; 38/2022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8851392" y="1984248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UPTD &amp; Pola Tata Kelola</a:t>
            </a:r>
            <a:endParaRPr lang="en-US" sz="850" dirty="0"/>
          </a:p>
        </p:txBody>
      </p:sp>
      <p:sp>
        <p:nvSpPr>
          <p:cNvPr id="41" name="Shape 30"/>
          <p:cNvSpPr/>
          <p:nvPr/>
        </p:nvSpPr>
        <p:spPr>
          <a:xfrm>
            <a:off x="8302752" y="2286000"/>
            <a:ext cx="297180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8439912" y="2350008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"Menetapkan struktur UPTD KST Solo Technopark dalam naungan BRIDA Kota Surakarta dengan pola tata kelola BLUD profesional berorientasi layanan publik."</a:t>
            </a:r>
            <a:endParaRPr lang="en-US" sz="8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48472" y="3776472"/>
            <a:ext cx="164592" cy="16459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595360" y="3749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Payung hukum operasional tingkat kota yang sah dan mengikat</a:t>
            </a:r>
            <a:endParaRPr lang="en-US" sz="8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48472" y="4325112"/>
            <a:ext cx="164592" cy="164592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8595360" y="42976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peran teknis yang presisi antara BRIDA dan STP</a:t>
            </a:r>
            <a:endParaRPr lang="en-US" sz="85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48472" y="4873752"/>
            <a:ext cx="164592" cy="164592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8595360" y="48463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legalitas pemanfaatan aset kawasan &amp; kerjasama industri</a:t>
            </a:r>
            <a:endParaRPr lang="en-US" sz="850" dirty="0"/>
          </a:p>
        </p:txBody>
      </p:sp>
      <p:sp>
        <p:nvSpPr>
          <p:cNvPr id="49" name="Shape 35"/>
          <p:cNvSpPr/>
          <p:nvPr/>
        </p:nvSpPr>
        <p:spPr>
          <a:xfrm>
            <a:off x="731520" y="5650992"/>
            <a:ext cx="10728655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914400" y="57150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YURIDIS: Solo Technopark telah memiliki legitimasi hukum lengkap dari tingkat nasional (Perpres &amp; Permendagri) hingga regulasi kepala daerah (Perwali) untuk bermanuver cepat, profesional, dan akuntabel.</a:t>
            </a:r>
            <a:endParaRPr lang="en-US" sz="950" dirty="0"/>
          </a:p>
        </p:txBody>
      </p:sp>
      <p:sp>
        <p:nvSpPr>
          <p:cNvPr id="51" name="Shape 3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38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53" name="Text 39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MANDAT LAYANAN PERPRES 106/2017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LAYANAN TERINTEGRASI: MEMENUHI MANDAT KST NASIONAL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Portofolio Layanan Terintegrasi yang Menjawab Kebutuhan Industri Spesialis &amp; Masyarakat Kota Surakarta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525780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282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6945" y="1790761"/>
            <a:ext cx="222382" cy="2223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53312" y="176479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1: LAYANAN TEKNIS (DIKLAT VOKASI INDUSTRI)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093976"/>
            <a:ext cx="118872" cy="1188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0756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Mekanik, Otomasi &amp; Desain Manufaktur Presisi</a:t>
            </a:r>
            <a:endParaRPr lang="en-US" sz="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2093976"/>
            <a:ext cx="118872" cy="1188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93592" y="20756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Wet Welding (Keahlian Langka Nasional)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2551176"/>
            <a:ext cx="118872" cy="1188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25328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Intensif (Pengelasan Konstruksi &amp; Pipa)</a:t>
            </a:r>
            <a:endParaRPr lang="en-US" sz="7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9000" y="2551176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93592" y="25328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Kendaraan Listrik (EV Conversion Lab)</a:t>
            </a:r>
            <a:endParaRPr lang="en-US" sz="7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3008376"/>
            <a:ext cx="118872" cy="1188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78992" y="29900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OGSCI: Oil, Gas, Coal, Shipbuilding &amp; Infra Training</a:t>
            </a:r>
            <a:endParaRPr lang="en-US" sz="7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29000" y="3008376"/>
            <a:ext cx="118872" cy="11887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593592" y="29900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&amp; Artificial Intelligence Practitioner</a:t>
            </a:r>
            <a:endParaRPr lang="en-US" sz="750" dirty="0"/>
          </a:p>
        </p:txBody>
      </p:sp>
      <p:sp>
        <p:nvSpPr>
          <p:cNvPr id="24" name="Shape 15"/>
          <p:cNvSpPr/>
          <p:nvPr/>
        </p:nvSpPr>
        <p:spPr>
          <a:xfrm>
            <a:off x="6199632" y="160020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6199632" y="1600200"/>
            <a:ext cx="52578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382512" y="17282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45057" y="1790761"/>
            <a:ext cx="222382" cy="22238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821424" y="176479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2: PENGEMBANGAN TEKNOLOGI (REKAYASA MANUFAKTUR)</a:t>
            </a:r>
            <a:endParaRPr lang="en-US" sz="8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82512" y="2093976"/>
            <a:ext cx="118872" cy="11887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547104" y="20756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Jasa Layanan Rekayasa Industri &amp; Permesinan Presisi</a:t>
            </a:r>
            <a:endParaRPr lang="en-US" sz="7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897112" y="2093976"/>
            <a:ext cx="118872" cy="11887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9061704" y="20756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Testing: Uji Penetrant Testing (NDT)</a:t>
            </a:r>
            <a:endParaRPr lang="en-US" sz="7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82512" y="2551176"/>
            <a:ext cx="118872" cy="11887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547104" y="25328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Komponen Presisi (Precision Parts Industri)</a:t>
            </a:r>
            <a:endParaRPr lang="en-US" sz="7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897112" y="2551176"/>
            <a:ext cx="118872" cy="11887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9061704" y="25328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Laboratorium Terpadu &amp; Data Center</a:t>
            </a:r>
            <a:endParaRPr lang="en-US" sz="7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82512" y="3008376"/>
            <a:ext cx="118872" cy="11887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547104" y="29900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Pembuatan &amp; Uji Prototipe IKM/UKM Kota Surakarta</a:t>
            </a:r>
            <a:endParaRPr lang="en-US" sz="7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897112" y="3008376"/>
            <a:ext cx="118872" cy="11887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9061704" y="29900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Standarisasi Mutu &amp; Sertifikasi TKDN / SNI Produk</a:t>
            </a:r>
            <a:endParaRPr lang="en-US" sz="750" dirty="0"/>
          </a:p>
        </p:txBody>
      </p:sp>
      <p:sp>
        <p:nvSpPr>
          <p:cNvPr id="41" name="Shape 25"/>
          <p:cNvSpPr/>
          <p:nvPr/>
        </p:nvSpPr>
        <p:spPr>
          <a:xfrm>
            <a:off x="731520" y="37033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731520" y="3703320"/>
            <a:ext cx="52578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Shape 27"/>
          <p:cNvSpPr/>
          <p:nvPr/>
        </p:nvSpPr>
        <p:spPr>
          <a:xfrm>
            <a:off x="914400" y="383133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76945" y="3893881"/>
            <a:ext cx="222382" cy="222382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1353312" y="386791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3: LAYANAN INKUBASI (HILIRISASI KE PASAR)</a:t>
            </a:r>
            <a:endParaRPr lang="en-US" sz="850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14400" y="4197096"/>
            <a:ext cx="118872" cy="118872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1078992" y="41788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Pra-Inkubasi &amp; Inkubasi Bisnis Startup Berbasis Riset</a:t>
            </a:r>
            <a:endParaRPr lang="en-US" sz="75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29000" y="4197096"/>
            <a:ext cx="118872" cy="118872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3593592" y="41788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 Security Hub &amp; AI Experience Center</a:t>
            </a:r>
            <a:endParaRPr lang="en-US" sz="750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14400" y="4654296"/>
            <a:ext cx="118872" cy="118872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1078992" y="46360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Fasilitasi HKI, Paten Produk, &amp; Hak Cipta Inovator</a:t>
            </a:r>
            <a:endParaRPr lang="en-US" sz="750" dirty="0"/>
          </a:p>
        </p:txBody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29000" y="4654296"/>
            <a:ext cx="118872" cy="118872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3593592" y="46360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Technopark, Gaming Hub, &amp; GoTo UMKM Center</a:t>
            </a:r>
            <a:endParaRPr lang="en-US" sz="750" dirty="0"/>
          </a:p>
        </p:txBody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14400" y="5111496"/>
            <a:ext cx="118872" cy="118872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1078992" y="50932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Riset Perguruan Tinggi ke Pasar Industri</a:t>
            </a:r>
            <a:endParaRPr lang="en-US" sz="750" dirty="0"/>
          </a:p>
        </p:txBody>
      </p:sp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429000" y="5111496"/>
            <a:ext cx="118872" cy="118872"/>
          </a:xfrm>
          <a:prstGeom prst="rect">
            <a:avLst/>
          </a:prstGeom>
        </p:spPr>
      </p:pic>
      <p:sp>
        <p:nvSpPr>
          <p:cNvPr id="57" name="Text 34"/>
          <p:cNvSpPr/>
          <p:nvPr/>
        </p:nvSpPr>
        <p:spPr>
          <a:xfrm>
            <a:off x="3593592" y="50932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Co-Working Space, Virtual Office &amp; Akses Permodalan</a:t>
            </a:r>
            <a:endParaRPr lang="en-US" sz="750" dirty="0"/>
          </a:p>
        </p:txBody>
      </p:sp>
      <p:sp>
        <p:nvSpPr>
          <p:cNvPr id="58" name="Shape 35"/>
          <p:cNvSpPr/>
          <p:nvPr/>
        </p:nvSpPr>
        <p:spPr>
          <a:xfrm>
            <a:off x="6199632" y="37033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36"/>
          <p:cNvSpPr/>
          <p:nvPr/>
        </p:nvSpPr>
        <p:spPr>
          <a:xfrm>
            <a:off x="6199632" y="3703320"/>
            <a:ext cx="52578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37"/>
          <p:cNvSpPr/>
          <p:nvPr/>
        </p:nvSpPr>
        <p:spPr>
          <a:xfrm>
            <a:off x="6382512" y="383133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1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445057" y="3893881"/>
            <a:ext cx="222382" cy="222382"/>
          </a:xfrm>
          <a:prstGeom prst="rect">
            <a:avLst/>
          </a:prstGeom>
        </p:spPr>
      </p:pic>
      <p:sp>
        <p:nvSpPr>
          <p:cNvPr id="62" name="Text 38"/>
          <p:cNvSpPr/>
          <p:nvPr/>
        </p:nvSpPr>
        <p:spPr>
          <a:xfrm>
            <a:off x="6821424" y="3867912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4: LAYANAN PENDUKUNG (COMMUNITY &amp; EDUCATION)</a:t>
            </a:r>
            <a:endParaRPr lang="en-US" sz="850" dirty="0"/>
          </a:p>
        </p:txBody>
      </p:sp>
      <p:pic>
        <p:nvPicPr>
          <p:cNvPr id="63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382512" y="4197096"/>
            <a:ext cx="118872" cy="118872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6547104" y="41788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Prakerin Kerja Industri Siswa SMK Se-Solo Raya</a:t>
            </a:r>
            <a:endParaRPr lang="en-US" sz="750" dirty="0"/>
          </a:p>
        </p:txBody>
      </p:sp>
      <p:pic>
        <p:nvPicPr>
          <p:cNvPr id="65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897112" y="4197096"/>
            <a:ext cx="118872" cy="118872"/>
          </a:xfrm>
          <a:prstGeom prst="rect">
            <a:avLst/>
          </a:prstGeom>
        </p:spPr>
      </p:pic>
      <p:sp>
        <p:nvSpPr>
          <p:cNvPr id="66" name="Text 40"/>
          <p:cNvSpPr/>
          <p:nvPr/>
        </p:nvSpPr>
        <p:spPr>
          <a:xfrm>
            <a:off x="9061704" y="41788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Pemanfaatan Sarana Kawasan, Gedung Expo &amp; MICE</a:t>
            </a:r>
            <a:endParaRPr lang="en-US" sz="750" dirty="0"/>
          </a:p>
        </p:txBody>
      </p:sp>
      <p:pic>
        <p:nvPicPr>
          <p:cNvPr id="67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382512" y="4654296"/>
            <a:ext cx="118872" cy="118872"/>
          </a:xfrm>
          <a:prstGeom prst="rect">
            <a:avLst/>
          </a:prstGeom>
        </p:spPr>
      </p:pic>
      <p:sp>
        <p:nvSpPr>
          <p:cNvPr id="68" name="Text 41"/>
          <p:cNvSpPr/>
          <p:nvPr/>
        </p:nvSpPr>
        <p:spPr>
          <a:xfrm>
            <a:off x="6547104" y="46360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Uji Kompetensi (TUK Mandiri) &amp; Sertifikasi JFT</a:t>
            </a:r>
            <a:endParaRPr lang="en-US" sz="750" dirty="0"/>
          </a:p>
        </p:txBody>
      </p:sp>
      <p:pic>
        <p:nvPicPr>
          <p:cNvPr id="69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897112" y="4654296"/>
            <a:ext cx="118872" cy="118872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9061704" y="46360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Komunitas Kreatif &amp; Kunjungan Industri</a:t>
            </a:r>
            <a:endParaRPr lang="en-US" sz="750" dirty="0"/>
          </a:p>
        </p:txBody>
      </p:sp>
      <p:pic>
        <p:nvPicPr>
          <p:cNvPr id="71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382512" y="5111496"/>
            <a:ext cx="118872" cy="118872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6547104" y="50932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Science Center (Pusat Edukasi IPTEK &amp; Wisata Sains)</a:t>
            </a:r>
            <a:endParaRPr lang="en-US" sz="750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897112" y="5111496"/>
            <a:ext cx="118872" cy="118872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9061704" y="50932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Kolaborasi Multipihak Pemkot Surakarta</a:t>
            </a:r>
            <a:endParaRPr lang="en-US" sz="750" dirty="0"/>
          </a:p>
        </p:txBody>
      </p:sp>
      <p:sp>
        <p:nvSpPr>
          <p:cNvPr id="75" name="Shape 45"/>
          <p:cNvSpPr/>
          <p:nvPr/>
        </p:nvSpPr>
        <p:spPr>
          <a:xfrm>
            <a:off x="731520" y="5779008"/>
            <a:ext cx="107286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6" name="Text 46"/>
          <p:cNvSpPr/>
          <p:nvPr/>
        </p:nvSpPr>
        <p:spPr>
          <a:xfrm>
            <a:off x="914400" y="5833872"/>
            <a:ext cx="103628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"BLUD menggeser paradigma: Dari sekadar pengelolaan kawasan fisik menjadi penyedia solusi teknologi yang responsif terhadap kebutuhan industri dan masyarakat."</a:t>
            </a:r>
            <a:endParaRPr lang="en-US" sz="850" dirty="0"/>
          </a:p>
        </p:txBody>
      </p:sp>
      <p:sp>
        <p:nvSpPr>
          <p:cNvPr id="77" name="Shape 47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48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9" name="Text 49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MEKANISME HILIRISASI INOVASI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HILIRISASI RISET: DARI LABORATORIUM MENUJU PASAR NYATA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Technopark sebagai Jembatan: Menghubungkan Riset Kampus Menuju Produk Bernilai Ekonomi bagi Industri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993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1993392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37360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225" y="1799905"/>
            <a:ext cx="222382" cy="2223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74650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68680" y="21488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&amp; INVENSI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8680" y="2404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Kampus &amp; Peneliti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68680" y="2624328"/>
            <a:ext cx="171907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71576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Invensi UNS, UMS, ISI, Poltek Solo Raya. Riset dosen &amp; mahasiswa.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79776" y="2606040"/>
            <a:ext cx="10972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07792" y="1600200"/>
            <a:ext cx="1993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07792" y="1600200"/>
            <a:ext cx="1993392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44952" y="1737360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7497" y="1799905"/>
            <a:ext cx="222382" cy="22238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56432" y="174650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02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044952" y="21488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SELEKSI &amp; KURASI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044952" y="2404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&amp; BRIDA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044952" y="2624328"/>
            <a:ext cx="171907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044952" y="271576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Kurasi komersial &amp; relevansi kebutuhan industri serta problem kota Solo.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956048" y="2606040"/>
            <a:ext cx="10972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84064" y="1600200"/>
            <a:ext cx="1993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84064" y="1600200"/>
            <a:ext cx="19933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221224" y="1737360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3769" y="1799905"/>
            <a:ext cx="222382" cy="22238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32704" y="174650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03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5221224" y="21488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PROTOTYPING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5221224" y="2404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Presisi STP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5221224" y="2624328"/>
            <a:ext cx="171907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221224" y="271576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teknis, penetrant testing, validasi mutu produk &amp; SNI/TKDN.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7132320" y="2606040"/>
            <a:ext cx="10972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260336" y="1600200"/>
            <a:ext cx="1993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260336" y="1600200"/>
            <a:ext cx="199339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397496" y="1737360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0041" y="1799905"/>
            <a:ext cx="222382" cy="22238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808976" y="174650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04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7397496" y="21488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INKUBASI BISNIS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7397496" y="2404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Inkubator STP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7397496" y="2624328"/>
            <a:ext cx="171907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397496" y="271576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business model, proteksi HKI/Paten, akses modal &amp; offtaker.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9308592" y="2606040"/>
            <a:ext cx="109728" cy="201168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436608" y="1600200"/>
            <a:ext cx="1993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9436608" y="1600200"/>
            <a:ext cx="19933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9573768" y="1737360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6313" y="1799905"/>
            <a:ext cx="222382" cy="222382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9985248" y="174650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 05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9573768" y="21488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KOMERSIALISASI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9573768" y="2404872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&amp; Industri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9573768" y="2624328"/>
            <a:ext cx="1719072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9573768" y="271576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Penetrasi e-Katalog Lokal OPD, captive market pemda &amp; industri nasional.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731520" y="4023360"/>
            <a:ext cx="6309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31520" y="4023360"/>
            <a:ext cx="63093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914400" y="413308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TEKNOLOGI YANG DIHILIRKAN &amp; DIINKUBASI DI STP (DATA RIIL)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389120"/>
          <a:ext cx="6035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4630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KLASTER TEKNOLOGI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CONTOH PRODUK INOVASI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STATUS TAHAPAN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Smart Agriculture IoT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Mesin Sortasi Biji Kopi Otomatis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Prototype Validasi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Smart Agriculture IoT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Teknologi Pertanian Presisi IoT &amp; AI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Uji Lapangan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Smart Agriculture IoT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Mesin Tetas Telur Pintar Mandiri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Siap e-Katalog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Deep Tech Mobility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Autonomous Vehicle Elektrik Kampus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R&amp;D Bersama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GovTech &amp; Pelatihan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VR Pelatihan Industri &amp; Chatbot AI OPD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Komersial Aktif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" name="Shape 52"/>
          <p:cNvSpPr/>
          <p:nvPr/>
        </p:nvSpPr>
        <p:spPr>
          <a:xfrm>
            <a:off x="7223760" y="4023360"/>
            <a:ext cx="4236415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7223760" y="4023360"/>
            <a:ext cx="4236415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7406640" y="41330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FASILITAS PENDUKUNG AKTIF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6640" y="4416552"/>
            <a:ext cx="146304" cy="146304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7635240" y="43891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Cyber Security Hub</a:t>
            </a:r>
            <a:endParaRPr lang="en-US" sz="800" dirty="0"/>
          </a:p>
        </p:txBody>
      </p:sp>
      <p:sp>
        <p:nvSpPr>
          <p:cNvPr id="65" name="Text 56"/>
          <p:cNvSpPr/>
          <p:nvPr/>
        </p:nvSpPr>
        <p:spPr>
          <a:xfrm>
            <a:off x="7635240" y="45445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ketahanan digital &amp; talenta siber nasional bersama BSSN.</a:t>
            </a:r>
            <a:endParaRPr lang="en-US" sz="700" dirty="0"/>
          </a:p>
        </p:txBody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06640" y="4764024"/>
            <a:ext cx="146304" cy="146304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7635240" y="47365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Gaming Hub &amp; Digital Studio</a:t>
            </a:r>
            <a:endParaRPr lang="en-US" sz="800" dirty="0"/>
          </a:p>
        </p:txBody>
      </p:sp>
      <p:sp>
        <p:nvSpPr>
          <p:cNvPr id="68" name="Text 58"/>
          <p:cNvSpPr/>
          <p:nvPr/>
        </p:nvSpPr>
        <p:spPr>
          <a:xfrm>
            <a:off x="7635240" y="48920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game, animasi, &amp; konten kreatif e-sport.</a:t>
            </a:r>
            <a:endParaRPr lang="en-US" sz="700" dirty="0"/>
          </a:p>
        </p:txBody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6640" y="5111496"/>
            <a:ext cx="146304" cy="146304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7635240" y="508406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Experience Center</a:t>
            </a:r>
            <a:endParaRPr lang="en-US" sz="800" dirty="0"/>
          </a:p>
        </p:txBody>
      </p:sp>
      <p:sp>
        <p:nvSpPr>
          <p:cNvPr id="71" name="Text 60"/>
          <p:cNvSpPr/>
          <p:nvPr/>
        </p:nvSpPr>
        <p:spPr>
          <a:xfrm>
            <a:off x="7635240" y="523951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Laboratorium kecerdasan buatan terapan industri &amp; showcase solusi AI.</a:t>
            </a:r>
            <a:endParaRPr lang="en-US" sz="700" dirty="0"/>
          </a:p>
        </p:txBody>
      </p:sp>
      <p:pic>
        <p:nvPicPr>
          <p:cNvPr id="7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06640" y="5458968"/>
            <a:ext cx="146304" cy="146304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7635240" y="5431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GoTo UMKM Center</a:t>
            </a:r>
            <a:endParaRPr lang="en-US" sz="800" dirty="0"/>
          </a:p>
        </p:txBody>
      </p:sp>
      <p:sp>
        <p:nvSpPr>
          <p:cNvPr id="74" name="Text 62"/>
          <p:cNvSpPr/>
          <p:nvPr/>
        </p:nvSpPr>
        <p:spPr>
          <a:xfrm>
            <a:off x="7635240" y="55869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Akselerasi digitalisasi, kurasi produk, &amp; onboarding pedagang lokal.</a:t>
            </a:r>
            <a:endParaRPr lang="en-US" sz="700" dirty="0"/>
          </a:p>
        </p:txBody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06640" y="5806440"/>
            <a:ext cx="146304" cy="146304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7635240" y="5779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Laboratorium Rekayasa Presisi</a:t>
            </a:r>
            <a:endParaRPr lang="en-US" sz="800" dirty="0"/>
          </a:p>
        </p:txBody>
      </p:sp>
      <p:sp>
        <p:nvSpPr>
          <p:cNvPr id="77" name="Text 64"/>
          <p:cNvSpPr/>
          <p:nvPr/>
        </p:nvSpPr>
        <p:spPr>
          <a:xfrm>
            <a:off x="7635240" y="59344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fabrikasi mesin, permesinan presisi &amp; pengujian NDT industri.</a:t>
            </a:r>
            <a:endParaRPr lang="en-US" sz="700" dirty="0"/>
          </a:p>
        </p:txBody>
      </p:sp>
      <p:sp>
        <p:nvSpPr>
          <p:cNvPr id="78" name="Shape 6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66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80" name="Text 67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JEJARING KEMITRAAN STRATEGIS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HEXAHELIX: 95+ MITRA STRATEGIS TANPA BEBAN APBD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 Korporasi Global &amp; Nasional yang Menanamkan Investasi Langsung di Jantung Kota Surakarta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42976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429768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37360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653" y="1796613"/>
            <a:ext cx="210678" cy="21067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KOMPOSISI 6 AKTOR HEXAHELIX (95+ MITRA)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210312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78992" y="47548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&amp; Bisnis: 37% (35)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017520" y="478231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82112" y="47548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/ BUMN: 13% (12)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914400" y="5038344"/>
            <a:ext cx="109728" cy="1097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78992" y="50109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Akademisi / Kampus: 21% (20)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017520" y="503834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82112" y="50109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Massa: 8% (8)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914400" y="529437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78992" y="52669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&amp; UMKM: 16% (15)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3017520" y="5294376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182112" y="52669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Lembaga Global: 5% (5)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914400" y="5532120"/>
            <a:ext cx="39319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051560" y="5577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95+ MITRA STRATEGIS AKTIF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Investasi Swasta &amp; PPP (0% Beban APBD)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Akses fasilitas 5G, Cyber Security, AI, &amp; Migas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Saluran penyerapan kerja langsung bagi warga Solo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5212080" y="1600200"/>
            <a:ext cx="62480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212080" y="1600200"/>
            <a:ext cx="6248095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0" y="1737360"/>
            <a:ext cx="329184" cy="32918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4213" y="1796613"/>
            <a:ext cx="210678" cy="21067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806440" y="1783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INDUSTRI KELAS DUNIA YANG AKTIF BERINVESTASI DI STP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148840"/>
          <a:ext cx="58823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2681935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SEKTOR INDUSTRI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MITRA STRATEGIS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KONTRIBUSI NYATA BAGI KAWASAN STP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E-Commerce &amp; Logistik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Shopee Indonesia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Infrastruktur UMKM Hub, Co-location, sewa lahan Rp 544 jt/th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Gaming &amp; Kreatif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Garena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Gaming studio, beasiswa talenta digital, turnamen esports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Perbankan &amp; Fintech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Bank Mandiri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Mandiri Innovation Hub, fasilitasi modal startup binaan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Telekomunikasi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Indosat Ooredoo Hutchison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Laboratorium 5G, konektivitas fiber optik terintegrasi kawasan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Ride-Hailing &amp; UMKM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GoTo (Gojek-Tokopedia)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GoTo UMKM Center, pelatihan onboarding merchant lokal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Migas &amp; Industri Berat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OGSCI Consortium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Pelatihan migas internasional: Target Rp 6,25 M (2030)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Shape 27"/>
          <p:cNvSpPr/>
          <p:nvPr/>
        </p:nvSpPr>
        <p:spPr>
          <a:xfrm>
            <a:off x="5394960" y="5074920"/>
            <a:ext cx="5882335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577840" y="525780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8366" y="5348326"/>
            <a:ext cx="321869" cy="32186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217920" y="519379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 ZERO APBD BURDEN: SELURUH FASILITAS CANGGIH DIBANGUN OLEH SWASTA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6217920" y="543153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Laboratorium AI, Studio Gaming, 5G Experience, hingga Cyber Security Hub tidak dibangun dengan membebani belanja modal APBD Kota Surakarta. Semuanya hadir melalui kemitraan murni Public-Private Partnership (PPP).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0" name="Text 33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REFLEKSI STRATEGIS &amp; SOLUSI KONKRET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DIAGNOSA &amp; 5 GAP UTAMA BESERTA SOLUSI TEROBOSANNYA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Kajian Kritis Berdasarkan Dokumen Strategi STP 2026: Gap Riil, Risiko, dan Solusi Kebijakan Kepala Daerah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82496"/>
            <a:ext cx="292608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349" y="1735165"/>
            <a:ext cx="187269" cy="1872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70078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920240" y="17007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Jenis Pelatihan Masih Terbatas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68680" y="19751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Keterbatasan instruktur ahli internal &amp; sarana diklat berbasis industri masa depan.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257800" y="1810512"/>
            <a:ext cx="228600" cy="219456"/>
          </a:xfrm>
          <a:prstGeom prst="rightArrow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1554480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23560" y="1554480"/>
            <a:ext cx="5836615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1664208"/>
            <a:ext cx="292608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3389" y="1716877"/>
            <a:ext cx="187269" cy="18726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126480" y="16824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Gandeng Korporasi Global (OGSCI, Kemenperin) Buka Kelas Spesialis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126480" y="195681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Welder Bawah Air, AI Engineer, Teknisi Baterai EV, &amp; Drone Operator.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31520" y="2441448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2569464"/>
            <a:ext cx="292608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1349" y="2622133"/>
            <a:ext cx="187269" cy="1872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34440" y="25877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02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920240" y="25877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Belum Mengarah Hilirisasi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68680" y="2862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Riset kampus berjalan terisolasi, kurang terpetakan, dan belum berorientasi pasar.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5257800" y="2697480"/>
            <a:ext cx="228600" cy="219456"/>
          </a:xfrm>
          <a:prstGeom prst="rightArrow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23560" y="2441448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623560" y="2441448"/>
            <a:ext cx="5836615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760720" y="2551176"/>
            <a:ext cx="292608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13389" y="2603845"/>
            <a:ext cx="187269" cy="18726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26480" y="256946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Technology Transfer Office (TTO) &amp; Kurasi Riset Terapan Kampus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126480" y="284378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Konsorsium 5 Perguruan Tinggi Solo Raya (UNS, UMS, ISI, dll.) berbasis problem kota.</a:t>
            </a:r>
            <a:endParaRPr lang="en-US" sz="750" dirty="0"/>
          </a:p>
        </p:txBody>
      </p:sp>
      <p:sp>
        <p:nvSpPr>
          <p:cNvPr id="33" name="Shape 27"/>
          <p:cNvSpPr/>
          <p:nvPr/>
        </p:nvSpPr>
        <p:spPr>
          <a:xfrm>
            <a:off x="731520" y="3328416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68680" y="3456432"/>
            <a:ext cx="292608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1349" y="3509101"/>
            <a:ext cx="187269" cy="18726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34440" y="347472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03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1920240" y="34747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Kawasan Terbatas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868680" y="3749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Lahan kosong belum optimal dikerjasamakan; promosi investor belum sistematis.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5257800" y="3584448"/>
            <a:ext cx="228600" cy="219456"/>
          </a:xfrm>
          <a:prstGeom prst="rightArrow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5623560" y="3328416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5623560" y="3328416"/>
            <a:ext cx="5836615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5760720" y="3438144"/>
            <a:ext cx="292608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3389" y="3490813"/>
            <a:ext cx="187269" cy="187269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126480" y="345643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Zonasi Investasi Teknologi Terpadu &amp; Long-Term Revenue Sharing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6126480" y="37307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kemitraan 10–25 tahun bagi korporasi teknologi global tanpa beban belanja APBD.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731520" y="4215384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868680" y="4343400"/>
            <a:ext cx="292608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1349" y="4396069"/>
            <a:ext cx="187269" cy="187269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234440" y="436168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04</a:t>
            </a:r>
            <a:endParaRPr lang="en-US" sz="750" dirty="0"/>
          </a:p>
        </p:txBody>
      </p:sp>
      <p:sp>
        <p:nvSpPr>
          <p:cNvPr id="50" name="Text 41"/>
          <p:cNvSpPr/>
          <p:nvPr/>
        </p:nvSpPr>
        <p:spPr>
          <a:xfrm>
            <a:off x="1920240" y="436168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Kemandirian Finansial Rendah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868680" y="46360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Pendapatan masih bertumpu sewa lahan; hardware lab belum optimal menghasilkan jasa.</a:t>
            </a:r>
            <a:endParaRPr lang="en-US" sz="750" dirty="0"/>
          </a:p>
        </p:txBody>
      </p:sp>
      <p:sp>
        <p:nvSpPr>
          <p:cNvPr id="52" name="Shape 43"/>
          <p:cNvSpPr/>
          <p:nvPr/>
        </p:nvSpPr>
        <p:spPr>
          <a:xfrm>
            <a:off x="5257800" y="4471416"/>
            <a:ext cx="228600" cy="219456"/>
          </a:xfrm>
          <a:prstGeom prst="rightArrow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5623560" y="4215384"/>
            <a:ext cx="58366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5623560" y="4215384"/>
            <a:ext cx="5836615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5760720" y="4325112"/>
            <a:ext cx="292608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13389" y="4377781"/>
            <a:ext cx="187269" cy="187269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6126480" y="43434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Diversifikasi 6 Revenue Stream Mandiri &amp; Optimalisasi Aset Industri</a:t>
            </a:r>
            <a:endParaRPr lang="en-US" sz="850" dirty="0"/>
          </a:p>
        </p:txBody>
      </p:sp>
      <p:sp>
        <p:nvSpPr>
          <p:cNvPr id="58" name="Text 48"/>
          <p:cNvSpPr/>
          <p:nvPr/>
        </p:nvSpPr>
        <p:spPr>
          <a:xfrm>
            <a:off x="6126480" y="46177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NDT penetrant, TUK/JFT mandiri, rekayasa manufaktur, co-working, &amp; startup binaan.</a:t>
            </a:r>
            <a:endParaRPr lang="en-US" sz="750" dirty="0"/>
          </a:p>
        </p:txBody>
      </p:sp>
      <p:sp>
        <p:nvSpPr>
          <p:cNvPr id="59" name="Shape 49"/>
          <p:cNvSpPr/>
          <p:nvPr/>
        </p:nvSpPr>
        <p:spPr>
          <a:xfrm>
            <a:off x="731520" y="5102352"/>
            <a:ext cx="438912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868680" y="5230368"/>
            <a:ext cx="292608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1349" y="5283037"/>
            <a:ext cx="187269" cy="187269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1234440" y="524865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05</a:t>
            </a:r>
            <a:endParaRPr lang="en-US" sz="750" dirty="0"/>
          </a:p>
        </p:txBody>
      </p:sp>
      <p:sp>
        <p:nvSpPr>
          <p:cNvPr id="63" name="Text 52"/>
          <p:cNvSpPr/>
          <p:nvPr/>
        </p:nvSpPr>
        <p:spPr>
          <a:xfrm>
            <a:off x="1920240" y="52486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Promosi &amp; Penyerapan Rendah</a:t>
            </a:r>
            <a:endParaRPr lang="en-US" sz="850" dirty="0"/>
          </a:p>
        </p:txBody>
      </p:sp>
      <p:sp>
        <p:nvSpPr>
          <p:cNvPr id="64" name="Text 53"/>
          <p:cNvSpPr/>
          <p:nvPr/>
        </p:nvSpPr>
        <p:spPr>
          <a:xfrm>
            <a:off x="868680" y="55229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Masalah: Networking kurang ter-maintenance; belum ada regulasi penyerapan inovasi lokal.</a:t>
            </a:r>
            <a:endParaRPr lang="en-US" sz="750" dirty="0"/>
          </a:p>
        </p:txBody>
      </p:sp>
      <p:sp>
        <p:nvSpPr>
          <p:cNvPr id="65" name="Shape 54"/>
          <p:cNvSpPr/>
          <p:nvPr/>
        </p:nvSpPr>
        <p:spPr>
          <a:xfrm>
            <a:off x="5257800" y="5358384"/>
            <a:ext cx="228600" cy="219456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5623560" y="5102352"/>
            <a:ext cx="5836615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5623560" y="5102352"/>
            <a:ext cx="5836615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5760720" y="5212080"/>
            <a:ext cx="292608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6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13389" y="5264749"/>
            <a:ext cx="187269" cy="187269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6126480" y="52303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Instruksi Walikota untuk e-Katalog Lokal Afirmatif</a:t>
            </a:r>
            <a:endParaRPr lang="en-US" sz="850" dirty="0"/>
          </a:p>
        </p:txBody>
      </p:sp>
      <p:sp>
        <p:nvSpPr>
          <p:cNvPr id="71" name="Text 59"/>
          <p:cNvSpPr/>
          <p:nvPr/>
        </p:nvSpPr>
        <p:spPr>
          <a:xfrm>
            <a:off x="6126480" y="550468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Wajibkan OPD Pemkot menyerap produk/layanan tenant binaan STP (Target: Rp 2,25 Miliar).</a:t>
            </a:r>
            <a:endParaRPr lang="en-US" sz="750" dirty="0"/>
          </a:p>
        </p:txBody>
      </p:sp>
      <p:sp>
        <p:nvSpPr>
          <p:cNvPr id="72" name="Shape 60"/>
          <p:cNvSpPr/>
          <p:nvPr/>
        </p:nvSpPr>
        <p:spPr>
          <a:xfrm>
            <a:off x="731520" y="5760720"/>
            <a:ext cx="10728655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914400" y="5833872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83529" y="5903001"/>
            <a:ext cx="245791" cy="245791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1417320" y="5815584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UTAMA #5: INSTRUKSI WALIKOTA e-KATALOG LOKAL AFIRMATIF (QUICK WIN 30 HARI)</a:t>
            </a:r>
            <a:endParaRPr lang="en-US" sz="800" dirty="0"/>
          </a:p>
        </p:txBody>
      </p:sp>
      <p:sp>
        <p:nvSpPr>
          <p:cNvPr id="76" name="Text 63"/>
          <p:cNvSpPr/>
          <p:nvPr/>
        </p:nvSpPr>
        <p:spPr>
          <a:xfrm>
            <a:off x="1417320" y="6016752"/>
            <a:ext cx="9875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Membuka captive market Rp 2,25 Miliar serapan belanja OPD Pemkot Surakarta di 2030 bagi 80+ produk tenant dan startup binaan STP tanpa perlu alokasi pagu belanja baru di APBD. Hanya butuh 1 lembar Instruksi Walikota.</a:t>
            </a:r>
            <a:endParaRPr lang="en-US" sz="750" dirty="0"/>
          </a:p>
        </p:txBody>
      </p:sp>
      <p:sp>
        <p:nvSpPr>
          <p:cNvPr id="77" name="Shape 64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65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79" name="Text 66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PETA JALAN STRATEGIS KELEMBAGAAN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3 FASE TRANSFORMASI: DARI CENTRE MENUJU HOLDING INOVASI DAERAH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Terukur dan Bertahap Menuju Kemandirian Finansial Penuh Tanpa Subsidi Belanja APBD 2030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2540" y="1855500"/>
            <a:ext cx="257495" cy="2574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17830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(2026–2027)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63040" y="19476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OF INNOVATION &amp; CONNECTIVITY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14400" y="2377440"/>
            <a:ext cx="29718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40487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7,50 M ➔ Rp 12,53 M (+67%)</a:t>
            </a:r>
            <a:endParaRPr lang="en-US" sz="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852928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28346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Pondasi tata kelola kelembagaan BLUD akuntabel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120" y="3291840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2735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Akreditasi laboratorium industri &amp; standarisasi uji</a:t>
            </a:r>
            <a:endParaRPr lang="en-US" sz="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20" y="3730752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0432" y="3712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mutu diklat vokasi &amp; kemitraan OGSCI</a:t>
            </a:r>
            <a:endParaRPr lang="en-US" sz="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120" y="4169664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4151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Konsorsium Riset 5 Kampus Solo Raya</a:t>
            </a:r>
            <a:endParaRPr lang="en-US" sz="8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0120" y="4608576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70432" y="4590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Aktivasi TUK Mandiri &amp; program SMK GoGlobal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4169664" y="3063240"/>
            <a:ext cx="155448" cy="256032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4425696" y="160020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425696" y="1600200"/>
            <a:ext cx="33375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654296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6716" y="1855500"/>
            <a:ext cx="257495" cy="25749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157216" y="17830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(2028–2029)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5157216" y="19476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 TECHNOPARK (SBU MANDIRI)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4608576" y="2377440"/>
            <a:ext cx="29718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608576" y="240487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12,53 M ➔ Rp 20,62 M (+65%)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54296" y="2852928"/>
            <a:ext cx="146304" cy="14630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864608" y="28346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Strategic Business Unit (SBU) profesional</a:t>
            </a:r>
            <a:endParaRPr lang="en-US" sz="8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54296" y="3291840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864608" y="32735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15–20 produk inovasi komersial ber-TKDN</a:t>
            </a:r>
            <a:endParaRPr lang="en-US" sz="8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54296" y="3730752"/>
            <a:ext cx="146304" cy="14630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864608" y="3712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corporate marketing &amp; penetrasi pasar nasional</a:t>
            </a:r>
            <a:endParaRPr lang="en-US" sz="8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54296" y="4169664"/>
            <a:ext cx="146304" cy="146304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4864608" y="4151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revenue OGSCI Migas mencapai Rp 5,5 Miliar</a:t>
            </a:r>
            <a:endParaRPr lang="en-US" sz="8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54296" y="4608576"/>
            <a:ext cx="146304" cy="14630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864608" y="4590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Operasionalisasi Co-Working &amp; Virtual Office penuh</a:t>
            </a:r>
            <a:endParaRPr lang="en-US" sz="800" dirty="0"/>
          </a:p>
        </p:txBody>
      </p:sp>
      <p:sp>
        <p:nvSpPr>
          <p:cNvPr id="44" name="Shape 30"/>
          <p:cNvSpPr/>
          <p:nvPr/>
        </p:nvSpPr>
        <p:spPr>
          <a:xfrm>
            <a:off x="7863840" y="3063240"/>
            <a:ext cx="155448" cy="256032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8119872" y="1600200"/>
            <a:ext cx="3337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8119872" y="1600200"/>
            <a:ext cx="33375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8348472" y="1783080"/>
            <a:ext cx="402336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20892" y="1855500"/>
            <a:ext cx="257495" cy="257495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8851392" y="1783080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(2029–2030)</a:t>
            </a:r>
            <a:endParaRPr lang="en-US" sz="800" dirty="0"/>
          </a:p>
        </p:txBody>
      </p:sp>
      <p:sp>
        <p:nvSpPr>
          <p:cNvPr id="50" name="Text 35"/>
          <p:cNvSpPr/>
          <p:nvPr/>
        </p:nvSpPr>
        <p:spPr>
          <a:xfrm>
            <a:off x="8851392" y="19476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POSITIONING &amp; HOLDING</a:t>
            </a:r>
            <a:endParaRPr lang="en-US" sz="950" dirty="0"/>
          </a:p>
        </p:txBody>
      </p:sp>
      <p:sp>
        <p:nvSpPr>
          <p:cNvPr id="51" name="Shape 36"/>
          <p:cNvSpPr/>
          <p:nvPr/>
        </p:nvSpPr>
        <p:spPr>
          <a:xfrm>
            <a:off x="8302752" y="2377440"/>
            <a:ext cx="29718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37"/>
          <p:cNvSpPr/>
          <p:nvPr/>
        </p:nvSpPr>
        <p:spPr>
          <a:xfrm>
            <a:off x="8302752" y="2404872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20,62 M ➔ Rp 23,47 M (MANDIRI)</a:t>
            </a:r>
            <a:endParaRPr lang="en-US" sz="8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48472" y="2852928"/>
            <a:ext cx="146304" cy="146304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8558784" y="283464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Kemandirian finansial penuh: 0% subsidi belanja APBD</a:t>
            </a:r>
            <a:endParaRPr lang="en-US" sz="80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348472" y="3291840"/>
            <a:ext cx="146304" cy="146304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8558784" y="32735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holding company inovasi daerah pertama</a:t>
            </a:r>
            <a:endParaRPr lang="en-US" sz="8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348472" y="3730752"/>
            <a:ext cx="146304" cy="146304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8558784" y="371246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pengembangan Indonesia Digital Technopark</a:t>
            </a:r>
            <a:endParaRPr lang="en-US" sz="800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348472" y="4169664"/>
            <a:ext cx="146304" cy="146304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8558784" y="415137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Realisasi target pendapatan mandiri Rp 23,47 Miliar</a:t>
            </a:r>
            <a:endParaRPr lang="en-US" sz="8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348472" y="4608576"/>
            <a:ext cx="146304" cy="146304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8558784" y="45902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jejaring kemitraan dan penempatan global</a:t>
            </a:r>
            <a:endParaRPr lang="en-US" sz="800" dirty="0"/>
          </a:p>
        </p:txBody>
      </p:sp>
      <p:sp>
        <p:nvSpPr>
          <p:cNvPr id="63" name="Shape 43"/>
          <p:cNvSpPr/>
          <p:nvPr/>
        </p:nvSpPr>
        <p:spPr>
          <a:xfrm>
            <a:off x="731520" y="5321808"/>
            <a:ext cx="107286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44"/>
          <p:cNvSpPr/>
          <p:nvPr/>
        </p:nvSpPr>
        <p:spPr>
          <a:xfrm>
            <a:off x="914400" y="5394960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TARGET TAHUNAN MENUJU KEMANDIRIAN 2030 (AUDIT FINANSIAL RIIL):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5623560"/>
          <a:ext cx="10454335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2084832"/>
                <a:gridCol w="2084832"/>
                <a:gridCol w="2084832"/>
                <a:gridCol w="2115007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TAHUN 2026 (Baseline)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TAHUN 2027 (+67,0%)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TAHUN 2028 (+28,5%)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TAHUN 2029 (+28,0%)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TAHUN 2030 (MANDIRI)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Rp 7.503.392.698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0AF"/>
                          </a:solidFill>
                        </a:rPr>
                        <a:t>Rp 12.532.185.031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0AF"/>
                          </a:solidFill>
                        </a:rPr>
                        <a:t>Rp 16.100.658.831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40AF"/>
                          </a:solidFill>
                        </a:rPr>
                        <a:t>Rp 20.615.658.831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</a:rPr>
                        <a:t>Rp 23.468.158.831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6" name="Shape 45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46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8" name="Text 47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PROYEKSI KEUANGAN BLUD 2026–2030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RE-SETTING TARGET FINANSIAL: LOMPATAN KEMANDIRIAN BLUD +212,8%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Pendapatan Mandiri Riil dari Rp 7,50 Miliar (2026) menuju Rp 23,47 Miliar (2030) — Tanpa Subsidi APBD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521208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37360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653" y="1796613"/>
            <a:ext cx="210678" cy="21067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783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PERTUMBUHAN PENDAPATAN BLUD 2026–2030 (DALAM RP MILIAR)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2148840"/>
          <a:ext cx="4846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914400" y="4846320"/>
            <a:ext cx="48463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51560" y="4956048"/>
            <a:ext cx="329184" cy="32918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813" y="5015301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983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LOMPATAN FINANSIAL: +212,8% (3,1× LIPAT DALAM 4 TAHUN)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051560" y="5257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Mandiri Total Tanpa APBD di 2030: Biaya operasional UPTD STP tertutup 100% dari jasa layanan mandiri.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Titik Impas (BEP) di Tahun 2028: Tercapai di angka Rp 16,10 Miliar seiring beroperasinya SBU manufaktur.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Kualitas Pendapatan Berkelanjutan: 88% pendapatan disumbang oleh riset, vokasi industri, &amp; startup binaan.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6248095" y="16002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48095" y="1600200"/>
            <a:ext cx="52120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1737360"/>
            <a:ext cx="329184" cy="32918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5773" y="1796613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17830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REVENUE STREAM 2030 (RP 23,47 M)</a:t>
            </a:r>
            <a:endParaRPr lang="en-US" sz="8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446520" y="2148840"/>
          <a:ext cx="4846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4" name="Shape 17"/>
          <p:cNvSpPr/>
          <p:nvPr/>
        </p:nvSpPr>
        <p:spPr>
          <a:xfrm>
            <a:off x="6446520" y="4279392"/>
            <a:ext cx="109728" cy="10972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611112" y="4251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Kemitraan: 54,6% (Rp 12,83 M)</a:t>
            </a:r>
            <a:endParaRPr lang="en-US" sz="700" dirty="0"/>
          </a:p>
        </p:txBody>
      </p:sp>
      <p:sp>
        <p:nvSpPr>
          <p:cNvPr id="26" name="Shape 19"/>
          <p:cNvSpPr/>
          <p:nvPr/>
        </p:nvSpPr>
        <p:spPr>
          <a:xfrm>
            <a:off x="8961120" y="427939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125712" y="4251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Lain-lain BLUD / MICE: 10,4% (Rp 2,45 M)</a:t>
            </a:r>
            <a:endParaRPr lang="en-US" sz="700" dirty="0"/>
          </a:p>
        </p:txBody>
      </p:sp>
      <p:sp>
        <p:nvSpPr>
          <p:cNvPr id="28" name="Shape 21"/>
          <p:cNvSpPr/>
          <p:nvPr/>
        </p:nvSpPr>
        <p:spPr>
          <a:xfrm>
            <a:off x="6446520" y="4535424"/>
            <a:ext cx="109728" cy="10972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611112" y="45079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&amp; Sertifikasi: 15,7% (Rp 3,68 M)</a:t>
            </a:r>
            <a:endParaRPr lang="en-US" sz="700" dirty="0"/>
          </a:p>
        </p:txBody>
      </p:sp>
      <p:sp>
        <p:nvSpPr>
          <p:cNvPr id="30" name="Shape 23"/>
          <p:cNvSpPr/>
          <p:nvPr/>
        </p:nvSpPr>
        <p:spPr>
          <a:xfrm>
            <a:off x="8961120" y="45354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125712" y="45079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Manufaktur: 6,2% (Rp 1,47 M)</a:t>
            </a:r>
            <a:endParaRPr lang="en-US" sz="700" dirty="0"/>
          </a:p>
        </p:txBody>
      </p:sp>
      <p:sp>
        <p:nvSpPr>
          <p:cNvPr id="32" name="Shape 25"/>
          <p:cNvSpPr/>
          <p:nvPr/>
        </p:nvSpPr>
        <p:spPr>
          <a:xfrm>
            <a:off x="6446520" y="47914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611112" y="4764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Diklat Mandiri Spesialis: 10,5% (Rp 2,47 M)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8961120" y="4791456"/>
            <a:ext cx="109728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125712" y="4764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Lahan Eksisting: 2,5% (Rp 0,58 M)</a:t>
            </a:r>
            <a:endParaRPr lang="en-US" sz="700" dirty="0"/>
          </a:p>
        </p:txBody>
      </p:sp>
      <p:sp>
        <p:nvSpPr>
          <p:cNvPr id="36" name="Shape 29"/>
          <p:cNvSpPr/>
          <p:nvPr/>
        </p:nvSpPr>
        <p:spPr>
          <a:xfrm>
            <a:off x="6446520" y="5074920"/>
            <a:ext cx="484632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583680" y="5138928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KATALISATOR PENDAPATAN 2030: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6583680" y="5321808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OGSCI Program Migas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9509760" y="5321808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6.250.000.000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6583680" y="5468112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Pemda e-Katalog Inovasi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9509760" y="546811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2.250.000.000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6583680" y="5614416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Startup Binaan STP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9509760" y="5614416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2.000.000.000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6583680" y="5760720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Sertifikasi Tenaga JFT</a:t>
            </a:r>
            <a:endParaRPr lang="en-US" sz="700" dirty="0"/>
          </a:p>
        </p:txBody>
      </p:sp>
      <p:sp>
        <p:nvSpPr>
          <p:cNvPr id="45" name="Text 38"/>
          <p:cNvSpPr/>
          <p:nvPr/>
        </p:nvSpPr>
        <p:spPr>
          <a:xfrm>
            <a:off x="9509760" y="57607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1.375.000.000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6583680" y="5907024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Tempat Uji Kompetensi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9509760" y="5907024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1.350.000.000</a:t>
            </a:r>
            <a:endParaRPr lang="en-US" sz="700" dirty="0"/>
          </a:p>
        </p:txBody>
      </p:sp>
      <p:sp>
        <p:nvSpPr>
          <p:cNvPr id="48" name="Shape 41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50" name="Text 43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TRANSPARANSI ANGGARAN &amp; STRUKTUR PENDAPATAN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MESIN PENDAPATAN 2030: RINCIAN PER MATA ANGGARAN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 Total Hasil Rekonsiliasi: Dari Mana Setiap Rupiah dari Target Rp 23,47 Miliar Berasal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5852160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A: Kemitraan Strategis (54,6%)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583680" y="1508760"/>
            <a:ext cx="1682496" cy="2560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36192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Vokasi (15,7%)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266176" y="1508760"/>
            <a:ext cx="1124712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536192"/>
            <a:ext cx="1124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Diklat (10,5%)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390888" y="1508760"/>
            <a:ext cx="111556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0888" y="153619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MICE (10,4%)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506456" y="1508760"/>
            <a:ext cx="65836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06456" y="153619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6,2%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164824" y="1508760"/>
            <a:ext cx="295351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1874520"/>
            <a:ext cx="44348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874520"/>
            <a:ext cx="443484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020824"/>
            <a:ext cx="40233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820" y="2093244"/>
            <a:ext cx="257495" cy="25749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89888" y="20391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UTAMA (54,6% REVENUE)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A: KERJASAMA STRATEGIS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429000" y="2011680"/>
            <a:ext cx="1600200" cy="5029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29000" y="20574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12.825.000.000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54,65% DARI TOTAL TARGET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68680" y="2606040"/>
            <a:ext cx="4160520" cy="438912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OGSCI Migas &amp; Maritim (Konsorsium)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987552" y="28346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[Anchor Revenue Mandiri]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566160" y="27157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6.250.000.000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868680" y="3118104"/>
            <a:ext cx="4160520" cy="43891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" y="31638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Pemda Solo (e-Katalog Inovasi)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87552" y="334670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[Instruksi Walikota]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566160" y="3227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2.250.000.000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68680" y="3630168"/>
            <a:ext cx="4160520" cy="43891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367588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Binaan STP (Komersialisasi)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987552" y="38587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[Success Fee &amp; Jasa]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566160" y="37398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2.000.000.000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68680" y="4142232"/>
            <a:ext cx="4160520" cy="43891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41879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BP3MI - SMK GoGlobal (Talenta Luar Negeri)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987552" y="437083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[Penempatan Global]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3566160" y="4251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1.500.000.000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868680" y="4654296"/>
            <a:ext cx="4160520" cy="43891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7552" y="47000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Kemenperin &amp; Mitra LPK Industri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987552" y="48828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[Subsidi Pelatihan]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3566160" y="47640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825.000.000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868680" y="5212080"/>
            <a:ext cx="4160520" cy="475488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60120" y="5239512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STRATEGIS: 1 program konsorsium OGSCI (Rp 6,25 M) setara 83% pendapatan STP tahun 2026. Ditambah e-Katalog Pemda, klaster ini menjamin kemandirian tanpa APBD.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349240" y="1874520"/>
            <a:ext cx="2962656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349240" y="1874520"/>
            <a:ext cx="2962656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0" y="1984248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5653" y="2043501"/>
            <a:ext cx="210678" cy="21067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879592" y="198424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B: VOKASI &amp; SERTIFIKASI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3.679.800.000 (15,7%)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5513832" y="23774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JFT Fungsional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7040880" y="237744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1.375.000.000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5513832" y="26974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 Mandiri Terakreditasi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7040880" y="269748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1.350.000.000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5513832" y="3017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Lab &amp; Data Center</a:t>
            </a:r>
            <a:endParaRPr lang="en-US" sz="750" dirty="0"/>
          </a:p>
        </p:txBody>
      </p:sp>
      <p:sp>
        <p:nvSpPr>
          <p:cNvPr id="57" name="Text 53"/>
          <p:cNvSpPr/>
          <p:nvPr/>
        </p:nvSpPr>
        <p:spPr>
          <a:xfrm>
            <a:off x="7040880" y="30175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950.000.000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5513832" y="33375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Prakerin SMK Solo Raya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7040880" y="333756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4.800.000</a:t>
            </a:r>
            <a:endParaRPr lang="en-US" sz="750" dirty="0"/>
          </a:p>
        </p:txBody>
      </p:sp>
      <p:sp>
        <p:nvSpPr>
          <p:cNvPr id="60" name="Shape 56"/>
          <p:cNvSpPr/>
          <p:nvPr/>
        </p:nvSpPr>
        <p:spPr>
          <a:xfrm>
            <a:off x="8494776" y="1874520"/>
            <a:ext cx="2962656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8494776" y="1874520"/>
            <a:ext cx="2962656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631936" y="1984248"/>
            <a:ext cx="329184" cy="329184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1189" y="2043501"/>
            <a:ext cx="210678" cy="210678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9025128" y="198424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C: DIKLAT SPESIALIS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2.469.000.000 (10,5%)</a:t>
            </a:r>
            <a:endParaRPr lang="en-US" sz="750" dirty="0"/>
          </a:p>
        </p:txBody>
      </p:sp>
      <p:sp>
        <p:nvSpPr>
          <p:cNvPr id="65" name="Text 60"/>
          <p:cNvSpPr/>
          <p:nvPr/>
        </p:nvSpPr>
        <p:spPr>
          <a:xfrm>
            <a:off x="8659368" y="23500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Wet Welding</a:t>
            </a:r>
            <a:endParaRPr lang="en-US" sz="700" dirty="0"/>
          </a:p>
        </p:txBody>
      </p:sp>
      <p:sp>
        <p:nvSpPr>
          <p:cNvPr id="66" name="Text 61"/>
          <p:cNvSpPr/>
          <p:nvPr/>
        </p:nvSpPr>
        <p:spPr>
          <a:xfrm>
            <a:off x="10186416" y="235000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846.000.000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8659368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Manufaktur &amp; Welding Intensif</a:t>
            </a:r>
            <a:endParaRPr lang="en-US" sz="700" dirty="0"/>
          </a:p>
        </p:txBody>
      </p:sp>
      <p:sp>
        <p:nvSpPr>
          <p:cNvPr id="68" name="Text 63"/>
          <p:cNvSpPr/>
          <p:nvPr/>
        </p:nvSpPr>
        <p:spPr>
          <a:xfrm>
            <a:off x="10186416" y="2606040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728.000.000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8659368" y="28620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Desain, Manajerial &amp; EV</a:t>
            </a:r>
            <a:endParaRPr lang="en-US" sz="700" dirty="0"/>
          </a:p>
        </p:txBody>
      </p:sp>
      <p:sp>
        <p:nvSpPr>
          <p:cNvPr id="70" name="Text 65"/>
          <p:cNvSpPr/>
          <p:nvPr/>
        </p:nvSpPr>
        <p:spPr>
          <a:xfrm>
            <a:off x="10186416" y="2862072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555.000.000</a:t>
            </a:r>
            <a:endParaRPr lang="en-US" sz="700" dirty="0"/>
          </a:p>
        </p:txBody>
      </p:sp>
      <p:sp>
        <p:nvSpPr>
          <p:cNvPr id="71" name="Text 66"/>
          <p:cNvSpPr/>
          <p:nvPr/>
        </p:nvSpPr>
        <p:spPr>
          <a:xfrm>
            <a:off x="8659368" y="31181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 (AI &amp; Cyber)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10186416" y="311810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225.000.000</a:t>
            </a:r>
            <a:endParaRPr lang="en-US" sz="700" dirty="0"/>
          </a:p>
        </p:txBody>
      </p:sp>
      <p:sp>
        <p:nvSpPr>
          <p:cNvPr id="73" name="Text 68"/>
          <p:cNvSpPr/>
          <p:nvPr/>
        </p:nvSpPr>
        <p:spPr>
          <a:xfrm>
            <a:off x="8659368" y="337413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Kewirausahaan &amp; UMKM</a:t>
            </a:r>
            <a:endParaRPr lang="en-US" sz="700" dirty="0"/>
          </a:p>
        </p:txBody>
      </p:sp>
      <p:sp>
        <p:nvSpPr>
          <p:cNvPr id="74" name="Text 69"/>
          <p:cNvSpPr/>
          <p:nvPr/>
        </p:nvSpPr>
        <p:spPr>
          <a:xfrm>
            <a:off x="10186416" y="3374136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115.000.000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5349240" y="3886200"/>
            <a:ext cx="1938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5349240" y="3886200"/>
            <a:ext cx="193852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5458968" y="3977640"/>
            <a:ext cx="292608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1637" y="4030309"/>
            <a:ext cx="187269" cy="187269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5806440" y="397764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D: MICE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2.450.000.000 (10,4%)</a:t>
            </a:r>
            <a:endParaRPr lang="en-US" sz="700" dirty="0"/>
          </a:p>
        </p:txBody>
      </p:sp>
      <p:sp>
        <p:nvSpPr>
          <p:cNvPr id="80" name="Text 74"/>
          <p:cNvSpPr/>
          <p:nvPr/>
        </p:nvSpPr>
        <p:spPr>
          <a:xfrm>
            <a:off x="5486400" y="443484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Sarana/MICE: Rp 1,50 M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Co-Working: Rp 900 Jt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Jasa Giro Kas: Rp 50 Jt</a:t>
            </a:r>
            <a:endParaRPr lang="en-US" sz="700" dirty="0"/>
          </a:p>
        </p:txBody>
      </p:sp>
      <p:sp>
        <p:nvSpPr>
          <p:cNvPr id="81" name="Shape 75"/>
          <p:cNvSpPr/>
          <p:nvPr/>
        </p:nvSpPr>
        <p:spPr>
          <a:xfrm>
            <a:off x="7434072" y="3886200"/>
            <a:ext cx="1938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7434072" y="3886200"/>
            <a:ext cx="193852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7543800" y="3977640"/>
            <a:ext cx="292608" cy="292608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pic>
        <p:nvPicPr>
          <p:cNvPr id="8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6469" y="4030309"/>
            <a:ext cx="187269" cy="187269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7891272" y="397764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E: LAB &amp; NDT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1.465.000.000 (6,2%)</a:t>
            </a:r>
            <a:endParaRPr lang="en-US" sz="700" dirty="0"/>
          </a:p>
        </p:txBody>
      </p:sp>
      <p:sp>
        <p:nvSpPr>
          <p:cNvPr id="86" name="Text 79"/>
          <p:cNvSpPr/>
          <p:nvPr/>
        </p:nvSpPr>
        <p:spPr>
          <a:xfrm>
            <a:off x="7571232" y="4434840"/>
            <a:ext cx="16642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Fabrikasi Mesin: Rp 1,22 M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Uji Mutu SNI: Rp 135 Jt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Pesanan Pemda: Rp 105 Jt</a:t>
            </a:r>
            <a:endParaRPr lang="en-US" sz="700" dirty="0"/>
          </a:p>
        </p:txBody>
      </p:sp>
      <p:sp>
        <p:nvSpPr>
          <p:cNvPr id="87" name="Shape 80"/>
          <p:cNvSpPr/>
          <p:nvPr/>
        </p:nvSpPr>
        <p:spPr>
          <a:xfrm>
            <a:off x="9518904" y="3886200"/>
            <a:ext cx="1938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9518904" y="3886200"/>
            <a:ext cx="1938528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9628632" y="3977640"/>
            <a:ext cx="292608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81301" y="4030309"/>
            <a:ext cx="187269" cy="187269"/>
          </a:xfrm>
          <a:prstGeom prst="rect">
            <a:avLst/>
          </a:prstGeom>
        </p:spPr>
      </p:pic>
      <p:sp>
        <p:nvSpPr>
          <p:cNvPr id="91" name="Text 83"/>
          <p:cNvSpPr/>
          <p:nvPr/>
        </p:nvSpPr>
        <p:spPr>
          <a:xfrm>
            <a:off x="9976104" y="397764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KLASTER F: SEWA LAHAN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579.358.831 (2,5%)</a:t>
            </a:r>
            <a:endParaRPr lang="en-US" sz="700" dirty="0"/>
          </a:p>
        </p:txBody>
      </p:sp>
      <p:sp>
        <p:nvSpPr>
          <p:cNvPr id="92" name="Text 84"/>
          <p:cNvSpPr/>
          <p:nvPr/>
        </p:nvSpPr>
        <p:spPr>
          <a:xfrm>
            <a:off x="9656064" y="4343400"/>
            <a:ext cx="16642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Shopee Hub: Rp 544 Jt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Katulondi: Rp 35 Jt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DE-ESKALASI SEWA:</a:t>
            </a:r>
            <a:endParaRPr lang="en-US" sz="68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Ditekan ke 2,5% demi beralih ke inovasi.</a:t>
            </a:r>
            <a:endParaRPr lang="en-US" sz="680" dirty="0"/>
          </a:p>
        </p:txBody>
      </p:sp>
      <p:sp>
        <p:nvSpPr>
          <p:cNvPr id="93" name="Shape 85"/>
          <p:cNvSpPr/>
          <p:nvPr/>
        </p:nvSpPr>
        <p:spPr>
          <a:xfrm>
            <a:off x="731520" y="5897880"/>
            <a:ext cx="10728655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868680" y="5934456"/>
            <a:ext cx="329184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pic>
        <p:nvPicPr>
          <p:cNvPr id="9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7933" y="5993709"/>
            <a:ext cx="210678" cy="210678"/>
          </a:xfrm>
          <a:prstGeom prst="rect">
            <a:avLst/>
          </a:prstGeom>
        </p:spPr>
      </p:pic>
      <p:sp>
        <p:nvSpPr>
          <p:cNvPr id="96" name="Text 87"/>
          <p:cNvSpPr/>
          <p:nvPr/>
        </p:nvSpPr>
        <p:spPr>
          <a:xfrm>
            <a:off x="1325880" y="597103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TARGET PENDAPATAN BLUD 2030:  Rp 23.468.158.831  (Dua Puluh Tiga Miliar Empat Ratus Enam Puluh Delapan Juta Rupiah) — 100% Mandiri Bebas APBD</a:t>
            </a:r>
            <a:endParaRPr lang="en-US" sz="850" dirty="0"/>
          </a:p>
        </p:txBody>
      </p:sp>
      <p:sp>
        <p:nvSpPr>
          <p:cNvPr id="97" name="Shape 88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89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99" name="Text 90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DAMPAK SOSIAL-EKONOMI DAERAH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 KEBERDAMPAKAN: SOLO TECHNOPARK UNTUK WARGA SURAKARTA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"Indikator Keberhasilan Harus Mengukur IMPACT — Bukan Sekadar Aktivitas dan Pendapatan Kas" (Dokumen Strategi STP 2026)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4846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484632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37360"/>
            <a:ext cx="329184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3653" y="1796613"/>
            <a:ext cx="210678" cy="21067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7830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CAPAIAN 6 DIMENSI DAMPAK 2030 (%)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2148840"/>
          <a:ext cx="4480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914400" y="5074920"/>
            <a:ext cx="44805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51560" y="5138928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 IMPACT MEASUREMENT KOTA: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051560" y="532180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Keberhasilan Solo Technopark tidak diukur dari megahnya gedung atau saldo kas BLUD semata, melainkan dari kesejahteraan nyata warga Surakarta: lapangan kerja yang terserap, UMKM yang naik kelas, serta keterhubungan riset kampus dengan kebutuhan industri.</a:t>
            </a:r>
            <a:endParaRPr lang="en-US" sz="720" dirty="0"/>
          </a:p>
        </p:txBody>
      </p:sp>
      <p:sp>
        <p:nvSpPr>
          <p:cNvPr id="16" name="Shape 12"/>
          <p:cNvSpPr/>
          <p:nvPr/>
        </p:nvSpPr>
        <p:spPr>
          <a:xfrm>
            <a:off x="5882335" y="1600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82335" y="1600200"/>
            <a:ext cx="2651760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58607" y="17282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1152" y="1790761"/>
            <a:ext cx="222382" cy="2223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46927" y="172821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SDM LEBIH KOMPETEN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046927" y="194767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9.000 Peserta/Thn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046927" y="24231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Afirmasi kuota minimal 65% warga KTP Surakarta.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8716975" y="16002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716975" y="160020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893247" y="17282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5792" y="1790761"/>
            <a:ext cx="222382" cy="22238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81567" y="172821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 &amp; STARTUP TUMBUH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8881567" y="194767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Wirausaha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881567" y="24231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Pendampingan inkubasi &amp; digital onboarding GoTo Hub.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5882335" y="3200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882335" y="320040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058607" y="33284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1152" y="3390961"/>
            <a:ext cx="222382" cy="22238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046927" y="332841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RISET DEKAT KE PASAR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6046927" y="354787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Produk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6046927" y="40233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 HKI, Uji Presisi NDT &amp; sertifikasi TKDN.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8716975" y="3200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716975" y="3200400"/>
            <a:ext cx="2651760" cy="4572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893247" y="33284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55792" y="3390961"/>
            <a:ext cx="222382" cy="22238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81567" y="332841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TEKNOLOGI TERBUKA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8881567" y="354787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10.000+ Visit/Thn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8881567" y="40233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lab AI, Cyber, &amp; magang siswa SMK Solo Raya.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5882335" y="48006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882335" y="4800600"/>
            <a:ext cx="26517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8058607" y="49286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21152" y="4991161"/>
            <a:ext cx="222382" cy="22238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046927" y="492861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KERJA BARU</a:t>
            </a:r>
            <a:endParaRPr lang="en-US" sz="700" dirty="0"/>
          </a:p>
        </p:txBody>
      </p:sp>
      <p:sp>
        <p:nvSpPr>
          <p:cNvPr id="49" name="Text 40"/>
          <p:cNvSpPr/>
          <p:nvPr/>
        </p:nvSpPr>
        <p:spPr>
          <a:xfrm>
            <a:off x="6046927" y="514807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180 M Multiplier</a:t>
            </a:r>
            <a:endParaRPr lang="en-US" sz="1600" dirty="0"/>
          </a:p>
        </p:txBody>
      </p:sp>
      <p:sp>
        <p:nvSpPr>
          <p:cNvPr id="50" name="Text 41"/>
          <p:cNvSpPr/>
          <p:nvPr/>
        </p:nvSpPr>
        <p:spPr>
          <a:xfrm>
            <a:off x="6046927" y="5623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Estimasi perputaran ekonomi hotel, resto &amp; MICE.</a:t>
            </a:r>
            <a:endParaRPr lang="en-US" sz="750" dirty="0"/>
          </a:p>
        </p:txBody>
      </p:sp>
      <p:sp>
        <p:nvSpPr>
          <p:cNvPr id="51" name="Shape 42"/>
          <p:cNvSpPr/>
          <p:nvPr/>
        </p:nvSpPr>
        <p:spPr>
          <a:xfrm>
            <a:off x="8716975" y="48006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8716975" y="4800600"/>
            <a:ext cx="26517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10893247" y="4928616"/>
            <a:ext cx="34747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955792" y="4991161"/>
            <a:ext cx="222382" cy="22238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8881567" y="492861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INDUSTRI MURNI</a:t>
            </a:r>
            <a:endParaRPr lang="en-US" sz="700" dirty="0"/>
          </a:p>
        </p:txBody>
      </p:sp>
      <p:sp>
        <p:nvSpPr>
          <p:cNvPr id="56" name="Text 46"/>
          <p:cNvSpPr/>
          <p:nvPr/>
        </p:nvSpPr>
        <p:spPr>
          <a:xfrm>
            <a:off x="8881567" y="5148072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Swasta</a:t>
            </a:r>
            <a:endParaRPr lang="en-US" sz="1600" dirty="0"/>
          </a:p>
        </p:txBody>
      </p:sp>
      <p:sp>
        <p:nvSpPr>
          <p:cNvPr id="57" name="Text 47"/>
          <p:cNvSpPr/>
          <p:nvPr/>
        </p:nvSpPr>
        <p:spPr>
          <a:xfrm>
            <a:off x="8881567" y="5623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95+ korporasi dunia berinvestasi tanpa beban belanja APBD.</a:t>
            </a:r>
            <a:endParaRPr lang="en-US" sz="750" dirty="0"/>
          </a:p>
        </p:txBody>
      </p:sp>
      <p:sp>
        <p:nvSpPr>
          <p:cNvPr id="58" name="Shape 48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60" name="Text 50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UPTD KST SOLO TECHNOPARK // DUKUNGAN KEPEMIMPINAN &amp; KOMITMEN EKSEKUSI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PERMOHONAN KEBIJAKAN KEPADA WALIKOTA &amp; RENCANA AKSI 100 HARI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Tidak Memohon Tambahan Pagu APBD — Kami Memohon 3 Payung Regulasi Kepemimpinan Walikota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515600" y="4754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3337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333756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74650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29" y="1815633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89888" y="174650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UTAMA // QUICK WIN 30 HARI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389888" y="1929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PERMOHONAN 1: INSTRUKSI WALIKOTA AFIRMASI e-KATALOG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Mengarahkan seluruh OPD Pemkot memprioritaskan belanja produk teknologi &amp; layanan tenant STP via e-Katalog Lokal.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14400" y="3081528"/>
            <a:ext cx="2971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311810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Rp 2,25 M / Thn di 2030 (80+ Produk Terserap)</a:t>
            </a:r>
            <a:endParaRPr lang="en-US" sz="7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630168"/>
            <a:ext cx="128016" cy="1280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78992" y="3611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langsung diterbitkan dalam 30 hari pertama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425696" y="1600200"/>
            <a:ext cx="3337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25696" y="1600200"/>
            <a:ext cx="33375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608576" y="174650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7705" y="1815633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84064" y="174650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JANGKA PANJANG (10–25 TAHUN)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5084064" y="1929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PERMOHONAN 2: FLEKSIBILITAS KERJASAMA LAHAN BLUD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608576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Walikota skema Long-Term Revenue Sharing yang fleksibel bagi investor teknologi global di kawasan STP.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608576" y="3081528"/>
            <a:ext cx="2971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54296" y="311810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Menarik 3–5 Investor Baru Tanpa Beban APBD</a:t>
            </a:r>
            <a:endParaRPr lang="en-US" sz="7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08576" y="3630168"/>
            <a:ext cx="128016" cy="1280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73168" y="3611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Harmonisasi bersama BPKAD &amp; Bagian Hukum Setda</a:t>
            </a:r>
            <a:endParaRPr lang="en-US" sz="700" dirty="0"/>
          </a:p>
        </p:txBody>
      </p:sp>
      <p:sp>
        <p:nvSpPr>
          <p:cNvPr id="29" name="Shape 23"/>
          <p:cNvSpPr/>
          <p:nvPr/>
        </p:nvSpPr>
        <p:spPr>
          <a:xfrm>
            <a:off x="8119872" y="1600200"/>
            <a:ext cx="3337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119872" y="1600200"/>
            <a:ext cx="33375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302752" y="1746504"/>
            <a:ext cx="38404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1881" y="1815633"/>
            <a:ext cx="245791" cy="245791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778240" y="174650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KONSORSIUM RISET 5 KAMPUS SOLO RAYA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8778240" y="192938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PERMOHONAN 3: SURAT EDARAN KONSORSIUM RISET DAERAH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302752" y="2377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Mendorong perguruan tinggi (UNS, UMS, ISI, Poltek) mengarahkan minimal 30% riset terapan menyelesaikan problem kota di STP.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8302752" y="3081528"/>
            <a:ext cx="29718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348472" y="311810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5 Kampus Mitra, 30 Klaster Riset Terapan</a:t>
            </a:r>
            <a:endParaRPr lang="en-US" sz="7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2752" y="3630168"/>
            <a:ext cx="128016" cy="12801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467344" y="361188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Penyusunan MoU bersama 5 Rektor Solo Raya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731520" y="4343400"/>
            <a:ext cx="10728655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31520" y="4343400"/>
            <a:ext cx="10728655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914400" y="4462272"/>
            <a:ext cx="292608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7069" y="4514941"/>
            <a:ext cx="187269" cy="187269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280160" y="44988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AKSI 100 HARI PERTAMA (QUICK WINS PASCA-ARAHAN WALIKOTA SURAKARTA):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754880"/>
          <a:ext cx="1045433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5425135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PERIODE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AGENDA STRATEGIS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OUTPUT KONKRET &amp; TARGET KEBERHASILAN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3A8A"/>
                          </a:solidFill>
                        </a:rPr>
                        <a:t>Hari 1–10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Penyusunan Draf Instruksi Walikota e-Katalog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Draf Inkwal Afirmatif siap harmonisasi bersama Bagian Hukum Setda &amp; BPKAD.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Hari 11–30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Harmonisasi &amp; Penerbitan Instruksi Walikota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Inkwal ditandatangani Walikota; Sosialisasi ke seluruh OPD prioritas Pemkot.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3A8A"/>
                          </a:solidFill>
                        </a:rPr>
                        <a:t>Hari 31–50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Kurasi &amp; Seleksi 5 Produk Inovasi Unggulan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Katalog 5 Produk Unggulan Hilirisasi STP (Smart Agri IoT, Alkes, Mesin Sortasi).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3A8A"/>
                          </a:solidFill>
                        </a:rPr>
                        <a:t>Hari 51–60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Showcase Inovasi di Depan Walikota &amp; OPD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Demonstrasi produk di hadapan Walikota &amp; media; komitmen serapan perdana OPD.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3A8A"/>
                          </a:solidFill>
                        </a:rPr>
                        <a:t>Hari 61–80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Inisiasi Konsorsium Riset 5 Perguruan Tinggi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475569"/>
                          </a:solidFill>
                        </a:rPr>
                        <a:t>MoU Pra-Konsorsium bersama Rektor UNS, UMS, ISI, Poltek Solo Raya.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Hari 81–100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F172A"/>
                          </a:solidFill>
                        </a:rPr>
                        <a:t>Launching Resmi Konsorsium &amp; Hilirisasi Inovasi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59669"/>
                          </a:solidFill>
                        </a:rPr>
                        <a:t>Penandatanganan MoU Riset Terapan bersama Kadin/Apindo di STP; kick-off hilirisasi.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46" name="Shape 36"/>
          <p:cNvSpPr/>
          <p:nvPr/>
        </p:nvSpPr>
        <p:spPr>
          <a:xfrm>
            <a:off x="731520" y="6419088"/>
            <a:ext cx="10728655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731520" y="64922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KOTA SURAKARTA  •  BADAN RISET DAN INOVASI DAERAH (BRIDA)  •  ROADMAP 2026–2030</a:t>
            </a:r>
            <a:endParaRPr lang="en-US" sz="750" dirty="0"/>
          </a:p>
        </p:txBody>
      </p:sp>
      <p:sp>
        <p:nvSpPr>
          <p:cNvPr id="48" name="Text 38"/>
          <p:cNvSpPr/>
          <p:nvPr/>
        </p:nvSpPr>
        <p:spPr>
          <a:xfrm>
            <a:off x="8229600" y="6492240"/>
            <a:ext cx="32305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EDISI EKSEKUTIF ENTERPRISE ULTRA (V9)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Transformasi Solo Technopark 2026-2030 (Swiss Enterprise Ultra V9)</dc:title>
  <dc:subject>PptxGenJS Presentation</dc:subject>
  <dc:creator>Pemerintah Kota Surakarta - BRIDA &amp; UPTD KST Solo Technopark</dc:creator>
  <cp:lastModifiedBy>Pemerintah Kota Surakarta - BRIDA &amp; UPTD KST Solo Technopark</cp:lastModifiedBy>
  <cp:revision>1</cp:revision>
  <dcterms:created xsi:type="dcterms:W3CDTF">2026-09-11T05:31:04Z</dcterms:created>
  <dcterms:modified xsi:type="dcterms:W3CDTF">2026-09-11T05:31:04Z</dcterms:modified>
</cp:coreProperties>
</file>